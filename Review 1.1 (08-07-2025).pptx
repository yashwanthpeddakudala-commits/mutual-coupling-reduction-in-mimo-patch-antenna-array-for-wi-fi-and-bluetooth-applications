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71" r:id="rId2"/>
    <p:sldId id="287" r:id="rId3"/>
    <p:sldId id="289" r:id="rId4"/>
    <p:sldId id="259" r:id="rId5"/>
    <p:sldId id="273" r:id="rId6"/>
    <p:sldId id="266" r:id="rId7"/>
    <p:sldId id="281" r:id="rId8"/>
    <p:sldId id="260" r:id="rId9"/>
    <p:sldId id="294" r:id="rId10"/>
    <p:sldId id="277" r:id="rId11"/>
    <p:sldId id="291" r:id="rId12"/>
    <p:sldId id="298" r:id="rId13"/>
    <p:sldId id="292" r:id="rId14"/>
    <p:sldId id="293" r:id="rId15"/>
    <p:sldId id="297" r:id="rId16"/>
    <p:sldId id="263" r:id="rId17"/>
    <p:sldId id="268" r:id="rId18"/>
    <p:sldId id="290" r:id="rId19"/>
    <p:sldId id="272" r:id="rId2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BA545-4D11-D0EB-404D-4D6D76877573}" v="106" dt="2025-07-07T18:50:32.677"/>
    <p1510:client id="{304DE423-01F7-7D8A-05A9-18955D88160A}" v="269" dt="2025-07-08T04:30:27.174"/>
    <p1510:client id="{421FABC1-181E-4702-D9DC-DFE0FD18A66B}" v="1" dt="2025-07-06T20:15:38.149"/>
    <p1510:client id="{490E8F28-4045-BA46-9887-CEDD86D37B0F}" v="87" dt="2025-07-07T08:54:59.202"/>
    <p1510:client id="{585F330E-1EB9-4960-06A1-29CB0C321946}" v="575" dt="2025-07-07T18:11:40.240"/>
    <p1510:client id="{7143AD07-8FC6-919E-8491-08D96714CDB5}" v="184" dt="2025-07-07T06:00:51.868"/>
    <p1510:client id="{75D8F40D-5688-6DD6-FDB5-E972C9BCE9FF}" v="94" dt="2025-07-07T18:51:42.318"/>
    <p1510:client id="{9D91C2E9-CD90-21EA-BD9B-0B7370C410E6}" v="1333" dt="2025-07-07T18:47:43.302"/>
    <p1510:client id="{C12B47BC-4625-53AB-D19D-A43FD2F8C7EA}" v="485" dt="2025-07-07T19:31:15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25C80-AC60-40B6-81DE-B4027C0AC7D9}" type="datetimeFigureOut">
              <a:rPr lang="en-IN" smtClean="0"/>
              <a:t>08-07-2025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CF06E-422B-44E5-BC2F-D1B1B493350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CA80F-231C-48B3-8C1A-8644065FA1F6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05BE-83D1-4504-882C-D2A269C227AA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135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808B6-B7BD-4CCB-8ABF-C7BAF1ED40C7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41FC9-AB1D-44FE-BDF3-A46E15106027}" type="datetime1">
              <a:rPr lang="en-IN" smtClean="0"/>
              <a:t>08-07-2025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958A-F6AF-4AE9-917F-29116CEAC1AE}" type="datetime1">
              <a:rPr lang="en-IN" smtClean="0"/>
              <a:t>08-07-2025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DC8B4-E286-4D8D-A760-5A6F28A83236}" type="datetime1">
              <a:rPr lang="en-IN" smtClean="0"/>
              <a:t>08-07-2025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E2837-9D8D-42D1-A147-9A1E4D9B86C9}" type="datetime1">
              <a:rPr lang="en-IN" smtClean="0"/>
              <a:t>08-07-2025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576" y="0"/>
            <a:ext cx="1341424" cy="3600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6B1A-FEB3-4D66-91C1-6B786D26261C}" type="datetime1">
              <a:rPr lang="en-IN" smtClean="0"/>
              <a:t>08-07-2025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4A86-D5A4-45F2-A677-E05A07D85FE1}" type="datetime1">
              <a:rPr lang="en-IN" smtClean="0"/>
              <a:t>08-07-2025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7840A-68F5-49FD-BD24-B575D30DF3E8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F42B-D0B9-43A5-A31B-E85B317DEED2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E9AB4-79F6-41E5-B001-EE41D31CA86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Review 1.1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8" y="409689"/>
            <a:ext cx="11006855" cy="60386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C00000"/>
                </a:solidFill>
                <a:latin typeface="Times New Roman"/>
                <a:cs typeface="Calibri" panose="020F0502020204030204"/>
              </a:rPr>
              <a:t>Review 1.1</a:t>
            </a:r>
          </a:p>
          <a:p>
            <a:pPr marL="0" indent="0" algn="ctr">
              <a:buNone/>
            </a:pPr>
            <a:r>
              <a:rPr lang="en-US" b="1" u="sng">
                <a:latin typeface="Times New Roman"/>
                <a:cs typeface="Times New Roman"/>
              </a:rPr>
              <a:t>B.Tech Project  (19ECE495)</a:t>
            </a:r>
            <a:r>
              <a:rPr lang="en-IN" dirty="0">
                <a:latin typeface="Times New Roman"/>
                <a:cs typeface="Times New Roman"/>
              </a:rPr>
              <a:t> </a:t>
            </a:r>
            <a:endParaRPr lang="en-IN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buNone/>
            </a:pPr>
            <a:r>
              <a:rPr lang="en-US">
                <a:latin typeface="Times New Roman"/>
                <a:cs typeface="Calibri" panose="020F0502020204030204"/>
              </a:rPr>
              <a:t>Batch ID: </a:t>
            </a:r>
            <a:r>
              <a:rPr lang="en-US" b="1">
                <a:solidFill>
                  <a:srgbClr val="C00000"/>
                </a:solidFill>
                <a:latin typeface="Times New Roman"/>
                <a:cs typeface="Calibri" panose="020F0502020204030204"/>
              </a:rPr>
              <a:t>070</a:t>
            </a:r>
            <a:endParaRPr lang="en-US" b="1">
              <a:solidFill>
                <a:srgbClr val="C00000"/>
              </a:solidFill>
              <a:latin typeface="Times New Roman"/>
              <a:ea typeface="Calibri"/>
              <a:cs typeface="Calibri" panose="020F0502020204030204"/>
            </a:endParaRPr>
          </a:p>
          <a:p>
            <a:pPr marL="0" indent="0" algn="ctr">
              <a:buNone/>
            </a:pPr>
            <a:endParaRPr lang="en-US" b="1">
              <a:latin typeface="Times New Roman" panose="020206030504050203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2400" b="1">
                <a:latin typeface="Times New Roman"/>
                <a:cs typeface="Times New Roman"/>
              </a:rPr>
              <a:t>Mutual coupling reduction in MIMO Patch Antenna Array for Wi-Fi and Bluetooth applications</a:t>
            </a:r>
            <a:endParaRPr lang="en-IN" sz="2400" b="1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/>
              <a:cs typeface="Calibri" panose="020F0502020204030204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/>
                <a:cs typeface="Calibri" panose="020F0502020204030204"/>
              </a:rPr>
              <a:t>MENTOR: </a:t>
            </a:r>
            <a:r>
              <a:rPr lang="en-IN" sz="2000">
                <a:latin typeface="Times New Roman"/>
                <a:cs typeface="Times New Roman"/>
              </a:rPr>
              <a:t>Ms. V. </a:t>
            </a:r>
            <a:r>
              <a:rPr lang="en-IN" sz="2000" err="1">
                <a:latin typeface="Times New Roman"/>
                <a:cs typeface="Times New Roman"/>
              </a:rPr>
              <a:t>Mekaladevi</a:t>
            </a:r>
            <a:r>
              <a:rPr lang="en-IN" sz="2000" dirty="0">
                <a:latin typeface="Times New Roman"/>
                <a:cs typeface="Times New Roman"/>
              </a:rPr>
              <a:t> 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>
                <a:latin typeface="Times New Roman"/>
                <a:cs typeface="Calibri" panose="020F0502020204030204"/>
              </a:rPr>
              <a:t>Dept. of Elec. and </a:t>
            </a:r>
            <a:r>
              <a:rPr lang="en-US" sz="1600" err="1">
                <a:latin typeface="Times New Roman"/>
                <a:cs typeface="Calibri" panose="020F0502020204030204"/>
              </a:rPr>
              <a:t>Commn</a:t>
            </a:r>
            <a:r>
              <a:rPr lang="en-US" sz="1600">
                <a:latin typeface="Times New Roman"/>
                <a:cs typeface="Calibri" panose="020F0502020204030204"/>
              </a:rPr>
              <a:t>. </a:t>
            </a:r>
            <a:r>
              <a:rPr lang="en-US" sz="1600" err="1">
                <a:latin typeface="Times New Roman"/>
                <a:cs typeface="Calibri" panose="020F0502020204030204"/>
              </a:rPr>
              <a:t>Engg</a:t>
            </a:r>
            <a:r>
              <a:rPr lang="en-US" sz="1600">
                <a:latin typeface="Times New Roman"/>
                <a:cs typeface="Calibri" panose="020F0502020204030204"/>
              </a:rPr>
              <a:t>. </a:t>
            </a:r>
            <a:endParaRPr lang="en-US" sz="1600">
              <a:latin typeface="Times New Roman"/>
              <a:ea typeface="Calibri"/>
              <a:cs typeface="Calibri" panose="020F0502020204030204"/>
            </a:endParaRPr>
          </a:p>
          <a:p>
            <a:pPr marL="0" indent="0" algn="r">
              <a:spcBef>
                <a:spcPts val="0"/>
              </a:spcBef>
              <a:buNone/>
            </a:pPr>
            <a:r>
              <a:rPr lang="en-US" sz="1600">
                <a:latin typeface="Times New Roman"/>
                <a:cs typeface="Calibri" panose="020F0502020204030204"/>
              </a:rPr>
              <a:t>Amrita School of Engineering, Coimbatore</a:t>
            </a:r>
            <a:endParaRPr lang="en-US" sz="1600">
              <a:latin typeface="Times New Roman"/>
              <a:ea typeface="Calibri"/>
              <a:cs typeface="Calibri" panose="020F0502020204030204"/>
            </a:endParaRPr>
          </a:p>
          <a:p>
            <a:pPr marL="0" indent="0" algn="ctr">
              <a:buNone/>
            </a:pPr>
            <a:endParaRPr lang="en-US" sz="200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900628"/>
              </p:ext>
            </p:extLst>
          </p:nvPr>
        </p:nvGraphicFramePr>
        <p:xfrm>
          <a:off x="396657" y="3872630"/>
          <a:ext cx="5492480" cy="1667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5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1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08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CB.EN.U4ECE22225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/>
                        </a:rPr>
                        <a:t>J Rohith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085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CB.EN.U4ECE22262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err="1">
                          <a:latin typeface="Times New Roman"/>
                        </a:rPr>
                        <a:t>P</a:t>
                      </a:r>
                      <a:r>
                        <a:rPr lang="en-IN" sz="1800" i="0" err="1">
                          <a:latin typeface="Times New Roman"/>
                        </a:rPr>
                        <a:t>eddakudakla</a:t>
                      </a:r>
                      <a:r>
                        <a:rPr lang="en-IN">
                          <a:latin typeface="Times New Roman"/>
                        </a:rPr>
                        <a:t> Yashwanth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3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/>
                        </a:rPr>
                        <a:t>CB.EN.U4ECE22213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Times New Roman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/>
                        </a:rPr>
                        <a:t>Chundupalle Tej Siddanth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8277-9571-43FF-B40C-E4A16C64A9FF}" type="datetime1">
              <a:rPr lang="en-IN" smtClean="0"/>
              <a:t>08-07-2025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5421-1B0D-C20C-175F-3A6317EC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153"/>
          </a:xfrm>
        </p:spPr>
        <p:txBody>
          <a:bodyPr/>
          <a:lstStyle/>
          <a:p>
            <a:r>
              <a:rPr lang="en-US">
                <a:latin typeface="Times New Roman"/>
                <a:ea typeface="Calibri Light"/>
                <a:cs typeface="Calibri Light"/>
              </a:rPr>
              <a:t>Outline</a:t>
            </a:r>
            <a:endParaRPr lang="en-US" err="1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CBE4-43BA-4DF3-971E-12444FED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681"/>
            <a:ext cx="10515600" cy="47271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>
              <a:latin typeface="Times New Roman"/>
              <a:ea typeface="Calibri"/>
              <a:cs typeface="Calibri"/>
            </a:endParaRPr>
          </a:p>
          <a:p>
            <a:r>
              <a:rPr lang="en-US">
                <a:latin typeface="Times New Roman"/>
                <a:ea typeface="Calibri"/>
                <a:cs typeface="Calibri"/>
              </a:rPr>
              <a:t>Problem Statement</a:t>
            </a:r>
          </a:p>
          <a:p>
            <a:r>
              <a:rPr lang="en-US">
                <a:latin typeface="Times New Roman"/>
                <a:ea typeface="Calibri"/>
                <a:cs typeface="Calibri"/>
              </a:rPr>
              <a:t>Motivation </a:t>
            </a:r>
          </a:p>
          <a:p>
            <a:r>
              <a:rPr lang="en-US">
                <a:latin typeface="Times New Roman"/>
                <a:ea typeface="Calibri"/>
                <a:cs typeface="Calibri"/>
              </a:rPr>
              <a:t>Objective </a:t>
            </a:r>
          </a:p>
          <a:p>
            <a:r>
              <a:rPr lang="en-US">
                <a:latin typeface="Times New Roman"/>
                <a:ea typeface="Calibri"/>
                <a:cs typeface="Calibri"/>
              </a:rPr>
              <a:t>Deliverables </a:t>
            </a:r>
          </a:p>
          <a:p>
            <a:r>
              <a:rPr lang="en-US">
                <a:latin typeface="Times New Roman"/>
                <a:ea typeface="Calibri"/>
                <a:cs typeface="Calibri"/>
              </a:rPr>
              <a:t>Novelty 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Literature Survey </a:t>
            </a:r>
            <a:endParaRPr lang="en-US">
              <a:latin typeface="Times New Roman"/>
              <a:ea typeface="Calibri"/>
              <a:cs typeface="Calibri"/>
            </a:endParaRPr>
          </a:p>
          <a:p>
            <a:r>
              <a:rPr lang="en-US">
                <a:latin typeface="Times New Roman"/>
                <a:ea typeface="Calibri"/>
                <a:cs typeface="Calibri"/>
              </a:rPr>
              <a:t>Methodology</a:t>
            </a:r>
          </a:p>
          <a:p>
            <a:r>
              <a:rPr lang="en-US">
                <a:latin typeface="Times New Roman"/>
                <a:ea typeface="Calibri"/>
                <a:cs typeface="Calibri"/>
              </a:rPr>
              <a:t>References</a:t>
            </a:r>
          </a:p>
          <a:p>
            <a:pPr marL="0" indent="0">
              <a:buNone/>
            </a:pPr>
            <a:r>
              <a:rPr lang="en-US">
                <a:latin typeface="Times New Roman"/>
                <a:ea typeface="Calibri"/>
                <a:cs typeface="Calibri"/>
              </a:rPr>
              <a:t> 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79EE3-4D02-6C14-1F4C-DFB9603C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05BE-83D1-4504-882C-D2A269C227AA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9CD45-894B-9486-9BB7-3B0C9831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3B99B-404C-BB61-F5B0-D5D51872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46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452F-9E7E-B89B-7E91-065283A2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D1AF9-B500-0977-43C9-5AAC9BB0A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61" y="313808"/>
            <a:ext cx="10723139" cy="65408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/>
                <a:cs typeface="Times New Roman" panose="02020603050405020304"/>
              </a:rPr>
              <a:t>Problem Statement:</a:t>
            </a:r>
            <a:endParaRPr lang="en-US" dirty="0"/>
          </a:p>
          <a:p>
            <a:r>
              <a:rPr lang="en-US" sz="2400" dirty="0">
                <a:latin typeface="Times New Roman"/>
                <a:ea typeface="+mn-lt"/>
                <a:cs typeface="+mn-lt"/>
              </a:rPr>
              <a:t>Design  a Patch antenna array with decoupling structures at 2.4 GHz.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>
              <a:latin typeface="Times New Roman"/>
              <a:ea typeface="+mn-lt"/>
              <a:cs typeface="+mn-lt"/>
            </a:endParaRPr>
          </a:p>
          <a:p>
            <a:pPr>
              <a:buNone/>
            </a:pPr>
            <a:r>
              <a:rPr lang="en-US" sz="2400" b="1" dirty="0">
                <a:ea typeface="+mn-lt"/>
                <a:cs typeface="+mn-lt"/>
              </a:rPr>
              <a:t>Challenge:</a:t>
            </a:r>
            <a:r>
              <a:rPr lang="en-US" sz="2400" dirty="0">
                <a:ea typeface="+mn-lt"/>
                <a:cs typeface="+mn-lt"/>
              </a:rPr>
              <a:t> In MIMO (Multiple-Input Multiple-Output) antenna systems, mutual coupling between closely spaced antenna elements significantly degrades system performance by:</a:t>
            </a:r>
            <a:endParaRPr lang="en-US" sz="24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Reducing antenna efficiency and gain.</a:t>
            </a:r>
            <a:endParaRPr lang="en-US" sz="2400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Affecting impedance matching .</a:t>
            </a: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indent="0">
              <a:buNone/>
            </a:pPr>
            <a:r>
              <a:rPr lang="en-US" sz="2400" b="1" dirty="0">
                <a:ea typeface="+mn-lt"/>
                <a:cs typeface="+mn-lt"/>
              </a:rPr>
              <a:t>Goal:</a:t>
            </a:r>
            <a:r>
              <a:rPr lang="en-US" sz="2400" dirty="0">
                <a:ea typeface="+mn-lt"/>
                <a:cs typeface="+mn-lt"/>
              </a:rPr>
              <a:t> Achieving effective mutual coupling reduction while maintaining compact antenna array dimensions (less than λ/2 spacing) for 2.4 GHz Wi-Fi and Bluetooth applications.</a:t>
            </a: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endParaRPr lang="en-US" sz="3600" b="1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9F1C33-3152-452A-51D2-075E773B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3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6673D-A302-B5F0-6522-AE34C6185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1693D-10A7-4E24-8CD5-66B51901AA18}" type="datetime1">
              <a:rPr lang="en-IN" smtClean="0"/>
              <a:t>08-07-2025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AD25B-562E-ED41-4C9C-A9F899997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  <p:extLst>
      <p:ext uri="{BB962C8B-B14F-4D97-AF65-F5344CB8AC3E}">
        <p14:creationId xmlns:p14="http://schemas.microsoft.com/office/powerpoint/2010/main" val="73237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310" y="407137"/>
            <a:ext cx="11342026" cy="5948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3600" b="1">
                <a:latin typeface="Times New Roman" panose="02020603050405020304"/>
                <a:cs typeface="Times New Roman" panose="02020603050405020304"/>
              </a:rPr>
              <a:t>Motivation:</a:t>
            </a:r>
            <a:endParaRPr lang="en-US" sz="3600">
              <a:latin typeface="Times New Roman" panose="02020603050405020304"/>
              <a:cs typeface="Times New Roman" panose="02020603050405020304"/>
            </a:endParaRPr>
          </a:p>
          <a:p>
            <a:pPr>
              <a:buNone/>
            </a:pPr>
            <a:r>
              <a:rPr lang="en-US" sz="2400">
                <a:latin typeface="Times New Roman"/>
                <a:cs typeface="Times New Roman"/>
              </a:rPr>
              <a:t>Growing Demand for </a:t>
            </a:r>
            <a:r>
              <a:rPr lang="en-US" sz="2400">
                <a:latin typeface="Times New Roman"/>
                <a:ea typeface="+mn-lt"/>
                <a:cs typeface="Times New Roman"/>
              </a:rPr>
              <a:t>MIMO Systems</a:t>
            </a:r>
            <a:endParaRPr lang="en-US"/>
          </a:p>
          <a:p>
            <a:pPr>
              <a:buNone/>
            </a:pPr>
            <a:r>
              <a:rPr lang="en-US" sz="2400">
                <a:latin typeface="Arial"/>
                <a:ea typeface="+mn-lt"/>
                <a:cs typeface="Arial"/>
              </a:rPr>
              <a:t>•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Wireless Communication Growth:</a:t>
            </a:r>
            <a:r>
              <a:rPr lang="en-US" sz="2400">
                <a:latin typeface="Times New Roman"/>
                <a:ea typeface="+mn-lt"/>
                <a:cs typeface="Times New Roman"/>
              </a:rPr>
              <a:t> Exponential increase in data traffic requires higher capacity and reliability.</a:t>
            </a:r>
            <a:endParaRPr lang="en-US">
              <a:cs typeface="Times New Roman"/>
            </a:endParaRPr>
          </a:p>
          <a:p>
            <a:pPr>
              <a:buNone/>
            </a:pPr>
            <a:r>
              <a:rPr lang="en-US" sz="2400">
                <a:latin typeface="Arial"/>
                <a:ea typeface="+mn-lt"/>
                <a:cs typeface="Arial"/>
              </a:rPr>
              <a:t>•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IoT and Smart Devices:</a:t>
            </a:r>
            <a:r>
              <a:rPr lang="en-US" sz="2400">
                <a:latin typeface="Times New Roman"/>
                <a:ea typeface="+mn-lt"/>
                <a:cs typeface="Times New Roman"/>
              </a:rPr>
              <a:t> Need for compact, efficient antennas in space-constrained devices.</a:t>
            </a:r>
            <a:endParaRPr lang="en-US">
              <a:cs typeface="Times New Roman"/>
            </a:endParaRPr>
          </a:p>
          <a:p>
            <a:pPr>
              <a:buNone/>
            </a:pPr>
            <a:r>
              <a:rPr lang="en-US" sz="2400">
                <a:latin typeface="Arial"/>
                <a:ea typeface="+mn-lt"/>
                <a:cs typeface="Arial"/>
              </a:rPr>
              <a:t>•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5G and Beyond:</a:t>
            </a:r>
            <a:r>
              <a:rPr lang="en-US" sz="2400">
                <a:latin typeface="Times New Roman"/>
                <a:ea typeface="+mn-lt"/>
                <a:cs typeface="Times New Roman"/>
              </a:rPr>
              <a:t> MIMO technology is fundamental for achieving high data rates</a:t>
            </a:r>
            <a:endParaRPr lang="en-US"/>
          </a:p>
          <a:p>
            <a:pPr>
              <a:buNone/>
            </a:pPr>
            <a:r>
              <a:rPr lang="en-US" sz="2400">
                <a:latin typeface="Times New Roman"/>
                <a:ea typeface="+mn-lt"/>
                <a:cs typeface="Times New Roman"/>
              </a:rPr>
              <a:t>Technical Challenges.</a:t>
            </a:r>
            <a:endParaRPr lang="en-US">
              <a:cs typeface="Times New Roman"/>
            </a:endParaRPr>
          </a:p>
          <a:p>
            <a:pPr>
              <a:buNone/>
            </a:pPr>
            <a:r>
              <a:rPr lang="en-US" sz="2400">
                <a:latin typeface="Arial"/>
                <a:ea typeface="Calibri"/>
                <a:cs typeface="Arial"/>
              </a:rPr>
              <a:t>•</a:t>
            </a:r>
            <a:r>
              <a:rPr lang="en-US" sz="2400" b="1">
                <a:latin typeface="Times New Roman"/>
                <a:ea typeface="Calibri"/>
                <a:cs typeface="Times New Roman"/>
              </a:rPr>
              <a:t>Miniaturization Requirements: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Modern devices demand smaller antennas without performance compromise.</a:t>
            </a:r>
            <a:endParaRPr lang="en-US">
              <a:cs typeface="Times New Roman"/>
            </a:endParaRPr>
          </a:p>
          <a:p>
            <a:pPr>
              <a:buNone/>
            </a:pPr>
            <a:r>
              <a:rPr lang="en-US" sz="2400">
                <a:latin typeface="Arial"/>
                <a:ea typeface="+mn-lt"/>
                <a:cs typeface="Arial"/>
              </a:rPr>
              <a:t>•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Interference Issues:</a:t>
            </a:r>
            <a:r>
              <a:rPr lang="en-US" sz="2400">
                <a:latin typeface="Times New Roman"/>
                <a:ea typeface="+mn-lt"/>
                <a:cs typeface="Times New Roman"/>
              </a:rPr>
              <a:t> Dense deployment of wireless devices increases interference problems.</a:t>
            </a:r>
            <a:endParaRPr lang="en-US">
              <a:cs typeface="Times New Roman"/>
            </a:endParaRPr>
          </a:p>
          <a:p>
            <a:pPr>
              <a:buNone/>
            </a:pPr>
            <a:r>
              <a:rPr lang="en-US" sz="2400">
                <a:latin typeface="Arial"/>
                <a:ea typeface="+mn-lt"/>
                <a:cs typeface="Arial"/>
              </a:rPr>
              <a:t>•</a:t>
            </a:r>
            <a:r>
              <a:rPr lang="en-US" sz="2400" b="1">
                <a:latin typeface="Times New Roman"/>
                <a:ea typeface="+mn-lt"/>
                <a:cs typeface="Times New Roman"/>
              </a:rPr>
              <a:t>Performance Optimization:</a:t>
            </a:r>
            <a:r>
              <a:rPr lang="en-US" sz="2400">
                <a:latin typeface="Times New Roman"/>
                <a:ea typeface="+mn-lt"/>
                <a:cs typeface="Times New Roman"/>
              </a:rPr>
              <a:t> Need for high isolation (&gt;20 dB) while maintaining good radiation characteristics.</a:t>
            </a:r>
            <a:endParaRPr lang="en-US">
              <a:cs typeface="Times New Roman"/>
            </a:endParaRPr>
          </a:p>
          <a:p>
            <a:pPr>
              <a:buNone/>
            </a:pPr>
            <a:endParaRPr lang="en-US" sz="2400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endParaRPr lang="en-US" sz="24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>
              <a:latin typeface="Times New Roman"/>
              <a:ea typeface="Calibri"/>
              <a:cs typeface="Calibri"/>
            </a:endParaRPr>
          </a:p>
          <a:p>
            <a:pPr>
              <a:buNone/>
            </a:pPr>
            <a:endParaRPr lang="en-US" sz="3600" b="1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>
              <a:latin typeface="Times New Roman"/>
              <a:ea typeface="Calibri"/>
              <a:cs typeface="Calibri"/>
            </a:endParaRPr>
          </a:p>
          <a:p>
            <a:pPr algn="just"/>
            <a:endParaRPr lang="en-US" sz="2400">
              <a:latin typeface="Times New Roman" panose="02020603050405020304"/>
              <a:cs typeface="Calibri" panose="020F0502020204030204"/>
            </a:endParaRPr>
          </a:p>
          <a:p>
            <a:pPr algn="just">
              <a:buNone/>
            </a:pPr>
            <a:endParaRPr lang="en-US" sz="2000" b="1">
              <a:latin typeface="Times New Roman" panose="02020603050405020304"/>
              <a:cs typeface="Calibri" panose="020F0502020204030204"/>
            </a:endParaRPr>
          </a:p>
          <a:p>
            <a:pPr marL="0" indent="0">
              <a:buNone/>
            </a:pPr>
            <a:endParaRPr lang="en-US" sz="240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92BF8-ECBA-4881-8694-8B8F088B08DB}" type="datetime1">
              <a:rPr lang="en-IN" smtClean="0"/>
              <a:t>08-07-2025</a:t>
            </a:fld>
            <a:endParaRPr lang="en-GB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8891"/>
            <a:ext cx="10515600" cy="595771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>
                <a:latin typeface="Times New Roman" panose="02020603050405020304"/>
                <a:cs typeface="Times New Roman" panose="02020603050405020304"/>
              </a:rPr>
              <a:t>Objectives:</a:t>
            </a:r>
            <a:endParaRPr lang="en-US" sz="36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+mn-lt"/>
              </a:rPr>
              <a:t>Design and analysis of base antenna at 2.4 GHz.</a:t>
            </a:r>
            <a:endParaRPr lang="en-US" sz="2400">
              <a:latin typeface="Times New Roman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4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+mn-lt"/>
              </a:rPr>
              <a:t>Design and analysis of  Patch antenna array at 2.4 GHz.</a:t>
            </a:r>
            <a:endParaRPr lang="en-US" sz="2400">
              <a:latin typeface="Times New Roman"/>
              <a:ea typeface="Calibri"/>
              <a:cs typeface="Calibri"/>
            </a:endParaRPr>
          </a:p>
          <a:p>
            <a:pPr algn="just"/>
            <a:endParaRPr lang="en-US" sz="24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+mn-lt"/>
              </a:rPr>
              <a:t>Design and analysis of Patch antenna array with decoupling structures.</a:t>
            </a:r>
            <a:endParaRPr lang="en-US" sz="2400">
              <a:latin typeface="Times New Roman"/>
              <a:ea typeface="Calibri"/>
              <a:cs typeface="Calibri"/>
            </a:endParaRPr>
          </a:p>
          <a:p>
            <a:pPr algn="just"/>
            <a:endParaRPr lang="en-US" sz="2400">
              <a:latin typeface="Times New Roman"/>
              <a:ea typeface="+mn-lt"/>
              <a:cs typeface="+mn-lt"/>
            </a:endParaRPr>
          </a:p>
          <a:p>
            <a:pPr algn="just"/>
            <a:r>
              <a:rPr lang="en-US" sz="2400">
                <a:latin typeface="Times New Roman"/>
                <a:ea typeface="+mn-lt"/>
                <a:cs typeface="+mn-lt"/>
              </a:rPr>
              <a:t>Prototype and Measurement.</a:t>
            </a:r>
            <a:endParaRPr lang="en-US" sz="240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sz="2400">
              <a:latin typeface="Times New Roman"/>
              <a:ea typeface="Calibri"/>
              <a:cs typeface="Calibri"/>
            </a:endParaRPr>
          </a:p>
          <a:p>
            <a:pPr algn="just"/>
            <a:r>
              <a:rPr lang="en-US" sz="2400">
                <a:latin typeface="Times New Roman"/>
                <a:cs typeface="Times New Roman"/>
              </a:rPr>
              <a:t>Performance Targets:</a:t>
            </a:r>
            <a:endParaRPr lang="en-US" sz="2400">
              <a:latin typeface="Times New Roman"/>
              <a:ea typeface="Calibri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+mn-lt"/>
              </a:rPr>
              <a:t>Isolation:</a:t>
            </a:r>
            <a:r>
              <a:rPr lang="en-US" sz="2400">
                <a:latin typeface="Times New Roman"/>
                <a:ea typeface="+mn-lt"/>
                <a:cs typeface="+mn-lt"/>
              </a:rPr>
              <a:t> &gt; 20 dB between antenna elements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+mn-lt"/>
              </a:rPr>
              <a:t>Element Spacing:</a:t>
            </a:r>
            <a:r>
              <a:rPr lang="en-US" sz="2400">
                <a:latin typeface="Times New Roman"/>
                <a:ea typeface="+mn-lt"/>
                <a:cs typeface="+mn-lt"/>
              </a:rPr>
              <a:t> &lt; λ/2 for compact design</a:t>
            </a:r>
            <a:endParaRPr lang="en-US" sz="2400">
              <a:latin typeface="Times New Roman"/>
              <a:cs typeface="Times New Roman"/>
            </a:endParaRPr>
          </a:p>
          <a:p>
            <a:pPr algn="just"/>
            <a:r>
              <a:rPr lang="en-US" sz="2400" b="1">
                <a:latin typeface="Times New Roman"/>
                <a:ea typeface="+mn-lt"/>
                <a:cs typeface="+mn-lt"/>
              </a:rPr>
              <a:t>Operating Frequency:</a:t>
            </a:r>
            <a:r>
              <a:rPr lang="en-US" sz="2400">
                <a:latin typeface="Times New Roman"/>
                <a:ea typeface="+mn-lt"/>
                <a:cs typeface="+mn-lt"/>
              </a:rPr>
              <a:t> 2.4 GHz (Wi-Fi and Bluetooth bands)</a:t>
            </a:r>
            <a:endParaRPr lang="en-US">
              <a:latin typeface="Times New Roman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000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 sz="1200" b="1">
              <a:latin typeface="Times New Roman" panose="02020603050405020304"/>
              <a:cs typeface="Times New Roman" panose="02020603050405020304"/>
            </a:endParaRPr>
          </a:p>
          <a:p>
            <a:pPr marL="0" indent="0">
              <a:buNone/>
            </a:pPr>
            <a:endParaRPr lang="en-US" sz="200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B6DE3-F25B-43A2-9A9A-DE8FF1891059}" type="datetime1">
              <a:rPr lang="en-IN" smtClean="0"/>
              <a:t>08-07-2025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693" y="301625"/>
            <a:ext cx="10515600" cy="63137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b="1">
                <a:latin typeface="Times New Roman" panose="02020603050405020304"/>
                <a:cs typeface="Calibri" panose="020F0502020204030204"/>
              </a:rPr>
              <a:t>Milestones and Deliverables:</a:t>
            </a:r>
          </a:p>
          <a:p>
            <a:pPr marL="0" indent="0">
              <a:buNone/>
            </a:pPr>
            <a:endParaRPr lang="en-US" sz="3200">
              <a:ea typeface="+mn-lt"/>
              <a:cs typeface="+mn-lt"/>
            </a:endParaRPr>
          </a:p>
          <a:p>
            <a:pPr marL="0" indent="0">
              <a:buNone/>
            </a:pPr>
            <a:endParaRPr lang="en-US" sz="32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B39-2FFF-4FE4-B690-EB46CF467329}" type="datetime1">
              <a:rPr lang="en-IN" smtClean="0"/>
              <a:t>08-07-2025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4853A2-3770-F567-57C4-5C9087E79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081092"/>
              </p:ext>
            </p:extLst>
          </p:nvPr>
        </p:nvGraphicFramePr>
        <p:xfrm>
          <a:off x="679450" y="1221613"/>
          <a:ext cx="10833100" cy="4045678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327182407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767080713"/>
                    </a:ext>
                  </a:extLst>
                </a:gridCol>
                <a:gridCol w="6273800">
                  <a:extLst>
                    <a:ext uri="{9D8B030D-6E8A-4147-A177-3AD203B41FA5}">
                      <a16:colId xmlns:a16="http://schemas.microsoft.com/office/drawing/2014/main" val="2907983444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chemeClr val="tx1"/>
                          </a:solidFill>
                          <a:effectLst/>
                        </a:rPr>
                        <a:t>Review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chemeClr val="tx1"/>
                          </a:solidFill>
                          <a:effectLst/>
                        </a:rPr>
                        <a:t>Month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chemeClr val="tx1"/>
                          </a:solidFill>
                          <a:effectLst/>
                        </a:rPr>
                        <a:t>Milestone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36977075"/>
                  </a:ext>
                </a:extLst>
              </a:tr>
              <a:tr h="71483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1.1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June-July 2025 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000000"/>
                          </a:solidFill>
                          <a:effectLst/>
                        </a:rPr>
                        <a:t>Literature survey for decoupling structures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5879776"/>
                  </a:ext>
                </a:extLst>
              </a:tr>
              <a:tr h="71483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1.2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August – September 2025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</a:rPr>
                        <a:t>Design and analysis of base antenna at 2.4 GHz.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4401277"/>
                  </a:ext>
                </a:extLst>
              </a:tr>
              <a:tr h="71483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1.3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October-November 2025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</a:rPr>
                        <a:t>Design and analysis of a Patch antenna array at 2.4 GHz 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0495143"/>
                  </a:ext>
                </a:extLst>
              </a:tr>
              <a:tr h="71483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2.1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December 2025-January 2026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</a:rPr>
                        <a:t>Design and analysis of a Patch antenna array with decoupling structures at 2.4 GHz.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5444812"/>
                  </a:ext>
                </a:extLst>
              </a:tr>
              <a:tr h="714838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2.2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</a:rPr>
                        <a:t>February-March 2026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000000"/>
                          </a:solidFill>
                          <a:effectLst/>
                        </a:rPr>
                        <a:t>Prototype and Measurement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881271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6CFE-94C3-7B07-A261-087E5299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4522"/>
          </a:xfrm>
        </p:spPr>
        <p:txBody>
          <a:bodyPr/>
          <a:lstStyle/>
          <a:p>
            <a:r>
              <a:rPr lang="en-US" b="1">
                <a:latin typeface="Times New Roman"/>
                <a:ea typeface="+mj-lt"/>
                <a:cs typeface="+mj-lt"/>
              </a:rPr>
              <a:t>Novelty</a:t>
            </a:r>
            <a:endParaRPr lang="en-US" b="1">
              <a:latin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3729-60FE-048A-32F9-BA4B65DC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530"/>
            <a:ext cx="10515600" cy="47584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+mn-lt"/>
              </a:rPr>
              <a:t>Compact Decoupling Structure Design:</a:t>
            </a:r>
            <a:r>
              <a:rPr lang="en-US">
                <a:latin typeface="Times New Roman"/>
                <a:ea typeface="+mn-lt"/>
                <a:cs typeface="+mn-lt"/>
              </a:rPr>
              <a:t> Propose a simple, compact decoupling structure that maintains antenna element spacing less than λ/2 while achieving high isolation (&gt;20 dB).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90962-6A08-9DAC-63D7-96E7A034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05BE-83D1-4504-882C-D2A269C227AA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89AC3-63F6-B409-7A16-01EC2962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DA3CB-DDE3-B75F-64B0-FEB87FAE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37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790" y="177234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804CD-B956-491C-9DB0-AF3B772D7ACD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3D8F65-DB11-D24B-87B4-2596EE28D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36293"/>
              </p:ext>
            </p:extLst>
          </p:nvPr>
        </p:nvGraphicFramePr>
        <p:xfrm>
          <a:off x="0" y="981205"/>
          <a:ext cx="12217573" cy="497464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744952">
                  <a:extLst>
                    <a:ext uri="{9D8B030D-6E8A-4147-A177-3AD203B41FA5}">
                      <a16:colId xmlns:a16="http://schemas.microsoft.com/office/drawing/2014/main" val="2629561206"/>
                    </a:ext>
                  </a:extLst>
                </a:gridCol>
                <a:gridCol w="3659364">
                  <a:extLst>
                    <a:ext uri="{9D8B030D-6E8A-4147-A177-3AD203B41FA5}">
                      <a16:colId xmlns:a16="http://schemas.microsoft.com/office/drawing/2014/main" val="2293370451"/>
                    </a:ext>
                  </a:extLst>
                </a:gridCol>
                <a:gridCol w="2357263">
                  <a:extLst>
                    <a:ext uri="{9D8B030D-6E8A-4147-A177-3AD203B41FA5}">
                      <a16:colId xmlns:a16="http://schemas.microsoft.com/office/drawing/2014/main" val="2728259975"/>
                    </a:ext>
                  </a:extLst>
                </a:gridCol>
                <a:gridCol w="5455994">
                  <a:extLst>
                    <a:ext uri="{9D8B030D-6E8A-4147-A177-3AD203B41FA5}">
                      <a16:colId xmlns:a16="http://schemas.microsoft.com/office/drawing/2014/main" val="1646289445"/>
                    </a:ext>
                  </a:extLst>
                </a:gridCol>
              </a:tblGrid>
              <a:tr h="737925">
                <a:tc>
                  <a:txBody>
                    <a:bodyPr/>
                    <a:lstStyle/>
                    <a:p>
                      <a:r>
                        <a:rPr lang="en-GB" sz="180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  </a:t>
                      </a:r>
                    </a:p>
                    <a:p>
                      <a:pPr lvl="0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Title of the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             </a:t>
                      </a:r>
                      <a:endParaRPr lang="en-US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 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   </a:t>
                      </a:r>
                      <a:endParaRPr lang="en-US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800">
                          <a:solidFill>
                            <a:schemeClr val="tx1"/>
                          </a:solidFill>
                          <a:latin typeface="Times New Roman"/>
                        </a:rPr>
                        <a:t>                Inferences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06339"/>
                  </a:ext>
                </a:extLst>
              </a:tr>
              <a:tr h="2101215"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chemeClr val="tx1"/>
                          </a:solidFill>
                          <a:latin typeface="Times New Roman"/>
                        </a:rPr>
                        <a:t>  1</a:t>
                      </a:r>
                      <a:endParaRPr lang="en-GB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Electric-Field Null Bending of a Single Dual-Port Patch Antenna for Colinear Polarization Decoupling Using Characteristic Modes Analysis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 b="0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4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IEEE TRANSACTIONS ON ANTENNAS AND PROPAGATION, 2022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5.4GHz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17 dB </a:t>
                      </a:r>
                      <a:endParaRPr lang="en-US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Spacing (Port-to-Port):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12.7 mm = 0.23λ₀</a:t>
                      </a:r>
                      <a:endParaRPr lang="en-US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El</a:t>
                      </a:r>
                      <a:r>
                        <a:rPr lang="en-US" sz="16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ectric-field null bending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by combining two characteristic modes (TM₀₁ and TM₂₀) to create null points at the feeding locations of the opposite ports.</a:t>
                      </a:r>
                      <a:endParaRPr lang="en-US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Structure: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Single Patch Antenna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320842"/>
                  </a:ext>
                </a:extLst>
              </a:tr>
              <a:tr h="1475856"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400" b="1">
                          <a:solidFill>
                            <a:schemeClr val="tx1"/>
                          </a:solidFill>
                          <a:latin typeface="Times New Roman"/>
                        </a:rPr>
                        <a:t>  2</a:t>
                      </a:r>
                      <a:endParaRPr lang="en-GB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Mode-Counteraction Based Self-Decoupling in Circularly Polarized MIMO Microstrip Patch Array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 b="0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4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IEEE TRANSACTIONS ON ANTENNAS AND PROPAGATION,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5.5GHz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59.4 dB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Spacing (Center to Center):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21.64 mm = 0.4λ₀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El</a:t>
                      </a:r>
                      <a:r>
                        <a:rPr lang="en-US" sz="16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ectric-field null bending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Utilizes TM₁,₀ and TM₀,₁ modes to create null-field regions where feeding probes are positioned.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Structure: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1×2 MPA Array</a:t>
                      </a:r>
                      <a:endParaRPr lang="en-GB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GB" sz="1400" b="0" i="0" u="none" strike="noStrike" noProof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74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BD33-2DAC-5E57-D299-34847411C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72" y="302495"/>
            <a:ext cx="5912285" cy="709700"/>
          </a:xfrm>
        </p:spPr>
        <p:txBody>
          <a:bodyPr/>
          <a:lstStyle/>
          <a:p>
            <a:r>
              <a:rPr lang="en-US" sz="3200" b="1">
                <a:latin typeface="Times New Roman"/>
                <a:cs typeface="Times New Roman"/>
              </a:rPr>
              <a:t>Literature (continued):</a:t>
            </a:r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BCE5A6D-35FF-577F-F3EC-E248360CEC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867047"/>
              </p:ext>
            </p:extLst>
          </p:nvPr>
        </p:nvGraphicFramePr>
        <p:xfrm>
          <a:off x="-10438" y="1252602"/>
          <a:ext cx="12197297" cy="4942022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958599">
                  <a:extLst>
                    <a:ext uri="{9D8B030D-6E8A-4147-A177-3AD203B41FA5}">
                      <a16:colId xmlns:a16="http://schemas.microsoft.com/office/drawing/2014/main" val="3389523898"/>
                    </a:ext>
                  </a:extLst>
                </a:gridCol>
                <a:gridCol w="3123638">
                  <a:extLst>
                    <a:ext uri="{9D8B030D-6E8A-4147-A177-3AD203B41FA5}">
                      <a16:colId xmlns:a16="http://schemas.microsoft.com/office/drawing/2014/main" val="3932233240"/>
                    </a:ext>
                  </a:extLst>
                </a:gridCol>
                <a:gridCol w="3137647">
                  <a:extLst>
                    <a:ext uri="{9D8B030D-6E8A-4147-A177-3AD203B41FA5}">
                      <a16:colId xmlns:a16="http://schemas.microsoft.com/office/drawing/2014/main" val="2865389416"/>
                    </a:ext>
                  </a:extLst>
                </a:gridCol>
                <a:gridCol w="4977413">
                  <a:extLst>
                    <a:ext uri="{9D8B030D-6E8A-4147-A177-3AD203B41FA5}">
                      <a16:colId xmlns:a16="http://schemas.microsoft.com/office/drawing/2014/main" val="1797052533"/>
                    </a:ext>
                  </a:extLst>
                </a:gridCol>
              </a:tblGrid>
              <a:tr h="8577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8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endParaRPr lang="en-US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Title of the Paper</a:t>
                      </a:r>
                      <a:endParaRPr lang="en-US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 Source</a:t>
                      </a:r>
                      <a:endParaRPr lang="en-US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 Inferences</a:t>
                      </a:r>
                      <a:endParaRPr lang="en-US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9943"/>
                  </a:ext>
                </a:extLst>
              </a:tr>
              <a:tr h="165823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GB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400">
                          <a:solidFill>
                            <a:schemeClr val="tx1"/>
                          </a:solidFill>
                          <a:latin typeface="Times New Roman"/>
                        </a:rPr>
                        <a:t>  3</a:t>
                      </a:r>
                      <a:endParaRPr lang="en-GB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A Compact Multifrequency Broadband Dual-Antenna System With Mutual Coupling Reduction for Wi-Fi 6E Application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GB" sz="14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IEEE ANTENNAS AND WIRELESS PROPAGATION LETTERS, 2024</a:t>
                      </a:r>
                      <a:endParaRPr lang="en-GB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 bands: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2.4–2.484 GHz(low band), 5.15–5.825 GHz(high band), 5.925–7.125 GHz(high band)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23 dB(in low band),22dB (in high band)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Spacing (Edge-to-Edge):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2 mm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Decoupling Inductor (L1) for low band ,Parasitic Branch with Inductor (L2)</a:t>
                      </a:r>
                      <a:endParaRPr lang="en-US" sz="1600" b="1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And Neutralization Line with Inductor (L3) for high band.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Structure: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Two identical Inverted-F Antennas (IFAs)</a:t>
                      </a:r>
                      <a:endParaRPr lang="en-GB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383175"/>
                  </a:ext>
                </a:extLst>
              </a:tr>
              <a:tr h="165823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   4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Self-Decoupled 8-Element Dual Polarized MIMO Antenna for B5G Handsets With Sub-6 GHz and </a:t>
                      </a:r>
                      <a:r>
                        <a:rPr lang="en-US" sz="14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mmWave</a:t>
                      </a: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 Integration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chemeClr val="bg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  <a:endParaRPr lang="en-GB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4.8 GHz,28.5 GHz</a:t>
                      </a:r>
                      <a:endParaRPr lang="en-US" sz="140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14.4 dB (4.8GHz) and  25 dB(28.5GHz)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Uses two F-shaped slots with independent frequency control for each band and achieves high isolation  decoupling through clever orthogonal antenna arrangement.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Structure: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1×2 MPA Array</a:t>
                      </a:r>
                      <a:endParaRPr lang="en-GB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981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134EF-DBA4-FCF4-E270-FA0EAD3E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05BE-83D1-4504-882C-D2A269C227AA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F2A79-7955-84C8-C29C-127C4052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240E5-B9A6-BD0E-1FA0-FE6FCB3E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78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544" y="125043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274085-6A10-62F9-1D83-F60902BF6D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068013"/>
              </p:ext>
            </p:extLst>
          </p:nvPr>
        </p:nvGraphicFramePr>
        <p:xfrm>
          <a:off x="0" y="929013"/>
          <a:ext cx="12159872" cy="545717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922139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716568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772799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4748366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73372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b="1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1970988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>
                          <a:solidFill>
                            <a:schemeClr val="tx1"/>
                          </a:solidFill>
                          <a:latin typeface="Times New Roman"/>
                        </a:rPr>
                        <a:t>  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</a:rPr>
                        <a:t>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A Self-Decoupling Method for MIMO Antenna Array Using Characteristic Mode of Ground Plane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IEEE TRANSACTIONS ON ANTENNAS AND PROPAGATION, 2023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4GHz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 57 dB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Spacing (Centre to Centre):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32.8mm(0.44λ 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The method exploits specific characteristic modes of rectangular ground planes that create two or multiple parallel null-field regions. By strategically placing antenna elements so that one excites the desired mode while others have their feed points located in null-field regions.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Structure: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 × 2 microstrip patch antenna (MPA) array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283420"/>
                  </a:ext>
                </a:extLst>
              </a:tr>
              <a:tr h="2071687">
                <a:tc>
                  <a:txBody>
                    <a:bodyPr/>
                    <a:lstStyle/>
                    <a:p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latin typeface="Times New Roman"/>
                        </a:rPr>
                        <a:t>  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Mutual Coupling Reduction in Closely Spaced MIMO Dielectric Resonator Antenna in H-Plane Using Closed Metallic Loop</a:t>
                      </a:r>
                      <a:endParaRPr lang="en-US" sz="14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>
                          <a:latin typeface="Times New Roman"/>
                        </a:rPr>
                        <a:t> 4.73-5.1 GHz (Sub-6GHz 5G band)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>
                          <a:latin typeface="Times New Roman"/>
                        </a:rPr>
                        <a:t> 28 dB 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Times New Roman"/>
                        </a:rPr>
                        <a:t>Antenna Spacing (Edge-to-Edge):</a:t>
                      </a:r>
                      <a:r>
                        <a:rPr lang="en-US" sz="1400" b="0" i="0" u="none" strike="noStrike" noProof="0">
                          <a:latin typeface="Times New Roman"/>
                        </a:rPr>
                        <a:t> 1 mm = 0.016λ₀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Times New Roman"/>
                        </a:rPr>
                        <a:t>Method of Mutual Coupling Reduction:</a:t>
                      </a:r>
                      <a:r>
                        <a:rPr lang="en-US" sz="1400" b="0" i="0" u="none" strike="noStrike" noProof="0">
                          <a:latin typeface="Times New Roman"/>
                        </a:rPr>
                        <a:t> Closed metallic loops wrapped around adjacent edges of DRAs, shorted to ground.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>
                          <a:latin typeface="Times New Roman"/>
                        </a:rPr>
                        <a:t>Antenna Structure:</a:t>
                      </a:r>
                      <a:endParaRPr lang="en-US" sz="140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>
                          <a:latin typeface="Times New Roman"/>
                        </a:rPr>
                        <a:t>2×1 MIMO DRA array</a:t>
                      </a:r>
                      <a:endParaRPr lang="en-US" sz="140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1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90CC1-A903-ABB9-6872-58C065E7E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69F29-AADB-6A62-F29B-628BE1BA0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03" y="135481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FA107D-37BC-9E69-C3B4-23A15567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11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0BC3D-BCF7-260C-594B-45D57850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9FFD0-1A94-5AF8-7D5C-523AA052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E9E232-7DBF-EED4-22AB-2F73B1360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318555"/>
              </p:ext>
            </p:extLst>
          </p:nvPr>
        </p:nvGraphicFramePr>
        <p:xfrm>
          <a:off x="31314" y="814191"/>
          <a:ext cx="12142109" cy="56083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656771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646770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860630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4977938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5011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b="1" i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30395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 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  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Dual-Broadband Aperture-Shared Base Station Antenna Array Using Double Decoupling Techniques</a:t>
                      </a:r>
                      <a:endParaRPr lang="en-US" sz="14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Operating Frequency :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Low Band: 1.7-2.5 GHz ;High Band: 3.1-4.1 GHz 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Isolation :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Low Band: &gt;25 </a:t>
                      </a:r>
                      <a:r>
                        <a:rPr lang="en-US" sz="1400" b="0" i="0" u="none" strike="noStrike" noProof="0" dirty="0" err="1">
                          <a:latin typeface="Times New Roman"/>
                        </a:rPr>
                        <a:t>dB;High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Band: &gt;30 dB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Mutual Coupling Reduction Method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Times New Roman"/>
                        </a:rPr>
                        <a:t>Double Decoupling Techniques: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dirty="0">
                          <a:latin typeface="Times New Roman"/>
                        </a:rPr>
                        <a:t>L-shaped branches - loaded on dipole arms to generate reverse currents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dirty="0">
                          <a:latin typeface="Times New Roman"/>
                        </a:rPr>
                        <a:t>Open Ring Decoupling Surface (ODS) - placed above LB antenna for electromagnetic transparency</a:t>
                      </a: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Structure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dirty="0">
                          <a:latin typeface="Times New Roman"/>
                        </a:rPr>
                        <a:t>LB Antenna: Dipole with L-shaped branches + baluns + ODS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dirty="0">
                          <a:latin typeface="Times New Roman"/>
                        </a:rPr>
                        <a:t>HB Antennas: 4 antennas (2×1 arrays with power dividers)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80073"/>
                  </a:ext>
                </a:extLst>
              </a:tr>
              <a:tr h="1923503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 </a:t>
                      </a: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   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8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Mutual Coupling Reduction Between Two Tightly Packed Half-Split Cylindrical Dielectric Resonator Antennas</a:t>
                      </a:r>
                      <a:r>
                        <a:rPr lang="en-US" sz="14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IEEE TRANSACTIONS ON ANTENNAS AND PROPAGATION, 2023 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4.54-5.34 GHz 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44 dB at 4.9 GHz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Spacing (Edge-to-Edge):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3 mm (0.05λ₀)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Method of Mutual Coupling Reduction: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Double-sided copper-cladded FR-4 substrate (DS-CCS) insertion &amp; Air gaps on both sides of metal sheet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</a:t>
                      </a:r>
                      <a:r>
                        <a:rPr lang="en-US" sz="1400" b="1" i="0" u="none" strike="noStrike" noProof="0" dirty="0" err="1">
                          <a:latin typeface="Times New Roman"/>
                        </a:rPr>
                        <a:t>Structure:</a:t>
                      </a:r>
                      <a:r>
                        <a:rPr lang="en-US" sz="1400" b="0" i="0" u="none" strike="noStrike" noProof="0" dirty="0" err="1">
                          <a:latin typeface="Times New Roman"/>
                        </a:rPr>
                        <a:t>Two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half-split cylindrical dielectric resonator  antennas (CDRAs)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.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283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86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0057-765B-CA77-FC27-A3FFBB71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143C-6A7B-371A-FBC2-9A784E302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77" y="198111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DE71A-7592-9263-4DA0-6A55FED2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12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0274B-04F0-5D72-C6A1-942F1014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4447F-361E-D777-B336-04EB25ED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97FC7B-C49D-466A-85D6-FBCCA3D10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45229"/>
              </p:ext>
            </p:extLst>
          </p:nvPr>
        </p:nvGraphicFramePr>
        <p:xfrm>
          <a:off x="52191" y="1002082"/>
          <a:ext cx="12142109" cy="48894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656771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646770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860630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4977938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55172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u="none" strike="noStrike" noProof="0" dirty="0" err="1">
                          <a:solidFill>
                            <a:srgbClr val="000000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u="none" strike="noStrike" noProof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2112715">
                <a:tc>
                  <a:txBody>
                    <a:bodyPr/>
                    <a:lstStyle/>
                    <a:p>
                      <a:endParaRPr lang="en-US" sz="140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   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Mutual Coupling Reduction of a Dual-Band Four-Port Patch Antenna With Co-Polarized Radiation Pattern by Controlling Electric Fields 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 dirty="0">
                          <a:latin typeface="Times New Roman"/>
                        </a:rPr>
                        <a:t>IEEE TRANSACTIONS ON ANTENNAS AND PROPAGATION, 2023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Operating Frequency</a:t>
                      </a:r>
                      <a:r>
                        <a:rPr lang="en-US" sz="1400" dirty="0">
                          <a:latin typeface="Times New Roman"/>
                        </a:rPr>
                        <a:t>: </a:t>
                      </a:r>
                      <a:r>
                        <a:rPr lang="en-US" sz="1400" u="none" strike="noStrike" noProof="0" dirty="0">
                          <a:latin typeface="Times New Roman"/>
                        </a:rPr>
                        <a:t>Dual-band: 2.40 GHz and 3.62 GHz </a:t>
                      </a: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Isolation</a:t>
                      </a:r>
                      <a:r>
                        <a:rPr lang="en-US" sz="1400" dirty="0">
                          <a:latin typeface="Times New Roman"/>
                        </a:rPr>
                        <a:t>: &gt;</a:t>
                      </a:r>
                      <a:r>
                        <a:rPr lang="en-US" sz="1400" u="none" strike="noStrike" noProof="0" dirty="0">
                          <a:latin typeface="Times New Roman"/>
                        </a:rPr>
                        <a:t>15 dB between all four ports in both bands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latin typeface="Times New Roman"/>
                        </a:rPr>
                        <a:t> Method of Mutual Coupling Reduction</a:t>
                      </a:r>
                      <a:r>
                        <a:rPr lang="en-US" sz="1400" u="none" strike="noStrike" noProof="0" dirty="0">
                          <a:latin typeface="Times New Roman"/>
                        </a:rPr>
                        <a:t>: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latin typeface="Times New Roman"/>
                        </a:rPr>
                        <a:t>Shorting Pins to control mode combinations and electric field nulls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latin typeface="Times New Roman"/>
                        </a:rPr>
                        <a:t>Electric field null bending near unexcited ports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latin typeface="Times New Roman"/>
                        </a:rPr>
                        <a:t>Ring slots for better impedance matching and bandwidth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Structure</a:t>
                      </a:r>
                      <a:r>
                        <a:rPr lang="en-US" sz="1400" dirty="0">
                          <a:latin typeface="Times New Roman"/>
                        </a:rPr>
                        <a:t>: </a:t>
                      </a:r>
                      <a:r>
                        <a:rPr lang="en-US" sz="1400" u="none" strike="noStrike" noProof="0" dirty="0">
                          <a:latin typeface="Times New Roman"/>
                        </a:rPr>
                        <a:t> Single-element microstrip patch antenna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u="none" strike="noStrike" noProof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1419"/>
                  </a:ext>
                </a:extLst>
              </a:tr>
              <a:tr h="2112715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/>
                        </a:rPr>
                        <a:t>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Self-Decoupled Dual-Frequency Patch Antennas via Hybrid Coupling Interface Technique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IEEE ANTENNAS AND WIRELESS PROPAGATION LETTERS,2023</a:t>
                      </a:r>
                      <a:endParaRPr lang="en-US" sz="140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Operating Frequency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 3.77-3.94 GHz 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Isolation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 15 dB in both bands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Antenna Spacing (Edge to Edge)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 3 mm (0.039λ)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Method of Mutual Coupling Reduction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Hybrid Coupling Interface (HCI) technique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Self-decoupling (no external structures)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Antenna Structure</a:t>
                      </a:r>
                      <a:r>
                        <a:rPr lang="en-US" sz="140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: Rectangular patch antenna</a:t>
                      </a:r>
                      <a:endParaRPr lang="en-US" sz="1400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u="none" strike="noStrike" noProof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8850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2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8417-4DA2-8897-58AD-B2EE8DB8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B979D-0786-9301-FAF2-C982C770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28" y="41536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18109-D8B0-1D5A-26E8-3875DD7E0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13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1D562-F78F-5088-AF14-6E3B61D1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ABB4E-1742-5141-0BFA-B8552E4A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9A8D6C-2030-9828-04B1-214705162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74093"/>
              </p:ext>
            </p:extLst>
          </p:nvPr>
        </p:nvGraphicFramePr>
        <p:xfrm>
          <a:off x="0" y="632643"/>
          <a:ext cx="12163973" cy="5782795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39991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348100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787745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4888137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49791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b="1" i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21991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 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  11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Design of a Composite Decoupling Structure for Dual-Band Dual-Polarized Base Station Array</a:t>
                      </a:r>
                      <a:endParaRPr lang="en-US" sz="14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IEEE ANTENNAS AND WIRELESS PROPAGATION LETTERS, 2022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Operating Frequency</a:t>
                      </a:r>
                      <a:r>
                        <a:rPr lang="en-US" sz="1400" b="0" dirty="0">
                          <a:latin typeface="Times New Roman"/>
                        </a:rPr>
                        <a:t> 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B1 Band:3.3-3.7GHz;B2 Band:4.8-5.5 GHz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Isolation</a:t>
                      </a:r>
                      <a:r>
                        <a:rPr lang="en-US" sz="1400" b="0" dirty="0">
                          <a:latin typeface="Times New Roman"/>
                        </a:rPr>
                        <a:t> 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B1 Band: &gt;20 dB;B2 Band: &gt;25 dB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Spacing(</a:t>
                      </a:r>
                      <a:r>
                        <a:rPr lang="en-US" sz="1400" b="1" i="0" u="none" strike="noStrike" noProof="0" dirty="0">
                          <a:latin typeface="Times New Roman"/>
                        </a:rPr>
                        <a:t>Edge-to-edge)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: 0.05λ₁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Mutual Coupling Reduction Method: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Composite Decoupling Structure consisting of: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DADS (Dual-band Array-antenna Decouple Surface),SDS (Staggered Dielectric Surface),MLR (Meandered Line Resonators)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</a:t>
                      </a:r>
                      <a:r>
                        <a:rPr lang="en-US" sz="1400" b="1" dirty="0" err="1">
                          <a:latin typeface="Times New Roman"/>
                        </a:rPr>
                        <a:t>Structure</a:t>
                      </a:r>
                      <a:r>
                        <a:rPr lang="en-US" sz="1400" b="0" dirty="0" err="1">
                          <a:latin typeface="Times New Roman"/>
                        </a:rPr>
                        <a:t>:</a:t>
                      </a:r>
                      <a:r>
                        <a:rPr lang="en-US" sz="1400" b="0" i="0" u="none" strike="noStrike" noProof="0" dirty="0" err="1">
                          <a:latin typeface="Times New Roman"/>
                        </a:rPr>
                        <a:t>Dual-band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dual-polarized crossed dipoles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283420"/>
                  </a:ext>
                </a:extLst>
              </a:tr>
              <a:tr h="3039595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   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 Wideband Decoupling Technique for Two Inverted-F Antennas Using a Capacitively Loaded Ground Cut</a:t>
                      </a:r>
                      <a:endParaRPr lang="en-US" sz="14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IEEE ANTENNAS AND WIRELESS PROPAGATION LETTERS, 2024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Operating Frequency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Planar MIMO: 2.3-2.8 GHz ;IBFD: 2.36-2.64 GHz ;Vertical: 3.3-3.8 GHz (N78 band)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Isolation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MIMO: &gt;28-30 dB; IBFD: &gt;40 dB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Spacing (Edge-to-Edge)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Planar: ~10-15 mm (estimated from dimensions)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Vertical: ~7 mm height separation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Method of Mutual Coupling Reduction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Capacitively Loaded Ground Cut - Creates two non-resonant coupling paths (M₁ &amp; M₂) that cancel original coupling (M₀) at two frequencies simultaneously</a:t>
                      </a:r>
                      <a:endParaRPr lang="en-US" sz="1400" b="0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Antenna Structure</a:t>
                      </a:r>
                      <a:r>
                        <a:rPr lang="en-US" sz="1400" b="0" dirty="0">
                          <a:latin typeface="Times New Roman"/>
                        </a:rPr>
                        <a:t>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Inverted-F Antennas (IFAs)</a:t>
                      </a:r>
                      <a:endParaRPr lang="en-US" b="0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115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62EA-07C2-8369-832D-DDCD06606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2EB8-3193-2B46-44E4-F25291A7F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88" y="51975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EFCFD8-2A85-9695-558B-3E3F23E18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14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BA3A6-BD8E-8840-960D-012FDF3F6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532E0-8536-4FBB-5445-BE0FEBD26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B85B08-B503-7C3B-F119-FE9ED4584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380830"/>
              </p:ext>
            </p:extLst>
          </p:nvPr>
        </p:nvGraphicFramePr>
        <p:xfrm>
          <a:off x="2302" y="860047"/>
          <a:ext cx="12209115" cy="5520714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44220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513274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474695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5076926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4962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b="1" i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2423272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dirty="0">
                          <a:latin typeface="Times New Roman"/>
                        </a:rPr>
                        <a:t>Aperture Fed Microstrip Dual Polarization Wide Scan Phased Array Antenna With Mutual Coupling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bg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2.77 - 3.10 GHz (S-band)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Isolation: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&gt;48 dB (between H and V polarizations)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Spacing: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Center-to-center: 0.45λ (46.55 mm)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Mutual Coupling Reduction Method: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Rectangular planar resonators positioned between patch elements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Cross-shaped resonator configuration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Structure: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Aperture-fed microstrip dual-polarization antenna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80073"/>
                  </a:ext>
                </a:extLst>
              </a:tr>
              <a:tr h="2564154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 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Application of Metamaterial Wall for Mutual Coupling Mitigation of a Dual Differential Fed 2 × 2 Patch Array Antenna</a:t>
                      </a:r>
                      <a:endParaRPr lang="en-US" sz="14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  <a:endParaRPr lang="en-US" sz="140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9.37 GHz 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Isolation :  &gt;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30 dB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Spacing: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0.18λ (edge-to-edge)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Mutual Coupling Reduction Method: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Double-layer Split Ring Resonator (SRR) metamaterial wall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Mechanism: Space wave absorption/blocking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Structure: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Array: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2×2 Dual Differential Fed Patch Array (DDFPAA)</a:t>
                      </a:r>
                      <a:endParaRPr lang="en-US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283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940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E0DF-A190-CD3A-66D1-5ED7C775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6959-DCD8-9B51-2DF7-03CF799F5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8194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Calibri Light" panose="020F0302020204030204"/>
              </a:rPr>
              <a:t>Literature (continued):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E41CAA-DB5A-8685-5360-CDD13042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DA592-F782-A6E7-6357-FA3712A3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98601-7B66-4B26-BDAC-F629C888307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E4FB-9362-384C-321E-6858163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60D76E-51BA-6F1F-1BDE-BDD6484D5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038415"/>
              </p:ext>
            </p:extLst>
          </p:nvPr>
        </p:nvGraphicFramePr>
        <p:xfrm>
          <a:off x="2302" y="1444330"/>
          <a:ext cx="12206322" cy="3970514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143960">
                  <a:extLst>
                    <a:ext uri="{9D8B030D-6E8A-4147-A177-3AD203B41FA5}">
                      <a16:colId xmlns:a16="http://schemas.microsoft.com/office/drawing/2014/main" val="493808106"/>
                    </a:ext>
                  </a:extLst>
                </a:gridCol>
                <a:gridCol w="3512470">
                  <a:extLst>
                    <a:ext uri="{9D8B030D-6E8A-4147-A177-3AD203B41FA5}">
                      <a16:colId xmlns:a16="http://schemas.microsoft.com/office/drawing/2014/main" val="3011410395"/>
                    </a:ext>
                  </a:extLst>
                </a:gridCol>
                <a:gridCol w="2474128">
                  <a:extLst>
                    <a:ext uri="{9D8B030D-6E8A-4147-A177-3AD203B41FA5}">
                      <a16:colId xmlns:a16="http://schemas.microsoft.com/office/drawing/2014/main" val="1493452558"/>
                    </a:ext>
                  </a:extLst>
                </a:gridCol>
                <a:gridCol w="5075764">
                  <a:extLst>
                    <a:ext uri="{9D8B030D-6E8A-4147-A177-3AD203B41FA5}">
                      <a16:colId xmlns:a16="http://schemas.microsoft.com/office/drawing/2014/main" val="1043596688"/>
                    </a:ext>
                  </a:extLst>
                </a:gridCol>
              </a:tblGrid>
              <a:tr h="10510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en-GB" sz="14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S.No</a:t>
                      </a: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.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/>
                        </a:rPr>
                        <a:t> 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Title of the Paper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Source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                Inferences</a:t>
                      </a:r>
                      <a:endParaRPr lang="en-US" sz="1400" b="1" i="0" u="none" strike="noStrike" noProof="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861138"/>
                  </a:ext>
                </a:extLst>
              </a:tr>
              <a:tr h="291949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Times New Roman"/>
                        </a:rPr>
                        <a:t> 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Wideband Self-Decoupled Closely Placed Dielectric Patch Antenna Array Without Additional Structures</a:t>
                      </a:r>
                      <a:endParaRPr lang="en-US" sz="14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IEEE ACCESS ,2024</a:t>
                      </a:r>
                      <a:endParaRPr lang="en-US" sz="1400" b="0" i="0" u="none" strike="noStrike" noProof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Operating Frequency: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4.73-5.26 GHz 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Isolation: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&gt;21.5 dB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Spacing (Edge-to-Edge):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2 mm 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Method of Mutual Coupling Reduction: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Wideband Self-Decoupling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(no additional structures)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0" i="0" u="none" strike="noStrike" noProof="0" dirty="0">
                          <a:latin typeface="Times New Roman"/>
                        </a:rPr>
                        <a:t>Simultaneous excitation of HEM₁₁δ and TE₁₂ modes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Antenna Structure:</a:t>
                      </a:r>
                      <a:endParaRPr lang="en-US" dirty="0">
                        <a:latin typeface="Times New Roman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b="1" i="0" u="none" strike="noStrike" noProof="0" dirty="0">
                          <a:latin typeface="Times New Roman"/>
                        </a:rPr>
                        <a:t>Type:</a:t>
                      </a:r>
                      <a:r>
                        <a:rPr lang="en-US" sz="1400" b="0" i="0" u="none" strike="noStrike" noProof="0" dirty="0">
                          <a:latin typeface="Times New Roman"/>
                        </a:rPr>
                        <a:t> Dielectric Patch Antenna (DPA) Array</a:t>
                      </a:r>
                      <a:endParaRPr lang="en-US" dirty="0">
                        <a:latin typeface="Times New Roman"/>
                      </a:endParaRP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36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476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43" y="201839"/>
            <a:ext cx="10515600" cy="699262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 panose="02020603050405020304"/>
                <a:cs typeface="Calibri Light" panose="020F0302020204030204"/>
              </a:rPr>
              <a:t>Methodology :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BE5A0-2FD4-4E14-AB2F-3304E684082F}" type="datetime1">
              <a:rPr lang="en-IN" smtClean="0"/>
              <a:t>08-07-2025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D3BAC10-1C9F-6F47-010F-5473D32BBC96}"/>
              </a:ext>
            </a:extLst>
          </p:cNvPr>
          <p:cNvSpPr/>
          <p:nvPr/>
        </p:nvSpPr>
        <p:spPr>
          <a:xfrm>
            <a:off x="6136856" y="1438957"/>
            <a:ext cx="317619" cy="81139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AE1A5-B47F-E7B0-5200-DC76FA5027D9}"/>
              </a:ext>
            </a:extLst>
          </p:cNvPr>
          <p:cNvSpPr txBox="1"/>
          <p:nvPr/>
        </p:nvSpPr>
        <p:spPr>
          <a:xfrm>
            <a:off x="3033387" y="997907"/>
            <a:ext cx="5592869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Design and Simulation of a Base Antenna at 2.4 GHz</a:t>
            </a:r>
            <a:r>
              <a:rPr lang="en-US" sz="200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1B2A0D-A4EB-69F6-6D50-BD82E137F79F}"/>
              </a:ext>
            </a:extLst>
          </p:cNvPr>
          <p:cNvSpPr txBox="1"/>
          <p:nvPr/>
        </p:nvSpPr>
        <p:spPr>
          <a:xfrm>
            <a:off x="3033388" y="2250509"/>
            <a:ext cx="6354869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Design and Simulation of a Patch antenna array at 2.4 GHz 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470C1-2420-D52A-4E7E-6B25B6A7C3E3}"/>
              </a:ext>
            </a:extLst>
          </p:cNvPr>
          <p:cNvSpPr txBox="1"/>
          <p:nvPr/>
        </p:nvSpPr>
        <p:spPr>
          <a:xfrm>
            <a:off x="3010975" y="3057945"/>
            <a:ext cx="6835033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Design and Simulation of a Patch antenna array with decoupling structures at 2.4 GHz.</a:t>
            </a:r>
            <a:endParaRPr lang="en-US" sz="200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9036B7E-1E37-9ED5-18C8-4779ED293728}"/>
              </a:ext>
            </a:extLst>
          </p:cNvPr>
          <p:cNvSpPr/>
          <p:nvPr/>
        </p:nvSpPr>
        <p:spPr>
          <a:xfrm>
            <a:off x="6204089" y="2649806"/>
            <a:ext cx="239179" cy="407984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56838265-DE5D-B8AA-39C7-402963118C85}"/>
              </a:ext>
            </a:extLst>
          </p:cNvPr>
          <p:cNvSpPr/>
          <p:nvPr/>
        </p:nvSpPr>
        <p:spPr>
          <a:xfrm>
            <a:off x="6215296" y="3770396"/>
            <a:ext cx="317619" cy="609689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25F2FD-A345-6DCB-EEEE-E36581868B3C}"/>
              </a:ext>
            </a:extLst>
          </p:cNvPr>
          <p:cNvSpPr txBox="1"/>
          <p:nvPr/>
        </p:nvSpPr>
        <p:spPr>
          <a:xfrm>
            <a:off x="3010975" y="4380239"/>
            <a:ext cx="6835033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Analysis of results and Optimization of design based on the performance parameters</a:t>
            </a: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FF0902DC-B87F-1237-4570-3D314A50BB56}"/>
              </a:ext>
            </a:extLst>
          </p:cNvPr>
          <p:cNvSpPr/>
          <p:nvPr/>
        </p:nvSpPr>
        <p:spPr>
          <a:xfrm>
            <a:off x="6271325" y="5092690"/>
            <a:ext cx="261589" cy="49763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EA2A1B-BB36-710C-4917-43A695CFA63B}"/>
              </a:ext>
            </a:extLst>
          </p:cNvPr>
          <p:cNvSpPr txBox="1"/>
          <p:nvPr/>
        </p:nvSpPr>
        <p:spPr>
          <a:xfrm>
            <a:off x="3039527" y="5621790"/>
            <a:ext cx="5791196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Prototype Fabrication and Measurement </a:t>
            </a: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365125"/>
            <a:ext cx="10515600" cy="553125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Times New Roman" panose="02020603050405020304"/>
              </a:rPr>
              <a:t>References: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02" y="920217"/>
            <a:ext cx="10651298" cy="525674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+mn-lt"/>
                <a:cs typeface="+mn-lt"/>
              </a:rPr>
              <a:t>1)N.-W. Liu, Y.-D. Liang, L. Zhu, G. Fu, Y. Liu, and Y. Yun, “Electric-field null bending of a single dual-port patch antenna for colinear polarization decoupling using characteristic modes analysis,” IEEE Trans. Antennas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., vol. 70, no. 12, pp. 12247–12252, Dec. 2022.</a:t>
            </a:r>
            <a:endParaRPr lang="en-US" sz="1400">
              <a:latin typeface="Times New Roman"/>
              <a:cs typeface="Times New Roman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2)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Q. Xuan Lai, Y. Mei Pan, and S. Yong Zheng, ‘‘Mode-counteraction based self-decoupling in circularly polarized MIMO microstrip patch array,’’ IEEE Trans. Antennas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., vol. 70, no. 10, pp. 9337–9346, Oct. 2022.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3)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M. Elahi, A. Altaf, E.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Almajali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, and J. Yousaf, ‘‘Mutual coupling reduction in closely spaced MIMO dielectric resonator antenna in H-plane using closed metallic loop,’’ IEEE Access, vol. 10, pp. 71576–71583, 2022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4)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Q. X. Lai, Y. M. Pan, and S. Y. Zheng, ‘‘A self-decoupling method for MIMO antenna array using characteristic mode of ground plane,’’ IEEE Trans. Antennas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., vol. 71, no. 3, pp. 2126–2135, Mar. 2023.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5)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J. Yin, Y. X. Jia, S. M. Yang, et al., “Design of a composite decoupling structure for dual-band dual-polarized base station array,” IEEE Antennas and Wireless Propagation Letters, vol. 21, no. 7, pp. 1408–1412, 2022.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6)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N.-W. Liu, Y.-D. Liang, L. Zhu, Z.-X. Liu, Y. Liu, and S. Sun, “Mutual coupling reduction of a dual-band four-port patch antenna with co-polarized radiation pattern by controlling electric fields,” IEEE Trans. Antennas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., vol. 71, no. 5, pp. 4534–4539, May 2023.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7)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H. Deng and L. Zhu, “Self-decoupled dual-frequency patch antennas via hybrid coupling interface technique,” IEEE Antennas Wireless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 Lett., vol. 22, no. 6, pp. 1256–1260, Jun. 2023.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8)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H. Deng and L. Zhu, “Self-decoupled dual-frequency patch antennas via hybrid coupling interface technique,” IEEE Antennas Wireless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 Lett., vol. 22, no. 6, pp. 1256–1260, Jun. 2023.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200" kern="1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E226-9D9C-418A-8263-1CBFA3030FDF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94B1-E804-735A-3DF4-82DC6123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991D4-C349-AB4B-7BA2-7FA91374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5" y="365125"/>
            <a:ext cx="10515600" cy="553125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/>
                <a:cs typeface="Times New Roman" panose="02020603050405020304"/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2D56-DBFF-2FE0-F0F8-57BE1087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920217"/>
            <a:ext cx="10651298" cy="558033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9)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X. Tang, H. Chen, B. Yu, H. Chen, W. Che and Q. Xue, "A Compact Multifrequency Broadband Dual-Antenna System With Mutual Coupling Reduction for Wi-Fi 6E Application," in IEEE Antennas and Wireless Propagation Letters, vol. 23, no. 4, pp. 1296-1300, April 2024</a:t>
            </a:r>
            <a:endParaRPr lang="en-US" sz="1400">
              <a:latin typeface="Times New Roman"/>
              <a:ea typeface="+mn-lt"/>
              <a:cs typeface="+mn-lt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+mn-lt"/>
                <a:cs typeface="+mn-lt"/>
              </a:rPr>
              <a:t>10)W. Tang, J. Sui, J. Li, D. Li and X. Zhu, "A Wideband Decoupling Technique for Two Inverted-F Antennas Using a Capacitively Loaded Ground Cut," in IEEE Antennas and Wireless Propagation Letters, vol. 23, no. 10, pp. 3058-3062, Oct. 2024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+mn-lt"/>
                <a:cs typeface="+mn-lt"/>
              </a:rPr>
              <a:t>11)S. Benny and S. Sahoo, “Aperture fed microstrip dual polarization wide scan phased array antenna with mutual coupling reduction,” IEEE Access, vol. 12, pp. 16397–16407, 2024.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12)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K. E.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Kedze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 et al., "Application of Metamaterial Wall for Mutual Coupling Mitigation of a Dual Differential Fed 2×2 Patch Array Antenna," in IEEE Access, vol. 12, pp. 151251-151260, 2024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13)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R. Wu, J.-H. Lin, F.-C. Chen, and L. H. Ye, “Dual-broadband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apertureshared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 base station antenna array using double decoupling techniques,” IEEE Antennas Wireless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Propag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. Lett., vol. 23, pp. 3262–3266, 2024. 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14)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A. Sufyan, S. A. A. Shah, K. B. Khan, I. A. Shah, A. Ullah, T. A. Siddiqui, S. Islam, and H. Yoo, ‘‘Self-decoupled 8-element dual polarized MIMO antenna for B5G handsets with sub-6 GHz and </a:t>
            </a:r>
            <a:r>
              <a:rPr lang="en-IN" sz="1400" kern="100" err="1">
                <a:latin typeface="Times New Roman"/>
                <a:ea typeface="+mn-lt"/>
                <a:cs typeface="+mn-lt"/>
              </a:rPr>
              <a:t>mmWave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 integration,’’ IEEE Access, vol. 12, pp. 167324–167332, 2024.</a:t>
            </a: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1400" kern="100">
                <a:latin typeface="Times New Roman"/>
                <a:ea typeface="Calibri"/>
                <a:cs typeface="Calibri"/>
              </a:rPr>
              <a:t>15)</a:t>
            </a:r>
            <a:r>
              <a:rPr lang="en-IN" sz="1400" kern="100">
                <a:latin typeface="Times New Roman"/>
                <a:ea typeface="+mn-lt"/>
                <a:cs typeface="+mn-lt"/>
              </a:rPr>
              <a:t>L. -L. Yang, X. -F. Wang and J. -X. Chen, "Wideband Self-Decoupled Closely Placed Dielectric Patch Antenna Array Without Additional Structures," in IEEE Access, vol. 12, pp. 140605-140610, 2024</a:t>
            </a:r>
            <a:endParaRPr lang="en-IN">
              <a:latin typeface="Times New Roman"/>
              <a:ea typeface="+mn-lt"/>
              <a:cs typeface="+mn-lt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400" kern="100">
              <a:latin typeface="Times New Roman"/>
              <a:ea typeface="Calibri"/>
              <a:cs typeface="Calibri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200" kern="1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endParaRPr lang="en-US"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8AEE6-1AD6-99C2-4A83-B718B006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18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364549-980C-0040-F105-445C21E83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8E226-9D9C-418A-8263-1CBFA3030FDF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59E30-D786-70F3-BE05-4ACB37E7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  <p:extLst>
      <p:ext uri="{BB962C8B-B14F-4D97-AF65-F5344CB8AC3E}">
        <p14:creationId xmlns:p14="http://schemas.microsoft.com/office/powerpoint/2010/main" val="261562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1256"/>
            <a:ext cx="10527323" cy="56057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 panose="02020603050405020304"/>
                <a:cs typeface="Calibri" panose="020F0502020204030204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19</a:t>
            </a:fld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E5D53-A98C-4448-96A6-E334D896BE0C}" type="datetime1">
              <a:rPr lang="en-IN" smtClean="0"/>
              <a:t>08-07-2025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D7D7B33-A76A-45A9-B880-8E19A8B90177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2850</Words>
  <Application>Microsoft Office PowerPoint</Application>
  <PresentationFormat>Widescreen</PresentationFormat>
  <Paragraphs>406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Arial,Sans-Serif</vt:lpstr>
      <vt:lpstr>Calibri</vt:lpstr>
      <vt:lpstr>Calibri Light</vt:lpstr>
      <vt:lpstr>Times New Roman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Novelty</vt:lpstr>
      <vt:lpstr>Literature :</vt:lpstr>
      <vt:lpstr>Literature (continued):</vt:lpstr>
      <vt:lpstr>Literature (continued):</vt:lpstr>
      <vt:lpstr>Literature (continued):</vt:lpstr>
      <vt:lpstr>Literature (continued):</vt:lpstr>
      <vt:lpstr>Literature (continued):</vt:lpstr>
      <vt:lpstr>Literature (continued):</vt:lpstr>
      <vt:lpstr>Literature (continued):</vt:lpstr>
      <vt:lpstr>Methodology :</vt:lpstr>
      <vt:lpstr>References: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sys</dc:creator>
  <cp:lastModifiedBy>Yashwanth Peddakudala</cp:lastModifiedBy>
  <cp:revision>76</cp:revision>
  <dcterms:created xsi:type="dcterms:W3CDTF">2023-09-07T11:44:00Z</dcterms:created>
  <dcterms:modified xsi:type="dcterms:W3CDTF">2025-07-08T06:20:01Z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72D3FB5945B54988A54F8857F61CCE26_13</vt:lpwstr>
  </property>
  <property fmtid="{D5CDD505-2E9C-101B-9397-08002B2CF9AE}" pid="3" name="KSOProductBuildVer">
    <vt:lpwstr>1033-12.2.0.17562</vt:lpwstr>
  </property>
</Properties>
</file>