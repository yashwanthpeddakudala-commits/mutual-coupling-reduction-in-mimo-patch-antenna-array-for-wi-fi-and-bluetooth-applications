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0" r:id="rId4"/>
    <p:sldId id="261" r:id="rId5"/>
    <p:sldId id="264" r:id="rId6"/>
    <p:sldId id="316" r:id="rId7"/>
    <p:sldId id="265" r:id="rId8"/>
    <p:sldId id="266" r:id="rId9"/>
    <p:sldId id="268" r:id="rId10"/>
    <p:sldId id="267" r:id="rId11"/>
    <p:sldId id="262" r:id="rId12"/>
    <p:sldId id="270" r:id="rId13"/>
    <p:sldId id="311" r:id="rId14"/>
    <p:sldId id="313" r:id="rId15"/>
    <p:sldId id="30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314" r:id="rId29"/>
    <p:sldId id="284" r:id="rId30"/>
    <p:sldId id="31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7" d="100"/>
          <a:sy n="77" d="100"/>
        </p:scale>
        <p:origin x="883"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wanth Peddakudala" userId="6315f4363124045d" providerId="LiveId" clId="{12FB7A73-56B9-4B81-929F-A70229145EF8}"/>
    <pc:docChg chg="delSld">
      <pc:chgData name="Yashwanth Peddakudala" userId="6315f4363124045d" providerId="LiveId" clId="{12FB7A73-56B9-4B81-929F-A70229145EF8}" dt="2026-06-22T17:09:51.766" v="19" actId="47"/>
      <pc:docMkLst>
        <pc:docMk/>
      </pc:docMkLst>
      <pc:sldChg chg="del">
        <pc:chgData name="Yashwanth Peddakudala" userId="6315f4363124045d" providerId="LiveId" clId="{12FB7A73-56B9-4B81-929F-A70229145EF8}" dt="2026-06-22T17:09:39.895" v="0" actId="47"/>
        <pc:sldMkLst>
          <pc:docMk/>
          <pc:sldMk cId="815483951" sldId="289"/>
        </pc:sldMkLst>
      </pc:sldChg>
      <pc:sldChg chg="del">
        <pc:chgData name="Yashwanth Peddakudala" userId="6315f4363124045d" providerId="LiveId" clId="{12FB7A73-56B9-4B81-929F-A70229145EF8}" dt="2026-06-22T17:09:51.766" v="19" actId="47"/>
        <pc:sldMkLst>
          <pc:docMk/>
          <pc:sldMk cId="1285766988" sldId="290"/>
        </pc:sldMkLst>
      </pc:sldChg>
      <pc:sldChg chg="del">
        <pc:chgData name="Yashwanth Peddakudala" userId="6315f4363124045d" providerId="LiveId" clId="{12FB7A73-56B9-4B81-929F-A70229145EF8}" dt="2026-06-22T17:09:50.988" v="18" actId="47"/>
        <pc:sldMkLst>
          <pc:docMk/>
          <pc:sldMk cId="226796224" sldId="291"/>
        </pc:sldMkLst>
      </pc:sldChg>
      <pc:sldChg chg="del">
        <pc:chgData name="Yashwanth Peddakudala" userId="6315f4363124045d" providerId="LiveId" clId="{12FB7A73-56B9-4B81-929F-A70229145EF8}" dt="2026-06-22T17:09:50.302" v="17" actId="47"/>
        <pc:sldMkLst>
          <pc:docMk/>
          <pc:sldMk cId="2886573390" sldId="292"/>
        </pc:sldMkLst>
      </pc:sldChg>
      <pc:sldChg chg="del">
        <pc:chgData name="Yashwanth Peddakudala" userId="6315f4363124045d" providerId="LiveId" clId="{12FB7A73-56B9-4B81-929F-A70229145EF8}" dt="2026-06-22T17:09:50.146" v="16" actId="47"/>
        <pc:sldMkLst>
          <pc:docMk/>
          <pc:sldMk cId="1024972148" sldId="293"/>
        </pc:sldMkLst>
      </pc:sldChg>
      <pc:sldChg chg="del">
        <pc:chgData name="Yashwanth Peddakudala" userId="6315f4363124045d" providerId="LiveId" clId="{12FB7A73-56B9-4B81-929F-A70229145EF8}" dt="2026-06-22T17:09:50.015" v="15" actId="47"/>
        <pc:sldMkLst>
          <pc:docMk/>
          <pc:sldMk cId="3747502980" sldId="294"/>
        </pc:sldMkLst>
      </pc:sldChg>
      <pc:sldChg chg="del">
        <pc:chgData name="Yashwanth Peddakudala" userId="6315f4363124045d" providerId="LiveId" clId="{12FB7A73-56B9-4B81-929F-A70229145EF8}" dt="2026-06-22T17:09:49.858" v="14" actId="47"/>
        <pc:sldMkLst>
          <pc:docMk/>
          <pc:sldMk cId="1675111590" sldId="295"/>
        </pc:sldMkLst>
      </pc:sldChg>
      <pc:sldChg chg="del">
        <pc:chgData name="Yashwanth Peddakudala" userId="6315f4363124045d" providerId="LiveId" clId="{12FB7A73-56B9-4B81-929F-A70229145EF8}" dt="2026-06-22T17:09:49.705" v="13" actId="47"/>
        <pc:sldMkLst>
          <pc:docMk/>
          <pc:sldMk cId="2687589028" sldId="296"/>
        </pc:sldMkLst>
      </pc:sldChg>
      <pc:sldChg chg="del">
        <pc:chgData name="Yashwanth Peddakudala" userId="6315f4363124045d" providerId="LiveId" clId="{12FB7A73-56B9-4B81-929F-A70229145EF8}" dt="2026-06-22T17:09:49.562" v="12" actId="47"/>
        <pc:sldMkLst>
          <pc:docMk/>
          <pc:sldMk cId="3955473227" sldId="297"/>
        </pc:sldMkLst>
      </pc:sldChg>
      <pc:sldChg chg="del">
        <pc:chgData name="Yashwanth Peddakudala" userId="6315f4363124045d" providerId="LiveId" clId="{12FB7A73-56B9-4B81-929F-A70229145EF8}" dt="2026-06-22T17:09:49.399" v="11" actId="47"/>
        <pc:sldMkLst>
          <pc:docMk/>
          <pc:sldMk cId="2017853265" sldId="298"/>
        </pc:sldMkLst>
      </pc:sldChg>
      <pc:sldChg chg="del">
        <pc:chgData name="Yashwanth Peddakudala" userId="6315f4363124045d" providerId="LiveId" clId="{12FB7A73-56B9-4B81-929F-A70229145EF8}" dt="2026-06-22T17:09:49.264" v="10" actId="47"/>
        <pc:sldMkLst>
          <pc:docMk/>
          <pc:sldMk cId="2921541795" sldId="299"/>
        </pc:sldMkLst>
      </pc:sldChg>
      <pc:sldChg chg="del">
        <pc:chgData name="Yashwanth Peddakudala" userId="6315f4363124045d" providerId="LiveId" clId="{12FB7A73-56B9-4B81-929F-A70229145EF8}" dt="2026-06-22T17:09:49.084" v="9" actId="47"/>
        <pc:sldMkLst>
          <pc:docMk/>
          <pc:sldMk cId="4251763104" sldId="300"/>
        </pc:sldMkLst>
      </pc:sldChg>
      <pc:sldChg chg="del">
        <pc:chgData name="Yashwanth Peddakudala" userId="6315f4363124045d" providerId="LiveId" clId="{12FB7A73-56B9-4B81-929F-A70229145EF8}" dt="2026-06-22T17:09:48.906" v="8" actId="47"/>
        <pc:sldMkLst>
          <pc:docMk/>
          <pc:sldMk cId="3302422598" sldId="301"/>
        </pc:sldMkLst>
      </pc:sldChg>
      <pc:sldChg chg="del">
        <pc:chgData name="Yashwanth Peddakudala" userId="6315f4363124045d" providerId="LiveId" clId="{12FB7A73-56B9-4B81-929F-A70229145EF8}" dt="2026-06-22T17:09:48.674" v="7" actId="47"/>
        <pc:sldMkLst>
          <pc:docMk/>
          <pc:sldMk cId="140294038" sldId="302"/>
        </pc:sldMkLst>
      </pc:sldChg>
      <pc:sldChg chg="del">
        <pc:chgData name="Yashwanth Peddakudala" userId="6315f4363124045d" providerId="LiveId" clId="{12FB7A73-56B9-4B81-929F-A70229145EF8}" dt="2026-06-22T17:09:48.447" v="6" actId="47"/>
        <pc:sldMkLst>
          <pc:docMk/>
          <pc:sldMk cId="990869353" sldId="303"/>
        </pc:sldMkLst>
      </pc:sldChg>
      <pc:sldChg chg="del">
        <pc:chgData name="Yashwanth Peddakudala" userId="6315f4363124045d" providerId="LiveId" clId="{12FB7A73-56B9-4B81-929F-A70229145EF8}" dt="2026-06-22T17:09:48.100" v="5" actId="47"/>
        <pc:sldMkLst>
          <pc:docMk/>
          <pc:sldMk cId="3356602058" sldId="304"/>
        </pc:sldMkLst>
      </pc:sldChg>
      <pc:sldChg chg="del">
        <pc:chgData name="Yashwanth Peddakudala" userId="6315f4363124045d" providerId="LiveId" clId="{12FB7A73-56B9-4B81-929F-A70229145EF8}" dt="2026-06-22T17:09:47.715" v="4" actId="47"/>
        <pc:sldMkLst>
          <pc:docMk/>
          <pc:sldMk cId="2571399365" sldId="305"/>
        </pc:sldMkLst>
      </pc:sldChg>
      <pc:sldChg chg="del">
        <pc:chgData name="Yashwanth Peddakudala" userId="6315f4363124045d" providerId="LiveId" clId="{12FB7A73-56B9-4B81-929F-A70229145EF8}" dt="2026-06-22T17:09:47.291" v="3" actId="47"/>
        <pc:sldMkLst>
          <pc:docMk/>
          <pc:sldMk cId="2191059335" sldId="306"/>
        </pc:sldMkLst>
      </pc:sldChg>
      <pc:sldChg chg="del">
        <pc:chgData name="Yashwanth Peddakudala" userId="6315f4363124045d" providerId="LiveId" clId="{12FB7A73-56B9-4B81-929F-A70229145EF8}" dt="2026-06-22T17:09:46.845" v="2" actId="47"/>
        <pc:sldMkLst>
          <pc:docMk/>
          <pc:sldMk cId="1495247118" sldId="307"/>
        </pc:sldMkLst>
      </pc:sldChg>
      <pc:sldChg chg="del">
        <pc:chgData name="Yashwanth Peddakudala" userId="6315f4363124045d" providerId="LiveId" clId="{12FB7A73-56B9-4B81-929F-A70229145EF8}" dt="2026-06-22T17:09:46.478" v="1" actId="47"/>
        <pc:sldMkLst>
          <pc:docMk/>
          <pc:sldMk cId="1698127559" sldId="30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0064" y="159070"/>
            <a:ext cx="11890668" cy="6510671"/>
          </a:xfrm>
        </p:spPr>
        <p:txBody>
          <a:bodyPr vert="horz" lIns="91440" tIns="45720" rIns="91440" bIns="45720" rtlCol="0" anchor="t">
            <a:normAutofit/>
          </a:bodyPr>
          <a:lstStyle/>
          <a:p>
            <a:r>
              <a:rPr lang="en-US" b="1">
                <a:solidFill>
                  <a:srgbClr val="C00000"/>
                </a:solidFill>
                <a:latin typeface="Times New Roman"/>
                <a:cs typeface="Times New Roman"/>
              </a:rPr>
              <a:t>Review 2.3</a:t>
            </a:r>
            <a:endParaRPr lang="en-US"/>
          </a:p>
          <a:p>
            <a:r>
              <a:rPr lang="en-US" b="1" u="sng">
                <a:latin typeface="Times New Roman"/>
                <a:cs typeface="Times New Roman"/>
              </a:rPr>
              <a:t>B. Tech. Project  (19ECE495)</a:t>
            </a:r>
            <a:endParaRPr lang="en-US">
              <a:latin typeface="Times New Roman"/>
              <a:cs typeface="Times New Roman"/>
            </a:endParaRPr>
          </a:p>
          <a:p>
            <a:r>
              <a:rPr lang="en-US">
                <a:latin typeface="Times New Roman"/>
                <a:cs typeface="Times New Roman"/>
              </a:rPr>
              <a:t>Batch ID: </a:t>
            </a:r>
            <a:r>
              <a:rPr lang="en-US" b="1">
                <a:solidFill>
                  <a:srgbClr val="C00000"/>
                </a:solidFill>
                <a:latin typeface="Times New Roman"/>
                <a:cs typeface="Times New Roman"/>
              </a:rPr>
              <a:t>070</a:t>
            </a:r>
            <a:endParaRPr lang="en-US">
              <a:latin typeface="Times New Roman"/>
              <a:cs typeface="Times New Roman"/>
            </a:endParaRPr>
          </a:p>
          <a:p>
            <a:endParaRPr lang="en-US">
              <a:latin typeface="Times New Roman"/>
              <a:cs typeface="Times New Roman"/>
            </a:endParaRPr>
          </a:p>
          <a:p>
            <a:r>
              <a:rPr lang="en-US" b="1">
                <a:latin typeface="Times New Roman"/>
                <a:cs typeface="Times New Roman"/>
              </a:rPr>
              <a:t>Mutual coupling reduction in MIMO Patch Antenna Array for Wi-Fi and Bluetooth applications</a:t>
            </a:r>
            <a:endParaRPr lang="en-US">
              <a:latin typeface="Times New Roman"/>
              <a:cs typeface="Times New Roman"/>
            </a:endParaRPr>
          </a:p>
          <a:p>
            <a:endParaRPr lang="en-US">
              <a:latin typeface="Times New Roman"/>
              <a:cs typeface="Times New Roman"/>
            </a:endParaRPr>
          </a:p>
          <a:p>
            <a:pPr algn="r"/>
            <a:endParaRPr lang="en-US" sz="2000" b="1">
              <a:latin typeface="Times New Roman"/>
              <a:cs typeface="Times New Roman"/>
            </a:endParaRPr>
          </a:p>
          <a:p>
            <a:pPr algn="r"/>
            <a:endParaRPr lang="en-US" sz="2000" b="1">
              <a:latin typeface="Times New Roman"/>
              <a:cs typeface="Times New Roman"/>
            </a:endParaRPr>
          </a:p>
          <a:p>
            <a:pPr algn="r"/>
            <a:r>
              <a:rPr lang="en-US" sz="2000" b="1">
                <a:latin typeface="Times New Roman"/>
                <a:cs typeface="Times New Roman"/>
              </a:rPr>
              <a:t>MENTOR</a:t>
            </a:r>
            <a:r>
              <a:rPr lang="en-US" sz="2000">
                <a:latin typeface="Times New Roman"/>
                <a:cs typeface="Times New Roman"/>
              </a:rPr>
              <a:t>:  Ms. V. MEKALADEVI </a:t>
            </a:r>
            <a:endParaRPr lang="en-US">
              <a:latin typeface="Times New Roman"/>
              <a:cs typeface="Times New Roman"/>
            </a:endParaRPr>
          </a:p>
          <a:p>
            <a:pPr algn="r"/>
            <a:r>
              <a:rPr lang="en-US" sz="1600">
                <a:latin typeface="Times New Roman"/>
                <a:cs typeface="Times New Roman"/>
              </a:rPr>
              <a:t>Dept. of Elec. and </a:t>
            </a:r>
            <a:r>
              <a:rPr lang="en-US" sz="1600" err="1">
                <a:latin typeface="Times New Roman"/>
                <a:cs typeface="Times New Roman"/>
              </a:rPr>
              <a:t>Commn</a:t>
            </a:r>
            <a:r>
              <a:rPr lang="en-US" sz="1600">
                <a:latin typeface="Times New Roman"/>
                <a:cs typeface="Times New Roman"/>
              </a:rPr>
              <a:t>. </a:t>
            </a:r>
            <a:r>
              <a:rPr lang="en-US" sz="1600" err="1">
                <a:latin typeface="Times New Roman"/>
                <a:cs typeface="Times New Roman"/>
              </a:rPr>
              <a:t>Engg</a:t>
            </a:r>
            <a:r>
              <a:rPr lang="en-US" sz="1600">
                <a:latin typeface="Times New Roman"/>
                <a:cs typeface="Times New Roman"/>
              </a:rPr>
              <a:t>. </a:t>
            </a:r>
            <a:endParaRPr lang="en-US">
              <a:latin typeface="Times New Roman"/>
              <a:cs typeface="Times New Roman"/>
            </a:endParaRPr>
          </a:p>
          <a:p>
            <a:pPr algn="r"/>
            <a:r>
              <a:rPr lang="en-US" sz="1600">
                <a:latin typeface="Times New Roman"/>
                <a:cs typeface="Times New Roman"/>
              </a:rPr>
              <a:t>Amrita School of Engineering, Coimbatore</a:t>
            </a:r>
            <a:endParaRPr lang="en-US">
              <a:latin typeface="Times New Roman"/>
              <a:cs typeface="Times New Roman"/>
            </a:endParaRPr>
          </a:p>
          <a:p>
            <a:endParaRPr lang="en-US">
              <a:latin typeface="Times New Roman"/>
              <a:cs typeface="Times New Roman"/>
            </a:endParaRPr>
          </a:p>
        </p:txBody>
      </p:sp>
      <p:graphicFrame>
        <p:nvGraphicFramePr>
          <p:cNvPr id="7" name="Table 6">
            <a:extLst>
              <a:ext uri="{FF2B5EF4-FFF2-40B4-BE49-F238E27FC236}">
                <a16:creationId xmlns:a16="http://schemas.microsoft.com/office/drawing/2014/main" id="{18D9330B-A005-3725-5EF8-ED0F716729C8}"/>
              </a:ext>
            </a:extLst>
          </p:cNvPr>
          <p:cNvGraphicFramePr>
            <a:graphicFrameLocks noGrp="1"/>
          </p:cNvGraphicFramePr>
          <p:nvPr>
            <p:extLst>
              <p:ext uri="{D42A27DB-BD31-4B8C-83A1-F6EECF244321}">
                <p14:modId xmlns:p14="http://schemas.microsoft.com/office/powerpoint/2010/main" val="2695909504"/>
              </p:ext>
            </p:extLst>
          </p:nvPr>
        </p:nvGraphicFramePr>
        <p:xfrm>
          <a:off x="476997" y="4334722"/>
          <a:ext cx="6083300" cy="2110613"/>
        </p:xfrm>
        <a:graphic>
          <a:graphicData uri="http://schemas.openxmlformats.org/drawingml/2006/table">
            <a:tbl>
              <a:tblPr firstRow="1" bandRow="1">
                <a:tableStyleId>{5C22544A-7EE6-4342-B048-85BDC9FD1C3A}</a:tableStyleId>
              </a:tblPr>
              <a:tblGrid>
                <a:gridCol w="2463800">
                  <a:extLst>
                    <a:ext uri="{9D8B030D-6E8A-4147-A177-3AD203B41FA5}">
                      <a16:colId xmlns:a16="http://schemas.microsoft.com/office/drawing/2014/main" val="377233103"/>
                    </a:ext>
                  </a:extLst>
                </a:gridCol>
                <a:gridCol w="520700">
                  <a:extLst>
                    <a:ext uri="{9D8B030D-6E8A-4147-A177-3AD203B41FA5}">
                      <a16:colId xmlns:a16="http://schemas.microsoft.com/office/drawing/2014/main" val="3720707221"/>
                    </a:ext>
                  </a:extLst>
                </a:gridCol>
                <a:gridCol w="3098800">
                  <a:extLst>
                    <a:ext uri="{9D8B030D-6E8A-4147-A177-3AD203B41FA5}">
                      <a16:colId xmlns:a16="http://schemas.microsoft.com/office/drawing/2014/main" val="1188002330"/>
                    </a:ext>
                  </a:extLst>
                </a:gridCol>
              </a:tblGrid>
              <a:tr h="679704">
                <a:tc>
                  <a:txBody>
                    <a:bodyPr/>
                    <a:lstStyle/>
                    <a:p>
                      <a:pPr marL="0" algn="l" rtl="0" eaLnBrk="1" latinLnBrk="0" hangingPunct="1">
                        <a:buNone/>
                      </a:pPr>
                      <a:r>
                        <a:rPr lang="en-US" sz="2000" b="0" kern="1200">
                          <a:solidFill>
                            <a:srgbClr val="000000"/>
                          </a:solidFill>
                          <a:effectLst/>
                          <a:latin typeface="Times New Roman"/>
                          <a:cs typeface="Times New Roman"/>
                        </a:rPr>
                        <a:t>CB.EN.U4ECE22225</a:t>
                      </a:r>
                      <a:endParaRPr lang="en-IN">
                        <a:effectLst/>
                        <a:latin typeface="Times New Roman"/>
                        <a:cs typeface="Times New Roman"/>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a:cs typeface="Times New Roman"/>
                        </a:rPr>
                        <a:t>-</a:t>
                      </a:r>
                      <a:endParaRPr lang="en-IN">
                        <a:effectLst/>
                        <a:latin typeface="Times New Roman"/>
                        <a:cs typeface="Times New Roman"/>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a:cs typeface="Times New Roman"/>
                        </a:rPr>
                        <a:t>J Rohith</a:t>
                      </a:r>
                      <a:endParaRPr lang="en-IN">
                        <a:effectLst/>
                        <a:latin typeface="Times New Roman"/>
                        <a:cs typeface="Times New Roman"/>
                      </a:endParaRPr>
                    </a:p>
                  </a:txBody>
                  <a:tcPr marL="0" marR="0" marT="0" marB="0" anchor="ctr">
                    <a:lnL>
                      <a:noFill/>
                    </a:lnL>
                    <a:lnR>
                      <a:noFill/>
                    </a:lnR>
                    <a:lnT>
                      <a:noFill/>
                    </a:lnT>
                    <a:lnB>
                      <a:noFill/>
                    </a:lnB>
                    <a:noFill/>
                  </a:tcPr>
                </a:tc>
                <a:extLst>
                  <a:ext uri="{0D108BD9-81ED-4DB2-BD59-A6C34878D82A}">
                    <a16:rowId xmlns:a16="http://schemas.microsoft.com/office/drawing/2014/main" val="1149785091"/>
                  </a:ext>
                </a:extLst>
              </a:tr>
              <a:tr h="679704">
                <a:tc>
                  <a:txBody>
                    <a:bodyPr/>
                    <a:lstStyle/>
                    <a:p>
                      <a:pPr marL="0" algn="l" rtl="0" eaLnBrk="1" latinLnBrk="0" hangingPunct="1">
                        <a:buNone/>
                      </a:pPr>
                      <a:r>
                        <a:rPr lang="en-US" sz="2000" b="0" kern="1200">
                          <a:solidFill>
                            <a:srgbClr val="000000"/>
                          </a:solidFill>
                          <a:effectLst/>
                          <a:latin typeface="Times New Roman"/>
                          <a:cs typeface="Times New Roman"/>
                        </a:rPr>
                        <a:t>CB.EN.U4ECE22262</a:t>
                      </a:r>
                      <a:endParaRPr lang="en-IN">
                        <a:effectLst/>
                        <a:latin typeface="Times New Roman"/>
                        <a:cs typeface="Times New Roman"/>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a:cs typeface="Times New Roman"/>
                        </a:rPr>
                        <a:t>-</a:t>
                      </a:r>
                      <a:endParaRPr lang="en-IN">
                        <a:effectLst/>
                        <a:latin typeface="Times New Roman"/>
                        <a:cs typeface="Times New Roman"/>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a:cs typeface="Times New Roman"/>
                        </a:rPr>
                        <a:t>P</a:t>
                      </a:r>
                      <a:r>
                        <a:rPr lang="en-IN" sz="2000" b="0" i="0" kern="1200">
                          <a:solidFill>
                            <a:srgbClr val="000000"/>
                          </a:solidFill>
                          <a:effectLst/>
                          <a:latin typeface="Times New Roman"/>
                          <a:cs typeface="Times New Roman"/>
                        </a:rPr>
                        <a:t>eddakudala</a:t>
                      </a:r>
                      <a:r>
                        <a:rPr lang="en-IN" sz="2000" b="0" kern="1200">
                          <a:solidFill>
                            <a:srgbClr val="000000"/>
                          </a:solidFill>
                          <a:effectLst/>
                          <a:latin typeface="Times New Roman"/>
                          <a:cs typeface="Times New Roman"/>
                        </a:rPr>
                        <a:t> Yashwanth</a:t>
                      </a:r>
                      <a:endParaRPr lang="en-IN">
                        <a:effectLst/>
                        <a:latin typeface="Times New Roman"/>
                        <a:cs typeface="Times New Roman"/>
                      </a:endParaRPr>
                    </a:p>
                  </a:txBody>
                  <a:tcPr marL="0" marR="0" marT="0" marB="0" anchor="ctr">
                    <a:lnL>
                      <a:noFill/>
                    </a:lnL>
                    <a:lnR>
                      <a:noFill/>
                    </a:lnR>
                    <a:lnT>
                      <a:noFill/>
                    </a:lnT>
                    <a:lnB>
                      <a:noFill/>
                    </a:lnB>
                    <a:noFill/>
                  </a:tcPr>
                </a:tc>
                <a:extLst>
                  <a:ext uri="{0D108BD9-81ED-4DB2-BD59-A6C34878D82A}">
                    <a16:rowId xmlns:a16="http://schemas.microsoft.com/office/drawing/2014/main" val="100988131"/>
                  </a:ext>
                </a:extLst>
              </a:tr>
              <a:tr h="751205">
                <a:tc>
                  <a:txBody>
                    <a:bodyPr/>
                    <a:lstStyle/>
                    <a:p>
                      <a:pPr marL="0" algn="l" rtl="0" eaLnBrk="1" latinLnBrk="0" hangingPunct="1">
                        <a:buNone/>
                      </a:pPr>
                      <a:r>
                        <a:rPr lang="en-US" sz="2000" b="0" kern="1200">
                          <a:solidFill>
                            <a:srgbClr val="000000"/>
                          </a:solidFill>
                          <a:effectLst/>
                          <a:latin typeface="Times New Roman"/>
                          <a:cs typeface="Times New Roman"/>
                        </a:rPr>
                        <a:t>CB.EN.U4ECE22213</a:t>
                      </a:r>
                      <a:endParaRPr lang="en-IN">
                        <a:effectLst/>
                        <a:latin typeface="Times New Roman"/>
                        <a:cs typeface="Times New Roman"/>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a:cs typeface="Times New Roman"/>
                        </a:rPr>
                        <a:t>-</a:t>
                      </a:r>
                      <a:endParaRPr lang="en-IN">
                        <a:effectLst/>
                        <a:latin typeface="Times New Roman"/>
                        <a:cs typeface="Times New Roman"/>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a:cs typeface="Times New Roman"/>
                        </a:rPr>
                        <a:t>Chundupalle Tej Siddanth</a:t>
                      </a:r>
                      <a:endParaRPr lang="en-IN">
                        <a:effectLst/>
                        <a:latin typeface="Times New Roman"/>
                        <a:cs typeface="Times New Roman"/>
                      </a:endParaRPr>
                    </a:p>
                  </a:txBody>
                  <a:tcPr marL="0" marR="0" marT="0" marB="0" anchor="ctr">
                    <a:lnL>
                      <a:noFill/>
                    </a:lnL>
                    <a:lnR>
                      <a:noFill/>
                    </a:lnR>
                    <a:lnT>
                      <a:noFill/>
                    </a:lnT>
                    <a:lnB>
                      <a:noFill/>
                    </a:lnB>
                    <a:noFill/>
                  </a:tcPr>
                </a:tc>
                <a:extLst>
                  <a:ext uri="{0D108BD9-81ED-4DB2-BD59-A6C34878D82A}">
                    <a16:rowId xmlns:a16="http://schemas.microsoft.com/office/drawing/2014/main" val="2589555208"/>
                  </a:ext>
                </a:extLst>
              </a:tr>
            </a:tbl>
          </a:graphicData>
        </a:graphic>
      </p:graphicFrame>
      <p:pic>
        <p:nvPicPr>
          <p:cNvPr id="8" name="Picture 7" descr="A pink and black logo&#10;&#10;AI-generated content may be incorrect.">
            <a:extLst>
              <a:ext uri="{FF2B5EF4-FFF2-40B4-BE49-F238E27FC236}">
                <a16:creationId xmlns:a16="http://schemas.microsoft.com/office/drawing/2014/main" id="{11C43C04-7748-D949-686E-9EE4B1204DFA}"/>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A075-2C8B-4CDE-4135-F8E1F699182A}"/>
              </a:ext>
            </a:extLst>
          </p:cNvPr>
          <p:cNvSpPr>
            <a:spLocks noGrp="1"/>
          </p:cNvSpPr>
          <p:nvPr>
            <p:ph type="title"/>
          </p:nvPr>
        </p:nvSpPr>
        <p:spPr/>
        <p:txBody>
          <a:bodyPr/>
          <a:lstStyle/>
          <a:p>
            <a:r>
              <a:rPr lang="en-US">
                <a:latin typeface="Times New Roman"/>
                <a:cs typeface="Times New Roman"/>
              </a:rPr>
              <a:t>Motivation:</a:t>
            </a:r>
          </a:p>
        </p:txBody>
      </p:sp>
      <p:sp>
        <p:nvSpPr>
          <p:cNvPr id="3" name="Content Placeholder 2">
            <a:extLst>
              <a:ext uri="{FF2B5EF4-FFF2-40B4-BE49-F238E27FC236}">
                <a16:creationId xmlns:a16="http://schemas.microsoft.com/office/drawing/2014/main" id="{D103ED13-312D-7947-890E-32818C9C96B7}"/>
              </a:ext>
            </a:extLst>
          </p:cNvPr>
          <p:cNvSpPr>
            <a:spLocks noGrp="1"/>
          </p:cNvSpPr>
          <p:nvPr>
            <p:ph idx="1"/>
          </p:nvPr>
        </p:nvSpPr>
        <p:spPr/>
        <p:txBody>
          <a:bodyPr vert="horz" lIns="91440" tIns="45720" rIns="91440" bIns="45720" rtlCol="0" anchor="t">
            <a:normAutofit fontScale="92500"/>
          </a:bodyPr>
          <a:lstStyle/>
          <a:p>
            <a:r>
              <a:rPr lang="en-US">
                <a:latin typeface="Times New Roman"/>
                <a:ea typeface="+mn-lt"/>
                <a:cs typeface="Times New Roman"/>
              </a:rPr>
              <a:t>MIMO antennas are widely used in smartphones, routers, Bluetooth, and IoT devices to improve data rate and communication reliability. </a:t>
            </a:r>
            <a:endParaRPr lang="en-US">
              <a:latin typeface="Times New Roman"/>
              <a:cs typeface="Times New Roman"/>
            </a:endParaRPr>
          </a:p>
          <a:p>
            <a:r>
              <a:rPr lang="en-US">
                <a:latin typeface="Times New Roman"/>
                <a:ea typeface="+mn-lt"/>
                <a:cs typeface="Times New Roman"/>
              </a:rPr>
              <a:t>In compact devices, closely spaced antenna elements cause mutual coupling, which reduces isolation and overall antenna performance. </a:t>
            </a:r>
            <a:endParaRPr lang="en-US">
              <a:latin typeface="Times New Roman"/>
              <a:cs typeface="Times New Roman"/>
            </a:endParaRPr>
          </a:p>
          <a:p>
            <a:r>
              <a:rPr lang="en-US">
                <a:latin typeface="Times New Roman"/>
                <a:ea typeface="+mn-lt"/>
                <a:cs typeface="Times New Roman"/>
              </a:rPr>
              <a:t>Increasing antenna spacing is often not possible due to limited device size. </a:t>
            </a:r>
            <a:endParaRPr lang="en-US">
              <a:latin typeface="Times New Roman"/>
              <a:cs typeface="Times New Roman"/>
            </a:endParaRPr>
          </a:p>
          <a:p>
            <a:r>
              <a:rPr lang="en-US">
                <a:latin typeface="Times New Roman"/>
                <a:ea typeface="+mn-lt"/>
                <a:cs typeface="Times New Roman"/>
              </a:rPr>
              <a:t>Effective decoupling techniques are required to minimize mutual coupling while maintaining a compact design. </a:t>
            </a:r>
            <a:endParaRPr lang="en-US">
              <a:latin typeface="Times New Roman"/>
              <a:cs typeface="Times New Roman"/>
            </a:endParaRPr>
          </a:p>
          <a:p>
            <a:r>
              <a:rPr lang="en-US">
                <a:latin typeface="Times New Roman"/>
                <a:ea typeface="+mn-lt"/>
                <a:cs typeface="Times New Roman"/>
              </a:rPr>
              <a:t>This project aims to design a compact 2.4 GHz MIMO antenna with improved isolation, stable radiation characteristics, and better signal quality.</a:t>
            </a:r>
            <a:endParaRPr lang="en-US">
              <a:latin typeface="Times New Roman"/>
              <a:cs typeface="Times New Roman"/>
            </a:endParaRPr>
          </a:p>
          <a:p>
            <a:endParaRPr lang="en-US"/>
          </a:p>
        </p:txBody>
      </p:sp>
      <p:pic>
        <p:nvPicPr>
          <p:cNvPr id="5" name="Picture 4" descr="A pink and black logo&#10;&#10;AI-generated content may be incorrect.">
            <a:extLst>
              <a:ext uri="{FF2B5EF4-FFF2-40B4-BE49-F238E27FC236}">
                <a16:creationId xmlns:a16="http://schemas.microsoft.com/office/drawing/2014/main" id="{8A3BF95F-6B1B-F1D1-ACAE-9D5A489D733E}"/>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2982002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9B72C-F41F-865A-6181-7FFD9063FC65}"/>
              </a:ext>
            </a:extLst>
          </p:cNvPr>
          <p:cNvSpPr>
            <a:spLocks noGrp="1"/>
          </p:cNvSpPr>
          <p:nvPr>
            <p:ph type="title"/>
          </p:nvPr>
        </p:nvSpPr>
        <p:spPr/>
        <p:txBody>
          <a:bodyPr/>
          <a:lstStyle/>
          <a:p>
            <a:r>
              <a:rPr lang="en-US">
                <a:latin typeface="Times New Roman"/>
                <a:cs typeface="Times New Roman"/>
              </a:rPr>
              <a:t>Challenges:</a:t>
            </a:r>
          </a:p>
        </p:txBody>
      </p:sp>
      <p:sp>
        <p:nvSpPr>
          <p:cNvPr id="3" name="Content Placeholder 2">
            <a:extLst>
              <a:ext uri="{FF2B5EF4-FFF2-40B4-BE49-F238E27FC236}">
                <a16:creationId xmlns:a16="http://schemas.microsoft.com/office/drawing/2014/main" id="{7DE99703-AF13-DC4F-AA34-4369D4D9C0CF}"/>
              </a:ext>
            </a:extLst>
          </p:cNvPr>
          <p:cNvSpPr>
            <a:spLocks noGrp="1"/>
          </p:cNvSpPr>
          <p:nvPr>
            <p:ph idx="1"/>
          </p:nvPr>
        </p:nvSpPr>
        <p:spPr/>
        <p:txBody>
          <a:bodyPr vert="horz" lIns="91440" tIns="45720" rIns="91440" bIns="45720" rtlCol="0" anchor="t">
            <a:normAutofit fontScale="92500" lnSpcReduction="10000"/>
          </a:bodyPr>
          <a:lstStyle/>
          <a:p>
            <a:r>
              <a:rPr lang="en-US">
                <a:latin typeface="Times New Roman"/>
                <a:ea typeface="+mn-lt"/>
                <a:cs typeface="Times New Roman"/>
              </a:rPr>
              <a:t>Achieving good isolation between antenna elements while keeping the antenna array compact for practical wireless devices. </a:t>
            </a:r>
            <a:endParaRPr lang="en-US">
              <a:latin typeface="Times New Roman"/>
              <a:cs typeface="Times New Roman"/>
            </a:endParaRPr>
          </a:p>
          <a:p>
            <a:r>
              <a:rPr lang="en-US">
                <a:latin typeface="Times New Roman"/>
                <a:ea typeface="+mn-lt"/>
                <a:cs typeface="Times New Roman"/>
              </a:rPr>
              <a:t>Identifying and optimizing a suitable decoupling technique that improves isolation without negatively affecting gain, bandwidth, or operating frequency. </a:t>
            </a:r>
            <a:endParaRPr lang="en-US">
              <a:latin typeface="Times New Roman"/>
              <a:cs typeface="Times New Roman"/>
            </a:endParaRPr>
          </a:p>
          <a:p>
            <a:r>
              <a:rPr lang="en-US">
                <a:latin typeface="Times New Roman"/>
                <a:ea typeface="+mn-lt"/>
                <a:cs typeface="Times New Roman"/>
              </a:rPr>
              <a:t>Accurately setting up and analyzing simulations in HFSS, including meshing, boundary conditions, and S-parameter evaluation. </a:t>
            </a:r>
            <a:endParaRPr lang="en-US">
              <a:latin typeface="Times New Roman"/>
              <a:cs typeface="Times New Roman"/>
            </a:endParaRPr>
          </a:p>
          <a:p>
            <a:r>
              <a:rPr lang="en-US">
                <a:latin typeface="Times New Roman"/>
                <a:ea typeface="+mn-lt"/>
                <a:cs typeface="Times New Roman"/>
              </a:rPr>
              <a:t>Ensuring that simulated results closely match real-world measurements despite fabrication tolerances and component losses. </a:t>
            </a:r>
            <a:endParaRPr lang="en-US">
              <a:latin typeface="Times New Roman"/>
              <a:cs typeface="Times New Roman"/>
            </a:endParaRPr>
          </a:p>
          <a:p>
            <a:r>
              <a:rPr lang="en-US">
                <a:latin typeface="Times New Roman"/>
                <a:ea typeface="+mn-lt"/>
                <a:cs typeface="Times New Roman"/>
              </a:rPr>
              <a:t>Maintaining precision during fabrication and testing, including antenna dimensions, SMA connector integration.</a:t>
            </a:r>
            <a:endParaRPr lang="en-US">
              <a:latin typeface="Times New Roman"/>
              <a:cs typeface="Times New Roman"/>
            </a:endParaRPr>
          </a:p>
          <a:p>
            <a:endParaRPr lang="en-US"/>
          </a:p>
        </p:txBody>
      </p:sp>
      <p:pic>
        <p:nvPicPr>
          <p:cNvPr id="5" name="Picture 4" descr="A pink and black logo&#10;&#10;AI-generated content may be incorrect.">
            <a:extLst>
              <a:ext uri="{FF2B5EF4-FFF2-40B4-BE49-F238E27FC236}">
                <a16:creationId xmlns:a16="http://schemas.microsoft.com/office/drawing/2014/main" id="{0394A087-072C-BC8A-23BB-ADC7D308DAB8}"/>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734486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E604A-D50B-44EB-CCDE-8EA917A36DCC}"/>
              </a:ext>
            </a:extLst>
          </p:cNvPr>
          <p:cNvSpPr>
            <a:spLocks noGrp="1"/>
          </p:cNvSpPr>
          <p:nvPr>
            <p:ph idx="1"/>
          </p:nvPr>
        </p:nvSpPr>
        <p:spPr>
          <a:xfrm>
            <a:off x="107516" y="19789"/>
            <a:ext cx="11956092" cy="6720845"/>
          </a:xfrm>
        </p:spPr>
        <p:txBody>
          <a:bodyPr vert="horz" lIns="91440" tIns="45720" rIns="91440" bIns="45720" rtlCol="0" anchor="t">
            <a:normAutofit/>
          </a:bodyPr>
          <a:lstStyle/>
          <a:p>
            <a:r>
              <a:rPr lang="en-US"/>
              <a:t>Literature Survey</a:t>
            </a:r>
          </a:p>
          <a:p>
            <a:endParaRPr lang="en-US"/>
          </a:p>
          <a:p>
            <a:endParaRPr lang="en-US"/>
          </a:p>
        </p:txBody>
      </p:sp>
      <p:graphicFrame>
        <p:nvGraphicFramePr>
          <p:cNvPr id="5" name="Table 4">
            <a:extLst>
              <a:ext uri="{FF2B5EF4-FFF2-40B4-BE49-F238E27FC236}">
                <a16:creationId xmlns:a16="http://schemas.microsoft.com/office/drawing/2014/main" id="{7845319A-6CAA-1BF4-71E0-72426E7BBD13}"/>
              </a:ext>
            </a:extLst>
          </p:cNvPr>
          <p:cNvGraphicFramePr>
            <a:graphicFrameLocks noGrp="1"/>
          </p:cNvGraphicFramePr>
          <p:nvPr>
            <p:extLst>
              <p:ext uri="{D42A27DB-BD31-4B8C-83A1-F6EECF244321}">
                <p14:modId xmlns:p14="http://schemas.microsoft.com/office/powerpoint/2010/main" val="3607667602"/>
              </p:ext>
            </p:extLst>
          </p:nvPr>
        </p:nvGraphicFramePr>
        <p:xfrm>
          <a:off x="104383" y="615863"/>
          <a:ext cx="12016264" cy="6125768"/>
        </p:xfrm>
        <a:graphic>
          <a:graphicData uri="http://schemas.openxmlformats.org/drawingml/2006/table">
            <a:tbl>
              <a:tblPr firstRow="1" firstCol="1" bandRow="1">
                <a:tableStyleId>{5C22544A-7EE6-4342-B048-85BDC9FD1C3A}</a:tableStyleId>
              </a:tblPr>
              <a:tblGrid>
                <a:gridCol w="646880">
                  <a:extLst>
                    <a:ext uri="{9D8B030D-6E8A-4147-A177-3AD203B41FA5}">
                      <a16:colId xmlns:a16="http://schemas.microsoft.com/office/drawing/2014/main" val="1302315152"/>
                    </a:ext>
                  </a:extLst>
                </a:gridCol>
                <a:gridCol w="2283284">
                  <a:extLst>
                    <a:ext uri="{9D8B030D-6E8A-4147-A177-3AD203B41FA5}">
                      <a16:colId xmlns:a16="http://schemas.microsoft.com/office/drawing/2014/main" val="847495283"/>
                    </a:ext>
                  </a:extLst>
                </a:gridCol>
                <a:gridCol w="1806277">
                  <a:extLst>
                    <a:ext uri="{9D8B030D-6E8A-4147-A177-3AD203B41FA5}">
                      <a16:colId xmlns:a16="http://schemas.microsoft.com/office/drawing/2014/main" val="3280832628"/>
                    </a:ext>
                  </a:extLst>
                </a:gridCol>
                <a:gridCol w="6187935">
                  <a:extLst>
                    <a:ext uri="{9D8B030D-6E8A-4147-A177-3AD203B41FA5}">
                      <a16:colId xmlns:a16="http://schemas.microsoft.com/office/drawing/2014/main" val="3553857436"/>
                    </a:ext>
                  </a:extLst>
                </a:gridCol>
                <a:gridCol w="1091888">
                  <a:extLst>
                    <a:ext uri="{9D8B030D-6E8A-4147-A177-3AD203B41FA5}">
                      <a16:colId xmlns:a16="http://schemas.microsoft.com/office/drawing/2014/main" val="2843965906"/>
                    </a:ext>
                  </a:extLst>
                </a:gridCol>
              </a:tblGrid>
              <a:tr h="280147">
                <a:tc>
                  <a:txBody>
                    <a:bodyPr/>
                    <a:lstStyle/>
                    <a:p>
                      <a:pPr algn="ctr">
                        <a:buNone/>
                      </a:pPr>
                      <a:r>
                        <a:rPr lang="en-US" sz="1200" b="1" err="1">
                          <a:solidFill>
                            <a:srgbClr val="FFFFFF"/>
                          </a:solidFill>
                          <a:effectLst/>
                          <a:latin typeface="Times New Roman"/>
                          <a:cs typeface="Times New Roman"/>
                        </a:rPr>
                        <a:t>S.No</a:t>
                      </a:r>
                      <a:endParaRPr lang="en-US" sz="1200">
                        <a:effectLst/>
                        <a:latin typeface="Times New Roman"/>
                        <a:cs typeface="Times New Roman"/>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5FA3"/>
                    </a:solidFill>
                  </a:tcPr>
                </a:tc>
                <a:tc>
                  <a:txBody>
                    <a:bodyPr/>
                    <a:lstStyle/>
                    <a:p>
                      <a:pPr algn="ctr">
                        <a:buNone/>
                      </a:pPr>
                      <a:r>
                        <a:rPr lang="en-US" sz="1200" b="1">
                          <a:solidFill>
                            <a:srgbClr val="FFFFFF"/>
                          </a:solidFill>
                          <a:effectLst/>
                          <a:latin typeface="Times New Roman"/>
                          <a:cs typeface="Times New Roman"/>
                        </a:rPr>
                        <a:t>Title of the Paper</a:t>
                      </a:r>
                      <a:endParaRPr lang="en-US" sz="1200">
                        <a:effectLst/>
                        <a:latin typeface="Times New Roman"/>
                        <a:cs typeface="Times New Roman"/>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5FA3"/>
                    </a:solidFill>
                  </a:tcPr>
                </a:tc>
                <a:tc>
                  <a:txBody>
                    <a:bodyPr/>
                    <a:lstStyle/>
                    <a:p>
                      <a:pPr algn="ctr">
                        <a:buNone/>
                      </a:pPr>
                      <a:r>
                        <a:rPr lang="en-US" sz="1200" b="1">
                          <a:solidFill>
                            <a:srgbClr val="FFFFFF"/>
                          </a:solidFill>
                          <a:effectLst/>
                          <a:latin typeface="Times New Roman"/>
                          <a:cs typeface="Times New Roman"/>
                        </a:rPr>
                        <a:t>Source</a:t>
                      </a:r>
                      <a:endParaRPr lang="en-US" sz="1200">
                        <a:effectLst/>
                        <a:latin typeface="Times New Roman"/>
                        <a:cs typeface="Times New Roman"/>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5FA3"/>
                    </a:solidFill>
                  </a:tcPr>
                </a:tc>
                <a:tc>
                  <a:txBody>
                    <a:bodyPr/>
                    <a:lstStyle/>
                    <a:p>
                      <a:pPr algn="ctr">
                        <a:buNone/>
                      </a:pPr>
                      <a:r>
                        <a:rPr lang="en-US" sz="1200" b="1">
                          <a:solidFill>
                            <a:srgbClr val="FFFFFF"/>
                          </a:solidFill>
                          <a:effectLst/>
                          <a:latin typeface="Times New Roman"/>
                          <a:cs typeface="Times New Roman"/>
                        </a:rPr>
                        <a:t>Inference (Decoupling Method &amp; Limitations)</a:t>
                      </a:r>
                      <a:endParaRPr lang="en-US" sz="1200">
                        <a:effectLst/>
                        <a:latin typeface="Times New Roman"/>
                        <a:cs typeface="Times New Roman"/>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5FA3"/>
                    </a:solidFill>
                  </a:tcPr>
                </a:tc>
                <a:tc>
                  <a:txBody>
                    <a:bodyPr/>
                    <a:lstStyle/>
                    <a:p>
                      <a:pPr algn="ctr">
                        <a:buNone/>
                      </a:pPr>
                      <a:r>
                        <a:rPr lang="en-US" sz="1200" b="1">
                          <a:solidFill>
                            <a:srgbClr val="FFFFFF"/>
                          </a:solidFill>
                          <a:effectLst/>
                          <a:latin typeface="Times New Roman"/>
                          <a:cs typeface="Times New Roman"/>
                        </a:rPr>
                        <a:t>Year</a:t>
                      </a:r>
                      <a:endParaRPr lang="en-US" sz="1200">
                        <a:effectLst/>
                        <a:latin typeface="Times New Roman"/>
                        <a:cs typeface="Times New Roman"/>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5FA3"/>
                    </a:solidFill>
                  </a:tcPr>
                </a:tc>
                <a:extLst>
                  <a:ext uri="{0D108BD9-81ED-4DB2-BD59-A6C34878D82A}">
                    <a16:rowId xmlns:a16="http://schemas.microsoft.com/office/drawing/2014/main" val="1476892349"/>
                  </a:ext>
                </a:extLst>
              </a:tr>
              <a:tr h="1937160">
                <a:tc>
                  <a:txBody>
                    <a:bodyPr/>
                    <a:lstStyle/>
                    <a:p>
                      <a:pPr algn="ctr">
                        <a:spcBef>
                          <a:spcPts val="100"/>
                        </a:spcBef>
                        <a:spcAft>
                          <a:spcPts val="100"/>
                        </a:spcAft>
                        <a:buNone/>
                      </a:pPr>
                      <a:r>
                        <a:rPr lang="en-US" sz="1800" b="1">
                          <a:solidFill>
                            <a:srgbClr val="000000"/>
                          </a:solidFill>
                          <a:effectLst/>
                          <a:latin typeface="Times New Roman"/>
                          <a:cs typeface="Times New Roman"/>
                        </a:rPr>
                        <a:t>1</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Decoupling Between Extremely Closely Spaced Patch Antennas by Mode Cancellation Method</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Transactions on Antennas and Propagation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Two probe-fed microstrip patches at 2.45 GHz with 0.016λ₀ (2 mm) edge-to-edge spacing.</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Mode Cancellation Method (MCM): a lumped inductance or small inductive strip inserted between patches creates a current with 180° opposite phase to cancel unwanted coupled current.</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Isolation improved from ~5 dB to &gt;15 </a:t>
                      </a:r>
                      <a:r>
                        <a:rPr lang="en-US" sz="1200" err="1">
                          <a:solidFill>
                            <a:srgbClr val="000000"/>
                          </a:solidFill>
                          <a:effectLst/>
                          <a:latin typeface="Times New Roman"/>
                          <a:cs typeface="Times New Roman"/>
                        </a:rPr>
                        <a:t>dB.</a:t>
                      </a:r>
                      <a:r>
                        <a:rPr lang="en-US" sz="1200">
                          <a:solidFill>
                            <a:srgbClr val="000000"/>
                          </a:solidFill>
                          <a:effectLst/>
                          <a:latin typeface="Times New Roman"/>
                          <a:cs typeface="Times New Roman"/>
                        </a:rPr>
                        <a:t> Gain ~8.9 </a:t>
                      </a:r>
                      <a:r>
                        <a:rPr lang="en-US" sz="1200" err="1">
                          <a:solidFill>
                            <a:srgbClr val="000000"/>
                          </a:solidFill>
                          <a:effectLst/>
                          <a:latin typeface="Times New Roman"/>
                          <a:cs typeface="Times New Roman"/>
                        </a:rPr>
                        <a:t>dBi</a:t>
                      </a:r>
                      <a:r>
                        <a:rPr lang="en-US" sz="1200">
                          <a:solidFill>
                            <a:srgbClr val="000000"/>
                          </a:solidFill>
                          <a:effectLst/>
                          <a:latin typeface="Times New Roman"/>
                          <a:cs typeface="Times New Roman"/>
                        </a:rPr>
                        <a:t>; symmetric broadside beam maintained.</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Limitation: Narrow-band improvement; lumped component adds fabrication complexity; performance sensitive to inductance tolerances; not extended to &gt;2 elements; no ECC reported.</a:t>
                      </a:r>
                      <a:endParaRPr lang="en-US" sz="12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2020</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3976512555"/>
                  </a:ext>
                </a:extLst>
              </a:tr>
              <a:tr h="1862655">
                <a:tc>
                  <a:txBody>
                    <a:bodyPr/>
                    <a:lstStyle/>
                    <a:p>
                      <a:pPr algn="ctr">
                        <a:spcBef>
                          <a:spcPts val="100"/>
                        </a:spcBef>
                        <a:spcAft>
                          <a:spcPts val="100"/>
                        </a:spcAft>
                        <a:buNone/>
                      </a:pPr>
                      <a:r>
                        <a:rPr lang="en-US" sz="1800" b="1">
                          <a:solidFill>
                            <a:srgbClr val="000000"/>
                          </a:solidFill>
                          <a:effectLst/>
                          <a:latin typeface="Times New Roman"/>
                          <a:cs typeface="Times New Roman"/>
                        </a:rPr>
                        <a:t>2</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Mutual Coupling Reduction of a Dual-Band Four-Port Patch Antenna With Co-</a:t>
                      </a:r>
                      <a:r>
                        <a:rPr lang="en-US" sz="1600" b="1" err="1">
                          <a:solidFill>
                            <a:srgbClr val="000000"/>
                          </a:solidFill>
                          <a:effectLst/>
                          <a:latin typeface="Times New Roman"/>
                          <a:cs typeface="Times New Roman"/>
                        </a:rPr>
                        <a:t>Polarised</a:t>
                      </a:r>
                      <a:r>
                        <a:rPr lang="en-US" sz="1600" b="1">
                          <a:solidFill>
                            <a:srgbClr val="000000"/>
                          </a:solidFill>
                          <a:effectLst/>
                          <a:latin typeface="Times New Roman"/>
                          <a:cs typeface="Times New Roman"/>
                        </a:rPr>
                        <a:t> Radiation Pattern by Controlling Electric Fields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Transactions on Antennas and Propagation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Single-layer dual-band 4-port rectangular patch at 2.35 GHz and 3.59 GHz; co-</a:t>
                      </a:r>
                      <a:r>
                        <a:rPr lang="en-US" sz="1200" err="1">
                          <a:solidFill>
                            <a:srgbClr val="000000"/>
                          </a:solidFill>
                          <a:effectLst/>
                          <a:latin typeface="Times New Roman"/>
                          <a:cs typeface="Times New Roman"/>
                        </a:rPr>
                        <a:t>polarised</a:t>
                      </a:r>
                      <a:r>
                        <a:rPr lang="en-US" sz="1200">
                          <a:solidFill>
                            <a:srgbClr val="000000"/>
                          </a:solidFill>
                          <a:effectLst/>
                          <a:latin typeface="Times New Roman"/>
                          <a:cs typeface="Times New Roman"/>
                        </a:rPr>
                        <a:t> probe-feed configuration.</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Characteristic Mode Analysis (CMA) used to guide placement of shorting pins and ring slots; alters modal field distribution to push E-field nulls toward unexcited ports.</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Mutual coupling reduced to below −15 dB across both bands; stable broadside beam; low-profile single-layer design; no external decoupling network.</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Limitation: CMA expertise required; sensitive to pin and slot placement tolerances; single radiator limits spatial diversity; no gain or efficiency data reported.</a:t>
                      </a:r>
                      <a:endParaRPr lang="en-US" sz="12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2023</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21057333"/>
                  </a:ext>
                </a:extLst>
              </a:tr>
              <a:tr h="2041473">
                <a:tc>
                  <a:txBody>
                    <a:bodyPr/>
                    <a:lstStyle/>
                    <a:p>
                      <a:pPr algn="ctr">
                        <a:spcBef>
                          <a:spcPts val="100"/>
                        </a:spcBef>
                        <a:spcAft>
                          <a:spcPts val="100"/>
                        </a:spcAft>
                        <a:buNone/>
                      </a:pPr>
                      <a:r>
                        <a:rPr lang="en-US" sz="1800" b="1">
                          <a:solidFill>
                            <a:srgbClr val="000000"/>
                          </a:solidFill>
                          <a:effectLst/>
                          <a:latin typeface="Times New Roman"/>
                          <a:cs typeface="Times New Roman"/>
                        </a:rPr>
                        <a:t>3</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A Compact Multifrequency Broadband Dual-Antenna System With Mutual Coupling Reduction for Wi-Fi 6E Application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Antennas and Wireless Propagation Letters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Dual Inverted-F Antenna (IFA) on FR4 (</a:t>
                      </a:r>
                      <a:r>
                        <a:rPr lang="en-US" sz="1200" err="1">
                          <a:solidFill>
                            <a:srgbClr val="000000"/>
                          </a:solidFill>
                          <a:effectLst/>
                          <a:latin typeface="Times New Roman"/>
                          <a:cs typeface="Times New Roman"/>
                        </a:rPr>
                        <a:t>εr</a:t>
                      </a:r>
                      <a:r>
                        <a:rPr lang="en-US" sz="1200">
                          <a:solidFill>
                            <a:srgbClr val="000000"/>
                          </a:solidFill>
                          <a:effectLst/>
                          <a:latin typeface="Times New Roman"/>
                          <a:cs typeface="Times New Roman"/>
                        </a:rPr>
                        <a:t>=4.4, h=1 mm); size 6.5×41 mm²; covers 2.4–2.484 GHz, 5.15–5.825 GHz, 5.925–7.125 GHz.</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Three-stage decoupling: Inductor L1 (3.6 </a:t>
                      </a:r>
                      <a:r>
                        <a:rPr lang="en-US" sz="1200" err="1">
                          <a:solidFill>
                            <a:srgbClr val="000000"/>
                          </a:solidFill>
                          <a:effectLst/>
                          <a:latin typeface="Times New Roman"/>
                          <a:cs typeface="Times New Roman"/>
                        </a:rPr>
                        <a:t>nH</a:t>
                      </a:r>
                      <a:r>
                        <a:rPr lang="en-US" sz="1200">
                          <a:solidFill>
                            <a:srgbClr val="000000"/>
                          </a:solidFill>
                          <a:effectLst/>
                          <a:latin typeface="Times New Roman"/>
                          <a:cs typeface="Times New Roman"/>
                        </a:rPr>
                        <a:t>) for 2.4 GHz; modified branch L2 (22 </a:t>
                      </a:r>
                      <a:r>
                        <a:rPr lang="en-US" sz="1200" err="1">
                          <a:solidFill>
                            <a:srgbClr val="000000"/>
                          </a:solidFill>
                          <a:effectLst/>
                          <a:latin typeface="Times New Roman"/>
                          <a:cs typeface="Times New Roman"/>
                        </a:rPr>
                        <a:t>nH</a:t>
                      </a:r>
                      <a:r>
                        <a:rPr lang="en-US" sz="1200">
                          <a:solidFill>
                            <a:srgbClr val="000000"/>
                          </a:solidFill>
                          <a:effectLst/>
                          <a:latin typeface="Times New Roman"/>
                          <a:cs typeface="Times New Roman"/>
                        </a:rPr>
                        <a:t>) for 5–6 GHz; modified </a:t>
                      </a:r>
                      <a:r>
                        <a:rPr lang="en-US" sz="1200" err="1">
                          <a:solidFill>
                            <a:srgbClr val="000000"/>
                          </a:solidFill>
                          <a:effectLst/>
                          <a:latin typeface="Times New Roman"/>
                          <a:cs typeface="Times New Roman"/>
                        </a:rPr>
                        <a:t>neutralisation</a:t>
                      </a:r>
                      <a:r>
                        <a:rPr lang="en-US" sz="1200">
                          <a:solidFill>
                            <a:srgbClr val="000000"/>
                          </a:solidFill>
                          <a:effectLst/>
                          <a:latin typeface="Times New Roman"/>
                          <a:cs typeface="Times New Roman"/>
                        </a:rPr>
                        <a:t> line L3 (28 </a:t>
                      </a:r>
                      <a:r>
                        <a:rPr lang="en-US" sz="1200" err="1">
                          <a:solidFill>
                            <a:srgbClr val="000000"/>
                          </a:solidFill>
                          <a:effectLst/>
                          <a:latin typeface="Times New Roman"/>
                          <a:cs typeface="Times New Roman"/>
                        </a:rPr>
                        <a:t>nH</a:t>
                      </a:r>
                      <a:r>
                        <a:rPr lang="en-US" sz="1200">
                          <a:solidFill>
                            <a:srgbClr val="000000"/>
                          </a:solidFill>
                          <a:effectLst/>
                          <a:latin typeface="Times New Roman"/>
                          <a:cs typeface="Times New Roman"/>
                        </a:rPr>
                        <a:t>) for higher frequencies. Phase cancellation of mutual currents.</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Isolation &gt;22 dB across Wi-Fi 6E bands. Gain: 4.27 </a:t>
                      </a:r>
                      <a:r>
                        <a:rPr lang="en-US" sz="1200" err="1">
                          <a:solidFill>
                            <a:srgbClr val="000000"/>
                          </a:solidFill>
                          <a:effectLst/>
                          <a:latin typeface="Times New Roman"/>
                          <a:cs typeface="Times New Roman"/>
                        </a:rPr>
                        <a:t>dBi</a:t>
                      </a:r>
                      <a:r>
                        <a:rPr lang="en-US" sz="1200">
                          <a:solidFill>
                            <a:srgbClr val="000000"/>
                          </a:solidFill>
                          <a:effectLst/>
                          <a:latin typeface="Times New Roman"/>
                          <a:cs typeface="Times New Roman"/>
                        </a:rPr>
                        <a:t> @ 2.4 GHz and 4.43 </a:t>
                      </a:r>
                      <a:r>
                        <a:rPr lang="en-US" sz="1200" err="1">
                          <a:solidFill>
                            <a:srgbClr val="000000"/>
                          </a:solidFill>
                          <a:effectLst/>
                          <a:latin typeface="Times New Roman"/>
                          <a:cs typeface="Times New Roman"/>
                        </a:rPr>
                        <a:t>dBi</a:t>
                      </a:r>
                      <a:r>
                        <a:rPr lang="en-US" sz="1200">
                          <a:solidFill>
                            <a:srgbClr val="000000"/>
                          </a:solidFill>
                          <a:effectLst/>
                          <a:latin typeface="Times New Roman"/>
                          <a:cs typeface="Times New Roman"/>
                        </a:rPr>
                        <a:t> @ 5–7 GHz. ECC &lt;0.3; efficiency &gt;40%; omnidirectional pattern.</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Limitation: Low radiation efficiency (&gt;40%); three separate inductors increase cost and assembly complexity; ECC near 0.3 limit; not suitable for very compact IoT devices.</a:t>
                      </a:r>
                      <a:endParaRPr lang="en-US" sz="12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2024</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2786403096"/>
                  </a:ext>
                </a:extLst>
              </a:tr>
            </a:tbl>
          </a:graphicData>
        </a:graphic>
      </p:graphicFrame>
      <p:pic>
        <p:nvPicPr>
          <p:cNvPr id="8" name="Picture 7" descr="A pink and black logo&#10;&#10;AI-generated content may be incorrect.">
            <a:extLst>
              <a:ext uri="{FF2B5EF4-FFF2-40B4-BE49-F238E27FC236}">
                <a16:creationId xmlns:a16="http://schemas.microsoft.com/office/drawing/2014/main" id="{F5B5E7BF-095F-AC60-CF75-E23BE0642493}"/>
              </a:ext>
            </a:extLst>
          </p:cNvPr>
          <p:cNvPicPr>
            <a:picLocks noChangeAspect="1"/>
          </p:cNvPicPr>
          <p:nvPr/>
        </p:nvPicPr>
        <p:blipFill>
          <a:blip r:embed="rId2"/>
          <a:stretch>
            <a:fillRect/>
          </a:stretch>
        </p:blipFill>
        <p:spPr>
          <a:xfrm>
            <a:off x="10118419" y="12983"/>
            <a:ext cx="2069928" cy="579461"/>
          </a:xfrm>
          <a:prstGeom prst="rect">
            <a:avLst/>
          </a:prstGeom>
        </p:spPr>
      </p:pic>
    </p:spTree>
    <p:extLst>
      <p:ext uri="{BB962C8B-B14F-4D97-AF65-F5344CB8AC3E}">
        <p14:creationId xmlns:p14="http://schemas.microsoft.com/office/powerpoint/2010/main" val="161680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A2E72DCC-7AE4-A9E5-ECFC-58DAE2FCC360}"/>
              </a:ext>
            </a:extLst>
          </p:cNvPr>
          <p:cNvGraphicFramePr>
            <a:graphicFrameLocks noGrp="1"/>
          </p:cNvGraphicFramePr>
          <p:nvPr>
            <p:ph idx="1"/>
            <p:extLst>
              <p:ext uri="{D42A27DB-BD31-4B8C-83A1-F6EECF244321}">
                <p14:modId xmlns:p14="http://schemas.microsoft.com/office/powerpoint/2010/main" val="3432906398"/>
              </p:ext>
            </p:extLst>
          </p:nvPr>
        </p:nvGraphicFramePr>
        <p:xfrm>
          <a:off x="73068" y="991643"/>
          <a:ext cx="11986701" cy="5804127"/>
        </p:xfrm>
        <a:graphic>
          <a:graphicData uri="http://schemas.openxmlformats.org/drawingml/2006/table">
            <a:tbl>
              <a:tblPr firstRow="1" firstCol="1" bandRow="1">
                <a:tableStyleId>{5C22544A-7EE6-4342-B048-85BDC9FD1C3A}</a:tableStyleId>
              </a:tblPr>
              <a:tblGrid>
                <a:gridCol w="645286">
                  <a:extLst>
                    <a:ext uri="{9D8B030D-6E8A-4147-A177-3AD203B41FA5}">
                      <a16:colId xmlns:a16="http://schemas.microsoft.com/office/drawing/2014/main" val="3049016417"/>
                    </a:ext>
                  </a:extLst>
                </a:gridCol>
                <a:gridCol w="2277665">
                  <a:extLst>
                    <a:ext uri="{9D8B030D-6E8A-4147-A177-3AD203B41FA5}">
                      <a16:colId xmlns:a16="http://schemas.microsoft.com/office/drawing/2014/main" val="1673659176"/>
                    </a:ext>
                  </a:extLst>
                </a:gridCol>
                <a:gridCol w="1801835">
                  <a:extLst>
                    <a:ext uri="{9D8B030D-6E8A-4147-A177-3AD203B41FA5}">
                      <a16:colId xmlns:a16="http://schemas.microsoft.com/office/drawing/2014/main" val="1128774398"/>
                    </a:ext>
                  </a:extLst>
                </a:gridCol>
                <a:gridCol w="6205257">
                  <a:extLst>
                    <a:ext uri="{9D8B030D-6E8A-4147-A177-3AD203B41FA5}">
                      <a16:colId xmlns:a16="http://schemas.microsoft.com/office/drawing/2014/main" val="1031801917"/>
                    </a:ext>
                  </a:extLst>
                </a:gridCol>
                <a:gridCol w="1056658">
                  <a:extLst>
                    <a:ext uri="{9D8B030D-6E8A-4147-A177-3AD203B41FA5}">
                      <a16:colId xmlns:a16="http://schemas.microsoft.com/office/drawing/2014/main" val="2048004038"/>
                    </a:ext>
                  </a:extLst>
                </a:gridCol>
              </a:tblGrid>
              <a:tr h="1868160">
                <a:tc>
                  <a:txBody>
                    <a:bodyPr/>
                    <a:lstStyle/>
                    <a:p>
                      <a:pPr algn="ctr">
                        <a:spcBef>
                          <a:spcPts val="100"/>
                        </a:spcBef>
                        <a:spcAft>
                          <a:spcPts val="100"/>
                        </a:spcAft>
                        <a:buNone/>
                      </a:pPr>
                      <a:r>
                        <a:rPr lang="en-US" sz="1800" b="1">
                          <a:solidFill>
                            <a:srgbClr val="000000"/>
                          </a:solidFill>
                          <a:effectLst/>
                          <a:latin typeface="Times New Roman"/>
                          <a:cs typeface="Times New Roman"/>
                        </a:rPr>
                        <a:t>4</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Mutual Coupling Reduction in Dual-Band MIMO Antenna Using Parasitic Dollar-Shaped Structure for Modern Wireless Communication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0">
                          <a:solidFill>
                            <a:srgbClr val="000000"/>
                          </a:solidFill>
                          <a:effectLst/>
                          <a:latin typeface="Times New Roman"/>
                          <a:cs typeface="Times New Roman"/>
                        </a:rPr>
                        <a:t>IEEE Access</a:t>
                      </a:r>
                      <a:endParaRPr lang="en-US" sz="1600" b="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b="0" dirty="0">
                          <a:solidFill>
                            <a:srgbClr val="000000"/>
                          </a:solidFill>
                          <a:effectLst/>
                          <a:latin typeface="Times New Roman"/>
                          <a:cs typeface="Times New Roman"/>
                        </a:rPr>
                        <a:t>•  Dual-band monopole MIMO on FR4 (</a:t>
                      </a:r>
                      <a:r>
                        <a:rPr lang="en-US" sz="1200" b="0" dirty="0" err="1">
                          <a:solidFill>
                            <a:srgbClr val="000000"/>
                          </a:solidFill>
                          <a:effectLst/>
                          <a:latin typeface="Times New Roman"/>
                          <a:cs typeface="Times New Roman"/>
                        </a:rPr>
                        <a:t>εr</a:t>
                      </a:r>
                      <a:r>
                        <a:rPr lang="en-US" sz="1200" b="0" dirty="0">
                          <a:solidFill>
                            <a:srgbClr val="000000"/>
                          </a:solidFill>
                          <a:effectLst/>
                          <a:latin typeface="Times New Roman"/>
                          <a:cs typeface="Times New Roman"/>
                        </a:rPr>
                        <a:t>=4.4, 0.8 mm); size 45×30 mm²; CPW feed; bands: 2.39–2.57 GHz and 3.82–6.95 GHz.</a:t>
                      </a:r>
                      <a:endParaRPr lang="en-US" sz="1200" b="0" dirty="0">
                        <a:effectLst/>
                        <a:latin typeface="Times New Roman"/>
                        <a:cs typeface="Times New Roman"/>
                      </a:endParaRPr>
                    </a:p>
                    <a:p>
                      <a:pPr marL="127000" indent="-127000">
                        <a:spcBef>
                          <a:spcPts val="100"/>
                        </a:spcBef>
                        <a:spcAft>
                          <a:spcPts val="100"/>
                        </a:spcAft>
                        <a:buNone/>
                      </a:pPr>
                      <a:r>
                        <a:rPr lang="en-US" sz="1200" b="0">
                          <a:solidFill>
                            <a:srgbClr val="000000"/>
                          </a:solidFill>
                          <a:effectLst/>
                          <a:latin typeface="Times New Roman"/>
                          <a:cs typeface="Times New Roman"/>
                        </a:rPr>
                        <a:t>•  Parasitic Dollar-Shaped Structure (PDSS): two interlocking C-shaped loops + vertical rectangular strip acting as stop-band filter; suppresses surface waves between monopoles.</a:t>
                      </a:r>
                      <a:endParaRPr lang="en-US" sz="1200" b="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Isolation −15 dB across both bands; gain ~2.6 </a:t>
                      </a:r>
                      <a:r>
                        <a:rPr lang="en-US" sz="1200" b="0" dirty="0" err="1">
                          <a:solidFill>
                            <a:srgbClr val="000000"/>
                          </a:solidFill>
                          <a:effectLst/>
                          <a:latin typeface="Times New Roman"/>
                          <a:cs typeface="Times New Roman"/>
                        </a:rPr>
                        <a:t>dBi</a:t>
                      </a:r>
                      <a:r>
                        <a:rPr lang="en-US" sz="1200" b="0" dirty="0">
                          <a:solidFill>
                            <a:srgbClr val="000000"/>
                          </a:solidFill>
                          <a:effectLst/>
                          <a:latin typeface="Times New Roman"/>
                          <a:cs typeface="Times New Roman"/>
                        </a:rPr>
                        <a:t>; efficiency 70–75%; ECC &lt;0.02.</a:t>
                      </a:r>
                      <a:endParaRPr lang="en-US" sz="1200" b="0" dirty="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Limitation: Isolation of −15 dB is below typical 20 dB target; low gain (2.6 </a:t>
                      </a:r>
                      <a:r>
                        <a:rPr lang="en-US" sz="1200" b="0" dirty="0" err="1">
                          <a:solidFill>
                            <a:srgbClr val="000000"/>
                          </a:solidFill>
                          <a:effectLst/>
                          <a:latin typeface="Times New Roman"/>
                          <a:cs typeface="Times New Roman"/>
                        </a:rPr>
                        <a:t>dBi</a:t>
                      </a:r>
                      <a:r>
                        <a:rPr lang="en-US" sz="1200" b="0" dirty="0">
                          <a:solidFill>
                            <a:srgbClr val="000000"/>
                          </a:solidFill>
                          <a:effectLst/>
                          <a:latin typeface="Times New Roman"/>
                          <a:cs typeface="Times New Roman"/>
                        </a:rPr>
                        <a:t>); complex PDSS geometry harder to fabricate precisely; large antenna footprint.</a:t>
                      </a:r>
                      <a:endParaRPr lang="en-US" sz="1200" b="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2023</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981342268"/>
                  </a:ext>
                </a:extLst>
              </a:tr>
              <a:tr h="2067807">
                <a:tc>
                  <a:txBody>
                    <a:bodyPr/>
                    <a:lstStyle/>
                    <a:p>
                      <a:pPr algn="ctr">
                        <a:spcBef>
                          <a:spcPts val="100"/>
                        </a:spcBef>
                        <a:spcAft>
                          <a:spcPts val="100"/>
                        </a:spcAft>
                        <a:buNone/>
                      </a:pPr>
                      <a:r>
                        <a:rPr lang="en-US" sz="1800" b="1">
                          <a:solidFill>
                            <a:srgbClr val="000000"/>
                          </a:solidFill>
                          <a:effectLst/>
                          <a:latin typeface="Times New Roman"/>
                          <a:cs typeface="Times New Roman"/>
                        </a:rPr>
                        <a:t>5</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dirty="0">
                          <a:solidFill>
                            <a:srgbClr val="000000"/>
                          </a:solidFill>
                          <a:effectLst/>
                          <a:latin typeface="Times New Roman"/>
                          <a:cs typeface="Times New Roman"/>
                        </a:rPr>
                        <a:t>Electric-Field Null Bending of a Single Dual-Port Patch Antenna for Colinear </a:t>
                      </a:r>
                      <a:r>
                        <a:rPr lang="en-US" sz="1600" b="1" dirty="0" err="1">
                          <a:solidFill>
                            <a:srgbClr val="000000"/>
                          </a:solidFill>
                          <a:effectLst/>
                          <a:latin typeface="Times New Roman"/>
                          <a:cs typeface="Times New Roman"/>
                        </a:rPr>
                        <a:t>Polarisation</a:t>
                      </a:r>
                      <a:r>
                        <a:rPr lang="en-US" sz="1600" b="1" dirty="0">
                          <a:solidFill>
                            <a:srgbClr val="000000"/>
                          </a:solidFill>
                          <a:effectLst/>
                          <a:latin typeface="Times New Roman"/>
                          <a:cs typeface="Times New Roman"/>
                        </a:rPr>
                        <a:t> Decoupling Using Characteristic Modes Analysis</a:t>
                      </a:r>
                      <a:endParaRPr lang="en-US" sz="16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Transactions on Antennas and Propagation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Single-layer dual-port MPA at 5.30–5.54 GHz; probe-fed (two symmetrical feed points); for IBFD and MIMO systems.</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CMA used to combine TM01 and TM20 resonant modes to bend E-field nulls toward unexcited ports. Six shorting pins + circular slots for impedance matching. No external decoupling structure needed.</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Isolation −17 dB (improved from −3.5 dB baseline); gain ~5.0 </a:t>
                      </a:r>
                      <a:r>
                        <a:rPr lang="en-US" sz="1200" dirty="0" err="1">
                          <a:solidFill>
                            <a:srgbClr val="000000"/>
                          </a:solidFill>
                          <a:effectLst/>
                          <a:latin typeface="Times New Roman"/>
                          <a:cs typeface="Times New Roman"/>
                        </a:rPr>
                        <a:t>dBi</a:t>
                      </a:r>
                      <a:r>
                        <a:rPr lang="en-US" sz="1200" dirty="0">
                          <a:solidFill>
                            <a:srgbClr val="000000"/>
                          </a:solidFill>
                          <a:effectLst/>
                          <a:latin typeface="Times New Roman"/>
                          <a:cs typeface="Times New Roman"/>
                        </a:rPr>
                        <a:t>; same-</a:t>
                      </a:r>
                      <a:r>
                        <a:rPr lang="en-US" sz="1200" dirty="0" err="1">
                          <a:solidFill>
                            <a:srgbClr val="000000"/>
                          </a:solidFill>
                          <a:effectLst/>
                          <a:latin typeface="Times New Roman"/>
                          <a:cs typeface="Times New Roman"/>
                        </a:rPr>
                        <a:t>polarisation</a:t>
                      </a:r>
                      <a:r>
                        <a:rPr lang="en-US" sz="1200" dirty="0">
                          <a:solidFill>
                            <a:srgbClr val="000000"/>
                          </a:solidFill>
                          <a:effectLst/>
                          <a:latin typeface="Times New Roman"/>
                          <a:cs typeface="Times New Roman"/>
                        </a:rPr>
                        <a:t> transmission; good simulation-measurement agreement.</a:t>
                      </a:r>
                      <a:endParaRPr lang="en-US" sz="1200" dirty="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Limitation: Operates only at 5 GHz; shorting pins complicate fabrication; isolation of −17 dB may be insufficient for strict IBFD; no ECC or MIMO capacity analysis.</a:t>
                      </a:r>
                      <a:endParaRPr lang="en-US" sz="12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2022</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3101110140"/>
                  </a:ext>
                </a:extLst>
              </a:tr>
              <a:tr h="1868160">
                <a:tc>
                  <a:txBody>
                    <a:bodyPr/>
                    <a:lstStyle/>
                    <a:p>
                      <a:pPr algn="ctr">
                        <a:spcBef>
                          <a:spcPts val="100"/>
                        </a:spcBef>
                        <a:spcAft>
                          <a:spcPts val="100"/>
                        </a:spcAft>
                        <a:buNone/>
                      </a:pPr>
                      <a:r>
                        <a:rPr lang="en-US" sz="1800" b="1">
                          <a:solidFill>
                            <a:srgbClr val="000000"/>
                          </a:solidFill>
                          <a:effectLst/>
                          <a:latin typeface="Times New Roman"/>
                          <a:cs typeface="Times New Roman"/>
                        </a:rPr>
                        <a:t>6</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Wideband Self-Decoupled Closely Placed Dielectric Patch Antenna Array Without Additional Structures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 Chinese Journal</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dirty="0">
                          <a:solidFill>
                            <a:srgbClr val="000000"/>
                          </a:solidFill>
                          <a:effectLst/>
                          <a:latin typeface="Times New Roman"/>
                          <a:cs typeface="Times New Roman"/>
                        </a:rPr>
                        <a:t>•  Dielectric Patch Antenna (DPA) array at 4.7–5.3 GHz; microstrip-coupled slot feed on Rogers substrate; 2-element extended to 4-element.</a:t>
                      </a:r>
                      <a:endParaRPr lang="en-US" sz="1200" dirty="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Self-decoupling by simultaneous excitation of two dielectric modes via appropriate dielectric constant selection. No additional decoupling structures required.</a:t>
                      </a:r>
                      <a:endParaRPr lang="en-US" sz="1200" dirty="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Isolation &gt;21 dB; 10.5% bandwidth; beam scanning up to ±46° in E-plane.</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Limitation: Limited to dielectric patch antennas; dielectric resonators are bulkier and costlier than patches; design sensitive to dielectric constant selection; not validated for 2.4 GHz band.</a:t>
                      </a:r>
                      <a:endParaRPr lang="en-US" sz="12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2022</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707737897"/>
                  </a:ext>
                </a:extLst>
              </a:tr>
            </a:tbl>
          </a:graphicData>
        </a:graphic>
      </p:graphicFrame>
      <p:graphicFrame>
        <p:nvGraphicFramePr>
          <p:cNvPr id="11" name="Table 10">
            <a:extLst>
              <a:ext uri="{FF2B5EF4-FFF2-40B4-BE49-F238E27FC236}">
                <a16:creationId xmlns:a16="http://schemas.microsoft.com/office/drawing/2014/main" id="{F9A60240-5967-87DA-86A0-EC86347ACB71}"/>
              </a:ext>
            </a:extLst>
          </p:cNvPr>
          <p:cNvGraphicFramePr>
            <a:graphicFrameLocks noGrp="1"/>
          </p:cNvGraphicFramePr>
          <p:nvPr>
            <p:extLst>
              <p:ext uri="{D42A27DB-BD31-4B8C-83A1-F6EECF244321}">
                <p14:modId xmlns:p14="http://schemas.microsoft.com/office/powerpoint/2010/main" val="3876441665"/>
              </p:ext>
            </p:extLst>
          </p:nvPr>
        </p:nvGraphicFramePr>
        <p:xfrm>
          <a:off x="77435" y="543104"/>
          <a:ext cx="12016253" cy="448227"/>
        </p:xfrm>
        <a:graphic>
          <a:graphicData uri="http://schemas.openxmlformats.org/drawingml/2006/table">
            <a:tbl>
              <a:tblPr bandRow="1">
                <a:tableStyleId>{5C22544A-7EE6-4342-B048-85BDC9FD1C3A}</a:tableStyleId>
              </a:tblPr>
              <a:tblGrid>
                <a:gridCol w="646871">
                  <a:extLst>
                    <a:ext uri="{9D8B030D-6E8A-4147-A177-3AD203B41FA5}">
                      <a16:colId xmlns:a16="http://schemas.microsoft.com/office/drawing/2014/main" val="3477014234"/>
                    </a:ext>
                  </a:extLst>
                </a:gridCol>
                <a:gridCol w="2283285">
                  <a:extLst>
                    <a:ext uri="{9D8B030D-6E8A-4147-A177-3AD203B41FA5}">
                      <a16:colId xmlns:a16="http://schemas.microsoft.com/office/drawing/2014/main" val="4044973140"/>
                    </a:ext>
                  </a:extLst>
                </a:gridCol>
                <a:gridCol w="1806273">
                  <a:extLst>
                    <a:ext uri="{9D8B030D-6E8A-4147-A177-3AD203B41FA5}">
                      <a16:colId xmlns:a16="http://schemas.microsoft.com/office/drawing/2014/main" val="283908635"/>
                    </a:ext>
                  </a:extLst>
                </a:gridCol>
                <a:gridCol w="6187935">
                  <a:extLst>
                    <a:ext uri="{9D8B030D-6E8A-4147-A177-3AD203B41FA5}">
                      <a16:colId xmlns:a16="http://schemas.microsoft.com/office/drawing/2014/main" val="3717374498"/>
                    </a:ext>
                  </a:extLst>
                </a:gridCol>
                <a:gridCol w="1091889">
                  <a:extLst>
                    <a:ext uri="{9D8B030D-6E8A-4147-A177-3AD203B41FA5}">
                      <a16:colId xmlns:a16="http://schemas.microsoft.com/office/drawing/2014/main" val="2419622968"/>
                    </a:ext>
                  </a:extLst>
                </a:gridCol>
              </a:tblGrid>
              <a:tr h="448227">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S.No</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Title of the Paper</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Source</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Inference (Decoupling Method &amp; Limitations)</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Year</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extLst>
                  <a:ext uri="{0D108BD9-81ED-4DB2-BD59-A6C34878D82A}">
                    <a16:rowId xmlns:a16="http://schemas.microsoft.com/office/drawing/2014/main" val="2042477507"/>
                  </a:ext>
                </a:extLst>
              </a:tr>
            </a:tbl>
          </a:graphicData>
        </a:graphic>
      </p:graphicFrame>
      <p:pic>
        <p:nvPicPr>
          <p:cNvPr id="13" name="Picture 12" descr="A pink and black logo&#10;&#10;AI-generated content may be incorrect.">
            <a:extLst>
              <a:ext uri="{FF2B5EF4-FFF2-40B4-BE49-F238E27FC236}">
                <a16:creationId xmlns:a16="http://schemas.microsoft.com/office/drawing/2014/main" id="{F48A5B2B-BCD3-6F8E-7B76-1A2A7F6AD6C1}"/>
              </a:ext>
            </a:extLst>
          </p:cNvPr>
          <p:cNvPicPr>
            <a:picLocks noChangeAspect="1"/>
          </p:cNvPicPr>
          <p:nvPr/>
        </p:nvPicPr>
        <p:blipFill>
          <a:blip r:embed="rId2"/>
          <a:stretch>
            <a:fillRect/>
          </a:stretch>
        </p:blipFill>
        <p:spPr>
          <a:xfrm>
            <a:off x="10034914" y="2545"/>
            <a:ext cx="2153433" cy="537707"/>
          </a:xfrm>
          <a:prstGeom prst="rect">
            <a:avLst/>
          </a:prstGeom>
        </p:spPr>
      </p:pic>
    </p:spTree>
    <p:extLst>
      <p:ext uri="{BB962C8B-B14F-4D97-AF65-F5344CB8AC3E}">
        <p14:creationId xmlns:p14="http://schemas.microsoft.com/office/powerpoint/2010/main" val="3311401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9E4C0-3D52-D926-5BFF-1C94039C7CF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8D647D5-5CF0-303B-0F1C-5B37332F340C}"/>
              </a:ext>
            </a:extLst>
          </p:cNvPr>
          <p:cNvSpPr>
            <a:spLocks noGrp="1"/>
          </p:cNvSpPr>
          <p:nvPr>
            <p:ph idx="1"/>
          </p:nvPr>
        </p:nvSpPr>
        <p:spPr/>
        <p:txBody>
          <a:bodyPr/>
          <a:lstStyle/>
          <a:p>
            <a:endParaRPr lang="en-GB"/>
          </a:p>
        </p:txBody>
      </p:sp>
      <p:pic>
        <p:nvPicPr>
          <p:cNvPr id="5" name="Picture 4" descr="A pink and black logo&#10;&#10;AI-generated content may be incorrect.">
            <a:extLst>
              <a:ext uri="{FF2B5EF4-FFF2-40B4-BE49-F238E27FC236}">
                <a16:creationId xmlns:a16="http://schemas.microsoft.com/office/drawing/2014/main" id="{440C03F1-AB1E-2D62-BEC6-BF6FA32C72CE}"/>
              </a:ext>
            </a:extLst>
          </p:cNvPr>
          <p:cNvPicPr>
            <a:picLocks noChangeAspect="1"/>
          </p:cNvPicPr>
          <p:nvPr/>
        </p:nvPicPr>
        <p:blipFill>
          <a:blip r:embed="rId2"/>
          <a:stretch>
            <a:fillRect/>
          </a:stretch>
        </p:blipFill>
        <p:spPr>
          <a:xfrm>
            <a:off x="10034914" y="2545"/>
            <a:ext cx="2153433" cy="537707"/>
          </a:xfrm>
          <a:prstGeom prst="rect">
            <a:avLst/>
          </a:prstGeom>
        </p:spPr>
      </p:pic>
    </p:spTree>
    <p:extLst>
      <p:ext uri="{BB962C8B-B14F-4D97-AF65-F5344CB8AC3E}">
        <p14:creationId xmlns:p14="http://schemas.microsoft.com/office/powerpoint/2010/main" val="3617871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E3165E1D-86B6-B30A-D357-D1FD7854A1EF}"/>
              </a:ext>
            </a:extLst>
          </p:cNvPr>
          <p:cNvGraphicFramePr>
            <a:graphicFrameLocks noGrp="1"/>
          </p:cNvGraphicFramePr>
          <p:nvPr>
            <p:ph idx="1"/>
            <p:extLst>
              <p:ext uri="{D42A27DB-BD31-4B8C-83A1-F6EECF244321}">
                <p14:modId xmlns:p14="http://schemas.microsoft.com/office/powerpoint/2010/main" val="2972842855"/>
              </p:ext>
            </p:extLst>
          </p:nvPr>
        </p:nvGraphicFramePr>
        <p:xfrm>
          <a:off x="52191" y="459287"/>
          <a:ext cx="12101909" cy="336187"/>
        </p:xfrm>
        <a:graphic>
          <a:graphicData uri="http://schemas.openxmlformats.org/drawingml/2006/table">
            <a:tbl>
              <a:tblPr bandRow="1">
                <a:tableStyleId>{5C22544A-7EE6-4342-B048-85BDC9FD1C3A}</a:tableStyleId>
              </a:tblPr>
              <a:tblGrid>
                <a:gridCol w="648582">
                  <a:extLst>
                    <a:ext uri="{9D8B030D-6E8A-4147-A177-3AD203B41FA5}">
                      <a16:colId xmlns:a16="http://schemas.microsoft.com/office/drawing/2014/main" val="3136432917"/>
                    </a:ext>
                  </a:extLst>
                </a:gridCol>
                <a:gridCol w="2289334">
                  <a:extLst>
                    <a:ext uri="{9D8B030D-6E8A-4147-A177-3AD203B41FA5}">
                      <a16:colId xmlns:a16="http://schemas.microsoft.com/office/drawing/2014/main" val="2746886082"/>
                    </a:ext>
                  </a:extLst>
                </a:gridCol>
                <a:gridCol w="1811059">
                  <a:extLst>
                    <a:ext uri="{9D8B030D-6E8A-4147-A177-3AD203B41FA5}">
                      <a16:colId xmlns:a16="http://schemas.microsoft.com/office/drawing/2014/main" val="3776341127"/>
                    </a:ext>
                  </a:extLst>
                </a:gridCol>
                <a:gridCol w="6204332">
                  <a:extLst>
                    <a:ext uri="{9D8B030D-6E8A-4147-A177-3AD203B41FA5}">
                      <a16:colId xmlns:a16="http://schemas.microsoft.com/office/drawing/2014/main" val="4143794547"/>
                    </a:ext>
                  </a:extLst>
                </a:gridCol>
                <a:gridCol w="1148602">
                  <a:extLst>
                    <a:ext uri="{9D8B030D-6E8A-4147-A177-3AD203B41FA5}">
                      <a16:colId xmlns:a16="http://schemas.microsoft.com/office/drawing/2014/main" val="2953454659"/>
                    </a:ext>
                  </a:extLst>
                </a:gridCol>
              </a:tblGrid>
              <a:tr h="336187">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S.No</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Title of the Paper</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Source</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Inference (Decoupling Method &amp; Limitations)</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975"/>
                        </a:lnSpc>
                        <a:buNone/>
                      </a:pPr>
                      <a:r>
                        <a:rPr lang="en-US" sz="1200" b="1" i="0">
                          <a:solidFill>
                            <a:srgbClr val="FFFFFF"/>
                          </a:solidFill>
                          <a:effectLst/>
                          <a:latin typeface="Times New Roman" panose="02020603050405020304" pitchFamily="18" charset="0"/>
                        </a:rPr>
                        <a:t>Year</a:t>
                      </a:r>
                      <a:endParaRPr lang="en-US" sz="900" b="1" i="0">
                        <a:solidFill>
                          <a:srgbClr val="FFFFFF"/>
                        </a:solidFill>
                        <a:effectLst/>
                        <a:latin typeface="Segoe UI" panose="020B0502040204020203" pitchFamily="34" charset="0"/>
                      </a:endParaRPr>
                    </a:p>
                  </a:txBody>
                  <a:tcPr marL="51816" marR="51816" marT="34538" marB="3453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extLst>
                  <a:ext uri="{0D108BD9-81ED-4DB2-BD59-A6C34878D82A}">
                    <a16:rowId xmlns:a16="http://schemas.microsoft.com/office/drawing/2014/main" val="4255733415"/>
                  </a:ext>
                </a:extLst>
              </a:tr>
            </a:tbl>
          </a:graphicData>
        </a:graphic>
      </p:graphicFrame>
      <p:graphicFrame>
        <p:nvGraphicFramePr>
          <p:cNvPr id="7" name="Table 6">
            <a:extLst>
              <a:ext uri="{FF2B5EF4-FFF2-40B4-BE49-F238E27FC236}">
                <a16:creationId xmlns:a16="http://schemas.microsoft.com/office/drawing/2014/main" id="{6AA03C6F-B968-3BC5-2950-2D275F741D6E}"/>
              </a:ext>
            </a:extLst>
          </p:cNvPr>
          <p:cNvGraphicFramePr>
            <a:graphicFrameLocks noGrp="1"/>
          </p:cNvGraphicFramePr>
          <p:nvPr>
            <p:extLst>
              <p:ext uri="{D42A27DB-BD31-4B8C-83A1-F6EECF244321}">
                <p14:modId xmlns:p14="http://schemas.microsoft.com/office/powerpoint/2010/main" val="3992270395"/>
              </p:ext>
            </p:extLst>
          </p:nvPr>
        </p:nvGraphicFramePr>
        <p:xfrm>
          <a:off x="62630" y="793315"/>
          <a:ext cx="12072233" cy="5825088"/>
        </p:xfrm>
        <a:graphic>
          <a:graphicData uri="http://schemas.openxmlformats.org/drawingml/2006/table">
            <a:tbl>
              <a:tblPr firstRow="1" firstCol="1" bandRow="1">
                <a:tableStyleId>{5C22544A-7EE6-4342-B048-85BDC9FD1C3A}</a:tableStyleId>
              </a:tblPr>
              <a:tblGrid>
                <a:gridCol w="720655">
                  <a:extLst>
                    <a:ext uri="{9D8B030D-6E8A-4147-A177-3AD203B41FA5}">
                      <a16:colId xmlns:a16="http://schemas.microsoft.com/office/drawing/2014/main" val="3355395275"/>
                    </a:ext>
                  </a:extLst>
                </a:gridCol>
                <a:gridCol w="2256593">
                  <a:extLst>
                    <a:ext uri="{9D8B030D-6E8A-4147-A177-3AD203B41FA5}">
                      <a16:colId xmlns:a16="http://schemas.microsoft.com/office/drawing/2014/main" val="1429948463"/>
                    </a:ext>
                  </a:extLst>
                </a:gridCol>
                <a:gridCol w="1785165">
                  <a:extLst>
                    <a:ext uri="{9D8B030D-6E8A-4147-A177-3AD203B41FA5}">
                      <a16:colId xmlns:a16="http://schemas.microsoft.com/office/drawing/2014/main" val="1103312501"/>
                    </a:ext>
                  </a:extLst>
                </a:gridCol>
                <a:gridCol w="6139446">
                  <a:extLst>
                    <a:ext uri="{9D8B030D-6E8A-4147-A177-3AD203B41FA5}">
                      <a16:colId xmlns:a16="http://schemas.microsoft.com/office/drawing/2014/main" val="2375093640"/>
                    </a:ext>
                  </a:extLst>
                </a:gridCol>
                <a:gridCol w="1170374">
                  <a:extLst>
                    <a:ext uri="{9D8B030D-6E8A-4147-A177-3AD203B41FA5}">
                      <a16:colId xmlns:a16="http://schemas.microsoft.com/office/drawing/2014/main" val="1365536794"/>
                    </a:ext>
                  </a:extLst>
                </a:gridCol>
              </a:tblGrid>
              <a:tr h="1909244">
                <a:tc>
                  <a:txBody>
                    <a:bodyPr/>
                    <a:lstStyle/>
                    <a:p>
                      <a:pPr algn="ctr">
                        <a:spcBef>
                          <a:spcPts val="100"/>
                        </a:spcBef>
                        <a:spcAft>
                          <a:spcPts val="100"/>
                        </a:spcAft>
                        <a:buNone/>
                      </a:pPr>
                      <a:r>
                        <a:rPr lang="en-US" sz="1800" b="1">
                          <a:solidFill>
                            <a:srgbClr val="000000"/>
                          </a:solidFill>
                          <a:effectLst/>
                          <a:latin typeface="Times New Roman"/>
                          <a:cs typeface="Times New Roman"/>
                        </a:rPr>
                        <a:t>7</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dirty="0">
                          <a:solidFill>
                            <a:srgbClr val="000000"/>
                          </a:solidFill>
                          <a:effectLst/>
                          <a:latin typeface="Times New Roman"/>
                          <a:cs typeface="Times New Roman"/>
                        </a:rPr>
                        <a:t>Self-Decoupled 8-Element Dual </a:t>
                      </a:r>
                      <a:r>
                        <a:rPr lang="en-US" sz="1600" b="1" dirty="0" err="1">
                          <a:solidFill>
                            <a:srgbClr val="000000"/>
                          </a:solidFill>
                          <a:effectLst/>
                          <a:latin typeface="Times New Roman"/>
                          <a:cs typeface="Times New Roman"/>
                        </a:rPr>
                        <a:t>Polarised</a:t>
                      </a:r>
                      <a:r>
                        <a:rPr lang="en-US" sz="1600" b="1" dirty="0">
                          <a:solidFill>
                            <a:srgbClr val="000000"/>
                          </a:solidFill>
                          <a:effectLst/>
                          <a:latin typeface="Times New Roman"/>
                          <a:cs typeface="Times New Roman"/>
                        </a:rPr>
                        <a:t> MIMO Antenna for B5G Handsets With Sub-6 GHz and </a:t>
                      </a:r>
                      <a:r>
                        <a:rPr lang="en-US" sz="1600" b="1" dirty="0" err="1">
                          <a:solidFill>
                            <a:srgbClr val="000000"/>
                          </a:solidFill>
                          <a:effectLst/>
                          <a:latin typeface="Times New Roman"/>
                          <a:cs typeface="Times New Roman"/>
                        </a:rPr>
                        <a:t>mmWave</a:t>
                      </a:r>
                      <a:r>
                        <a:rPr lang="en-US" sz="1600" b="1" dirty="0">
                          <a:solidFill>
                            <a:srgbClr val="000000"/>
                          </a:solidFill>
                          <a:effectLst/>
                          <a:latin typeface="Times New Roman"/>
                          <a:cs typeface="Times New Roman"/>
                        </a:rPr>
                        <a:t> Integration</a:t>
                      </a:r>
                      <a:endParaRPr lang="en-US" sz="16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0">
                          <a:solidFill>
                            <a:srgbClr val="000000"/>
                          </a:solidFill>
                          <a:effectLst/>
                          <a:latin typeface="Times New Roman"/>
                          <a:cs typeface="Times New Roman"/>
                        </a:rPr>
                        <a:t>IEEE Access</a:t>
                      </a:r>
                      <a:endParaRPr lang="en-US" sz="1600" b="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b="0" dirty="0">
                          <a:solidFill>
                            <a:srgbClr val="000000"/>
                          </a:solidFill>
                          <a:effectLst/>
                          <a:latin typeface="Times New Roman"/>
                          <a:cs typeface="Times New Roman"/>
                        </a:rPr>
                        <a:t>•  8-element dual-</a:t>
                      </a:r>
                      <a:r>
                        <a:rPr lang="en-US" sz="1200" b="0" dirty="0" err="1">
                          <a:solidFill>
                            <a:srgbClr val="000000"/>
                          </a:solidFill>
                          <a:effectLst/>
                          <a:latin typeface="Times New Roman"/>
                          <a:cs typeface="Times New Roman"/>
                        </a:rPr>
                        <a:t>polarised</a:t>
                      </a:r>
                      <a:r>
                        <a:rPr lang="en-US" sz="1200" b="0" dirty="0">
                          <a:solidFill>
                            <a:srgbClr val="000000"/>
                          </a:solidFill>
                          <a:effectLst/>
                          <a:latin typeface="Times New Roman"/>
                          <a:cs typeface="Times New Roman"/>
                        </a:rPr>
                        <a:t> MIMO (slot-based) on RO4003C (0.8 mm); sub-6 GHz (4.7–4.9 GHz, n79) and </a:t>
                      </a:r>
                      <a:r>
                        <a:rPr lang="en-US" sz="1200" b="0" dirty="0" err="1">
                          <a:solidFill>
                            <a:srgbClr val="000000"/>
                          </a:solidFill>
                          <a:effectLst/>
                          <a:latin typeface="Times New Roman"/>
                          <a:cs typeface="Times New Roman"/>
                        </a:rPr>
                        <a:t>mmWave</a:t>
                      </a:r>
                      <a:r>
                        <a:rPr lang="en-US" sz="1200" b="0" dirty="0">
                          <a:solidFill>
                            <a:srgbClr val="000000"/>
                          </a:solidFill>
                          <a:effectLst/>
                          <a:latin typeface="Times New Roman"/>
                          <a:cs typeface="Times New Roman"/>
                        </a:rPr>
                        <a:t> (28–29 GHz, n257).</a:t>
                      </a:r>
                      <a:endParaRPr lang="en-US" sz="1200" b="0" dirty="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Orthogonal placement of elements for </a:t>
                      </a:r>
                      <a:r>
                        <a:rPr lang="en-US" sz="1200" b="0" dirty="0" err="1">
                          <a:solidFill>
                            <a:srgbClr val="000000"/>
                          </a:solidFill>
                          <a:effectLst/>
                          <a:latin typeface="Times New Roman"/>
                          <a:cs typeface="Times New Roman"/>
                        </a:rPr>
                        <a:t>polarisation</a:t>
                      </a:r>
                      <a:r>
                        <a:rPr lang="en-US" sz="1200" b="0" dirty="0">
                          <a:solidFill>
                            <a:srgbClr val="000000"/>
                          </a:solidFill>
                          <a:effectLst/>
                          <a:latin typeface="Times New Roman"/>
                          <a:cs typeface="Times New Roman"/>
                        </a:rPr>
                        <a:t> diversity. F-shaped slots with slotted ground plane for dual resonance. High isolation achieved by element arrangement alone — no external decoupling structures.</a:t>
                      </a:r>
                      <a:endParaRPr lang="en-US" sz="1200" b="0" dirty="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Isolation &gt;14.4 dB @ sub-6 GHz; &gt;25 dB @ </a:t>
                      </a:r>
                      <a:r>
                        <a:rPr lang="en-US" sz="1200" b="0" dirty="0" err="1">
                          <a:solidFill>
                            <a:srgbClr val="000000"/>
                          </a:solidFill>
                          <a:effectLst/>
                          <a:latin typeface="Times New Roman"/>
                          <a:cs typeface="Times New Roman"/>
                        </a:rPr>
                        <a:t>mmWave</a:t>
                      </a:r>
                      <a:r>
                        <a:rPr lang="en-US" sz="1200" b="0" dirty="0">
                          <a:solidFill>
                            <a:srgbClr val="000000"/>
                          </a:solidFill>
                          <a:effectLst/>
                          <a:latin typeface="Times New Roman"/>
                          <a:cs typeface="Times New Roman"/>
                        </a:rPr>
                        <a:t>. Gain: 4.9 </a:t>
                      </a:r>
                      <a:r>
                        <a:rPr lang="en-US" sz="1200" b="0" dirty="0" err="1">
                          <a:solidFill>
                            <a:srgbClr val="000000"/>
                          </a:solidFill>
                          <a:effectLst/>
                          <a:latin typeface="Times New Roman"/>
                          <a:cs typeface="Times New Roman"/>
                        </a:rPr>
                        <a:t>dBi</a:t>
                      </a:r>
                      <a:r>
                        <a:rPr lang="en-US" sz="1200" b="0" dirty="0">
                          <a:solidFill>
                            <a:srgbClr val="000000"/>
                          </a:solidFill>
                          <a:effectLst/>
                          <a:latin typeface="Times New Roman"/>
                          <a:cs typeface="Times New Roman"/>
                        </a:rPr>
                        <a:t> (n79), 7.2 </a:t>
                      </a:r>
                      <a:r>
                        <a:rPr lang="en-US" sz="1200" b="0" dirty="0" err="1">
                          <a:solidFill>
                            <a:srgbClr val="000000"/>
                          </a:solidFill>
                          <a:effectLst/>
                          <a:latin typeface="Times New Roman"/>
                          <a:cs typeface="Times New Roman"/>
                        </a:rPr>
                        <a:t>dBi</a:t>
                      </a:r>
                      <a:r>
                        <a:rPr lang="en-US" sz="1200" b="0" dirty="0">
                          <a:solidFill>
                            <a:srgbClr val="000000"/>
                          </a:solidFill>
                          <a:effectLst/>
                          <a:latin typeface="Times New Roman"/>
                          <a:cs typeface="Times New Roman"/>
                        </a:rPr>
                        <a:t> (n257). Efficiency ~90%.</a:t>
                      </a:r>
                      <a:endParaRPr lang="en-US" sz="1200" b="0" dirty="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Limitation: Isolation at sub-6 GHz (14.4 dB) below 20 dB target; slotted ground may affect ground-plane-dependent circuitry; large board required; limited to specific 5G bands.</a:t>
                      </a:r>
                      <a:endParaRPr lang="en-US" sz="1200" b="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0">
                          <a:solidFill>
                            <a:srgbClr val="000000"/>
                          </a:solidFill>
                          <a:effectLst/>
                          <a:latin typeface="Times New Roman"/>
                          <a:cs typeface="Times New Roman"/>
                        </a:rPr>
                        <a:t>2024</a:t>
                      </a:r>
                      <a:endParaRPr lang="en-US" sz="1800" b="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2654925935"/>
                  </a:ext>
                </a:extLst>
              </a:tr>
              <a:tr h="1895993">
                <a:tc>
                  <a:txBody>
                    <a:bodyPr/>
                    <a:lstStyle/>
                    <a:p>
                      <a:pPr algn="ctr">
                        <a:spcBef>
                          <a:spcPts val="100"/>
                        </a:spcBef>
                        <a:spcAft>
                          <a:spcPts val="100"/>
                        </a:spcAft>
                        <a:buNone/>
                      </a:pPr>
                      <a:r>
                        <a:rPr lang="en-US" sz="1800" b="1">
                          <a:solidFill>
                            <a:srgbClr val="000000"/>
                          </a:solidFill>
                          <a:effectLst/>
                          <a:latin typeface="Times New Roman"/>
                          <a:cs typeface="Times New Roman"/>
                        </a:rPr>
                        <a:t>8</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dirty="0">
                          <a:solidFill>
                            <a:srgbClr val="000000"/>
                          </a:solidFill>
                          <a:effectLst/>
                          <a:latin typeface="Times New Roman"/>
                          <a:cs typeface="Times New Roman"/>
                        </a:rPr>
                        <a:t>Mode-Counteraction Based Self-Decoupling in Circularly </a:t>
                      </a:r>
                      <a:r>
                        <a:rPr lang="en-US" sz="1600" b="1" dirty="0" err="1">
                          <a:solidFill>
                            <a:srgbClr val="000000"/>
                          </a:solidFill>
                          <a:effectLst/>
                          <a:latin typeface="Times New Roman"/>
                          <a:cs typeface="Times New Roman"/>
                        </a:rPr>
                        <a:t>Polarised</a:t>
                      </a:r>
                      <a:r>
                        <a:rPr lang="en-US" sz="1600" b="1" dirty="0">
                          <a:solidFill>
                            <a:srgbClr val="000000"/>
                          </a:solidFill>
                          <a:effectLst/>
                          <a:latin typeface="Times New Roman"/>
                          <a:cs typeface="Times New Roman"/>
                        </a:rPr>
                        <a:t> MIMO Microstrip Patch Array</a:t>
                      </a:r>
                      <a:endParaRPr lang="en-US" sz="16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Transactions on Antennas and Propagation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CP Microstrip Patch Array (MIMO) at ~5.45–5.63 GHz; coaxial probe (diagonal-fed to excite TM10 and TM01 modes); 1×2 extended to 1×4.</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Mode counteraction effect: two orthogonal modes (TM10 and TM01) excited to generate CP and create null-field in adjacent patch. Second patch feed placed in null-field for natural isolation.</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Isolation ~−59.4 dB (extremely low coupling); gain ~4.8 </a:t>
                      </a:r>
                      <a:r>
                        <a:rPr lang="en-US" sz="1200" dirty="0" err="1">
                          <a:solidFill>
                            <a:srgbClr val="000000"/>
                          </a:solidFill>
                          <a:effectLst/>
                          <a:latin typeface="Times New Roman"/>
                          <a:cs typeface="Times New Roman"/>
                        </a:rPr>
                        <a:t>dBi</a:t>
                      </a:r>
                      <a:r>
                        <a:rPr lang="en-US" sz="1200" dirty="0">
                          <a:solidFill>
                            <a:srgbClr val="000000"/>
                          </a:solidFill>
                          <a:effectLst/>
                          <a:latin typeface="Times New Roman"/>
                          <a:cs typeface="Times New Roman"/>
                        </a:rPr>
                        <a:t>; 3 dB AR bandwidth ~2.15% (5.52–5.64 GHz); no external decoupling needed.</a:t>
                      </a:r>
                      <a:endParaRPr lang="en-US" sz="1200" dirty="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Limitation: Narrow 3 dB axial ratio bandwidth (~2.15%); works only for CP antennas; diagonal probe feed sensitive to fabrication tolerances; slight frequency shift due to PCB tolerance reported.</a:t>
                      </a:r>
                      <a:endParaRPr lang="en-US" sz="12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0">
                          <a:solidFill>
                            <a:srgbClr val="000000"/>
                          </a:solidFill>
                          <a:effectLst/>
                          <a:latin typeface="Times New Roman"/>
                          <a:cs typeface="Times New Roman"/>
                        </a:rPr>
                        <a:t>2022</a:t>
                      </a:r>
                      <a:endParaRPr lang="en-US" sz="1800" b="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383878342"/>
                  </a:ext>
                </a:extLst>
              </a:tr>
              <a:tr h="1909244">
                <a:tc>
                  <a:txBody>
                    <a:bodyPr/>
                    <a:lstStyle/>
                    <a:p>
                      <a:pPr algn="ctr">
                        <a:spcBef>
                          <a:spcPts val="100"/>
                        </a:spcBef>
                        <a:spcAft>
                          <a:spcPts val="100"/>
                        </a:spcAft>
                        <a:buNone/>
                      </a:pPr>
                      <a:r>
                        <a:rPr lang="en-US" sz="1800" b="1">
                          <a:solidFill>
                            <a:srgbClr val="000000"/>
                          </a:solidFill>
                          <a:effectLst/>
                          <a:latin typeface="Times New Roman"/>
                          <a:cs typeface="Times New Roman"/>
                        </a:rPr>
                        <a:t>9</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A Self-Decoupling Method for MIMO Antenna Array Using Characteristic Mode of Ground Plane</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Transactions on Antennas and Propagation, vol. 71, no. 3</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Various antenna types on common ground plane at ~3.9–4.0 GHz; versatile — applicable to different array configurations.</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Characteristic Mode 2 of the ground plane creates two null-field regions. First antenna excites Mode 2; second antenna's feed placed in null-field. No additional decoupling structures. </a:t>
                      </a:r>
                      <a:r>
                        <a:rPr lang="en-US" sz="1200" dirty="0" err="1">
                          <a:solidFill>
                            <a:srgbClr val="000000"/>
                          </a:solidFill>
                          <a:effectLst/>
                          <a:latin typeface="Times New Roman"/>
                          <a:cs typeface="Times New Roman"/>
                        </a:rPr>
                        <a:t>Analysed</a:t>
                      </a:r>
                      <a:r>
                        <a:rPr lang="en-US" sz="1200" dirty="0">
                          <a:solidFill>
                            <a:srgbClr val="000000"/>
                          </a:solidFill>
                          <a:effectLst/>
                          <a:latin typeface="Times New Roman"/>
                          <a:cs typeface="Times New Roman"/>
                        </a:rPr>
                        <a:t> using Altair </a:t>
                      </a:r>
                      <a:r>
                        <a:rPr lang="en-US" sz="1200" dirty="0" err="1">
                          <a:solidFill>
                            <a:srgbClr val="000000"/>
                          </a:solidFill>
                          <a:effectLst/>
                          <a:latin typeface="Times New Roman"/>
                          <a:cs typeface="Times New Roman"/>
                        </a:rPr>
                        <a:t>Feko</a:t>
                      </a:r>
                      <a:r>
                        <a:rPr lang="en-US" sz="1200" dirty="0">
                          <a:solidFill>
                            <a:srgbClr val="000000"/>
                          </a:solidFill>
                          <a:effectLst/>
                          <a:latin typeface="Times New Roman"/>
                          <a:cs typeface="Times New Roman"/>
                        </a:rPr>
                        <a:t>.</a:t>
                      </a:r>
                      <a:endParaRPr lang="en-US" sz="1200" dirty="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Isolation up to 57 dB; method versatile across different antenna types.</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Limitation: Requires accurate </a:t>
                      </a:r>
                      <a:r>
                        <a:rPr lang="en-US" sz="1200" dirty="0" err="1">
                          <a:solidFill>
                            <a:srgbClr val="000000"/>
                          </a:solidFill>
                          <a:effectLst/>
                          <a:latin typeface="Times New Roman"/>
                          <a:cs typeface="Times New Roman"/>
                        </a:rPr>
                        <a:t>characterisation</a:t>
                      </a:r>
                      <a:r>
                        <a:rPr lang="en-US" sz="1200" dirty="0">
                          <a:solidFill>
                            <a:srgbClr val="000000"/>
                          </a:solidFill>
                          <a:effectLst/>
                          <a:latin typeface="Times New Roman"/>
                          <a:cs typeface="Times New Roman"/>
                        </a:rPr>
                        <a:t> of ground plane modes (</a:t>
                      </a:r>
                      <a:r>
                        <a:rPr lang="en-US" sz="1200" dirty="0" err="1">
                          <a:solidFill>
                            <a:srgbClr val="000000"/>
                          </a:solidFill>
                          <a:effectLst/>
                          <a:latin typeface="Times New Roman"/>
                          <a:cs typeface="Times New Roman"/>
                        </a:rPr>
                        <a:t>Feko</a:t>
                      </a:r>
                      <a:r>
                        <a:rPr lang="en-US" sz="1200" dirty="0">
                          <a:solidFill>
                            <a:srgbClr val="000000"/>
                          </a:solidFill>
                          <a:effectLst/>
                          <a:latin typeface="Times New Roman"/>
                          <a:cs typeface="Times New Roman"/>
                        </a:rPr>
                        <a:t> expertise); antenna placement constrained by null-field location; ground plane size affects modal </a:t>
                      </a:r>
                      <a:r>
                        <a:rPr lang="en-US" sz="1200" dirty="0" err="1">
                          <a:solidFill>
                            <a:srgbClr val="000000"/>
                          </a:solidFill>
                          <a:effectLst/>
                          <a:latin typeface="Times New Roman"/>
                          <a:cs typeface="Times New Roman"/>
                        </a:rPr>
                        <a:t>behaviour</a:t>
                      </a:r>
                      <a:r>
                        <a:rPr lang="en-US" sz="1200" dirty="0">
                          <a:solidFill>
                            <a:srgbClr val="000000"/>
                          </a:solidFill>
                          <a:effectLst/>
                          <a:latin typeface="Times New Roman"/>
                          <a:cs typeface="Times New Roman"/>
                        </a:rPr>
                        <a:t>; difficult in irregular ground configurations.</a:t>
                      </a:r>
                      <a:endParaRPr lang="en-US" sz="12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0">
                          <a:solidFill>
                            <a:srgbClr val="000000"/>
                          </a:solidFill>
                          <a:effectLst/>
                          <a:latin typeface="Times New Roman"/>
                          <a:cs typeface="Times New Roman"/>
                        </a:rPr>
                        <a:t>2023</a:t>
                      </a:r>
                      <a:endParaRPr lang="en-US" sz="1800" b="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2267058039"/>
                  </a:ext>
                </a:extLst>
              </a:tr>
            </a:tbl>
          </a:graphicData>
        </a:graphic>
      </p:graphicFrame>
      <p:pic>
        <p:nvPicPr>
          <p:cNvPr id="3" name="Picture 2" descr="A pink and black logo&#10;&#10;AI-generated content may be incorrect.">
            <a:extLst>
              <a:ext uri="{FF2B5EF4-FFF2-40B4-BE49-F238E27FC236}">
                <a16:creationId xmlns:a16="http://schemas.microsoft.com/office/drawing/2014/main" id="{2DDBF0A8-C333-24F6-1BCD-0F990F54CA94}"/>
              </a:ext>
            </a:extLst>
          </p:cNvPr>
          <p:cNvPicPr>
            <a:picLocks noChangeAspect="1"/>
          </p:cNvPicPr>
          <p:nvPr/>
        </p:nvPicPr>
        <p:blipFill>
          <a:blip r:embed="rId2"/>
          <a:stretch>
            <a:fillRect/>
          </a:stretch>
        </p:blipFill>
        <p:spPr>
          <a:xfrm>
            <a:off x="10034914" y="2545"/>
            <a:ext cx="2153433" cy="537707"/>
          </a:xfrm>
          <a:prstGeom prst="rect">
            <a:avLst/>
          </a:prstGeom>
        </p:spPr>
      </p:pic>
    </p:spTree>
    <p:extLst>
      <p:ext uri="{BB962C8B-B14F-4D97-AF65-F5344CB8AC3E}">
        <p14:creationId xmlns:p14="http://schemas.microsoft.com/office/powerpoint/2010/main" val="980284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9AEE7C2E-FB0C-C46B-A28F-AECA1CEFF94A}"/>
              </a:ext>
            </a:extLst>
          </p:cNvPr>
          <p:cNvGraphicFramePr>
            <a:graphicFrameLocks noGrp="1"/>
          </p:cNvGraphicFramePr>
          <p:nvPr>
            <p:ph idx="1"/>
            <p:extLst>
              <p:ext uri="{D42A27DB-BD31-4B8C-83A1-F6EECF244321}">
                <p14:modId xmlns:p14="http://schemas.microsoft.com/office/powerpoint/2010/main" val="2064232924"/>
              </p:ext>
            </p:extLst>
          </p:nvPr>
        </p:nvGraphicFramePr>
        <p:xfrm>
          <a:off x="125260" y="469726"/>
          <a:ext cx="12022319" cy="336176"/>
        </p:xfrm>
        <a:graphic>
          <a:graphicData uri="http://schemas.openxmlformats.org/drawingml/2006/table">
            <a:tbl>
              <a:tblPr bandRow="1">
                <a:tableStyleId>{5C22544A-7EE6-4342-B048-85BDC9FD1C3A}</a:tableStyleId>
              </a:tblPr>
              <a:tblGrid>
                <a:gridCol w="644309">
                  <a:extLst>
                    <a:ext uri="{9D8B030D-6E8A-4147-A177-3AD203B41FA5}">
                      <a16:colId xmlns:a16="http://schemas.microsoft.com/office/drawing/2014/main" val="3340325411"/>
                    </a:ext>
                  </a:extLst>
                </a:gridCol>
                <a:gridCol w="2274281">
                  <a:extLst>
                    <a:ext uri="{9D8B030D-6E8A-4147-A177-3AD203B41FA5}">
                      <a16:colId xmlns:a16="http://schemas.microsoft.com/office/drawing/2014/main" val="1547375223"/>
                    </a:ext>
                  </a:extLst>
                </a:gridCol>
                <a:gridCol w="1799147">
                  <a:extLst>
                    <a:ext uri="{9D8B030D-6E8A-4147-A177-3AD203B41FA5}">
                      <a16:colId xmlns:a16="http://schemas.microsoft.com/office/drawing/2014/main" val="2355102568"/>
                    </a:ext>
                  </a:extLst>
                </a:gridCol>
                <a:gridCol w="5813051">
                  <a:extLst>
                    <a:ext uri="{9D8B030D-6E8A-4147-A177-3AD203B41FA5}">
                      <a16:colId xmlns:a16="http://schemas.microsoft.com/office/drawing/2014/main" val="3983562437"/>
                    </a:ext>
                  </a:extLst>
                </a:gridCol>
                <a:gridCol w="1491531">
                  <a:extLst>
                    <a:ext uri="{9D8B030D-6E8A-4147-A177-3AD203B41FA5}">
                      <a16:colId xmlns:a16="http://schemas.microsoft.com/office/drawing/2014/main" val="2709357808"/>
                    </a:ext>
                  </a:extLst>
                </a:gridCol>
              </a:tblGrid>
              <a:tr h="336176">
                <a:tc>
                  <a:txBody>
                    <a:bodyPr/>
                    <a:lstStyle/>
                    <a:p>
                      <a:pPr marL="0" marR="0" indent="0" algn="ctr" rtl="0" fontAlgn="base">
                        <a:lnSpc>
                          <a:spcPts val="663"/>
                        </a:lnSpc>
                        <a:buNone/>
                      </a:pPr>
                      <a:r>
                        <a:rPr lang="en-US" sz="1200" b="1" i="0" err="1">
                          <a:solidFill>
                            <a:srgbClr val="FFFFFF"/>
                          </a:solidFill>
                          <a:effectLst/>
                          <a:latin typeface="Times New Roman"/>
                        </a:rPr>
                        <a:t>S.No</a:t>
                      </a:r>
                      <a:endParaRPr lang="en-US" sz="900" b="0" i="0" err="1">
                        <a:solidFill>
                          <a:srgbClr val="000000"/>
                        </a:solidFill>
                        <a:effectLst/>
                        <a:latin typeface="Times New Roman"/>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Title of the Paper</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Source</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Inference (Decoupling Method &amp; Limitations)</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Year</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extLst>
                  <a:ext uri="{0D108BD9-81ED-4DB2-BD59-A6C34878D82A}">
                    <a16:rowId xmlns:a16="http://schemas.microsoft.com/office/drawing/2014/main" val="3389760694"/>
                  </a:ext>
                </a:extLst>
              </a:tr>
            </a:tbl>
          </a:graphicData>
        </a:graphic>
      </p:graphicFrame>
      <p:graphicFrame>
        <p:nvGraphicFramePr>
          <p:cNvPr id="7" name="Table 6">
            <a:extLst>
              <a:ext uri="{FF2B5EF4-FFF2-40B4-BE49-F238E27FC236}">
                <a16:creationId xmlns:a16="http://schemas.microsoft.com/office/drawing/2014/main" id="{38A6DE55-DD46-FB16-29BA-70B3E7AA802C}"/>
              </a:ext>
            </a:extLst>
          </p:cNvPr>
          <p:cNvGraphicFramePr>
            <a:graphicFrameLocks noGrp="1"/>
          </p:cNvGraphicFramePr>
          <p:nvPr>
            <p:extLst>
              <p:ext uri="{D42A27DB-BD31-4B8C-83A1-F6EECF244321}">
                <p14:modId xmlns:p14="http://schemas.microsoft.com/office/powerpoint/2010/main" val="3154726875"/>
              </p:ext>
            </p:extLst>
          </p:nvPr>
        </p:nvGraphicFramePr>
        <p:xfrm>
          <a:off x="125260" y="803753"/>
          <a:ext cx="11964372" cy="6202680"/>
        </p:xfrm>
        <a:graphic>
          <a:graphicData uri="http://schemas.openxmlformats.org/drawingml/2006/table">
            <a:tbl>
              <a:tblPr firstRow="1" firstCol="1" bandRow="1">
                <a:tableStyleId>{5C22544A-7EE6-4342-B048-85BDC9FD1C3A}</a:tableStyleId>
              </a:tblPr>
              <a:tblGrid>
                <a:gridCol w="644087">
                  <a:extLst>
                    <a:ext uri="{9D8B030D-6E8A-4147-A177-3AD203B41FA5}">
                      <a16:colId xmlns:a16="http://schemas.microsoft.com/office/drawing/2014/main" val="743625303"/>
                    </a:ext>
                  </a:extLst>
                </a:gridCol>
                <a:gridCol w="2273421">
                  <a:extLst>
                    <a:ext uri="{9D8B030D-6E8A-4147-A177-3AD203B41FA5}">
                      <a16:colId xmlns:a16="http://schemas.microsoft.com/office/drawing/2014/main" val="277615091"/>
                    </a:ext>
                  </a:extLst>
                </a:gridCol>
                <a:gridCol w="1798479">
                  <a:extLst>
                    <a:ext uri="{9D8B030D-6E8A-4147-A177-3AD203B41FA5}">
                      <a16:colId xmlns:a16="http://schemas.microsoft.com/office/drawing/2014/main" val="1542427423"/>
                    </a:ext>
                  </a:extLst>
                </a:gridCol>
                <a:gridCol w="5758574">
                  <a:extLst>
                    <a:ext uri="{9D8B030D-6E8A-4147-A177-3AD203B41FA5}">
                      <a16:colId xmlns:a16="http://schemas.microsoft.com/office/drawing/2014/main" val="2118497686"/>
                    </a:ext>
                  </a:extLst>
                </a:gridCol>
                <a:gridCol w="1489811">
                  <a:extLst>
                    <a:ext uri="{9D8B030D-6E8A-4147-A177-3AD203B41FA5}">
                      <a16:colId xmlns:a16="http://schemas.microsoft.com/office/drawing/2014/main" val="1886133981"/>
                    </a:ext>
                  </a:extLst>
                </a:gridCol>
              </a:tblGrid>
              <a:tr h="1876775">
                <a:tc>
                  <a:txBody>
                    <a:bodyPr/>
                    <a:lstStyle/>
                    <a:p>
                      <a:pPr algn="ctr">
                        <a:spcBef>
                          <a:spcPts val="100"/>
                        </a:spcBef>
                        <a:spcAft>
                          <a:spcPts val="100"/>
                        </a:spcAft>
                        <a:buNone/>
                      </a:pPr>
                      <a:r>
                        <a:rPr lang="en-US" sz="1800" b="1">
                          <a:solidFill>
                            <a:srgbClr val="000000"/>
                          </a:solidFill>
                          <a:effectLst/>
                          <a:latin typeface="Times New Roman"/>
                          <a:cs typeface="Times New Roman"/>
                        </a:rPr>
                        <a:t>10</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Compact Self-Isolated Four-Element MIMO Antenna for WLAN and ISM Bands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0">
                          <a:solidFill>
                            <a:srgbClr val="000000"/>
                          </a:solidFill>
                          <a:effectLst/>
                          <a:latin typeface="Times New Roman"/>
                          <a:cs typeface="Times New Roman"/>
                        </a:rPr>
                        <a:t>IEEE Access</a:t>
                      </a:r>
                      <a:endParaRPr lang="en-US" sz="1600" b="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a:t>
                      </a:r>
                      <a:r>
                        <a:rPr lang="en-US" sz="1200" b="0">
                          <a:solidFill>
                            <a:srgbClr val="000000"/>
                          </a:solidFill>
                          <a:effectLst/>
                          <a:latin typeface="Times New Roman"/>
                          <a:cs typeface="Times New Roman"/>
                        </a:rPr>
                        <a:t>4-element printed dipole MIMO at 2.25–2.87 GHz (WLAN/ISM 2.4 GHz); integrated λ/4 balun feeding.</a:t>
                      </a:r>
                      <a:endParaRPr lang="en-US" sz="1200" b="0">
                        <a:effectLst/>
                        <a:latin typeface="Times New Roman"/>
                        <a:cs typeface="Times New Roman"/>
                      </a:endParaRPr>
                    </a:p>
                    <a:p>
                      <a:pPr marL="127000" indent="-127000">
                        <a:spcBef>
                          <a:spcPts val="100"/>
                        </a:spcBef>
                        <a:spcAft>
                          <a:spcPts val="100"/>
                        </a:spcAft>
                        <a:buNone/>
                      </a:pPr>
                      <a:r>
                        <a:rPr lang="en-US" sz="1200" b="0">
                          <a:solidFill>
                            <a:srgbClr val="000000"/>
                          </a:solidFill>
                          <a:effectLst/>
                          <a:latin typeface="Times New Roman"/>
                          <a:cs typeface="Times New Roman"/>
                        </a:rPr>
                        <a:t>•  Self-isolation through orthogonal dipole arrangement (smart element placement) in compact square layout + printed decoupling element to suppress residual coupling. No external decoupling networks.</a:t>
                      </a:r>
                      <a:endParaRPr lang="en-US" sz="1200" b="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High isolation achieved by structural arrangement; simple and manufacturable design; demonstrates that thoughtful arrangement can achieve isolation without adding complexity.</a:t>
                      </a:r>
                      <a:endParaRPr lang="en-US" sz="1200" b="0" dirty="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Limitation: Isolation level not precisely quantified; only validated for WLAN/ISM bands; no ECC or radiation efficiency data reported; limited scalability beyond 4 elements.</a:t>
                      </a:r>
                      <a:endParaRPr lang="en-US" sz="1200" b="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2022</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476443208"/>
                  </a:ext>
                </a:extLst>
              </a:tr>
              <a:tr h="1876775">
                <a:tc>
                  <a:txBody>
                    <a:bodyPr/>
                    <a:lstStyle/>
                    <a:p>
                      <a:pPr algn="ctr">
                        <a:spcBef>
                          <a:spcPts val="100"/>
                        </a:spcBef>
                        <a:spcAft>
                          <a:spcPts val="100"/>
                        </a:spcAft>
                        <a:buNone/>
                      </a:pPr>
                      <a:r>
                        <a:rPr lang="en-US" sz="1800" b="1">
                          <a:solidFill>
                            <a:srgbClr val="000000"/>
                          </a:solidFill>
                          <a:effectLst/>
                          <a:latin typeface="Times New Roman"/>
                          <a:cs typeface="Times New Roman"/>
                        </a:rPr>
                        <a:t>11</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A Low-Profile Decoupling Structure for Mutual Coupling Suppression in MIMO Patch Antenna</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Transactions on Antennas and Propagation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MIMO microstrip patch antenna (sub-6 GHz range); low-profile, same-layer structure.</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Phase cancellation principle: additional coupling path with 270° phase shift introduced to cancel original 90° coupled signal. Entire structure on same layer as patches — no extra layers. Scalable to 3-element array.</a:t>
                      </a:r>
                      <a:endParaRPr lang="en-US" sz="1200" dirty="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Significant coupling suppression demonstrated; compact and low-profile; easy to implement; compared </a:t>
                      </a:r>
                      <a:r>
                        <a:rPr lang="en-US" sz="1200" dirty="0" err="1">
                          <a:solidFill>
                            <a:srgbClr val="000000"/>
                          </a:solidFill>
                          <a:effectLst/>
                          <a:latin typeface="Times New Roman"/>
                          <a:cs typeface="Times New Roman"/>
                        </a:rPr>
                        <a:t>favourably</a:t>
                      </a:r>
                      <a:r>
                        <a:rPr lang="en-US" sz="1200" dirty="0">
                          <a:solidFill>
                            <a:srgbClr val="000000"/>
                          </a:solidFill>
                          <a:effectLst/>
                          <a:latin typeface="Times New Roman"/>
                          <a:cs typeface="Times New Roman"/>
                        </a:rPr>
                        <a:t> to </a:t>
                      </a:r>
                      <a:r>
                        <a:rPr lang="en-US" sz="1200" dirty="0" err="1">
                          <a:solidFill>
                            <a:srgbClr val="000000"/>
                          </a:solidFill>
                          <a:effectLst/>
                          <a:latin typeface="Times New Roman"/>
                          <a:cs typeface="Times New Roman"/>
                        </a:rPr>
                        <a:t>metasurfaces</a:t>
                      </a:r>
                      <a:r>
                        <a:rPr lang="en-US" sz="1200" dirty="0">
                          <a:solidFill>
                            <a:srgbClr val="000000"/>
                          </a:solidFill>
                          <a:effectLst/>
                          <a:latin typeface="Times New Roman"/>
                          <a:cs typeface="Times New Roman"/>
                        </a:rPr>
                        <a:t> and EBG structures in terms of size and complexity.</a:t>
                      </a:r>
                      <a:endParaRPr lang="en-US" sz="1200" dirty="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Limitation: Isolation value not precisely quantified; narrowband cancellation — sensitive to frequency; phase balance critical for fabrication tolerances; no ECC or efficiency data; gain impact not clearly quantified.</a:t>
                      </a:r>
                      <a:endParaRPr lang="en-US" sz="12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2021</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768910125"/>
                  </a:ext>
                </a:extLst>
              </a:tr>
              <a:tr h="1876775">
                <a:tc>
                  <a:txBody>
                    <a:bodyPr/>
                    <a:lstStyle/>
                    <a:p>
                      <a:pPr algn="ctr">
                        <a:spcBef>
                          <a:spcPts val="100"/>
                        </a:spcBef>
                        <a:spcAft>
                          <a:spcPts val="100"/>
                        </a:spcAft>
                        <a:buNone/>
                      </a:pPr>
                      <a:r>
                        <a:rPr lang="en-US" sz="1800" b="1">
                          <a:solidFill>
                            <a:srgbClr val="000000"/>
                          </a:solidFill>
                          <a:effectLst/>
                          <a:latin typeface="Times New Roman"/>
                          <a:cs typeface="Times New Roman"/>
                        </a:rPr>
                        <a:t>12</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dirty="0">
                          <a:solidFill>
                            <a:srgbClr val="000000"/>
                          </a:solidFill>
                          <a:effectLst/>
                          <a:latin typeface="Times New Roman"/>
                          <a:cs typeface="Times New Roman"/>
                        </a:rPr>
                        <a:t>A Parasitic Decoupling Structure for Dual-</a:t>
                      </a:r>
                      <a:r>
                        <a:rPr lang="en-US" sz="1600" b="1" dirty="0" err="1">
                          <a:solidFill>
                            <a:srgbClr val="000000"/>
                          </a:solidFill>
                          <a:effectLst/>
                          <a:latin typeface="Times New Roman"/>
                          <a:cs typeface="Times New Roman"/>
                        </a:rPr>
                        <a:t>Polarised</a:t>
                      </a:r>
                      <a:r>
                        <a:rPr lang="en-US" sz="1600" b="1" dirty="0">
                          <a:solidFill>
                            <a:srgbClr val="000000"/>
                          </a:solidFill>
                          <a:effectLst/>
                          <a:latin typeface="Times New Roman"/>
                          <a:cs typeface="Times New Roman"/>
                        </a:rPr>
                        <a:t> Patch Antenna Arrays</a:t>
                      </a:r>
                      <a:endParaRPr lang="en-US" sz="16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Antennas and Wireless Propagation Letters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dirty="0">
                          <a:solidFill>
                            <a:srgbClr val="000000"/>
                          </a:solidFill>
                          <a:effectLst/>
                          <a:latin typeface="Times New Roman"/>
                          <a:cs typeface="Times New Roman"/>
                        </a:rPr>
                        <a:t>•  1×2 dual-</a:t>
                      </a:r>
                      <a:r>
                        <a:rPr lang="en-US" sz="1200" dirty="0" err="1">
                          <a:solidFill>
                            <a:srgbClr val="000000"/>
                          </a:solidFill>
                          <a:effectLst/>
                          <a:latin typeface="Times New Roman"/>
                          <a:cs typeface="Times New Roman"/>
                        </a:rPr>
                        <a:t>polarised</a:t>
                      </a:r>
                      <a:r>
                        <a:rPr lang="en-US" sz="1200" dirty="0">
                          <a:solidFill>
                            <a:srgbClr val="000000"/>
                          </a:solidFill>
                          <a:effectLst/>
                          <a:latin typeface="Times New Roman"/>
                          <a:cs typeface="Times New Roman"/>
                        </a:rPr>
                        <a:t> patch antenna array at 4.3 GHz; probe feed; for STAR (simultaneous transmit and receive) systems.</a:t>
                      </a:r>
                      <a:endParaRPr lang="en-US" sz="1200" dirty="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Parasitic L-section array suppresses co-vertical </a:t>
                      </a:r>
                      <a:r>
                        <a:rPr lang="en-US" sz="1200" dirty="0" err="1">
                          <a:solidFill>
                            <a:srgbClr val="000000"/>
                          </a:solidFill>
                          <a:effectLst/>
                          <a:latin typeface="Times New Roman"/>
                          <a:cs typeface="Times New Roman"/>
                        </a:rPr>
                        <a:t>polarisation</a:t>
                      </a:r>
                      <a:r>
                        <a:rPr lang="en-US" sz="1200" dirty="0">
                          <a:solidFill>
                            <a:srgbClr val="000000"/>
                          </a:solidFill>
                          <a:effectLst/>
                          <a:latin typeface="Times New Roman"/>
                          <a:cs typeface="Times New Roman"/>
                        </a:rPr>
                        <a:t> (CVP) coupling; parasitic U-section array targets co-horizontal </a:t>
                      </a:r>
                      <a:r>
                        <a:rPr lang="en-US" sz="1200" dirty="0" err="1">
                          <a:solidFill>
                            <a:srgbClr val="000000"/>
                          </a:solidFill>
                          <a:effectLst/>
                          <a:latin typeface="Times New Roman"/>
                          <a:cs typeface="Times New Roman"/>
                        </a:rPr>
                        <a:t>polarisation</a:t>
                      </a:r>
                      <a:r>
                        <a:rPr lang="en-US" sz="1200" dirty="0">
                          <a:solidFill>
                            <a:srgbClr val="000000"/>
                          </a:solidFill>
                          <a:effectLst/>
                          <a:latin typeface="Times New Roman"/>
                          <a:cs typeface="Times New Roman"/>
                        </a:rPr>
                        <a:t> (CHP) coupling. Additional coupling path with ~180° opposite phase for vector superposition cancellation. Same-layer placement.</a:t>
                      </a:r>
                      <a:endParaRPr lang="en-US" sz="1200" dirty="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Isolation: 37.5 dB (CHP) and 33.6 dB (CVP) — 17–18 dB improvement over reference. Efficiency improved from 84% to 91%; ECC &lt;0.004.</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Limitation: Effective only at 4.3 GHz (narrow band); two separate parasitic structures increase design complexity; </a:t>
                      </a:r>
                      <a:r>
                        <a:rPr lang="en-US" sz="1200" dirty="0" err="1">
                          <a:solidFill>
                            <a:srgbClr val="000000"/>
                          </a:solidFill>
                          <a:effectLst/>
                          <a:latin typeface="Times New Roman"/>
                          <a:cs typeface="Times New Roman"/>
                        </a:rPr>
                        <a:t>optimisation</a:t>
                      </a:r>
                      <a:r>
                        <a:rPr lang="en-US" sz="1200" dirty="0">
                          <a:solidFill>
                            <a:srgbClr val="000000"/>
                          </a:solidFill>
                          <a:effectLst/>
                          <a:latin typeface="Times New Roman"/>
                          <a:cs typeface="Times New Roman"/>
                        </a:rPr>
                        <a:t> is iterative; not validated for 2.4 GHz or sub-6 GHz bands.</a:t>
                      </a:r>
                      <a:endParaRPr lang="en-US" sz="12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2022</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756075496"/>
                  </a:ext>
                </a:extLst>
              </a:tr>
            </a:tbl>
          </a:graphicData>
        </a:graphic>
      </p:graphicFrame>
      <p:pic>
        <p:nvPicPr>
          <p:cNvPr id="3" name="Picture 2" descr="A pink and black logo&#10;&#10;AI-generated content may be incorrect.">
            <a:extLst>
              <a:ext uri="{FF2B5EF4-FFF2-40B4-BE49-F238E27FC236}">
                <a16:creationId xmlns:a16="http://schemas.microsoft.com/office/drawing/2014/main" id="{EBC4F093-C7CA-47BA-A531-65A3F9220BF4}"/>
              </a:ext>
            </a:extLst>
          </p:cNvPr>
          <p:cNvPicPr>
            <a:picLocks noChangeAspect="1"/>
          </p:cNvPicPr>
          <p:nvPr/>
        </p:nvPicPr>
        <p:blipFill>
          <a:blip r:embed="rId2"/>
          <a:stretch>
            <a:fillRect/>
          </a:stretch>
        </p:blipFill>
        <p:spPr>
          <a:xfrm>
            <a:off x="10034914" y="2545"/>
            <a:ext cx="2153433" cy="537707"/>
          </a:xfrm>
          <a:prstGeom prst="rect">
            <a:avLst/>
          </a:prstGeom>
        </p:spPr>
      </p:pic>
    </p:spTree>
    <p:extLst>
      <p:ext uri="{BB962C8B-B14F-4D97-AF65-F5344CB8AC3E}">
        <p14:creationId xmlns:p14="http://schemas.microsoft.com/office/powerpoint/2010/main" val="2976960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FFD30645-D559-CF78-77D2-77FAEDE3564E}"/>
              </a:ext>
            </a:extLst>
          </p:cNvPr>
          <p:cNvGraphicFramePr>
            <a:graphicFrameLocks noGrp="1"/>
          </p:cNvGraphicFramePr>
          <p:nvPr>
            <p:ph idx="1"/>
            <p:extLst>
              <p:ext uri="{D42A27DB-BD31-4B8C-83A1-F6EECF244321}">
                <p14:modId xmlns:p14="http://schemas.microsoft.com/office/powerpoint/2010/main" val="1754223022"/>
              </p:ext>
            </p:extLst>
          </p:nvPr>
        </p:nvGraphicFramePr>
        <p:xfrm>
          <a:off x="83507" y="584547"/>
          <a:ext cx="12022313" cy="448227"/>
        </p:xfrm>
        <a:graphic>
          <a:graphicData uri="http://schemas.openxmlformats.org/drawingml/2006/table">
            <a:tbl>
              <a:tblPr bandRow="1">
                <a:tableStyleId>{5C22544A-7EE6-4342-B048-85BDC9FD1C3A}</a:tableStyleId>
              </a:tblPr>
              <a:tblGrid>
                <a:gridCol w="644308">
                  <a:extLst>
                    <a:ext uri="{9D8B030D-6E8A-4147-A177-3AD203B41FA5}">
                      <a16:colId xmlns:a16="http://schemas.microsoft.com/office/drawing/2014/main" val="230947421"/>
                    </a:ext>
                  </a:extLst>
                </a:gridCol>
                <a:gridCol w="2274279">
                  <a:extLst>
                    <a:ext uri="{9D8B030D-6E8A-4147-A177-3AD203B41FA5}">
                      <a16:colId xmlns:a16="http://schemas.microsoft.com/office/drawing/2014/main" val="2853436824"/>
                    </a:ext>
                  </a:extLst>
                </a:gridCol>
                <a:gridCol w="1799145">
                  <a:extLst>
                    <a:ext uri="{9D8B030D-6E8A-4147-A177-3AD203B41FA5}">
                      <a16:colId xmlns:a16="http://schemas.microsoft.com/office/drawing/2014/main" val="1933554343"/>
                    </a:ext>
                  </a:extLst>
                </a:gridCol>
                <a:gridCol w="6275293">
                  <a:extLst>
                    <a:ext uri="{9D8B030D-6E8A-4147-A177-3AD203B41FA5}">
                      <a16:colId xmlns:a16="http://schemas.microsoft.com/office/drawing/2014/main" val="219031193"/>
                    </a:ext>
                  </a:extLst>
                </a:gridCol>
                <a:gridCol w="1029288">
                  <a:extLst>
                    <a:ext uri="{9D8B030D-6E8A-4147-A177-3AD203B41FA5}">
                      <a16:colId xmlns:a16="http://schemas.microsoft.com/office/drawing/2014/main" val="490383981"/>
                    </a:ext>
                  </a:extLst>
                </a:gridCol>
              </a:tblGrid>
              <a:tr h="448227">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S.No</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Title of the Paper</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Source</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Inference (Decoupling Method &amp; Limitations)</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Year</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extLst>
                  <a:ext uri="{0D108BD9-81ED-4DB2-BD59-A6C34878D82A}">
                    <a16:rowId xmlns:a16="http://schemas.microsoft.com/office/drawing/2014/main" val="1872163290"/>
                  </a:ext>
                </a:extLst>
              </a:tr>
            </a:tbl>
          </a:graphicData>
        </a:graphic>
      </p:graphicFrame>
      <p:graphicFrame>
        <p:nvGraphicFramePr>
          <p:cNvPr id="7" name="Table 6">
            <a:extLst>
              <a:ext uri="{FF2B5EF4-FFF2-40B4-BE49-F238E27FC236}">
                <a16:creationId xmlns:a16="http://schemas.microsoft.com/office/drawing/2014/main" id="{F513F697-9CB7-A309-FA9A-A3ACC5D7A413}"/>
              </a:ext>
            </a:extLst>
          </p:cNvPr>
          <p:cNvGraphicFramePr>
            <a:graphicFrameLocks noGrp="1"/>
          </p:cNvGraphicFramePr>
          <p:nvPr>
            <p:extLst>
              <p:ext uri="{D42A27DB-BD31-4B8C-83A1-F6EECF244321}">
                <p14:modId xmlns:p14="http://schemas.microsoft.com/office/powerpoint/2010/main" val="1566181875"/>
              </p:ext>
            </p:extLst>
          </p:nvPr>
        </p:nvGraphicFramePr>
        <p:xfrm>
          <a:off x="83506" y="1033397"/>
          <a:ext cx="12004639" cy="5799795"/>
        </p:xfrm>
        <a:graphic>
          <a:graphicData uri="http://schemas.openxmlformats.org/drawingml/2006/table">
            <a:tbl>
              <a:tblPr firstRow="1" firstCol="1" bandRow="1">
                <a:tableStyleId>{5C22544A-7EE6-4342-B048-85BDC9FD1C3A}</a:tableStyleId>
              </a:tblPr>
              <a:tblGrid>
                <a:gridCol w="646255">
                  <a:extLst>
                    <a:ext uri="{9D8B030D-6E8A-4147-A177-3AD203B41FA5}">
                      <a16:colId xmlns:a16="http://schemas.microsoft.com/office/drawing/2014/main" val="2880617346"/>
                    </a:ext>
                  </a:extLst>
                </a:gridCol>
                <a:gridCol w="2281076">
                  <a:extLst>
                    <a:ext uri="{9D8B030D-6E8A-4147-A177-3AD203B41FA5}">
                      <a16:colId xmlns:a16="http://schemas.microsoft.com/office/drawing/2014/main" val="1198463562"/>
                    </a:ext>
                  </a:extLst>
                </a:gridCol>
                <a:gridCol w="1804532">
                  <a:extLst>
                    <a:ext uri="{9D8B030D-6E8A-4147-A177-3AD203B41FA5}">
                      <a16:colId xmlns:a16="http://schemas.microsoft.com/office/drawing/2014/main" val="2603862683"/>
                    </a:ext>
                  </a:extLst>
                </a:gridCol>
                <a:gridCol w="6247279">
                  <a:extLst>
                    <a:ext uri="{9D8B030D-6E8A-4147-A177-3AD203B41FA5}">
                      <a16:colId xmlns:a16="http://schemas.microsoft.com/office/drawing/2014/main" val="3943365715"/>
                    </a:ext>
                  </a:extLst>
                </a:gridCol>
                <a:gridCol w="1025497">
                  <a:extLst>
                    <a:ext uri="{9D8B030D-6E8A-4147-A177-3AD203B41FA5}">
                      <a16:colId xmlns:a16="http://schemas.microsoft.com/office/drawing/2014/main" val="1418730357"/>
                    </a:ext>
                  </a:extLst>
                </a:gridCol>
              </a:tblGrid>
              <a:tr h="1969475">
                <a:tc>
                  <a:txBody>
                    <a:bodyPr/>
                    <a:lstStyle/>
                    <a:p>
                      <a:pPr algn="ctr">
                        <a:spcBef>
                          <a:spcPts val="100"/>
                        </a:spcBef>
                        <a:spcAft>
                          <a:spcPts val="100"/>
                        </a:spcAft>
                        <a:buNone/>
                      </a:pPr>
                      <a:r>
                        <a:rPr lang="en-US" sz="1800" b="1">
                          <a:solidFill>
                            <a:srgbClr val="000000"/>
                          </a:solidFill>
                          <a:effectLst/>
                          <a:latin typeface="Times New Roman"/>
                          <a:cs typeface="Times New Roman"/>
                        </a:rPr>
                        <a:t>13</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Performance Enhancement of MIMO Patch Antenna Using Parasitic Elements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0">
                          <a:solidFill>
                            <a:srgbClr val="000000"/>
                          </a:solidFill>
                          <a:effectLst/>
                          <a:latin typeface="Times New Roman"/>
                          <a:cs typeface="Times New Roman"/>
                        </a:rPr>
                        <a:t>IEEE Access</a:t>
                      </a:r>
                      <a:endParaRPr lang="en-US" sz="1600" b="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b="0">
                          <a:solidFill>
                            <a:srgbClr val="000000"/>
                          </a:solidFill>
                          <a:effectLst/>
                          <a:latin typeface="Times New Roman"/>
                          <a:cs typeface="Times New Roman"/>
                        </a:rPr>
                        <a:t>•  MIMO microstrip patch array (E-plane and H-plane configurations); standard microstrip feed.</a:t>
                      </a:r>
                      <a:endParaRPr lang="en-US" sz="1200" b="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Multiple square parasitic patches placed near main radiating elements. Part of the energy that would normally couple is attracted to passive patches instead, reducing direct mutual coupling. Creates additional resonances, improving impedance bandwidth. No ground plane modification.</a:t>
                      </a:r>
                      <a:endParaRPr lang="en-US" sz="1200" b="0" dirty="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Isolation &gt;40 dB in narrow frequency range; improved </a:t>
                      </a:r>
                      <a:r>
                        <a:rPr lang="en-US" sz="1200" b="0" dirty="0" err="1">
                          <a:solidFill>
                            <a:srgbClr val="000000"/>
                          </a:solidFill>
                          <a:effectLst/>
                          <a:latin typeface="Times New Roman"/>
                          <a:cs typeface="Times New Roman"/>
                        </a:rPr>
                        <a:t>realised</a:t>
                      </a:r>
                      <a:r>
                        <a:rPr lang="en-US" sz="1200" b="0" dirty="0">
                          <a:solidFill>
                            <a:srgbClr val="000000"/>
                          </a:solidFill>
                          <a:effectLst/>
                          <a:latin typeface="Times New Roman"/>
                          <a:cs typeface="Times New Roman"/>
                        </a:rPr>
                        <a:t> gain (increased radiating aperture); low ECC; scalable to multi-element E-plane arrays.</a:t>
                      </a:r>
                      <a:endParaRPr lang="en-US" sz="1200" b="0" dirty="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Limitation: Very high isolation (&gt;40 dB) only in narrow frequency range; bandwidth enhancement may shift resonant frequency; multiple parasitic patches increase footprint; no specific frequency or substrate data provided.</a:t>
                      </a:r>
                      <a:endParaRPr lang="en-US" sz="1200" b="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2021</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762896622"/>
                  </a:ext>
                </a:extLst>
              </a:tr>
              <a:tr h="1541887">
                <a:tc>
                  <a:txBody>
                    <a:bodyPr/>
                    <a:lstStyle/>
                    <a:p>
                      <a:pPr algn="ctr">
                        <a:spcBef>
                          <a:spcPts val="100"/>
                        </a:spcBef>
                        <a:spcAft>
                          <a:spcPts val="100"/>
                        </a:spcAft>
                        <a:buNone/>
                      </a:pPr>
                      <a:r>
                        <a:rPr lang="en-US" sz="1800" b="1">
                          <a:solidFill>
                            <a:srgbClr val="000000"/>
                          </a:solidFill>
                          <a:effectLst/>
                          <a:latin typeface="Times New Roman"/>
                          <a:cs typeface="Times New Roman"/>
                        </a:rPr>
                        <a:t>14</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Sub-6 GHz Highly Isolated Wideband MIMO Antenna Arrays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Access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2-element wideband MIMO patch array; sub-6 GHz for LTE and 5G applications; compact with closely spaced elements (much less than λ/2).</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Thin parasitic strip between facing radiating edges, positioned at the region of strongest EM interaction. Modifies surface current distribution to reduce energy transfer between elements.</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Isolation &gt;−20 dB over most of operating band; ECC &lt;0.05; diversity gain near theoretical maximum; stable broadside radiation; nearly omnidirectional azimuth pattern.</a:t>
                      </a:r>
                      <a:endParaRPr lang="en-US" sz="1200" dirty="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Limitation: Isolation drops at band edges; thin parasitic strip sensitive to dimensional tolerances; no specific gain value provided; radiation pattern distortion analysis limited.</a:t>
                      </a:r>
                      <a:endParaRPr lang="en-US" sz="12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2022</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247803061"/>
                  </a:ext>
                </a:extLst>
              </a:tr>
              <a:tr h="2021303">
                <a:tc>
                  <a:txBody>
                    <a:bodyPr/>
                    <a:lstStyle/>
                    <a:p>
                      <a:pPr algn="ctr">
                        <a:spcBef>
                          <a:spcPts val="100"/>
                        </a:spcBef>
                        <a:spcAft>
                          <a:spcPts val="100"/>
                        </a:spcAft>
                        <a:buNone/>
                      </a:pPr>
                      <a:r>
                        <a:rPr lang="en-US" sz="1800" b="1">
                          <a:solidFill>
                            <a:srgbClr val="000000"/>
                          </a:solidFill>
                          <a:effectLst/>
                          <a:latin typeface="Times New Roman"/>
                          <a:cs typeface="Times New Roman"/>
                        </a:rPr>
                        <a:t>15</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Mutual Coupling Reduction of a Circularly Polarized MIMO Antenna Using Parasitic Elements and DGS for V2X Communications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Access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4-element CP MIMO patch array at 5.850–5.925 GHz (V2X/vehicular); square patches with truncated corners for RHCP; minimum spacing 8.65 mm.</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Two combined techniques: (1) Truncated-corner patches for CP + orthogonal placement for </a:t>
                      </a:r>
                      <a:r>
                        <a:rPr lang="en-US" sz="1200" dirty="0" err="1">
                          <a:solidFill>
                            <a:srgbClr val="000000"/>
                          </a:solidFill>
                          <a:effectLst/>
                          <a:latin typeface="Times New Roman"/>
                          <a:cs typeface="Times New Roman"/>
                        </a:rPr>
                        <a:t>polarisation</a:t>
                      </a:r>
                      <a:r>
                        <a:rPr lang="en-US" sz="1200" dirty="0">
                          <a:solidFill>
                            <a:srgbClr val="000000"/>
                          </a:solidFill>
                          <a:effectLst/>
                          <a:latin typeface="Times New Roman"/>
                          <a:cs typeface="Times New Roman"/>
                        </a:rPr>
                        <a:t> diversity; (2) Circular ring parasitic structures between perpendicularly placed elements + DGS to suppress coupling surface currents.</a:t>
                      </a:r>
                      <a:endParaRPr lang="en-US" sz="1200" dirty="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Isolation &gt;34 dB (up to 65 dB for adjacent elements), improved from 21–28 dB baseline; ECC &lt;0.001; diversity gain ~10 dB; channel capacity loss &lt;0.15 bits/Hz; supports V2X up to 1.5 km at 21 dBm TX power.</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Limitation: Operates only in vehicular band (5.85–5.925 GHz); DGS complicates ground plane integration; circular ring parasitic structures add design complexity; fabrication of truncated-corner patches requires precision.</a:t>
                      </a:r>
                      <a:endParaRPr lang="en-US" sz="12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2023</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3129189827"/>
                  </a:ext>
                </a:extLst>
              </a:tr>
            </a:tbl>
          </a:graphicData>
        </a:graphic>
      </p:graphicFrame>
      <p:pic>
        <p:nvPicPr>
          <p:cNvPr id="3" name="Picture 2" descr="A pink and black logo&#10;&#10;AI-generated content may be incorrect.">
            <a:extLst>
              <a:ext uri="{FF2B5EF4-FFF2-40B4-BE49-F238E27FC236}">
                <a16:creationId xmlns:a16="http://schemas.microsoft.com/office/drawing/2014/main" id="{4F1A7CB4-59D0-F46A-7C5A-A9F0A9477C73}"/>
              </a:ext>
            </a:extLst>
          </p:cNvPr>
          <p:cNvPicPr>
            <a:picLocks noChangeAspect="1"/>
          </p:cNvPicPr>
          <p:nvPr/>
        </p:nvPicPr>
        <p:blipFill>
          <a:blip r:embed="rId2"/>
          <a:stretch>
            <a:fillRect/>
          </a:stretch>
        </p:blipFill>
        <p:spPr>
          <a:xfrm>
            <a:off x="10034914" y="2545"/>
            <a:ext cx="2153433" cy="537707"/>
          </a:xfrm>
          <a:prstGeom prst="rect">
            <a:avLst/>
          </a:prstGeom>
        </p:spPr>
      </p:pic>
    </p:spTree>
    <p:extLst>
      <p:ext uri="{BB962C8B-B14F-4D97-AF65-F5344CB8AC3E}">
        <p14:creationId xmlns:p14="http://schemas.microsoft.com/office/powerpoint/2010/main" val="642029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D7076A2-C668-8D6D-BB93-B1937C7D6EA2}"/>
              </a:ext>
            </a:extLst>
          </p:cNvPr>
          <p:cNvGraphicFramePr>
            <a:graphicFrameLocks noGrp="1"/>
          </p:cNvGraphicFramePr>
          <p:nvPr>
            <p:ph idx="1"/>
            <p:extLst>
              <p:ext uri="{D42A27DB-BD31-4B8C-83A1-F6EECF244321}">
                <p14:modId xmlns:p14="http://schemas.microsoft.com/office/powerpoint/2010/main" val="1917589283"/>
              </p:ext>
            </p:extLst>
          </p:nvPr>
        </p:nvGraphicFramePr>
        <p:xfrm>
          <a:off x="62630" y="532356"/>
          <a:ext cx="12073841" cy="252132"/>
        </p:xfrm>
        <a:graphic>
          <a:graphicData uri="http://schemas.openxmlformats.org/drawingml/2006/table">
            <a:tbl>
              <a:tblPr bandRow="1">
                <a:tableStyleId>{5C22544A-7EE6-4342-B048-85BDC9FD1C3A}</a:tableStyleId>
              </a:tblPr>
              <a:tblGrid>
                <a:gridCol w="647071">
                  <a:extLst>
                    <a:ext uri="{9D8B030D-6E8A-4147-A177-3AD203B41FA5}">
                      <a16:colId xmlns:a16="http://schemas.microsoft.com/office/drawing/2014/main" val="1164909680"/>
                    </a:ext>
                  </a:extLst>
                </a:gridCol>
                <a:gridCol w="2284027">
                  <a:extLst>
                    <a:ext uri="{9D8B030D-6E8A-4147-A177-3AD203B41FA5}">
                      <a16:colId xmlns:a16="http://schemas.microsoft.com/office/drawing/2014/main" val="481264508"/>
                    </a:ext>
                  </a:extLst>
                </a:gridCol>
                <a:gridCol w="1806857">
                  <a:extLst>
                    <a:ext uri="{9D8B030D-6E8A-4147-A177-3AD203B41FA5}">
                      <a16:colId xmlns:a16="http://schemas.microsoft.com/office/drawing/2014/main" val="3138221377"/>
                    </a:ext>
                  </a:extLst>
                </a:gridCol>
                <a:gridCol w="6189949">
                  <a:extLst>
                    <a:ext uri="{9D8B030D-6E8A-4147-A177-3AD203B41FA5}">
                      <a16:colId xmlns:a16="http://schemas.microsoft.com/office/drawing/2014/main" val="2173889024"/>
                    </a:ext>
                  </a:extLst>
                </a:gridCol>
                <a:gridCol w="1145937">
                  <a:extLst>
                    <a:ext uri="{9D8B030D-6E8A-4147-A177-3AD203B41FA5}">
                      <a16:colId xmlns:a16="http://schemas.microsoft.com/office/drawing/2014/main" val="2695986847"/>
                    </a:ext>
                  </a:extLst>
                </a:gridCol>
              </a:tblGrid>
              <a:tr h="252132">
                <a:tc>
                  <a:txBody>
                    <a:bodyPr/>
                    <a:lstStyle/>
                    <a:p>
                      <a:pPr marL="0" marR="0" indent="0" algn="ctr" rtl="0" fontAlgn="base">
                        <a:lnSpc>
                          <a:spcPts val="663"/>
                        </a:lnSpc>
                        <a:buNone/>
                      </a:pPr>
                      <a:r>
                        <a:rPr lang="en-US" sz="1200" b="1" i="0" dirty="0" err="1">
                          <a:solidFill>
                            <a:srgbClr val="FFFFFF"/>
                          </a:solidFill>
                          <a:effectLst/>
                          <a:latin typeface="Times New Roman"/>
                        </a:rPr>
                        <a:t>S.No</a:t>
                      </a:r>
                      <a:endParaRPr lang="en-US" sz="900" b="0" i="0" dirty="0" err="1">
                        <a:solidFill>
                          <a:srgbClr val="000000"/>
                        </a:solidFill>
                        <a:effectLst/>
                        <a:latin typeface="Times New Roman"/>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Title of the Paper</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Source</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Inference (Decoupling Method &amp; Limitations)</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tc>
                  <a:txBody>
                    <a:bodyPr/>
                    <a:lstStyle/>
                    <a:p>
                      <a:pPr marL="0" marR="0" indent="0" algn="ctr" rtl="0" fontAlgn="base">
                        <a:lnSpc>
                          <a:spcPts val="663"/>
                        </a:lnSpc>
                        <a:buNone/>
                      </a:pPr>
                      <a:r>
                        <a:rPr lang="en-US" sz="1200" b="1" i="0">
                          <a:solidFill>
                            <a:srgbClr val="FFFFFF"/>
                          </a:solidFill>
                          <a:effectLst/>
                          <a:latin typeface="Times New Roman" panose="02020603050405020304" pitchFamily="18" charset="0"/>
                        </a:rPr>
                        <a:t>Year</a:t>
                      </a:r>
                      <a:endParaRPr lang="en-US" sz="900" b="0" i="0">
                        <a:solidFill>
                          <a:srgbClr val="000000"/>
                        </a:solidFill>
                        <a:effectLst/>
                        <a:latin typeface="Segoe UI" panose="020B0502040204020203" pitchFamily="34" charset="0"/>
                      </a:endParaRPr>
                    </a:p>
                  </a:txBody>
                  <a:tcPr marL="35233" marR="35233" marT="23479" marB="2347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5FA3"/>
                    </a:solidFill>
                  </a:tcPr>
                </a:tc>
                <a:extLst>
                  <a:ext uri="{0D108BD9-81ED-4DB2-BD59-A6C34878D82A}">
                    <a16:rowId xmlns:a16="http://schemas.microsoft.com/office/drawing/2014/main" val="771776793"/>
                  </a:ext>
                </a:extLst>
              </a:tr>
            </a:tbl>
          </a:graphicData>
        </a:graphic>
      </p:graphicFrame>
      <p:graphicFrame>
        <p:nvGraphicFramePr>
          <p:cNvPr id="7" name="Table 6">
            <a:extLst>
              <a:ext uri="{FF2B5EF4-FFF2-40B4-BE49-F238E27FC236}">
                <a16:creationId xmlns:a16="http://schemas.microsoft.com/office/drawing/2014/main" id="{195E5F55-9BB6-470F-70C4-F2DB9CCCF65C}"/>
              </a:ext>
            </a:extLst>
          </p:cNvPr>
          <p:cNvGraphicFramePr>
            <a:graphicFrameLocks noGrp="1"/>
          </p:cNvGraphicFramePr>
          <p:nvPr>
            <p:extLst>
              <p:ext uri="{D42A27DB-BD31-4B8C-83A1-F6EECF244321}">
                <p14:modId xmlns:p14="http://schemas.microsoft.com/office/powerpoint/2010/main" val="2857735967"/>
              </p:ext>
            </p:extLst>
          </p:nvPr>
        </p:nvGraphicFramePr>
        <p:xfrm>
          <a:off x="41753" y="782876"/>
          <a:ext cx="12056113" cy="6202680"/>
        </p:xfrm>
        <a:graphic>
          <a:graphicData uri="http://schemas.openxmlformats.org/drawingml/2006/table">
            <a:tbl>
              <a:tblPr firstRow="1" firstCol="1" bandRow="1">
                <a:tableStyleId>{5C22544A-7EE6-4342-B048-85BDC9FD1C3A}</a:tableStyleId>
              </a:tblPr>
              <a:tblGrid>
                <a:gridCol w="649024">
                  <a:extLst>
                    <a:ext uri="{9D8B030D-6E8A-4147-A177-3AD203B41FA5}">
                      <a16:colId xmlns:a16="http://schemas.microsoft.com/office/drawing/2014/main" val="2542516481"/>
                    </a:ext>
                  </a:extLst>
                </a:gridCol>
                <a:gridCol w="2290855">
                  <a:extLst>
                    <a:ext uri="{9D8B030D-6E8A-4147-A177-3AD203B41FA5}">
                      <a16:colId xmlns:a16="http://schemas.microsoft.com/office/drawing/2014/main" val="2456014252"/>
                    </a:ext>
                  </a:extLst>
                </a:gridCol>
                <a:gridCol w="1812268">
                  <a:extLst>
                    <a:ext uri="{9D8B030D-6E8A-4147-A177-3AD203B41FA5}">
                      <a16:colId xmlns:a16="http://schemas.microsoft.com/office/drawing/2014/main" val="1457193464"/>
                    </a:ext>
                  </a:extLst>
                </a:gridCol>
                <a:gridCol w="6191250">
                  <a:extLst>
                    <a:ext uri="{9D8B030D-6E8A-4147-A177-3AD203B41FA5}">
                      <a16:colId xmlns:a16="http://schemas.microsoft.com/office/drawing/2014/main" val="4127535972"/>
                    </a:ext>
                  </a:extLst>
                </a:gridCol>
                <a:gridCol w="1112716">
                  <a:extLst>
                    <a:ext uri="{9D8B030D-6E8A-4147-A177-3AD203B41FA5}">
                      <a16:colId xmlns:a16="http://schemas.microsoft.com/office/drawing/2014/main" val="2804823710"/>
                    </a:ext>
                  </a:extLst>
                </a:gridCol>
              </a:tblGrid>
              <a:tr h="1789719">
                <a:tc>
                  <a:txBody>
                    <a:bodyPr/>
                    <a:lstStyle/>
                    <a:p>
                      <a:pPr algn="ctr">
                        <a:spcBef>
                          <a:spcPts val="100"/>
                        </a:spcBef>
                        <a:spcAft>
                          <a:spcPts val="100"/>
                        </a:spcAft>
                        <a:buNone/>
                      </a:pPr>
                      <a:r>
                        <a:rPr lang="en-US" sz="1800" b="1">
                          <a:solidFill>
                            <a:srgbClr val="000000"/>
                          </a:solidFill>
                          <a:effectLst/>
                          <a:latin typeface="Times New Roman"/>
                          <a:cs typeface="Times New Roman"/>
                        </a:rPr>
                        <a:t>16</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Mutual Coupling Reduction in an Antenna Array by Using Two Parasitic Microstrips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0">
                          <a:solidFill>
                            <a:srgbClr val="000000"/>
                          </a:solidFill>
                          <a:effectLst/>
                          <a:latin typeface="Times New Roman"/>
                          <a:cs typeface="Times New Roman"/>
                        </a:rPr>
                        <a:t>Int. J. Electron. Commun. (AEÜ)</a:t>
                      </a:r>
                      <a:endParaRPr lang="en-US" sz="1600" b="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dirty="0">
                          <a:solidFill>
                            <a:srgbClr val="000000"/>
                          </a:solidFill>
                          <a:effectLst/>
                          <a:latin typeface="Times New Roman"/>
                          <a:cs typeface="Times New Roman"/>
                        </a:rPr>
                        <a:t>• </a:t>
                      </a:r>
                      <a:r>
                        <a:rPr lang="en-US" sz="1200" b="0" dirty="0">
                          <a:solidFill>
                            <a:srgbClr val="000000"/>
                          </a:solidFill>
                          <a:effectLst/>
                          <a:latin typeface="Times New Roman"/>
                          <a:cs typeface="Times New Roman"/>
                        </a:rPr>
                        <a:t> 2-element rectangular microstrip patch array at 2.4 GHz; substrate </a:t>
                      </a:r>
                      <a:r>
                        <a:rPr lang="en-US" sz="1200" b="0" dirty="0" err="1">
                          <a:solidFill>
                            <a:srgbClr val="000000"/>
                          </a:solidFill>
                          <a:effectLst/>
                          <a:latin typeface="Times New Roman"/>
                          <a:cs typeface="Times New Roman"/>
                        </a:rPr>
                        <a:t>εr</a:t>
                      </a:r>
                      <a:r>
                        <a:rPr lang="en-US" sz="1200" b="0" dirty="0">
                          <a:solidFill>
                            <a:srgbClr val="000000"/>
                          </a:solidFill>
                          <a:effectLst/>
                          <a:latin typeface="Times New Roman"/>
                          <a:cs typeface="Times New Roman"/>
                        </a:rPr>
                        <a:t>=2.2, h=3.2 mm + upper dielectric layer; 50-Ω coaxial probe feed.</a:t>
                      </a:r>
                      <a:endParaRPr lang="en-US" sz="1200" b="0" dirty="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Two parasitic microstrips etched on an additional thin dielectric layer above the radiating patches. Not directly connected — function through electromagnetic coupling. Parametric </a:t>
                      </a:r>
                      <a:r>
                        <a:rPr lang="en-US" sz="1200" b="0" dirty="0" err="1">
                          <a:solidFill>
                            <a:srgbClr val="000000"/>
                          </a:solidFill>
                          <a:effectLst/>
                          <a:latin typeface="Times New Roman"/>
                          <a:cs typeface="Times New Roman"/>
                        </a:rPr>
                        <a:t>optimisation</a:t>
                      </a:r>
                      <a:r>
                        <a:rPr lang="en-US" sz="1200" b="0" dirty="0">
                          <a:solidFill>
                            <a:srgbClr val="000000"/>
                          </a:solidFill>
                          <a:effectLst/>
                          <a:latin typeface="Times New Roman"/>
                          <a:cs typeface="Times New Roman"/>
                        </a:rPr>
                        <a:t> of strip length, patch spacing, and upper layer thickness (h2).</a:t>
                      </a:r>
                      <a:endParaRPr lang="en-US" sz="1200" b="0" dirty="0">
                        <a:effectLst/>
                        <a:latin typeface="Times New Roman"/>
                        <a:cs typeface="Times New Roman"/>
                      </a:endParaRPr>
                    </a:p>
                    <a:p>
                      <a:pPr marL="127000" indent="-127000">
                        <a:spcBef>
                          <a:spcPts val="100"/>
                        </a:spcBef>
                        <a:spcAft>
                          <a:spcPts val="100"/>
                        </a:spcAft>
                        <a:buNone/>
                      </a:pPr>
                      <a:r>
                        <a:rPr lang="en-US" sz="1200" b="0">
                          <a:solidFill>
                            <a:srgbClr val="000000"/>
                          </a:solidFill>
                          <a:effectLst/>
                          <a:latin typeface="Times New Roman"/>
                          <a:cs typeface="Times New Roman"/>
                        </a:rPr>
                        <a:t>•  Measured mutual coupling &lt;−32 dB; S11 &lt;−30 dB; gain 6.2–6.4 dB; minimal radiation pattern impact; good simulation-measurement agreement.</a:t>
                      </a:r>
                      <a:endParaRPr lang="en-US" sz="1200" b="0">
                        <a:effectLst/>
                        <a:latin typeface="Times New Roman"/>
                        <a:cs typeface="Times New Roman"/>
                      </a:endParaRPr>
                    </a:p>
                    <a:p>
                      <a:pPr marL="127000" indent="-127000">
                        <a:spcBef>
                          <a:spcPts val="100"/>
                        </a:spcBef>
                        <a:spcAft>
                          <a:spcPts val="100"/>
                        </a:spcAft>
                        <a:buNone/>
                      </a:pPr>
                      <a:r>
                        <a:rPr lang="en-US" sz="1200" b="0" dirty="0">
                          <a:solidFill>
                            <a:srgbClr val="000000"/>
                          </a:solidFill>
                          <a:effectLst/>
                          <a:latin typeface="Times New Roman"/>
                          <a:cs typeface="Times New Roman"/>
                        </a:rPr>
                        <a:t>•  Limitation: Requires additional dielectric layer — increases antenna profile and cost; upper layer thickness is a sensitive parameter; more complex two-layer fabrication;</a:t>
                      </a:r>
                      <a:r>
                        <a:rPr lang="en-US" sz="1200" dirty="0">
                          <a:solidFill>
                            <a:srgbClr val="000000"/>
                          </a:solidFill>
                          <a:effectLst/>
                          <a:latin typeface="Times New Roman"/>
                          <a:cs typeface="Times New Roman"/>
                        </a:rPr>
                        <a:t> </a:t>
                      </a:r>
                      <a:r>
                        <a:rPr lang="en-US" sz="1200" b="0" dirty="0">
                          <a:solidFill>
                            <a:srgbClr val="000000"/>
                          </a:solidFill>
                          <a:effectLst/>
                          <a:latin typeface="Times New Roman"/>
                          <a:cs typeface="Times New Roman"/>
                        </a:rPr>
                        <a:t>narrow-band improvement; not evaluated for MIMO metrics (ECC, diversity gain).</a:t>
                      </a:r>
                      <a:endParaRPr lang="en-US" sz="1200" b="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2021</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309559782"/>
                  </a:ext>
                </a:extLst>
              </a:tr>
              <a:tr h="1952428">
                <a:tc>
                  <a:txBody>
                    <a:bodyPr/>
                    <a:lstStyle/>
                    <a:p>
                      <a:pPr algn="ctr">
                        <a:spcBef>
                          <a:spcPts val="100"/>
                        </a:spcBef>
                        <a:spcAft>
                          <a:spcPts val="100"/>
                        </a:spcAft>
                        <a:buNone/>
                      </a:pPr>
                      <a:r>
                        <a:rPr lang="en-US" sz="1800" b="1">
                          <a:solidFill>
                            <a:srgbClr val="000000"/>
                          </a:solidFill>
                          <a:effectLst/>
                          <a:latin typeface="Times New Roman"/>
                          <a:cs typeface="Times New Roman"/>
                        </a:rPr>
                        <a:t>17</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A Two-Port Microstrip Antenna with High Isolation for Wi-Fi 6 and Wi-Fi 6E Applications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Transactions on Antennas and Propagation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Dual-port microstrip patch antenna; Port 1: 5.41–6.07 GHz; Port 2: 5.58–7.49 GHz; for Wi-Fi 6 and Wi-Fi 6E.</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Decoupling probe along symmetry plane modifies common-mode (CM) impedance while leaving differential-mode (DM) unchanged. CM and DM reflection responses matched at </a:t>
                      </a:r>
                      <a:r>
                        <a:rPr lang="en-US" sz="1200" dirty="0" err="1">
                          <a:solidFill>
                            <a:srgbClr val="000000"/>
                          </a:solidFill>
                          <a:effectLst/>
                          <a:latin typeface="Times New Roman"/>
                          <a:cs typeface="Times New Roman"/>
                        </a:rPr>
                        <a:t>centre</a:t>
                      </a:r>
                      <a:r>
                        <a:rPr lang="en-US" sz="1200" dirty="0">
                          <a:solidFill>
                            <a:srgbClr val="000000"/>
                          </a:solidFill>
                          <a:effectLst/>
                          <a:latin typeface="Times New Roman"/>
                          <a:cs typeface="Times New Roman"/>
                        </a:rPr>
                        <a:t> frequency for cancellation. Independent matching networks with lumped inductors (~1.5 </a:t>
                      </a:r>
                      <a:r>
                        <a:rPr lang="en-US" sz="1200" dirty="0" err="1">
                          <a:solidFill>
                            <a:srgbClr val="000000"/>
                          </a:solidFill>
                          <a:effectLst/>
                          <a:latin typeface="Times New Roman"/>
                          <a:cs typeface="Times New Roman"/>
                        </a:rPr>
                        <a:t>nH</a:t>
                      </a:r>
                      <a:r>
                        <a:rPr lang="en-US" sz="1200" dirty="0">
                          <a:solidFill>
                            <a:srgbClr val="000000"/>
                          </a:solidFill>
                          <a:effectLst/>
                          <a:latin typeface="Times New Roman"/>
                          <a:cs typeface="Times New Roman"/>
                        </a:rPr>
                        <a:t>, 0.7 </a:t>
                      </a:r>
                      <a:r>
                        <a:rPr lang="en-US" sz="1200" dirty="0" err="1">
                          <a:solidFill>
                            <a:srgbClr val="000000"/>
                          </a:solidFill>
                          <a:effectLst/>
                          <a:latin typeface="Times New Roman"/>
                          <a:cs typeface="Times New Roman"/>
                        </a:rPr>
                        <a:t>nH</a:t>
                      </a:r>
                      <a:r>
                        <a:rPr lang="en-US" sz="1200" dirty="0">
                          <a:solidFill>
                            <a:srgbClr val="000000"/>
                          </a:solidFill>
                          <a:effectLst/>
                          <a:latin typeface="Times New Roman"/>
                          <a:cs typeface="Times New Roman"/>
                        </a:rPr>
                        <a:t>) + bandpass filters for full-band isolation.</a:t>
                      </a:r>
                      <a:endParaRPr lang="en-US" sz="1200" dirty="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Peak isolation ~42 dB at 6.03 GHz; maintained across band with filters; supports multi-band operation.</a:t>
                      </a:r>
                      <a:endParaRPr lang="en-US" sz="1200" dirty="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Limitation: Bandpass filters introduce insertion losses (1.7–2.3 dB); lumped inductors add cost and assembly complexity; isolation is frequency-sensitive (peak only at 6.03 GHz); not applicable to 2.4 GHz band; complex feeding network increases antenna size.</a:t>
                      </a:r>
                      <a:endParaRPr lang="en-US" sz="12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2022</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D9E2F0"/>
                    </a:solidFill>
                  </a:tcPr>
                </a:tc>
                <a:extLst>
                  <a:ext uri="{0D108BD9-81ED-4DB2-BD59-A6C34878D82A}">
                    <a16:rowId xmlns:a16="http://schemas.microsoft.com/office/drawing/2014/main" val="3336784869"/>
                  </a:ext>
                </a:extLst>
              </a:tr>
              <a:tr h="1789719">
                <a:tc>
                  <a:txBody>
                    <a:bodyPr/>
                    <a:lstStyle/>
                    <a:p>
                      <a:pPr algn="ctr">
                        <a:spcBef>
                          <a:spcPts val="100"/>
                        </a:spcBef>
                        <a:spcAft>
                          <a:spcPts val="100"/>
                        </a:spcAft>
                        <a:buNone/>
                      </a:pPr>
                      <a:r>
                        <a:rPr lang="en-US" sz="1800" b="1">
                          <a:solidFill>
                            <a:srgbClr val="000000"/>
                          </a:solidFill>
                          <a:effectLst/>
                          <a:latin typeface="Times New Roman"/>
                          <a:cs typeface="Times New Roman"/>
                        </a:rPr>
                        <a:t>18</a:t>
                      </a:r>
                      <a:endParaRPr lang="en-US" sz="18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b="1">
                          <a:solidFill>
                            <a:srgbClr val="000000"/>
                          </a:solidFill>
                          <a:effectLst/>
                          <a:latin typeface="Times New Roman"/>
                          <a:cs typeface="Times New Roman"/>
                        </a:rPr>
                        <a:t>A Dual-Port MIMO Antenna Decoupling by Common and Differential Mode Cancellation with High Isolation</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spcBef>
                          <a:spcPts val="100"/>
                        </a:spcBef>
                        <a:spcAft>
                          <a:spcPts val="100"/>
                        </a:spcAft>
                        <a:buNone/>
                      </a:pPr>
                      <a:r>
                        <a:rPr lang="en-US" sz="1600">
                          <a:solidFill>
                            <a:srgbClr val="000000"/>
                          </a:solidFill>
                          <a:effectLst/>
                          <a:latin typeface="Times New Roman"/>
                          <a:cs typeface="Times New Roman"/>
                        </a:rPr>
                        <a:t>IEEE Antennas and Wireless Propagation Letters</a:t>
                      </a:r>
                      <a:endParaRPr lang="en-US" sz="160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marL="127000" indent="-127000">
                        <a:spcBef>
                          <a:spcPts val="100"/>
                        </a:spcBef>
                        <a:spcAft>
                          <a:spcPts val="100"/>
                        </a:spcAft>
                        <a:buNone/>
                      </a:pPr>
                      <a:r>
                        <a:rPr lang="en-US" sz="1200">
                          <a:solidFill>
                            <a:srgbClr val="000000"/>
                          </a:solidFill>
                          <a:effectLst/>
                          <a:latin typeface="Times New Roman"/>
                          <a:cs typeface="Times New Roman"/>
                        </a:rPr>
                        <a:t>•  Dual-port MIMO antenna for sub-6 GHz wireless systems; compact structure with shorting pins and metallic strips.</a:t>
                      </a:r>
                      <a:endParaRPr lang="en-US" sz="1200">
                        <a:effectLst/>
                        <a:latin typeface="Times New Roman"/>
                        <a:cs typeface="Times New Roman"/>
                      </a:endParaRPr>
                    </a:p>
                    <a:p>
                      <a:pPr marL="127000" indent="-127000">
                        <a:spcBef>
                          <a:spcPts val="100"/>
                        </a:spcBef>
                        <a:spcAft>
                          <a:spcPts val="100"/>
                        </a:spcAft>
                        <a:buNone/>
                      </a:pPr>
                      <a:r>
                        <a:rPr lang="en-US" sz="1200">
                          <a:solidFill>
                            <a:srgbClr val="000000"/>
                          </a:solidFill>
                          <a:effectLst/>
                          <a:latin typeface="Times New Roman"/>
                          <a:cs typeface="Times New Roman"/>
                        </a:rPr>
                        <a:t>•  Common-mode and Differential-mode (CM/DM) cancellation using shorting pins and metallic strips placed on same layer. Suppresses coupling currents without ground plane modifications. Symmetrical configuration provides pattern diversity between ports.</a:t>
                      </a:r>
                      <a:endParaRPr lang="en-US" sz="120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Isolation &gt;25 dB; measured gain 2–3.14 </a:t>
                      </a:r>
                      <a:r>
                        <a:rPr lang="en-US" sz="1200" dirty="0" err="1">
                          <a:solidFill>
                            <a:srgbClr val="000000"/>
                          </a:solidFill>
                          <a:effectLst/>
                          <a:latin typeface="Times New Roman"/>
                          <a:cs typeface="Times New Roman"/>
                        </a:rPr>
                        <a:t>dBi</a:t>
                      </a:r>
                      <a:r>
                        <a:rPr lang="en-US" sz="1200" dirty="0">
                          <a:solidFill>
                            <a:srgbClr val="000000"/>
                          </a:solidFill>
                          <a:effectLst/>
                          <a:latin typeface="Times New Roman"/>
                          <a:cs typeface="Times New Roman"/>
                        </a:rPr>
                        <a:t>; stable radiation characteristics across operating band; compact geometry.</a:t>
                      </a:r>
                      <a:endParaRPr lang="en-US" sz="1200" dirty="0">
                        <a:effectLst/>
                        <a:latin typeface="Times New Roman"/>
                        <a:cs typeface="Times New Roman"/>
                      </a:endParaRPr>
                    </a:p>
                    <a:p>
                      <a:pPr marL="127000" indent="-127000">
                        <a:spcBef>
                          <a:spcPts val="100"/>
                        </a:spcBef>
                        <a:spcAft>
                          <a:spcPts val="100"/>
                        </a:spcAft>
                        <a:buNone/>
                      </a:pPr>
                      <a:r>
                        <a:rPr lang="en-US" sz="1200" dirty="0">
                          <a:solidFill>
                            <a:srgbClr val="000000"/>
                          </a:solidFill>
                          <a:effectLst/>
                          <a:latin typeface="Times New Roman"/>
                          <a:cs typeface="Times New Roman"/>
                        </a:rPr>
                        <a:t>•  Limitation: Low gain (2–3.14 </a:t>
                      </a:r>
                      <a:r>
                        <a:rPr lang="en-US" sz="1200" dirty="0" err="1">
                          <a:solidFill>
                            <a:srgbClr val="000000"/>
                          </a:solidFill>
                          <a:effectLst/>
                          <a:latin typeface="Times New Roman"/>
                          <a:cs typeface="Times New Roman"/>
                        </a:rPr>
                        <a:t>dBi</a:t>
                      </a:r>
                      <a:r>
                        <a:rPr lang="en-US" sz="1200" dirty="0">
                          <a:solidFill>
                            <a:srgbClr val="000000"/>
                          </a:solidFill>
                          <a:effectLst/>
                          <a:latin typeface="Times New Roman"/>
                          <a:cs typeface="Times New Roman"/>
                        </a:rPr>
                        <a:t>) limits range performance; shorting pins complicate PCB fabrication; CM/DM balance sensitive to symmetry tolerances; not validated specifically for 2.4 GHz/Bluetooth band; ECC data not reported.</a:t>
                      </a:r>
                      <a:endParaRPr lang="en-US" sz="1200" dirty="0">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tc>
                  <a:txBody>
                    <a:bodyPr/>
                    <a:lstStyle/>
                    <a:p>
                      <a:pPr algn="ctr">
                        <a:spcBef>
                          <a:spcPts val="100"/>
                        </a:spcBef>
                        <a:spcAft>
                          <a:spcPts val="100"/>
                        </a:spcAft>
                        <a:buNone/>
                      </a:pPr>
                      <a:r>
                        <a:rPr lang="en-US" sz="1800" b="1">
                          <a:solidFill>
                            <a:srgbClr val="000000"/>
                          </a:solidFill>
                          <a:effectLst/>
                          <a:latin typeface="Times New Roman"/>
                          <a:cs typeface="Times New Roman"/>
                        </a:rPr>
                        <a:t>2025</a:t>
                      </a:r>
                      <a:endParaRPr lang="en-US" sz="1800" b="1">
                        <a:effectLst/>
                        <a:latin typeface="Times New Roman"/>
                        <a:cs typeface="Times New Roman"/>
                      </a:endParaRPr>
                    </a:p>
                  </a:txBody>
                  <a:tcPr marL="76200" marR="76200" marT="50800" marB="50800">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326023550"/>
                  </a:ext>
                </a:extLst>
              </a:tr>
            </a:tbl>
          </a:graphicData>
        </a:graphic>
      </p:graphicFrame>
      <p:pic>
        <p:nvPicPr>
          <p:cNvPr id="3" name="Picture 2" descr="A pink and black logo&#10;&#10;AI-generated content may be incorrect.">
            <a:extLst>
              <a:ext uri="{FF2B5EF4-FFF2-40B4-BE49-F238E27FC236}">
                <a16:creationId xmlns:a16="http://schemas.microsoft.com/office/drawing/2014/main" id="{9B2482E6-B598-807D-DBFB-862B54B7DB97}"/>
              </a:ext>
            </a:extLst>
          </p:cNvPr>
          <p:cNvPicPr>
            <a:picLocks noChangeAspect="1"/>
          </p:cNvPicPr>
          <p:nvPr/>
        </p:nvPicPr>
        <p:blipFill>
          <a:blip r:embed="rId2"/>
          <a:stretch>
            <a:fillRect/>
          </a:stretch>
        </p:blipFill>
        <p:spPr>
          <a:xfrm>
            <a:off x="10034914" y="2545"/>
            <a:ext cx="2153433" cy="537707"/>
          </a:xfrm>
          <a:prstGeom prst="rect">
            <a:avLst/>
          </a:prstGeom>
        </p:spPr>
      </p:pic>
    </p:spTree>
    <p:extLst>
      <p:ext uri="{BB962C8B-B14F-4D97-AF65-F5344CB8AC3E}">
        <p14:creationId xmlns:p14="http://schemas.microsoft.com/office/powerpoint/2010/main" val="844489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8269F-5052-DBA5-D09F-AB9D0CB79839}"/>
              </a:ext>
            </a:extLst>
          </p:cNvPr>
          <p:cNvSpPr>
            <a:spLocks noGrp="1"/>
          </p:cNvSpPr>
          <p:nvPr>
            <p:ph type="title"/>
          </p:nvPr>
        </p:nvSpPr>
        <p:spPr/>
        <p:txBody>
          <a:bodyPr/>
          <a:lstStyle/>
          <a:p>
            <a:r>
              <a:rPr lang="en-US">
                <a:latin typeface="Times New Roman"/>
                <a:cs typeface="Times New Roman"/>
              </a:rPr>
              <a:t>Methodology :</a:t>
            </a:r>
          </a:p>
        </p:txBody>
      </p:sp>
      <p:sp>
        <p:nvSpPr>
          <p:cNvPr id="3" name="Content Placeholder 2">
            <a:extLst>
              <a:ext uri="{FF2B5EF4-FFF2-40B4-BE49-F238E27FC236}">
                <a16:creationId xmlns:a16="http://schemas.microsoft.com/office/drawing/2014/main" id="{64441B46-C81F-0311-0E07-FAEBDECA1DCA}"/>
              </a:ext>
            </a:extLst>
          </p:cNvPr>
          <p:cNvSpPr>
            <a:spLocks noGrp="1"/>
          </p:cNvSpPr>
          <p:nvPr>
            <p:ph idx="1"/>
          </p:nvPr>
        </p:nvSpPr>
        <p:spPr/>
        <p:txBody>
          <a:bodyPr vert="horz" lIns="91440" tIns="45720" rIns="91440" bIns="45720" rtlCol="0" anchor="t">
            <a:normAutofit fontScale="92500" lnSpcReduction="10000"/>
          </a:bodyPr>
          <a:lstStyle/>
          <a:p>
            <a:r>
              <a:rPr lang="en-US">
                <a:latin typeface="Times New Roman"/>
                <a:ea typeface="+mn-lt"/>
                <a:cs typeface="Times New Roman"/>
              </a:rPr>
              <a:t>Design a 2.4 GHz rectangular microstrip patch antenna using Rogers RT/</a:t>
            </a:r>
            <a:r>
              <a:rPr lang="en-US" err="1">
                <a:latin typeface="Times New Roman"/>
                <a:ea typeface="+mn-lt"/>
                <a:cs typeface="Times New Roman"/>
              </a:rPr>
              <a:t>Duroid</a:t>
            </a:r>
            <a:r>
              <a:rPr lang="en-US">
                <a:latin typeface="Times New Roman"/>
                <a:ea typeface="+mn-lt"/>
                <a:cs typeface="Times New Roman"/>
              </a:rPr>
              <a:t> 5880 substrate. </a:t>
            </a:r>
            <a:endParaRPr lang="en-US">
              <a:latin typeface="Times New Roman"/>
              <a:cs typeface="Times New Roman"/>
            </a:endParaRPr>
          </a:p>
          <a:p>
            <a:r>
              <a:rPr lang="en-US">
                <a:latin typeface="Times New Roman"/>
                <a:ea typeface="+mn-lt"/>
                <a:cs typeface="Times New Roman"/>
              </a:rPr>
              <a:t>Develop a 1×2 MIMO antenna array and analyze mutual coupling effects. </a:t>
            </a:r>
            <a:endParaRPr lang="en-US">
              <a:latin typeface="Times New Roman"/>
              <a:cs typeface="Times New Roman"/>
            </a:endParaRPr>
          </a:p>
          <a:p>
            <a:r>
              <a:rPr lang="en-US">
                <a:latin typeface="Times New Roman"/>
                <a:ea typeface="+mn-lt"/>
                <a:cs typeface="Times New Roman"/>
              </a:rPr>
              <a:t>Implement neutralization line and parasitic element techniques for coupling reduction. </a:t>
            </a:r>
            <a:endParaRPr lang="en-US">
              <a:latin typeface="Times New Roman"/>
              <a:cs typeface="Times New Roman"/>
            </a:endParaRPr>
          </a:p>
          <a:p>
            <a:r>
              <a:rPr lang="en-US">
                <a:latin typeface="Times New Roman"/>
                <a:ea typeface="+mn-lt"/>
                <a:cs typeface="Times New Roman"/>
              </a:rPr>
              <a:t>Optimize the proposed parasitic element with anti-parallel antenna configuration. </a:t>
            </a:r>
            <a:endParaRPr lang="en-US">
              <a:latin typeface="Times New Roman"/>
              <a:cs typeface="Times New Roman"/>
            </a:endParaRPr>
          </a:p>
          <a:p>
            <a:r>
              <a:rPr lang="en-US">
                <a:latin typeface="Times New Roman"/>
                <a:ea typeface="+mn-lt"/>
                <a:cs typeface="Times New Roman"/>
              </a:rPr>
              <a:t>Simulate the antenna in ANSYS HFSS and evaluate S₁₁, S₂₁, gain, and radiation characteristics. </a:t>
            </a:r>
            <a:endParaRPr lang="en-US">
              <a:latin typeface="Times New Roman"/>
              <a:cs typeface="Times New Roman"/>
            </a:endParaRPr>
          </a:p>
          <a:p>
            <a:r>
              <a:rPr lang="en-US">
                <a:latin typeface="Times New Roman"/>
                <a:ea typeface="+mn-lt"/>
                <a:cs typeface="Times New Roman"/>
              </a:rPr>
              <a:t>Compare the performance of different decoupling techniques and identify the most effective solution for isolation improvement.</a:t>
            </a:r>
            <a:endParaRPr lang="en-US">
              <a:latin typeface="Times New Roman"/>
              <a:cs typeface="Times New Roman"/>
            </a:endParaRPr>
          </a:p>
        </p:txBody>
      </p:sp>
      <p:pic>
        <p:nvPicPr>
          <p:cNvPr id="5" name="Picture 4" descr="A pink and black logo&#10;&#10;AI-generated content may be incorrect.">
            <a:extLst>
              <a:ext uri="{FF2B5EF4-FFF2-40B4-BE49-F238E27FC236}">
                <a16:creationId xmlns:a16="http://schemas.microsoft.com/office/drawing/2014/main" id="{B9294B25-87A1-C386-4F89-6EA814DE8256}"/>
              </a:ext>
            </a:extLst>
          </p:cNvPr>
          <p:cNvPicPr>
            <a:picLocks noChangeAspect="1"/>
          </p:cNvPicPr>
          <p:nvPr/>
        </p:nvPicPr>
        <p:blipFill>
          <a:blip r:embed="rId2"/>
          <a:stretch>
            <a:fillRect/>
          </a:stretch>
        </p:blipFill>
        <p:spPr>
          <a:xfrm>
            <a:off x="9878338" y="2545"/>
            <a:ext cx="2310009" cy="725596"/>
          </a:xfrm>
          <a:prstGeom prst="rect">
            <a:avLst/>
          </a:prstGeom>
        </p:spPr>
      </p:pic>
    </p:spTree>
    <p:extLst>
      <p:ext uri="{BB962C8B-B14F-4D97-AF65-F5344CB8AC3E}">
        <p14:creationId xmlns:p14="http://schemas.microsoft.com/office/powerpoint/2010/main" val="2724976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18" descr="A black and white image of a rectangular object&#10;&#10;AI-generated content may be incorrect.">
            <a:extLst>
              <a:ext uri="{FF2B5EF4-FFF2-40B4-BE49-F238E27FC236}">
                <a16:creationId xmlns:a16="http://schemas.microsoft.com/office/drawing/2014/main" id="{BE9D0B7D-2F92-4C27-8A89-DB0AF059837B}"/>
              </a:ext>
            </a:extLst>
          </p:cNvPr>
          <p:cNvPicPr>
            <a:picLocks noGrp="1" noChangeAspect="1"/>
          </p:cNvPicPr>
          <p:nvPr>
            <p:ph idx="1"/>
          </p:nvPr>
        </p:nvPicPr>
        <p:blipFill>
          <a:blip r:embed="rId2"/>
          <a:stretch>
            <a:fillRect/>
          </a:stretch>
        </p:blipFill>
        <p:spPr>
          <a:xfrm>
            <a:off x="-4201" y="145050"/>
            <a:ext cx="12189963" cy="6031913"/>
          </a:xfrm>
          <a:prstGeom prst="rect">
            <a:avLst/>
          </a:prstGeom>
        </p:spPr>
      </p:pic>
      <p:pic>
        <p:nvPicPr>
          <p:cNvPr id="21" name="Picture 20" descr="A pink and black logo&#10;&#10;AI-generated content may be incorrect.">
            <a:extLst>
              <a:ext uri="{FF2B5EF4-FFF2-40B4-BE49-F238E27FC236}">
                <a16:creationId xmlns:a16="http://schemas.microsoft.com/office/drawing/2014/main" id="{18F43243-EB5D-1828-AE33-800BF3DF7574}"/>
              </a:ext>
            </a:extLst>
          </p:cNvPr>
          <p:cNvPicPr>
            <a:picLocks noChangeAspect="1"/>
          </p:cNvPicPr>
          <p:nvPr/>
        </p:nvPicPr>
        <p:blipFill>
          <a:blip r:embed="rId3"/>
          <a:stretch>
            <a:fillRect/>
          </a:stretch>
        </p:blipFill>
        <p:spPr>
          <a:xfrm>
            <a:off x="9878338" y="2545"/>
            <a:ext cx="2310009" cy="725596"/>
          </a:xfrm>
          <a:prstGeom prst="rect">
            <a:avLst/>
          </a:prstGeom>
        </p:spPr>
      </p:pic>
    </p:spTree>
    <p:extLst>
      <p:ext uri="{BB962C8B-B14F-4D97-AF65-F5344CB8AC3E}">
        <p14:creationId xmlns:p14="http://schemas.microsoft.com/office/powerpoint/2010/main" val="1502473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omputer&#10;&#10;AI-generated content may be incorrect.">
            <a:extLst>
              <a:ext uri="{FF2B5EF4-FFF2-40B4-BE49-F238E27FC236}">
                <a16:creationId xmlns:a16="http://schemas.microsoft.com/office/drawing/2014/main" id="{0EAFDEA6-ADCC-E209-7590-158F74DDD7EE}"/>
              </a:ext>
            </a:extLst>
          </p:cNvPr>
          <p:cNvPicPr>
            <a:picLocks noGrp="1" noChangeAspect="1"/>
          </p:cNvPicPr>
          <p:nvPr>
            <p:ph idx="1"/>
          </p:nvPr>
        </p:nvPicPr>
        <p:blipFill>
          <a:blip r:embed="rId2"/>
          <a:stretch>
            <a:fillRect/>
          </a:stretch>
        </p:blipFill>
        <p:spPr>
          <a:xfrm>
            <a:off x="3133" y="759474"/>
            <a:ext cx="12081351" cy="5398050"/>
          </a:xfrm>
          <a:prstGeom prst="rect">
            <a:avLst/>
          </a:prstGeom>
        </p:spPr>
      </p:pic>
      <p:pic>
        <p:nvPicPr>
          <p:cNvPr id="9" name="Picture 8" descr="A pink and black logo&#10;&#10;AI-generated content may be incorrect.">
            <a:extLst>
              <a:ext uri="{FF2B5EF4-FFF2-40B4-BE49-F238E27FC236}">
                <a16:creationId xmlns:a16="http://schemas.microsoft.com/office/drawing/2014/main" id="{BCE84528-4201-BE1A-44E5-7C0101AB7179}"/>
              </a:ext>
            </a:extLst>
          </p:cNvPr>
          <p:cNvPicPr>
            <a:picLocks noChangeAspect="1"/>
          </p:cNvPicPr>
          <p:nvPr/>
        </p:nvPicPr>
        <p:blipFill>
          <a:blip r:embed="rId3"/>
          <a:stretch>
            <a:fillRect/>
          </a:stretch>
        </p:blipFill>
        <p:spPr>
          <a:xfrm>
            <a:off x="9878338" y="2545"/>
            <a:ext cx="2310009" cy="725596"/>
          </a:xfrm>
          <a:prstGeom prst="rect">
            <a:avLst/>
          </a:prstGeom>
        </p:spPr>
      </p:pic>
    </p:spTree>
    <p:extLst>
      <p:ext uri="{BB962C8B-B14F-4D97-AF65-F5344CB8AC3E}">
        <p14:creationId xmlns:p14="http://schemas.microsoft.com/office/powerpoint/2010/main" val="2638355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nk and black logo&#10;&#10;AI-generated content may be incorrect.">
            <a:extLst>
              <a:ext uri="{FF2B5EF4-FFF2-40B4-BE49-F238E27FC236}">
                <a16:creationId xmlns:a16="http://schemas.microsoft.com/office/drawing/2014/main" id="{DFA30D51-6BEE-6590-D4BC-C914600F2AF3}"/>
              </a:ext>
            </a:extLst>
          </p:cNvPr>
          <p:cNvPicPr>
            <a:picLocks noChangeAspect="1"/>
          </p:cNvPicPr>
          <p:nvPr/>
        </p:nvPicPr>
        <p:blipFill>
          <a:blip r:embed="rId2"/>
          <a:stretch>
            <a:fillRect/>
          </a:stretch>
        </p:blipFill>
        <p:spPr>
          <a:xfrm>
            <a:off x="9878338" y="2545"/>
            <a:ext cx="2310009" cy="725596"/>
          </a:xfrm>
          <a:prstGeom prst="rect">
            <a:avLst/>
          </a:prstGeom>
        </p:spPr>
      </p:pic>
      <p:pic>
        <p:nvPicPr>
          <p:cNvPr id="9" name="Content Placeholder 8" descr="A diagram of a rectangular object&#10;&#10;AI-generated content may be incorrect.">
            <a:extLst>
              <a:ext uri="{FF2B5EF4-FFF2-40B4-BE49-F238E27FC236}">
                <a16:creationId xmlns:a16="http://schemas.microsoft.com/office/drawing/2014/main" id="{7BB70E95-65DF-F2FB-3169-5ED596D81E2E}"/>
              </a:ext>
            </a:extLst>
          </p:cNvPr>
          <p:cNvPicPr>
            <a:picLocks noGrp="1" noChangeAspect="1"/>
          </p:cNvPicPr>
          <p:nvPr>
            <p:ph idx="1"/>
          </p:nvPr>
        </p:nvPicPr>
        <p:blipFill>
          <a:blip r:embed="rId3"/>
          <a:stretch>
            <a:fillRect/>
          </a:stretch>
        </p:blipFill>
        <p:spPr>
          <a:xfrm>
            <a:off x="172372" y="896611"/>
            <a:ext cx="12024709" cy="5436927"/>
          </a:xfrm>
          <a:prstGeom prst="rect">
            <a:avLst/>
          </a:prstGeom>
        </p:spPr>
      </p:pic>
    </p:spTree>
    <p:extLst>
      <p:ext uri="{BB962C8B-B14F-4D97-AF65-F5344CB8AC3E}">
        <p14:creationId xmlns:p14="http://schemas.microsoft.com/office/powerpoint/2010/main" val="3354273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9AD2E88-1801-47F6-9066-5F681FC20DFB}"/>
              </a:ext>
            </a:extLst>
          </p:cNvPr>
          <p:cNvSpPr>
            <a:spLocks noGrp="1"/>
          </p:cNvSpPr>
          <p:nvPr>
            <p:ph idx="1"/>
          </p:nvPr>
        </p:nvSpPr>
        <p:spPr>
          <a:xfrm>
            <a:off x="138831" y="19790"/>
            <a:ext cx="11214969" cy="6157173"/>
          </a:xfrm>
        </p:spPr>
        <p:txBody>
          <a:bodyPr vert="horz" lIns="91440" tIns="45720" rIns="91440" bIns="45720" rtlCol="0" anchor="t">
            <a:normAutofit/>
          </a:bodyPr>
          <a:lstStyle/>
          <a:p>
            <a:r>
              <a:rPr lang="en-US">
                <a:latin typeface="Times New Roman"/>
                <a:cs typeface="Times New Roman"/>
              </a:rPr>
              <a:t>Calculated Dimensions for Single Element</a:t>
            </a:r>
          </a:p>
          <a:p>
            <a:endParaRPr lang="en-US"/>
          </a:p>
        </p:txBody>
      </p:sp>
      <p:pic>
        <p:nvPicPr>
          <p:cNvPr id="7" name="Picture 6">
            <a:extLst>
              <a:ext uri="{FF2B5EF4-FFF2-40B4-BE49-F238E27FC236}">
                <a16:creationId xmlns:a16="http://schemas.microsoft.com/office/drawing/2014/main" id="{1961AE69-45E8-1CD3-36AA-23E163860472}"/>
              </a:ext>
            </a:extLst>
          </p:cNvPr>
          <p:cNvPicPr>
            <a:picLocks noChangeAspect="1"/>
          </p:cNvPicPr>
          <p:nvPr/>
        </p:nvPicPr>
        <p:blipFill>
          <a:blip r:embed="rId2"/>
          <a:stretch>
            <a:fillRect/>
          </a:stretch>
        </p:blipFill>
        <p:spPr>
          <a:xfrm>
            <a:off x="141245" y="672361"/>
            <a:ext cx="7963813" cy="6076950"/>
          </a:xfrm>
          <a:prstGeom prst="rect">
            <a:avLst/>
          </a:prstGeom>
        </p:spPr>
      </p:pic>
      <p:pic>
        <p:nvPicPr>
          <p:cNvPr id="3" name="Picture 2" descr="A pink and black logo&#10;&#10;AI-generated content may be incorrect.">
            <a:extLst>
              <a:ext uri="{FF2B5EF4-FFF2-40B4-BE49-F238E27FC236}">
                <a16:creationId xmlns:a16="http://schemas.microsoft.com/office/drawing/2014/main" id="{C0C156F0-670C-A029-C04A-9A56C72049C3}"/>
              </a:ext>
            </a:extLst>
          </p:cNvPr>
          <p:cNvPicPr>
            <a:picLocks noChangeAspect="1"/>
          </p:cNvPicPr>
          <p:nvPr/>
        </p:nvPicPr>
        <p:blipFill>
          <a:blip r:embed="rId3"/>
          <a:stretch>
            <a:fillRect/>
          </a:stretch>
        </p:blipFill>
        <p:spPr>
          <a:xfrm>
            <a:off x="9711325" y="2545"/>
            <a:ext cx="2477022" cy="704720"/>
          </a:xfrm>
          <a:prstGeom prst="rect">
            <a:avLst/>
          </a:prstGeom>
        </p:spPr>
      </p:pic>
    </p:spTree>
    <p:extLst>
      <p:ext uri="{BB962C8B-B14F-4D97-AF65-F5344CB8AC3E}">
        <p14:creationId xmlns:p14="http://schemas.microsoft.com/office/powerpoint/2010/main" val="3641218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73108-74E7-4257-B808-CD17B0D38C59}"/>
              </a:ext>
            </a:extLst>
          </p:cNvPr>
          <p:cNvSpPr>
            <a:spLocks noGrp="1"/>
          </p:cNvSpPr>
          <p:nvPr>
            <p:ph type="title"/>
          </p:nvPr>
        </p:nvSpPr>
        <p:spPr>
          <a:xfrm>
            <a:off x="838200" y="365125"/>
            <a:ext cx="10515600" cy="970659"/>
          </a:xfrm>
        </p:spPr>
        <p:txBody>
          <a:bodyPr/>
          <a:lstStyle/>
          <a:p>
            <a:r>
              <a:rPr lang="en-US" sz="4000">
                <a:latin typeface="Times New Roman"/>
                <a:cs typeface="Times New Roman"/>
              </a:rPr>
              <a:t>Two-element MIMO array:</a:t>
            </a:r>
          </a:p>
        </p:txBody>
      </p:sp>
      <p:sp>
        <p:nvSpPr>
          <p:cNvPr id="3" name="Content Placeholder 2">
            <a:extLst>
              <a:ext uri="{FF2B5EF4-FFF2-40B4-BE49-F238E27FC236}">
                <a16:creationId xmlns:a16="http://schemas.microsoft.com/office/drawing/2014/main" id="{836F7249-B860-DD9B-1761-52E6A1EED9A1}"/>
              </a:ext>
            </a:extLst>
          </p:cNvPr>
          <p:cNvSpPr>
            <a:spLocks noGrp="1"/>
          </p:cNvSpPr>
          <p:nvPr>
            <p:ph idx="1"/>
          </p:nvPr>
        </p:nvSpPr>
        <p:spPr>
          <a:xfrm>
            <a:off x="838200" y="1335022"/>
            <a:ext cx="10515600" cy="3985996"/>
          </a:xfrm>
        </p:spPr>
        <p:txBody>
          <a:bodyPr vert="horz" lIns="91440" tIns="45720" rIns="91440" bIns="45720" rtlCol="0" anchor="t">
            <a:noAutofit/>
          </a:bodyPr>
          <a:lstStyle/>
          <a:p>
            <a:r>
              <a:rPr lang="en-US" sz="2400">
                <a:latin typeface="Times New Roman"/>
                <a:ea typeface="+mn-lt"/>
                <a:cs typeface="Times New Roman"/>
              </a:rPr>
              <a:t>A 1×2 linear microstrip patch antenna array was designed using two identical 2.4 GHz rectangular patches on Rogers RT/</a:t>
            </a:r>
            <a:r>
              <a:rPr lang="en-US" sz="2400" err="1">
                <a:latin typeface="Times New Roman"/>
                <a:ea typeface="+mn-lt"/>
                <a:cs typeface="Times New Roman"/>
              </a:rPr>
              <a:t>Duroid</a:t>
            </a:r>
            <a:r>
              <a:rPr lang="en-US" sz="2400">
                <a:latin typeface="Times New Roman"/>
                <a:ea typeface="+mn-lt"/>
                <a:cs typeface="Times New Roman"/>
              </a:rPr>
              <a:t> 5880 substrate. </a:t>
            </a:r>
            <a:endParaRPr lang="en-US" sz="2400">
              <a:latin typeface="Times New Roman"/>
              <a:cs typeface="Times New Roman"/>
            </a:endParaRPr>
          </a:p>
          <a:p>
            <a:r>
              <a:rPr lang="en-US" sz="2400">
                <a:latin typeface="Times New Roman"/>
                <a:ea typeface="+mn-lt"/>
                <a:cs typeface="Times New Roman"/>
              </a:rPr>
              <a:t>The objective was to improve gain and directivity while maintaining proper impedance matching. </a:t>
            </a:r>
            <a:endParaRPr lang="en-US" sz="2400">
              <a:latin typeface="Times New Roman"/>
              <a:cs typeface="Times New Roman"/>
            </a:endParaRPr>
          </a:p>
          <a:p>
            <a:r>
              <a:rPr lang="en-US" sz="2400">
                <a:latin typeface="Times New Roman"/>
                <a:ea typeface="+mn-lt"/>
                <a:cs typeface="Times New Roman"/>
              </a:rPr>
              <a:t>Each patch was fed through a quarter-wave transformer connected to a 50 Ω feedline. </a:t>
            </a:r>
            <a:endParaRPr lang="en-US" sz="2400">
              <a:latin typeface="Times New Roman"/>
              <a:cs typeface="Times New Roman"/>
            </a:endParaRPr>
          </a:p>
          <a:p>
            <a:r>
              <a:rPr lang="en-US" sz="2400">
                <a:latin typeface="Times New Roman"/>
                <a:ea typeface="+mn-lt"/>
                <a:cs typeface="Times New Roman"/>
              </a:rPr>
              <a:t>The antenna elements were spaced approximately 0.5λ₀ apart, enabling constructive radiation in the broadside direction and reducing unwanted grating lobes. </a:t>
            </a:r>
            <a:endParaRPr lang="en-US" sz="2400">
              <a:latin typeface="Times New Roman"/>
              <a:cs typeface="Times New Roman"/>
            </a:endParaRPr>
          </a:p>
          <a:p>
            <a:r>
              <a:rPr lang="en-US" sz="2400">
                <a:latin typeface="Times New Roman"/>
                <a:ea typeface="+mn-lt"/>
                <a:cs typeface="Times New Roman"/>
              </a:rPr>
              <a:t>The array retained the same patch dimensions and substrate properties as the single-element design, ensuring consistent performance and efficient power distribution.</a:t>
            </a:r>
            <a:endParaRPr lang="en-US" sz="2400">
              <a:latin typeface="Times New Roman"/>
              <a:cs typeface="Times New Roman"/>
            </a:endParaRPr>
          </a:p>
          <a:p>
            <a:endParaRPr lang="en-US"/>
          </a:p>
        </p:txBody>
      </p:sp>
      <p:pic>
        <p:nvPicPr>
          <p:cNvPr id="5" name="Picture 4" descr="A pink and black logo&#10;&#10;AI-generated content may be incorrect.">
            <a:extLst>
              <a:ext uri="{FF2B5EF4-FFF2-40B4-BE49-F238E27FC236}">
                <a16:creationId xmlns:a16="http://schemas.microsoft.com/office/drawing/2014/main" id="{134192A4-6E39-247E-D88B-416D129BE400}"/>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2250266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1855-CB74-024A-E98E-A80222F5498A}"/>
              </a:ext>
            </a:extLst>
          </p:cNvPr>
          <p:cNvSpPr>
            <a:spLocks noGrp="1"/>
          </p:cNvSpPr>
          <p:nvPr>
            <p:ph type="title"/>
          </p:nvPr>
        </p:nvSpPr>
        <p:spPr/>
        <p:txBody>
          <a:bodyPr/>
          <a:lstStyle/>
          <a:p>
            <a:r>
              <a:rPr lang="en-US" sz="4000">
                <a:latin typeface="Times New Roman"/>
                <a:cs typeface="Times New Roman"/>
              </a:rPr>
              <a:t>Two-element MIMO array:</a:t>
            </a:r>
            <a:endParaRPr lang="en-US"/>
          </a:p>
        </p:txBody>
      </p:sp>
      <p:pic>
        <p:nvPicPr>
          <p:cNvPr id="4" name="Content Placeholder 3" descr="A diagram of a rectangular object with arrows&#10;&#10;AI-generated content may be incorrect.">
            <a:extLst>
              <a:ext uri="{FF2B5EF4-FFF2-40B4-BE49-F238E27FC236}">
                <a16:creationId xmlns:a16="http://schemas.microsoft.com/office/drawing/2014/main" id="{9D90D0C0-6D9D-A643-617D-B97C83618BF1}"/>
              </a:ext>
            </a:extLst>
          </p:cNvPr>
          <p:cNvPicPr>
            <a:picLocks noGrp="1" noChangeAspect="1"/>
          </p:cNvPicPr>
          <p:nvPr>
            <p:ph idx="1"/>
          </p:nvPr>
        </p:nvPicPr>
        <p:blipFill>
          <a:blip r:embed="rId2"/>
          <a:stretch>
            <a:fillRect/>
          </a:stretch>
        </p:blipFill>
        <p:spPr>
          <a:xfrm>
            <a:off x="457200" y="1691220"/>
            <a:ext cx="5181600" cy="3743325"/>
          </a:xfrm>
          <a:prstGeom prst="rect">
            <a:avLst/>
          </a:prstGeom>
        </p:spPr>
      </p:pic>
      <p:graphicFrame>
        <p:nvGraphicFramePr>
          <p:cNvPr id="6" name="Table 5">
            <a:extLst>
              <a:ext uri="{FF2B5EF4-FFF2-40B4-BE49-F238E27FC236}">
                <a16:creationId xmlns:a16="http://schemas.microsoft.com/office/drawing/2014/main" id="{931BC984-07EA-F117-2D3A-CD6CDB437793}"/>
              </a:ext>
            </a:extLst>
          </p:cNvPr>
          <p:cNvGraphicFramePr>
            <a:graphicFrameLocks noGrp="1"/>
          </p:cNvGraphicFramePr>
          <p:nvPr>
            <p:extLst>
              <p:ext uri="{D42A27DB-BD31-4B8C-83A1-F6EECF244321}">
                <p14:modId xmlns:p14="http://schemas.microsoft.com/office/powerpoint/2010/main" val="2873391859"/>
              </p:ext>
            </p:extLst>
          </p:nvPr>
        </p:nvGraphicFramePr>
        <p:xfrm>
          <a:off x="6321303" y="1864917"/>
          <a:ext cx="5541010" cy="1645920"/>
        </p:xfrm>
        <a:graphic>
          <a:graphicData uri="http://schemas.openxmlformats.org/drawingml/2006/table">
            <a:tbl>
              <a:tblPr firstRow="1" firstCol="1" bandRow="1">
                <a:tableStyleId>{5C22544A-7EE6-4342-B048-85BDC9FD1C3A}</a:tableStyleId>
              </a:tblPr>
              <a:tblGrid>
                <a:gridCol w="1846580">
                  <a:extLst>
                    <a:ext uri="{9D8B030D-6E8A-4147-A177-3AD203B41FA5}">
                      <a16:colId xmlns:a16="http://schemas.microsoft.com/office/drawing/2014/main" val="2511884329"/>
                    </a:ext>
                  </a:extLst>
                </a:gridCol>
                <a:gridCol w="1847215">
                  <a:extLst>
                    <a:ext uri="{9D8B030D-6E8A-4147-A177-3AD203B41FA5}">
                      <a16:colId xmlns:a16="http://schemas.microsoft.com/office/drawing/2014/main" val="842860090"/>
                    </a:ext>
                  </a:extLst>
                </a:gridCol>
                <a:gridCol w="1847215">
                  <a:extLst>
                    <a:ext uri="{9D8B030D-6E8A-4147-A177-3AD203B41FA5}">
                      <a16:colId xmlns:a16="http://schemas.microsoft.com/office/drawing/2014/main" val="2072865175"/>
                    </a:ext>
                  </a:extLst>
                </a:gridCol>
              </a:tblGrid>
              <a:tr h="0">
                <a:tc>
                  <a:txBody>
                    <a:bodyPr/>
                    <a:lstStyle/>
                    <a:p>
                      <a:pPr algn="l">
                        <a:buNone/>
                      </a:pPr>
                      <a:r>
                        <a:rPr lang="en-US" b="1">
                          <a:solidFill>
                            <a:schemeClr val="tx1"/>
                          </a:solidFill>
                          <a:effectLst/>
                        </a:rPr>
                        <a:t>           Variable</a:t>
                      </a:r>
                      <a:endParaRPr lang="en-GB">
                        <a:solidFill>
                          <a:schemeClr val="tx1"/>
                        </a:solidFill>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b="1">
                          <a:solidFill>
                            <a:schemeClr val="tx1"/>
                          </a:solidFill>
                          <a:effectLst/>
                        </a:rPr>
                        <a:t>             Value</a:t>
                      </a:r>
                      <a:endParaRPr lang="en-GB">
                        <a:solidFill>
                          <a:schemeClr val="tx1"/>
                        </a:solidFill>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rPr>
                        <a:t> </a:t>
                      </a:r>
                      <a:r>
                        <a:rPr lang="en-US" b="1">
                          <a:solidFill>
                            <a:schemeClr val="tx1"/>
                          </a:solidFill>
                          <a:effectLst/>
                        </a:rPr>
                        <a:t>Value in terms of </a:t>
                      </a:r>
                      <a:r>
                        <a:rPr lang="en-GB" b="1">
                          <a:solidFill>
                            <a:schemeClr val="tx1"/>
                          </a:solidFill>
                          <a:effectLst/>
                          <a:latin typeface="Cambria Math"/>
                        </a:rPr>
                        <a:t>λ</a:t>
                      </a:r>
                      <a:r>
                        <a:rPr lang="en-GB" b="1" baseline="-25000">
                          <a:solidFill>
                            <a:schemeClr val="tx1"/>
                          </a:solidFill>
                          <a:effectLst/>
                        </a:rPr>
                        <a:t>0</a:t>
                      </a:r>
                      <a:endParaRPr lang="en-GB">
                        <a:solidFill>
                          <a:schemeClr val="tx1"/>
                        </a:solidFill>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5325221"/>
                  </a:ext>
                </a:extLst>
              </a:tr>
              <a:tr h="0">
                <a:tc>
                  <a:txBody>
                    <a:bodyPr/>
                    <a:lstStyle/>
                    <a:p>
                      <a:pPr algn="l">
                        <a:buNone/>
                      </a:pPr>
                      <a:r>
                        <a:rPr lang="en-US">
                          <a:solidFill>
                            <a:schemeClr val="tx1"/>
                          </a:solidFill>
                          <a:effectLst/>
                        </a:rPr>
                        <a:t>           D(edge to edge)</a:t>
                      </a:r>
                      <a:endParaRPr lang="en-GB">
                        <a:solidFill>
                          <a:schemeClr val="tx1"/>
                        </a:solidFill>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effectLst/>
                        </a:rPr>
                        <a:t>             24.6 mm</a:t>
                      </a:r>
                      <a:endParaRPr lang="en-GB">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effectLst/>
                        </a:rPr>
                        <a:t>                 0.2</a:t>
                      </a:r>
                      <a:r>
                        <a:rPr lang="en-US" b="1">
                          <a:effectLst/>
                        </a:rPr>
                        <a:t> </a:t>
                      </a:r>
                      <a:r>
                        <a:rPr lang="en-GB">
                          <a:effectLst/>
                          <a:latin typeface="Cambria Math"/>
                        </a:rPr>
                        <a:t>λ</a:t>
                      </a:r>
                      <a:r>
                        <a:rPr lang="en-GB" baseline="-25000">
                          <a:effectLst/>
                        </a:rPr>
                        <a:t>0</a:t>
                      </a:r>
                      <a:endParaRPr lang="en-GB">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97619"/>
                  </a:ext>
                </a:extLst>
              </a:tr>
              <a:tr h="0">
                <a:tc>
                  <a:txBody>
                    <a:bodyPr/>
                    <a:lstStyle/>
                    <a:p>
                      <a:pPr algn="l">
                        <a:buNone/>
                      </a:pPr>
                      <a:r>
                        <a:rPr lang="en-US">
                          <a:solidFill>
                            <a:schemeClr val="tx1"/>
                          </a:solidFill>
                          <a:effectLst/>
                        </a:rPr>
                        <a:t>           S(</a:t>
                      </a:r>
                      <a:r>
                        <a:rPr lang="en-US" err="1">
                          <a:solidFill>
                            <a:schemeClr val="tx1"/>
                          </a:solidFill>
                          <a:effectLst/>
                        </a:rPr>
                        <a:t>centre</a:t>
                      </a:r>
                      <a:r>
                        <a:rPr lang="en-US">
                          <a:solidFill>
                            <a:schemeClr val="tx1"/>
                          </a:solidFill>
                          <a:effectLst/>
                        </a:rPr>
                        <a:t> to </a:t>
                      </a:r>
                      <a:r>
                        <a:rPr lang="en-US" err="1">
                          <a:solidFill>
                            <a:schemeClr val="tx1"/>
                          </a:solidFill>
                          <a:effectLst/>
                        </a:rPr>
                        <a:t>centre</a:t>
                      </a:r>
                      <a:r>
                        <a:rPr lang="en-US">
                          <a:solidFill>
                            <a:schemeClr val="tx1"/>
                          </a:solidFill>
                          <a:effectLst/>
                        </a:rPr>
                        <a:t>)</a:t>
                      </a:r>
                      <a:endParaRPr lang="en-GB">
                        <a:solidFill>
                          <a:schemeClr val="tx1"/>
                        </a:solidFill>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effectLst/>
                        </a:rPr>
                        <a:t>             71.4mm</a:t>
                      </a:r>
                      <a:endParaRPr lang="en-GB">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effectLst/>
                        </a:rPr>
                        <a:t>               0.56</a:t>
                      </a:r>
                      <a:r>
                        <a:rPr lang="en-US" b="1">
                          <a:effectLst/>
                        </a:rPr>
                        <a:t> </a:t>
                      </a:r>
                      <a:r>
                        <a:rPr lang="en-GB">
                          <a:effectLst/>
                          <a:latin typeface="Cambria Math"/>
                        </a:rPr>
                        <a:t>λ</a:t>
                      </a:r>
                      <a:r>
                        <a:rPr lang="en-GB" baseline="-25000">
                          <a:effectLst/>
                        </a:rPr>
                        <a:t>0</a:t>
                      </a:r>
                      <a:endParaRPr lang="en-GB">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1709592"/>
                  </a:ext>
                </a:extLst>
              </a:tr>
            </a:tbl>
          </a:graphicData>
        </a:graphic>
      </p:graphicFrame>
      <p:sp>
        <p:nvSpPr>
          <p:cNvPr id="7" name="TextBox 6">
            <a:extLst>
              <a:ext uri="{FF2B5EF4-FFF2-40B4-BE49-F238E27FC236}">
                <a16:creationId xmlns:a16="http://schemas.microsoft.com/office/drawing/2014/main" id="{8D040DE7-1A41-5F41-1DAF-324BA832A603}"/>
              </a:ext>
            </a:extLst>
          </p:cNvPr>
          <p:cNvSpPr txBox="1"/>
          <p:nvPr/>
        </p:nvSpPr>
        <p:spPr>
          <a:xfrm>
            <a:off x="7316744" y="3303146"/>
            <a:ext cx="309466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pPr algn="ctr"/>
            <a:r>
              <a:rPr lang="en-US" i="1">
                <a:latin typeface="Times New Roman"/>
                <a:ea typeface="+mn-lt"/>
                <a:cs typeface="Times New Roman"/>
              </a:rPr>
              <a:t>Table  2 – Spacing between the antennas</a:t>
            </a:r>
            <a:endParaRPr lang="en-GB">
              <a:latin typeface="Times New Roman"/>
              <a:cs typeface="Times New Roman"/>
            </a:endParaRPr>
          </a:p>
          <a:p>
            <a:pPr algn="l"/>
            <a:endParaRPr lang="en-GB"/>
          </a:p>
        </p:txBody>
      </p:sp>
      <p:sp>
        <p:nvSpPr>
          <p:cNvPr id="8" name="TextBox 7">
            <a:extLst>
              <a:ext uri="{FF2B5EF4-FFF2-40B4-BE49-F238E27FC236}">
                <a16:creationId xmlns:a16="http://schemas.microsoft.com/office/drawing/2014/main" id="{3426B4B0-A775-2F13-1177-7B0D32F4FEB0}"/>
              </a:ext>
            </a:extLst>
          </p:cNvPr>
          <p:cNvSpPr txBox="1"/>
          <p:nvPr/>
        </p:nvSpPr>
        <p:spPr>
          <a:xfrm>
            <a:off x="1008065" y="5362350"/>
            <a:ext cx="34442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cs typeface="Times New Roman"/>
              </a:rPr>
              <a:t>Fig 2</a:t>
            </a:r>
            <a:r>
              <a:rPr lang="en-GB"/>
              <a:t> </a:t>
            </a:r>
            <a:r>
              <a:rPr lang="en-US">
                <a:latin typeface="Times New Roman"/>
                <a:cs typeface="Times New Roman"/>
              </a:rPr>
              <a:t>Two-element MIMO array</a:t>
            </a:r>
            <a:endParaRPr lang="en-GB"/>
          </a:p>
        </p:txBody>
      </p:sp>
      <p:pic>
        <p:nvPicPr>
          <p:cNvPr id="5" name="Picture 4" descr="A pink and black logo&#10;&#10;AI-generated content may be incorrect.">
            <a:extLst>
              <a:ext uri="{FF2B5EF4-FFF2-40B4-BE49-F238E27FC236}">
                <a16:creationId xmlns:a16="http://schemas.microsoft.com/office/drawing/2014/main" id="{577BB5F0-1C66-7BC1-E635-16093822D5FF}"/>
              </a:ext>
            </a:extLst>
          </p:cNvPr>
          <p:cNvPicPr>
            <a:picLocks noChangeAspect="1"/>
          </p:cNvPicPr>
          <p:nvPr/>
        </p:nvPicPr>
        <p:blipFill>
          <a:blip r:embed="rId3"/>
          <a:stretch>
            <a:fillRect/>
          </a:stretch>
        </p:blipFill>
        <p:spPr>
          <a:xfrm>
            <a:off x="9711325" y="2545"/>
            <a:ext cx="2477022" cy="704720"/>
          </a:xfrm>
          <a:prstGeom prst="rect">
            <a:avLst/>
          </a:prstGeom>
        </p:spPr>
      </p:pic>
    </p:spTree>
    <p:extLst>
      <p:ext uri="{BB962C8B-B14F-4D97-AF65-F5344CB8AC3E}">
        <p14:creationId xmlns:p14="http://schemas.microsoft.com/office/powerpoint/2010/main" val="704642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12365-22A8-B7CB-742A-5FF6C17D683A}"/>
              </a:ext>
            </a:extLst>
          </p:cNvPr>
          <p:cNvSpPr>
            <a:spLocks noGrp="1"/>
          </p:cNvSpPr>
          <p:nvPr>
            <p:ph type="title"/>
          </p:nvPr>
        </p:nvSpPr>
        <p:spPr/>
        <p:txBody>
          <a:bodyPr/>
          <a:lstStyle/>
          <a:p>
            <a:r>
              <a:rPr lang="en-US" sz="2400" b="1">
                <a:latin typeface="Times New Roman"/>
                <a:ea typeface="Calibri"/>
                <a:cs typeface="Times New Roman"/>
              </a:rPr>
              <a:t>Design of a two-element patch antenna array incorporating a </a:t>
            </a:r>
            <a:r>
              <a:rPr lang="en-US" sz="2400" b="1" err="1">
                <a:latin typeface="Times New Roman"/>
                <a:ea typeface="Calibri"/>
                <a:cs typeface="Times New Roman"/>
              </a:rPr>
              <a:t>neutralisation</a:t>
            </a:r>
            <a:r>
              <a:rPr lang="en-US" sz="2400" b="1">
                <a:latin typeface="Times New Roman"/>
                <a:ea typeface="Calibri"/>
                <a:cs typeface="Times New Roman"/>
              </a:rPr>
              <a:t> line:</a:t>
            </a:r>
            <a:endParaRPr lang="en-US" sz="2400" b="1">
              <a:latin typeface="Times New Roman"/>
              <a:cs typeface="Times New Roman"/>
            </a:endParaRPr>
          </a:p>
        </p:txBody>
      </p:sp>
      <p:sp>
        <p:nvSpPr>
          <p:cNvPr id="3" name="Content Placeholder 2">
            <a:extLst>
              <a:ext uri="{FF2B5EF4-FFF2-40B4-BE49-F238E27FC236}">
                <a16:creationId xmlns:a16="http://schemas.microsoft.com/office/drawing/2014/main" id="{4B496FA9-3982-64B8-7D1B-A267D12F13AA}"/>
              </a:ext>
            </a:extLst>
          </p:cNvPr>
          <p:cNvSpPr>
            <a:spLocks noGrp="1"/>
          </p:cNvSpPr>
          <p:nvPr>
            <p:ph idx="1"/>
          </p:nvPr>
        </p:nvSpPr>
        <p:spPr/>
        <p:txBody>
          <a:bodyPr vert="horz" lIns="91440" tIns="45720" rIns="91440" bIns="45720" rtlCol="0" anchor="t">
            <a:normAutofit/>
          </a:bodyPr>
          <a:lstStyle/>
          <a:p>
            <a:pPr marL="0" indent="0">
              <a:buNone/>
            </a:pPr>
            <a:r>
              <a:rPr lang="en-US" sz="2400" b="1" err="1">
                <a:latin typeface="Times New Roman"/>
                <a:ea typeface="Calibri"/>
                <a:cs typeface="Times New Roman"/>
              </a:rPr>
              <a:t>Neutralisation</a:t>
            </a:r>
            <a:r>
              <a:rPr lang="en-US" sz="2400" b="1">
                <a:latin typeface="Times New Roman"/>
                <a:ea typeface="Calibri"/>
                <a:cs typeface="Times New Roman"/>
              </a:rPr>
              <a:t> Line (NL) :</a:t>
            </a:r>
          </a:p>
          <a:p>
            <a:pPr>
              <a:buFont typeface="Arial"/>
              <a:buChar char="•"/>
            </a:pPr>
            <a:r>
              <a:rPr lang="en-US" sz="2000">
                <a:latin typeface="Times New Roman"/>
                <a:ea typeface="+mn-lt"/>
                <a:cs typeface="Times New Roman"/>
              </a:rPr>
              <a:t>A neutralization line (NL) is a thin metallic strip placed between two antenna elements to create an additional coupling path. </a:t>
            </a:r>
            <a:endParaRPr lang="en-US" sz="2000">
              <a:latin typeface="Times New Roman"/>
              <a:cs typeface="Times New Roman"/>
            </a:endParaRPr>
          </a:p>
          <a:p>
            <a:pPr>
              <a:buFont typeface="Arial"/>
              <a:buChar char="•"/>
            </a:pPr>
            <a:r>
              <a:rPr lang="en-US" sz="2000">
                <a:latin typeface="Times New Roman"/>
                <a:ea typeface="+mn-lt"/>
                <a:cs typeface="Times New Roman"/>
              </a:rPr>
              <a:t>It carries a current that is equal in magnitude but 180° out of phase with the unwanted coupling current. </a:t>
            </a:r>
            <a:endParaRPr lang="en-US" sz="2000">
              <a:latin typeface="Times New Roman"/>
              <a:cs typeface="Times New Roman"/>
            </a:endParaRPr>
          </a:p>
          <a:p>
            <a:pPr>
              <a:buFont typeface="Arial"/>
              <a:buChar char="•"/>
            </a:pPr>
            <a:r>
              <a:rPr lang="en-US" sz="2000">
                <a:latin typeface="Times New Roman"/>
                <a:ea typeface="+mn-lt"/>
                <a:cs typeface="Times New Roman"/>
              </a:rPr>
              <a:t>Through destructive interference, the NL cancels the induced coupling current between the antennas. </a:t>
            </a:r>
            <a:endParaRPr lang="en-US" sz="2000">
              <a:latin typeface="Times New Roman"/>
              <a:cs typeface="Times New Roman"/>
            </a:endParaRPr>
          </a:p>
          <a:p>
            <a:pPr>
              <a:buFont typeface="Arial"/>
              <a:buChar char="•"/>
            </a:pPr>
            <a:r>
              <a:rPr lang="en-US" sz="2000">
                <a:latin typeface="Times New Roman"/>
                <a:ea typeface="+mn-lt"/>
                <a:cs typeface="Times New Roman"/>
              </a:rPr>
              <a:t>This reduces the amount of energy transferred to the adjacent antenna element, thereby improving isolation (lower S₂₁). </a:t>
            </a:r>
            <a:endParaRPr lang="en-US" sz="2000">
              <a:latin typeface="Times New Roman"/>
              <a:cs typeface="Times New Roman"/>
            </a:endParaRPr>
          </a:p>
          <a:p>
            <a:pPr>
              <a:buFont typeface="Arial"/>
              <a:buChar char="•"/>
            </a:pPr>
            <a:r>
              <a:rPr lang="en-US" sz="2000">
                <a:latin typeface="Times New Roman"/>
                <a:ea typeface="+mn-lt"/>
                <a:cs typeface="Times New Roman"/>
              </a:rPr>
              <a:t>The effectiveness of the NL depends on its electrical length and placement, which are optimized to achieve maximum coupling suppression.</a:t>
            </a:r>
            <a:endParaRPr lang="en-US" sz="2000">
              <a:latin typeface="Times New Roman"/>
              <a:cs typeface="Times New Roman"/>
            </a:endParaRPr>
          </a:p>
          <a:p>
            <a:pPr marL="0" indent="0">
              <a:buNone/>
            </a:pPr>
            <a:endParaRPr lang="en-US" sz="1800" b="1">
              <a:latin typeface="Times New Roman"/>
              <a:ea typeface="Calibri"/>
              <a:cs typeface="Times New Roman"/>
            </a:endParaRPr>
          </a:p>
        </p:txBody>
      </p:sp>
      <p:pic>
        <p:nvPicPr>
          <p:cNvPr id="5" name="Picture 4" descr="A pink and black logo&#10;&#10;AI-generated content may be incorrect.">
            <a:extLst>
              <a:ext uri="{FF2B5EF4-FFF2-40B4-BE49-F238E27FC236}">
                <a16:creationId xmlns:a16="http://schemas.microsoft.com/office/drawing/2014/main" id="{D1BD0E57-84F4-34FE-EDD7-C3244C52BB94}"/>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274415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152C2-97E1-B1CE-32E5-D0750830BB3B}"/>
              </a:ext>
            </a:extLst>
          </p:cNvPr>
          <p:cNvSpPr>
            <a:spLocks noGrp="1"/>
          </p:cNvSpPr>
          <p:nvPr>
            <p:ph type="title"/>
          </p:nvPr>
        </p:nvSpPr>
        <p:spPr/>
        <p:txBody>
          <a:bodyPr/>
          <a:lstStyle/>
          <a:p>
            <a:r>
              <a:rPr lang="en-US" sz="2400" b="1">
                <a:latin typeface="Times New Roman"/>
                <a:cs typeface="Times New Roman"/>
              </a:rPr>
              <a:t>Design of a two-element patch antenna array incorporating a </a:t>
            </a:r>
            <a:r>
              <a:rPr lang="en-US" sz="2400" b="1" err="1">
                <a:latin typeface="Times New Roman"/>
                <a:cs typeface="Times New Roman"/>
              </a:rPr>
              <a:t>neutralisation</a:t>
            </a:r>
            <a:r>
              <a:rPr lang="en-US" sz="2400" b="1">
                <a:latin typeface="Times New Roman"/>
                <a:cs typeface="Times New Roman"/>
              </a:rPr>
              <a:t> line:</a:t>
            </a:r>
            <a:endParaRPr lang="en-US"/>
          </a:p>
        </p:txBody>
      </p:sp>
      <p:sp>
        <p:nvSpPr>
          <p:cNvPr id="3" name="Content Placeholder 2">
            <a:extLst>
              <a:ext uri="{FF2B5EF4-FFF2-40B4-BE49-F238E27FC236}">
                <a16:creationId xmlns:a16="http://schemas.microsoft.com/office/drawing/2014/main" id="{4569DA46-F78C-D33C-B885-505E33DCCA6F}"/>
              </a:ext>
            </a:extLst>
          </p:cNvPr>
          <p:cNvSpPr>
            <a:spLocks noGrp="1"/>
          </p:cNvSpPr>
          <p:nvPr>
            <p:ph idx="1"/>
          </p:nvPr>
        </p:nvSpPr>
        <p:spPr>
          <a:xfrm>
            <a:off x="838200" y="1825625"/>
            <a:ext cx="10515600" cy="6104981"/>
          </a:xfrm>
        </p:spPr>
        <p:txBody>
          <a:bodyPr vert="horz" lIns="91440" tIns="45720" rIns="91440" bIns="45720" rtlCol="0" anchor="t">
            <a:normAutofit/>
          </a:bodyPr>
          <a:lstStyle/>
          <a:p>
            <a:pPr>
              <a:buNone/>
            </a:pPr>
            <a:r>
              <a:rPr lang="en-US" err="1">
                <a:latin typeface="Times New Roman"/>
                <a:ea typeface="+mn-lt"/>
                <a:cs typeface="Times New Roman"/>
              </a:rPr>
              <a:t>Neutralisation</a:t>
            </a:r>
            <a:r>
              <a:rPr lang="en-US">
                <a:latin typeface="Times New Roman"/>
                <a:ea typeface="+mn-lt"/>
                <a:cs typeface="Times New Roman"/>
              </a:rPr>
              <a:t> Line Length Calculation</a:t>
            </a:r>
            <a:endParaRPr lang="en-US">
              <a:latin typeface="Times New Roman"/>
              <a:cs typeface="Times New Roman"/>
            </a:endParaRPr>
          </a:p>
          <a:p>
            <a:r>
              <a:rPr lang="en-US">
                <a:latin typeface="Times New Roman"/>
                <a:ea typeface="+mn-lt"/>
                <a:cs typeface="Times New Roman"/>
              </a:rPr>
              <a:t>For 180° phase shift:</a:t>
            </a:r>
            <a:endParaRPr lang="en-US">
              <a:latin typeface="Times New Roman"/>
              <a:cs typeface="Times New Roman"/>
            </a:endParaRPr>
          </a:p>
          <a:p>
            <a:pPr>
              <a:buNone/>
            </a:pPr>
            <a:br>
              <a:rPr lang="en-US"/>
            </a:br>
            <a:endParaRPr lang="en-US">
              <a:latin typeface="Times New Roman"/>
              <a:cs typeface="Times New Roman"/>
            </a:endParaRPr>
          </a:p>
          <a:p>
            <a:r>
              <a:rPr lang="en-US">
                <a:latin typeface="Times New Roman"/>
                <a:ea typeface="+mn-lt"/>
                <a:cs typeface="Times New Roman"/>
              </a:rPr>
              <a:t> Where guided wavelength:</a:t>
            </a:r>
            <a:endParaRPr lang="en-US">
              <a:latin typeface="Times New Roman"/>
              <a:cs typeface="Times New Roman"/>
            </a:endParaRPr>
          </a:p>
          <a:p>
            <a:pPr>
              <a:buNone/>
            </a:pPr>
            <a:endParaRPr lang="en-US">
              <a:latin typeface="Times New Roman"/>
              <a:ea typeface="+mn-lt"/>
              <a:cs typeface="Times New Roman"/>
            </a:endParaRPr>
          </a:p>
          <a:p>
            <a:r>
              <a:rPr lang="en-US">
                <a:latin typeface="Times New Roman"/>
                <a:ea typeface="+mn-lt"/>
                <a:cs typeface="Times New Roman"/>
              </a:rPr>
              <a:t>Free-space wavelength:</a:t>
            </a:r>
            <a:endParaRPr lang="en-US">
              <a:latin typeface="Times New Roman"/>
              <a:cs typeface="Times New Roman"/>
            </a:endParaRPr>
          </a:p>
          <a:p>
            <a:pPr marL="0" indent="0">
              <a:buNone/>
            </a:pPr>
            <a:endParaRPr lang="en-US"/>
          </a:p>
          <a:p>
            <a:pPr>
              <a:buNone/>
            </a:pPr>
            <a:br>
              <a:rPr lang="en-US"/>
            </a:br>
            <a:br>
              <a:rPr lang="en-US"/>
            </a:br>
            <a:endParaRPr lang="en-US"/>
          </a:p>
          <a:p>
            <a:pPr marL="0" indent="0">
              <a:buNone/>
            </a:pPr>
            <a:br>
              <a:rPr lang="en-US"/>
            </a:br>
            <a:endParaRPr lang="en-US"/>
          </a:p>
          <a:p>
            <a:endParaRPr lang="en-US"/>
          </a:p>
        </p:txBody>
      </p:sp>
      <p:pic>
        <p:nvPicPr>
          <p:cNvPr id="4" name="Picture 3" descr="A mathematical equation with numbers and symbols&#10;&#10;AI-generated content may be incorrect.">
            <a:extLst>
              <a:ext uri="{FF2B5EF4-FFF2-40B4-BE49-F238E27FC236}">
                <a16:creationId xmlns:a16="http://schemas.microsoft.com/office/drawing/2014/main" id="{710CF328-1603-EBFD-AE52-04A222EF9CC2}"/>
              </a:ext>
            </a:extLst>
          </p:cNvPr>
          <p:cNvPicPr>
            <a:picLocks noChangeAspect="1"/>
          </p:cNvPicPr>
          <p:nvPr/>
        </p:nvPicPr>
        <p:blipFill>
          <a:blip r:embed="rId2"/>
          <a:stretch>
            <a:fillRect/>
          </a:stretch>
        </p:blipFill>
        <p:spPr>
          <a:xfrm>
            <a:off x="2188271" y="2920195"/>
            <a:ext cx="1333239" cy="798404"/>
          </a:xfrm>
          <a:prstGeom prst="rect">
            <a:avLst/>
          </a:prstGeom>
        </p:spPr>
      </p:pic>
      <p:pic>
        <p:nvPicPr>
          <p:cNvPr id="5" name="Picture 4" descr="A mathematical equation with black text&#10;&#10;AI-generated content may be incorrect.">
            <a:extLst>
              <a:ext uri="{FF2B5EF4-FFF2-40B4-BE49-F238E27FC236}">
                <a16:creationId xmlns:a16="http://schemas.microsoft.com/office/drawing/2014/main" id="{FC68C42B-61BF-FCEB-2D9E-2803B8515DD1}"/>
              </a:ext>
            </a:extLst>
          </p:cNvPr>
          <p:cNvPicPr>
            <a:picLocks noChangeAspect="1"/>
          </p:cNvPicPr>
          <p:nvPr/>
        </p:nvPicPr>
        <p:blipFill>
          <a:blip r:embed="rId3"/>
          <a:stretch>
            <a:fillRect/>
          </a:stretch>
        </p:blipFill>
        <p:spPr>
          <a:xfrm>
            <a:off x="2325796" y="4157597"/>
            <a:ext cx="1047750" cy="609600"/>
          </a:xfrm>
          <a:prstGeom prst="rect">
            <a:avLst/>
          </a:prstGeom>
        </p:spPr>
      </p:pic>
      <p:pic>
        <p:nvPicPr>
          <p:cNvPr id="6" name="Picture 5" descr="A math equations and numbers&#10;&#10;AI-generated content may be incorrect.">
            <a:extLst>
              <a:ext uri="{FF2B5EF4-FFF2-40B4-BE49-F238E27FC236}">
                <a16:creationId xmlns:a16="http://schemas.microsoft.com/office/drawing/2014/main" id="{6295255E-3EB2-AAB1-CE9B-5CBC33222099}"/>
              </a:ext>
            </a:extLst>
          </p:cNvPr>
          <p:cNvPicPr>
            <a:picLocks noChangeAspect="1"/>
          </p:cNvPicPr>
          <p:nvPr/>
        </p:nvPicPr>
        <p:blipFill>
          <a:blip r:embed="rId4"/>
          <a:stretch>
            <a:fillRect/>
          </a:stretch>
        </p:blipFill>
        <p:spPr>
          <a:xfrm>
            <a:off x="2006709" y="5145653"/>
            <a:ext cx="1685925" cy="1514475"/>
          </a:xfrm>
          <a:prstGeom prst="rect">
            <a:avLst/>
          </a:prstGeom>
        </p:spPr>
      </p:pic>
      <p:pic>
        <p:nvPicPr>
          <p:cNvPr id="8" name="Picture 7" descr="A pink and black logo&#10;&#10;AI-generated content may be incorrect.">
            <a:extLst>
              <a:ext uri="{FF2B5EF4-FFF2-40B4-BE49-F238E27FC236}">
                <a16:creationId xmlns:a16="http://schemas.microsoft.com/office/drawing/2014/main" id="{D1479D37-D8A8-7EEC-6857-E4CDE4BEED0A}"/>
              </a:ext>
            </a:extLst>
          </p:cNvPr>
          <p:cNvPicPr>
            <a:picLocks noChangeAspect="1"/>
          </p:cNvPicPr>
          <p:nvPr/>
        </p:nvPicPr>
        <p:blipFill>
          <a:blip r:embed="rId5"/>
          <a:stretch>
            <a:fillRect/>
          </a:stretch>
        </p:blipFill>
        <p:spPr>
          <a:xfrm>
            <a:off x="9711325" y="2545"/>
            <a:ext cx="2477022" cy="704720"/>
          </a:xfrm>
          <a:prstGeom prst="rect">
            <a:avLst/>
          </a:prstGeom>
        </p:spPr>
      </p:pic>
    </p:spTree>
    <p:extLst>
      <p:ext uri="{BB962C8B-B14F-4D97-AF65-F5344CB8AC3E}">
        <p14:creationId xmlns:p14="http://schemas.microsoft.com/office/powerpoint/2010/main" val="1442435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AA8E-CD42-EECA-2525-61FE8FC36478}"/>
              </a:ext>
            </a:extLst>
          </p:cNvPr>
          <p:cNvSpPr>
            <a:spLocks noGrp="1"/>
          </p:cNvSpPr>
          <p:nvPr>
            <p:ph type="title"/>
          </p:nvPr>
        </p:nvSpPr>
        <p:spPr/>
        <p:txBody>
          <a:bodyPr/>
          <a:lstStyle/>
          <a:p>
            <a:r>
              <a:rPr lang="en-US" sz="2400" b="1">
                <a:latin typeface="Times New Roman"/>
                <a:cs typeface="Times New Roman"/>
              </a:rPr>
              <a:t>Design of a two-element patch antenna array incorporating a </a:t>
            </a:r>
            <a:r>
              <a:rPr lang="en-US" sz="2400" b="1" err="1">
                <a:latin typeface="Times New Roman"/>
                <a:cs typeface="Times New Roman"/>
              </a:rPr>
              <a:t>neutralisation</a:t>
            </a:r>
            <a:r>
              <a:rPr lang="en-US" sz="2400" b="1">
                <a:latin typeface="Times New Roman"/>
                <a:cs typeface="Times New Roman"/>
              </a:rPr>
              <a:t> line:</a:t>
            </a:r>
            <a:endParaRPr lang="en-US"/>
          </a:p>
        </p:txBody>
      </p:sp>
      <p:sp>
        <p:nvSpPr>
          <p:cNvPr id="3" name="Content Placeholder 2">
            <a:extLst>
              <a:ext uri="{FF2B5EF4-FFF2-40B4-BE49-F238E27FC236}">
                <a16:creationId xmlns:a16="http://schemas.microsoft.com/office/drawing/2014/main" id="{BC15930B-5EA4-E80A-C330-766533865890}"/>
              </a:ext>
            </a:extLst>
          </p:cNvPr>
          <p:cNvSpPr>
            <a:spLocks noGrp="1"/>
          </p:cNvSpPr>
          <p:nvPr>
            <p:ph idx="1"/>
          </p:nvPr>
        </p:nvSpPr>
        <p:spPr>
          <a:xfrm>
            <a:off x="838200" y="1825625"/>
            <a:ext cx="6716039" cy="4351338"/>
          </a:xfrm>
        </p:spPr>
        <p:txBody>
          <a:bodyPr vert="horz" lIns="91440" tIns="45720" rIns="91440" bIns="45720" rtlCol="0" anchor="t">
            <a:normAutofit fontScale="92500" lnSpcReduction="20000"/>
          </a:bodyPr>
          <a:lstStyle/>
          <a:p>
            <a:pPr marL="0" indent="0">
              <a:buNone/>
            </a:pPr>
            <a:r>
              <a:rPr lang="en-US" sz="2400" err="1">
                <a:latin typeface="Times New Roman"/>
                <a:ea typeface="+mn-lt"/>
                <a:cs typeface="Times New Roman"/>
              </a:rPr>
              <a:t>Neutralisation</a:t>
            </a:r>
            <a:r>
              <a:rPr lang="en-US" sz="2400">
                <a:latin typeface="Times New Roman"/>
                <a:ea typeface="+mn-lt"/>
                <a:cs typeface="Times New Roman"/>
              </a:rPr>
              <a:t> Line Length:</a:t>
            </a:r>
            <a:endParaRPr lang="en-US" sz="2400">
              <a:latin typeface="Times New Roman"/>
              <a:cs typeface="Times New Roman"/>
            </a:endParaRPr>
          </a:p>
          <a:p>
            <a:pPr marL="0" indent="0">
              <a:buNone/>
            </a:pPr>
            <a:br>
              <a:rPr lang="en-US"/>
            </a:br>
            <a:endParaRPr lang="en-US" sz="2400">
              <a:latin typeface="Times New Roman"/>
              <a:cs typeface="Times New Roman"/>
            </a:endParaRPr>
          </a:p>
          <a:p>
            <a:pPr marL="0" indent="0">
              <a:buNone/>
            </a:pPr>
            <a:r>
              <a:rPr lang="en-US" sz="2400">
                <a:latin typeface="Times New Roman"/>
                <a:ea typeface="+mn-lt"/>
                <a:cs typeface="Times New Roman"/>
              </a:rPr>
              <a:t> </a:t>
            </a:r>
          </a:p>
          <a:p>
            <a:pPr marL="0" indent="0">
              <a:buNone/>
            </a:pPr>
            <a:r>
              <a:rPr lang="en-US" sz="2400">
                <a:latin typeface="Times New Roman"/>
                <a:ea typeface="+mn-lt"/>
                <a:cs typeface="Times New Roman"/>
              </a:rPr>
              <a:t>Neutralisation Line Width:</a:t>
            </a:r>
            <a:endParaRPr lang="en-US" sz="2400">
              <a:latin typeface="Times New Roman"/>
              <a:cs typeface="Times New Roman"/>
            </a:endParaRPr>
          </a:p>
          <a:p>
            <a:r>
              <a:rPr lang="en-US" sz="2400">
                <a:latin typeface="Times New Roman"/>
                <a:ea typeface="+mn-lt"/>
                <a:cs typeface="Times New Roman"/>
              </a:rPr>
              <a:t>The width controls coupling strength.</a:t>
            </a:r>
            <a:endParaRPr lang="en-US" sz="2400">
              <a:latin typeface="Times New Roman"/>
              <a:cs typeface="Times New Roman"/>
            </a:endParaRPr>
          </a:p>
          <a:p>
            <a:r>
              <a:rPr lang="en-US" sz="2400">
                <a:latin typeface="Times New Roman"/>
                <a:ea typeface="+mn-lt"/>
                <a:cs typeface="Times New Roman"/>
              </a:rPr>
              <a:t>Start </a:t>
            </a:r>
            <a:r>
              <a:rPr lang="en-US" sz="2400" err="1">
                <a:latin typeface="Times New Roman"/>
                <a:ea typeface="+mn-lt"/>
                <a:cs typeface="Times New Roman"/>
              </a:rPr>
              <a:t>with:W</a:t>
            </a:r>
            <a:r>
              <a:rPr lang="en-US" sz="2400" baseline="-25000" err="1">
                <a:latin typeface="Times New Roman"/>
                <a:ea typeface="+mn-lt"/>
                <a:cs typeface="Times New Roman"/>
              </a:rPr>
              <a:t>NL</a:t>
            </a:r>
            <a:r>
              <a:rPr lang="en-US" sz="2400">
                <a:latin typeface="Times New Roman"/>
                <a:ea typeface="+mn-lt"/>
                <a:cs typeface="Times New Roman"/>
              </a:rPr>
              <a:t> = 0.5 mm – 1 mm</a:t>
            </a:r>
            <a:endParaRPr lang="en-US" sz="2400">
              <a:latin typeface="Times New Roman"/>
              <a:cs typeface="Times New Roman"/>
            </a:endParaRPr>
          </a:p>
          <a:p>
            <a:pPr marL="0" indent="0">
              <a:buNone/>
            </a:pPr>
            <a:r>
              <a:rPr lang="en-US" sz="2400">
                <a:latin typeface="Times New Roman"/>
                <a:ea typeface="+mn-lt"/>
                <a:cs typeface="Times New Roman"/>
              </a:rPr>
              <a:t>Placement Guidelines:</a:t>
            </a:r>
            <a:endParaRPr lang="en-US" sz="2400">
              <a:latin typeface="Times New Roman"/>
              <a:cs typeface="Times New Roman"/>
            </a:endParaRPr>
          </a:p>
          <a:p>
            <a:r>
              <a:rPr lang="en-US" sz="2400">
                <a:latin typeface="Times New Roman"/>
                <a:ea typeface="+mn-lt"/>
                <a:cs typeface="Times New Roman"/>
              </a:rPr>
              <a:t>Connect between the two feed lines (near the inset feed region)</a:t>
            </a:r>
            <a:endParaRPr lang="en-US" sz="2400">
              <a:latin typeface="Times New Roman"/>
              <a:cs typeface="Times New Roman"/>
            </a:endParaRPr>
          </a:p>
          <a:p>
            <a:r>
              <a:rPr lang="en-US" sz="2400">
                <a:latin typeface="Times New Roman"/>
                <a:ea typeface="+mn-lt"/>
                <a:cs typeface="Times New Roman"/>
              </a:rPr>
              <a:t>Or connect between patch edges where the surface current is maximum</a:t>
            </a:r>
            <a:endParaRPr lang="en-US" sz="2400">
              <a:latin typeface="Times New Roman"/>
              <a:cs typeface="Times New Roman"/>
            </a:endParaRPr>
          </a:p>
          <a:p>
            <a:r>
              <a:rPr lang="en-US" sz="2400">
                <a:latin typeface="Times New Roman"/>
                <a:ea typeface="Calibri"/>
                <a:cs typeface="Times New Roman"/>
              </a:rPr>
              <a:t>Maintain symmetry</a:t>
            </a:r>
            <a:endParaRPr lang="en-US" sz="2400">
              <a:latin typeface="Times New Roman"/>
              <a:cs typeface="Times New Roman"/>
            </a:endParaRPr>
          </a:p>
        </p:txBody>
      </p:sp>
      <p:pic>
        <p:nvPicPr>
          <p:cNvPr id="4" name="Picture 3" descr="A math equations with numbers and symbols&#10;&#10;AI-generated content may be incorrect.">
            <a:extLst>
              <a:ext uri="{FF2B5EF4-FFF2-40B4-BE49-F238E27FC236}">
                <a16:creationId xmlns:a16="http://schemas.microsoft.com/office/drawing/2014/main" id="{7F7C6FC7-3FED-92E0-BFD1-CEED7697F9E0}"/>
              </a:ext>
            </a:extLst>
          </p:cNvPr>
          <p:cNvPicPr>
            <a:picLocks noChangeAspect="1"/>
          </p:cNvPicPr>
          <p:nvPr/>
        </p:nvPicPr>
        <p:blipFill>
          <a:blip r:embed="rId2"/>
          <a:stretch>
            <a:fillRect/>
          </a:stretch>
        </p:blipFill>
        <p:spPr>
          <a:xfrm>
            <a:off x="1882427" y="2087474"/>
            <a:ext cx="1162050" cy="866775"/>
          </a:xfrm>
          <a:prstGeom prst="rect">
            <a:avLst/>
          </a:prstGeom>
        </p:spPr>
      </p:pic>
      <p:pic>
        <p:nvPicPr>
          <p:cNvPr id="5" name="Picture 4" descr="A diagram of a rectangular object&#10;&#10;AI-generated content may be incorrect.">
            <a:extLst>
              <a:ext uri="{FF2B5EF4-FFF2-40B4-BE49-F238E27FC236}">
                <a16:creationId xmlns:a16="http://schemas.microsoft.com/office/drawing/2014/main" id="{C4B6E12E-7818-092B-5B7A-ED5801DA2B5D}"/>
              </a:ext>
            </a:extLst>
          </p:cNvPr>
          <p:cNvPicPr>
            <a:picLocks noChangeAspect="1"/>
          </p:cNvPicPr>
          <p:nvPr/>
        </p:nvPicPr>
        <p:blipFill>
          <a:blip r:embed="rId3"/>
          <a:stretch>
            <a:fillRect/>
          </a:stretch>
        </p:blipFill>
        <p:spPr>
          <a:xfrm>
            <a:off x="7349972" y="1357313"/>
            <a:ext cx="4840658" cy="4143375"/>
          </a:xfrm>
          <a:prstGeom prst="rect">
            <a:avLst/>
          </a:prstGeom>
        </p:spPr>
      </p:pic>
      <p:sp>
        <p:nvSpPr>
          <p:cNvPr id="6" name="TextBox 5">
            <a:extLst>
              <a:ext uri="{FF2B5EF4-FFF2-40B4-BE49-F238E27FC236}">
                <a16:creationId xmlns:a16="http://schemas.microsoft.com/office/drawing/2014/main" id="{1E4026D8-511A-378D-0360-720AC926A6BC}"/>
              </a:ext>
            </a:extLst>
          </p:cNvPr>
          <p:cNvSpPr txBox="1"/>
          <p:nvPr/>
        </p:nvSpPr>
        <p:spPr>
          <a:xfrm>
            <a:off x="7593719" y="5163253"/>
            <a:ext cx="4352284"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p>
          <a:p>
            <a:pPr algn="ctr"/>
            <a:r>
              <a:rPr lang="en-US" sz="1600">
                <a:latin typeface="Times New Roman"/>
                <a:cs typeface="Times New Roman"/>
              </a:rPr>
              <a:t>Figure 3-Two-element array with </a:t>
            </a:r>
            <a:r>
              <a:rPr lang="en-US" sz="1600" err="1">
                <a:latin typeface="Times New Roman"/>
                <a:cs typeface="Times New Roman"/>
              </a:rPr>
              <a:t>neutralisation</a:t>
            </a:r>
            <a:r>
              <a:rPr lang="en-US" sz="1600">
                <a:latin typeface="Times New Roman"/>
                <a:cs typeface="Times New Roman"/>
              </a:rPr>
              <a:t> line</a:t>
            </a:r>
            <a:endParaRPr lang="en-GB" sz="1600"/>
          </a:p>
          <a:p>
            <a:pPr algn="l"/>
            <a:endParaRPr lang="en-GB"/>
          </a:p>
        </p:txBody>
      </p:sp>
      <p:pic>
        <p:nvPicPr>
          <p:cNvPr id="8" name="Picture 7" descr="A pink and black logo&#10;&#10;AI-generated content may be incorrect.">
            <a:extLst>
              <a:ext uri="{FF2B5EF4-FFF2-40B4-BE49-F238E27FC236}">
                <a16:creationId xmlns:a16="http://schemas.microsoft.com/office/drawing/2014/main" id="{E1BF2CF7-01B1-41F8-E95A-6A59D978DD70}"/>
              </a:ext>
            </a:extLst>
          </p:cNvPr>
          <p:cNvPicPr>
            <a:picLocks noChangeAspect="1"/>
          </p:cNvPicPr>
          <p:nvPr/>
        </p:nvPicPr>
        <p:blipFill>
          <a:blip r:embed="rId4"/>
          <a:stretch>
            <a:fillRect/>
          </a:stretch>
        </p:blipFill>
        <p:spPr>
          <a:xfrm>
            <a:off x="9711325" y="2545"/>
            <a:ext cx="2477022" cy="704720"/>
          </a:xfrm>
          <a:prstGeom prst="rect">
            <a:avLst/>
          </a:prstGeom>
        </p:spPr>
      </p:pic>
    </p:spTree>
    <p:extLst>
      <p:ext uri="{BB962C8B-B14F-4D97-AF65-F5344CB8AC3E}">
        <p14:creationId xmlns:p14="http://schemas.microsoft.com/office/powerpoint/2010/main" val="1065735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D31E1-F33E-3FB5-F45C-CDC82C8EC4D5}"/>
              </a:ext>
            </a:extLst>
          </p:cNvPr>
          <p:cNvSpPr>
            <a:spLocks noGrp="1"/>
          </p:cNvSpPr>
          <p:nvPr>
            <p:ph type="title"/>
          </p:nvPr>
        </p:nvSpPr>
        <p:spPr/>
        <p:txBody>
          <a:bodyPr>
            <a:normAutofit/>
          </a:bodyPr>
          <a:lstStyle/>
          <a:p>
            <a:r>
              <a:rPr lang="en-US" sz="2400" b="1">
                <a:latin typeface="Times New Roman"/>
                <a:ea typeface="Calibri"/>
                <a:cs typeface="Times New Roman"/>
              </a:rPr>
              <a:t>Design of a two-element patch antenna array incorporating a parasitic element:</a:t>
            </a:r>
            <a:endParaRPr lang="en-US" sz="2400" b="1">
              <a:latin typeface="Times New Roman"/>
              <a:cs typeface="Times New Roman"/>
            </a:endParaRPr>
          </a:p>
        </p:txBody>
      </p:sp>
      <p:sp>
        <p:nvSpPr>
          <p:cNvPr id="3" name="Content Placeholder 2">
            <a:extLst>
              <a:ext uri="{FF2B5EF4-FFF2-40B4-BE49-F238E27FC236}">
                <a16:creationId xmlns:a16="http://schemas.microsoft.com/office/drawing/2014/main" id="{75F9F5DB-53A1-153A-B509-85D2A43EE996}"/>
              </a:ext>
            </a:extLst>
          </p:cNvPr>
          <p:cNvSpPr>
            <a:spLocks noGrp="1"/>
          </p:cNvSpPr>
          <p:nvPr>
            <p:ph idx="1"/>
          </p:nvPr>
        </p:nvSpPr>
        <p:spPr/>
        <p:txBody>
          <a:bodyPr vert="horz" lIns="91440" tIns="45720" rIns="91440" bIns="45720" rtlCol="0" anchor="t">
            <a:normAutofit/>
          </a:bodyPr>
          <a:lstStyle/>
          <a:p>
            <a:pPr marL="0" indent="0">
              <a:buNone/>
            </a:pPr>
            <a:r>
              <a:rPr lang="en-US" sz="2400">
                <a:latin typeface="Times New Roman"/>
                <a:ea typeface="Calibri"/>
                <a:cs typeface="Times New Roman"/>
              </a:rPr>
              <a:t>Parasitic Elements :</a:t>
            </a:r>
          </a:p>
          <a:p>
            <a:pPr>
              <a:buFont typeface="Arial"/>
              <a:buChar char="•"/>
            </a:pPr>
            <a:r>
              <a:rPr lang="en-US" sz="2200">
                <a:latin typeface="Times New Roman"/>
                <a:ea typeface="+mn-lt"/>
                <a:cs typeface="Times New Roman"/>
              </a:rPr>
              <a:t>A parasitic element is placed between the antenna elements to create a controlled coupling path. </a:t>
            </a:r>
            <a:endParaRPr lang="en-US" sz="2200">
              <a:latin typeface="Times New Roman"/>
              <a:cs typeface="Times New Roman"/>
            </a:endParaRPr>
          </a:p>
          <a:p>
            <a:pPr>
              <a:buFont typeface="Arial"/>
              <a:buChar char="•"/>
            </a:pPr>
            <a:r>
              <a:rPr lang="en-US" sz="2200">
                <a:latin typeface="Times New Roman"/>
                <a:ea typeface="+mn-lt"/>
                <a:cs typeface="Times New Roman"/>
              </a:rPr>
              <a:t>When one antenna is excited, the parasitic element intercepts the electromagnetic energy that would otherwise couple to the adjacent antenna. </a:t>
            </a:r>
            <a:endParaRPr lang="en-US" sz="2200">
              <a:latin typeface="Times New Roman"/>
              <a:cs typeface="Times New Roman"/>
            </a:endParaRPr>
          </a:p>
          <a:p>
            <a:pPr>
              <a:buFont typeface="Arial"/>
              <a:buChar char="•"/>
            </a:pPr>
            <a:r>
              <a:rPr lang="en-US" sz="2200">
                <a:latin typeface="Times New Roman"/>
                <a:ea typeface="+mn-lt"/>
                <a:cs typeface="Times New Roman"/>
              </a:rPr>
              <a:t>Due to its carefully optimized length, the induced current on the parasitic element is opposite in phase to the unwanted coupling current. </a:t>
            </a:r>
            <a:endParaRPr lang="en-US" sz="2200">
              <a:latin typeface="Times New Roman"/>
              <a:cs typeface="Times New Roman"/>
            </a:endParaRPr>
          </a:p>
          <a:p>
            <a:pPr>
              <a:buFont typeface="Arial"/>
              <a:buChar char="•"/>
            </a:pPr>
            <a:r>
              <a:rPr lang="en-US" sz="2200">
                <a:latin typeface="Times New Roman"/>
                <a:ea typeface="+mn-lt"/>
                <a:cs typeface="Times New Roman"/>
              </a:rPr>
              <a:t>The two currents undergo destructive interference, reducing the energy transferred between the antennas. </a:t>
            </a:r>
            <a:endParaRPr lang="en-US" sz="2200">
              <a:latin typeface="Times New Roman"/>
              <a:cs typeface="Times New Roman"/>
            </a:endParaRPr>
          </a:p>
          <a:p>
            <a:pPr>
              <a:buFont typeface="Arial"/>
              <a:buChar char="•"/>
            </a:pPr>
            <a:r>
              <a:rPr lang="en-US" sz="2200">
                <a:latin typeface="Times New Roman"/>
                <a:ea typeface="+mn-lt"/>
                <a:cs typeface="Times New Roman"/>
              </a:rPr>
              <a:t>This results in improved isolation (lower S₂₁) and better overall MIMO antenna performance.</a:t>
            </a:r>
            <a:endParaRPr lang="en-US" sz="2200">
              <a:latin typeface="Times New Roman"/>
              <a:cs typeface="Times New Roman"/>
            </a:endParaRPr>
          </a:p>
          <a:p>
            <a:pPr marL="0" indent="0">
              <a:buNone/>
            </a:pPr>
            <a:endParaRPr lang="en-US" sz="2400">
              <a:latin typeface="Times New Roman"/>
              <a:ea typeface="Calibri"/>
              <a:cs typeface="Times New Roman"/>
            </a:endParaRPr>
          </a:p>
        </p:txBody>
      </p:sp>
      <p:pic>
        <p:nvPicPr>
          <p:cNvPr id="5" name="Picture 4" descr="A pink and black logo&#10;&#10;AI-generated content may be incorrect.">
            <a:extLst>
              <a:ext uri="{FF2B5EF4-FFF2-40B4-BE49-F238E27FC236}">
                <a16:creationId xmlns:a16="http://schemas.microsoft.com/office/drawing/2014/main" id="{18C9E056-9A01-2063-2BC2-B1B2E6BD9649}"/>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1084952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0C65-73E1-0DC1-CC86-99432552CB87}"/>
              </a:ext>
            </a:extLst>
          </p:cNvPr>
          <p:cNvSpPr>
            <a:spLocks noGrp="1"/>
          </p:cNvSpPr>
          <p:nvPr>
            <p:ph type="title"/>
          </p:nvPr>
        </p:nvSpPr>
        <p:spPr/>
        <p:txBody>
          <a:bodyPr/>
          <a:lstStyle/>
          <a:p>
            <a:r>
              <a:rPr lang="en-US" sz="2400" b="1">
                <a:latin typeface="Times New Roman"/>
                <a:cs typeface="Times New Roman"/>
              </a:rPr>
              <a:t>Design of a two-element patch antenna array incorporating a parasitic element:</a:t>
            </a:r>
            <a:endParaRPr lang="en-US"/>
          </a:p>
        </p:txBody>
      </p:sp>
      <p:sp>
        <p:nvSpPr>
          <p:cNvPr id="3" name="Content Placeholder 2">
            <a:extLst>
              <a:ext uri="{FF2B5EF4-FFF2-40B4-BE49-F238E27FC236}">
                <a16:creationId xmlns:a16="http://schemas.microsoft.com/office/drawing/2014/main" id="{4A6B6BBE-F149-BB3C-F684-18D492024E8C}"/>
              </a:ext>
            </a:extLst>
          </p:cNvPr>
          <p:cNvSpPr>
            <a:spLocks noGrp="1"/>
          </p:cNvSpPr>
          <p:nvPr>
            <p:ph idx="1"/>
          </p:nvPr>
        </p:nvSpPr>
        <p:spPr>
          <a:xfrm>
            <a:off x="838200" y="1825625"/>
            <a:ext cx="3250505" cy="4351338"/>
          </a:xfrm>
        </p:spPr>
        <p:txBody>
          <a:bodyPr vert="horz" lIns="91440" tIns="45720" rIns="91440" bIns="45720" rtlCol="0" anchor="t">
            <a:normAutofit/>
          </a:bodyPr>
          <a:lstStyle/>
          <a:p>
            <a:pPr marL="0" indent="0">
              <a:buNone/>
            </a:pPr>
            <a:r>
              <a:rPr lang="en-GB" sz="2000">
                <a:latin typeface="Times New Roman"/>
                <a:ea typeface="+mn-lt"/>
                <a:cs typeface="Times New Roman"/>
              </a:rPr>
              <a:t>Parameters:</a:t>
            </a:r>
            <a:endParaRPr lang="en-US" sz="2000">
              <a:latin typeface="Times New Roman"/>
              <a:cs typeface="Times New Roman"/>
            </a:endParaRPr>
          </a:p>
          <a:p>
            <a:r>
              <a:rPr lang="en-GB" sz="2000">
                <a:latin typeface="Times New Roman"/>
                <a:ea typeface="+mn-lt"/>
                <a:cs typeface="Times New Roman"/>
              </a:rPr>
              <a:t>Free space wavelength: λ₀ =125mm</a:t>
            </a:r>
            <a:endParaRPr lang="en-US" sz="2000">
              <a:latin typeface="Times New Roman"/>
              <a:cs typeface="Times New Roman"/>
            </a:endParaRPr>
          </a:p>
          <a:p>
            <a:r>
              <a:rPr lang="en-GB" sz="2000">
                <a:latin typeface="Times New Roman"/>
                <a:ea typeface="+mn-lt"/>
                <a:cs typeface="Times New Roman"/>
              </a:rPr>
              <a:t>Length of the parasitic element = 47.5 mm = 0.38λ₀</a:t>
            </a:r>
            <a:endParaRPr lang="en-US" sz="2000">
              <a:latin typeface="Times New Roman"/>
              <a:cs typeface="Times New Roman"/>
            </a:endParaRPr>
          </a:p>
          <a:p>
            <a:r>
              <a:rPr lang="en-GB" sz="2000">
                <a:latin typeface="Times New Roman"/>
                <a:ea typeface="Calibri"/>
                <a:cs typeface="Times New Roman"/>
              </a:rPr>
              <a:t>Width = 1.5mm</a:t>
            </a:r>
            <a:endParaRPr lang="en-US" sz="2000">
              <a:latin typeface="Times New Roman"/>
              <a:cs typeface="Times New Roman"/>
            </a:endParaRPr>
          </a:p>
        </p:txBody>
      </p:sp>
      <p:pic>
        <p:nvPicPr>
          <p:cNvPr id="4" name="Picture 3" descr="A diagram of a rectangular object&#10;&#10;AI-generated content may be incorrect.">
            <a:extLst>
              <a:ext uri="{FF2B5EF4-FFF2-40B4-BE49-F238E27FC236}">
                <a16:creationId xmlns:a16="http://schemas.microsoft.com/office/drawing/2014/main" id="{64836C06-8363-4C6B-66A9-97C4A631CED7}"/>
              </a:ext>
            </a:extLst>
          </p:cNvPr>
          <p:cNvPicPr>
            <a:picLocks noChangeAspect="1"/>
          </p:cNvPicPr>
          <p:nvPr/>
        </p:nvPicPr>
        <p:blipFill>
          <a:blip r:embed="rId2"/>
          <a:stretch>
            <a:fillRect/>
          </a:stretch>
        </p:blipFill>
        <p:spPr>
          <a:xfrm>
            <a:off x="4350642" y="1319213"/>
            <a:ext cx="7248525" cy="4219575"/>
          </a:xfrm>
          <a:prstGeom prst="rect">
            <a:avLst/>
          </a:prstGeom>
        </p:spPr>
      </p:pic>
      <p:sp>
        <p:nvSpPr>
          <p:cNvPr id="6" name="TextBox 5">
            <a:extLst>
              <a:ext uri="{FF2B5EF4-FFF2-40B4-BE49-F238E27FC236}">
                <a16:creationId xmlns:a16="http://schemas.microsoft.com/office/drawing/2014/main" id="{96A8B813-E676-828F-EC3A-1693A9DCAB21}"/>
              </a:ext>
            </a:extLst>
          </p:cNvPr>
          <p:cNvSpPr txBox="1"/>
          <p:nvPr/>
        </p:nvSpPr>
        <p:spPr>
          <a:xfrm>
            <a:off x="4211211" y="5288514"/>
            <a:ext cx="7711704"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p>
          <a:p>
            <a:pPr algn="ctr"/>
            <a:r>
              <a:rPr lang="en-US" sz="1600">
                <a:latin typeface="Times New Roman"/>
                <a:cs typeface="Times New Roman"/>
              </a:rPr>
              <a:t>Figure.4-Two-element array with parasitic element</a:t>
            </a:r>
            <a:endParaRPr lang="en-GB" sz="1600"/>
          </a:p>
          <a:p>
            <a:pPr algn="l"/>
            <a:endParaRPr lang="en-GB"/>
          </a:p>
        </p:txBody>
      </p:sp>
      <p:pic>
        <p:nvPicPr>
          <p:cNvPr id="7" name="Picture 6" descr="A pink and black logo&#10;&#10;AI-generated content may be incorrect.">
            <a:extLst>
              <a:ext uri="{FF2B5EF4-FFF2-40B4-BE49-F238E27FC236}">
                <a16:creationId xmlns:a16="http://schemas.microsoft.com/office/drawing/2014/main" id="{2E492D31-4B2F-B7EA-968F-5B7438531E82}"/>
              </a:ext>
            </a:extLst>
          </p:cNvPr>
          <p:cNvPicPr>
            <a:picLocks noChangeAspect="1"/>
          </p:cNvPicPr>
          <p:nvPr/>
        </p:nvPicPr>
        <p:blipFill>
          <a:blip r:embed="rId3"/>
          <a:stretch>
            <a:fillRect/>
          </a:stretch>
        </p:blipFill>
        <p:spPr>
          <a:xfrm>
            <a:off x="9711325" y="2545"/>
            <a:ext cx="2477022" cy="704720"/>
          </a:xfrm>
          <a:prstGeom prst="rect">
            <a:avLst/>
          </a:prstGeom>
        </p:spPr>
      </p:pic>
    </p:spTree>
    <p:extLst>
      <p:ext uri="{BB962C8B-B14F-4D97-AF65-F5344CB8AC3E}">
        <p14:creationId xmlns:p14="http://schemas.microsoft.com/office/powerpoint/2010/main" val="3901156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6E859-673C-973D-6221-82C0DD28EA74}"/>
              </a:ext>
            </a:extLst>
          </p:cNvPr>
          <p:cNvSpPr>
            <a:spLocks noGrp="1"/>
          </p:cNvSpPr>
          <p:nvPr>
            <p:ph type="title"/>
          </p:nvPr>
        </p:nvSpPr>
        <p:spPr/>
        <p:txBody>
          <a:bodyPr/>
          <a:lstStyle/>
          <a:p>
            <a:r>
              <a:rPr lang="en-US" sz="2400" b="1">
                <a:latin typeface="Times New Roman"/>
                <a:cs typeface="Times New Roman"/>
              </a:rPr>
              <a:t>Final proposed structure- </a:t>
            </a:r>
            <a:r>
              <a:rPr lang="en-GB" sz="2400" b="1">
                <a:latin typeface="Times New Roman"/>
                <a:cs typeface="Times New Roman"/>
              </a:rPr>
              <a:t>Parasitic element with anti-parallel antenna configuration</a:t>
            </a:r>
            <a:endParaRPr lang="en-US" sz="2400"/>
          </a:p>
        </p:txBody>
      </p:sp>
      <p:sp>
        <p:nvSpPr>
          <p:cNvPr id="3" name="Content Placeholder 2">
            <a:extLst>
              <a:ext uri="{FF2B5EF4-FFF2-40B4-BE49-F238E27FC236}">
                <a16:creationId xmlns:a16="http://schemas.microsoft.com/office/drawing/2014/main" id="{43685374-C1FB-087D-987D-BAD83AE1CE36}"/>
              </a:ext>
            </a:extLst>
          </p:cNvPr>
          <p:cNvSpPr>
            <a:spLocks noGrp="1"/>
          </p:cNvSpPr>
          <p:nvPr>
            <p:ph idx="1"/>
          </p:nvPr>
        </p:nvSpPr>
        <p:spPr/>
        <p:txBody>
          <a:bodyPr vert="horz" lIns="91440" tIns="45720" rIns="91440" bIns="45720" rtlCol="0" anchor="t">
            <a:normAutofit fontScale="92500"/>
          </a:bodyPr>
          <a:lstStyle/>
          <a:p>
            <a:r>
              <a:rPr lang="en-US">
                <a:latin typeface="Times New Roman"/>
                <a:ea typeface="+mn-lt"/>
                <a:cs typeface="Times New Roman"/>
              </a:rPr>
              <a:t>Two rectangular patch antennas are arranged face-to-face, creating strong electromagnetic interaction due to their close spacing. </a:t>
            </a:r>
            <a:endParaRPr lang="en-US">
              <a:latin typeface="Times New Roman"/>
              <a:cs typeface="Times New Roman"/>
            </a:endParaRPr>
          </a:p>
          <a:p>
            <a:r>
              <a:rPr lang="en-US">
                <a:latin typeface="Times New Roman"/>
                <a:ea typeface="+mn-lt"/>
                <a:cs typeface="Times New Roman"/>
              </a:rPr>
              <a:t>A vertical parasitic strip is placed between the patches in the region of highest electric field intensity. </a:t>
            </a:r>
            <a:endParaRPr lang="en-US">
              <a:latin typeface="Times New Roman"/>
              <a:cs typeface="Times New Roman"/>
            </a:endParaRPr>
          </a:p>
          <a:p>
            <a:r>
              <a:rPr lang="en-US">
                <a:latin typeface="Times New Roman"/>
                <a:ea typeface="+mn-lt"/>
                <a:cs typeface="Times New Roman"/>
              </a:rPr>
              <a:t>The parasitic strip acts as a passive tuning element, supporting induced currents that modify the surface current distribution. </a:t>
            </a:r>
            <a:endParaRPr lang="en-US">
              <a:latin typeface="Times New Roman"/>
              <a:cs typeface="Times New Roman"/>
            </a:endParaRPr>
          </a:p>
          <a:p>
            <a:r>
              <a:rPr lang="en-US">
                <a:latin typeface="Times New Roman"/>
                <a:ea typeface="+mn-lt"/>
                <a:cs typeface="Times New Roman"/>
              </a:rPr>
              <a:t>By controlling the strip dimensions and spacing, the coupling between antenna elements can be reduced while maintaining a compact structure. </a:t>
            </a:r>
            <a:endParaRPr lang="en-US">
              <a:latin typeface="Times New Roman"/>
              <a:cs typeface="Times New Roman"/>
            </a:endParaRPr>
          </a:p>
          <a:p>
            <a:r>
              <a:rPr lang="en-US">
                <a:latin typeface="Times New Roman"/>
                <a:ea typeface="+mn-lt"/>
                <a:cs typeface="Times New Roman"/>
              </a:rPr>
              <a:t>This controlled interaction improves isolation, impedance matching, and overall antenna performance without increasing antenna size.</a:t>
            </a:r>
            <a:endParaRPr lang="en-US">
              <a:latin typeface="Times New Roman"/>
              <a:cs typeface="Times New Roman"/>
            </a:endParaRPr>
          </a:p>
          <a:p>
            <a:endParaRPr lang="en-US"/>
          </a:p>
        </p:txBody>
      </p:sp>
      <p:pic>
        <p:nvPicPr>
          <p:cNvPr id="5" name="Picture 4" descr="A pink and black logo&#10;&#10;AI-generated content may be incorrect.">
            <a:extLst>
              <a:ext uri="{FF2B5EF4-FFF2-40B4-BE49-F238E27FC236}">
                <a16:creationId xmlns:a16="http://schemas.microsoft.com/office/drawing/2014/main" id="{0B0C4F5D-D4D1-0E7E-AF5D-C2AE27C514EE}"/>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15201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106A5-F85A-8C8B-9F63-A0B9CE39BBC8}"/>
              </a:ext>
            </a:extLst>
          </p:cNvPr>
          <p:cNvSpPr>
            <a:spLocks noGrp="1"/>
          </p:cNvSpPr>
          <p:nvPr>
            <p:ph type="title"/>
          </p:nvPr>
        </p:nvSpPr>
        <p:spPr/>
        <p:txBody>
          <a:bodyPr/>
          <a:lstStyle/>
          <a:p>
            <a:r>
              <a:rPr lang="en-US" sz="2400" b="1">
                <a:latin typeface="Times New Roman"/>
                <a:cs typeface="Times New Roman"/>
              </a:rPr>
              <a:t>Final proposed structure- </a:t>
            </a:r>
            <a:r>
              <a:rPr lang="en-GB" sz="2400" b="1">
                <a:latin typeface="Times New Roman"/>
                <a:cs typeface="Times New Roman"/>
              </a:rPr>
              <a:t>Parasitic element with anti-parallel antenna configuration</a:t>
            </a:r>
            <a:endParaRPr lang="en-US"/>
          </a:p>
        </p:txBody>
      </p:sp>
      <p:pic>
        <p:nvPicPr>
          <p:cNvPr id="4" name="Content Placeholder 3" descr="A diagram of a rectangular object&#10;&#10;AI-generated content may be incorrect.">
            <a:extLst>
              <a:ext uri="{FF2B5EF4-FFF2-40B4-BE49-F238E27FC236}">
                <a16:creationId xmlns:a16="http://schemas.microsoft.com/office/drawing/2014/main" id="{3FB15335-CB7D-9A39-D619-D1EB6B192EE2}"/>
              </a:ext>
            </a:extLst>
          </p:cNvPr>
          <p:cNvPicPr>
            <a:picLocks noGrp="1" noChangeAspect="1"/>
          </p:cNvPicPr>
          <p:nvPr>
            <p:ph idx="1"/>
          </p:nvPr>
        </p:nvPicPr>
        <p:blipFill>
          <a:blip r:embed="rId2"/>
          <a:stretch>
            <a:fillRect/>
          </a:stretch>
        </p:blipFill>
        <p:spPr>
          <a:xfrm>
            <a:off x="3596600" y="1883743"/>
            <a:ext cx="5019675" cy="3295650"/>
          </a:xfrm>
          <a:prstGeom prst="rect">
            <a:avLst/>
          </a:prstGeom>
        </p:spPr>
      </p:pic>
      <p:sp>
        <p:nvSpPr>
          <p:cNvPr id="5" name="TextBox 4">
            <a:extLst>
              <a:ext uri="{FF2B5EF4-FFF2-40B4-BE49-F238E27FC236}">
                <a16:creationId xmlns:a16="http://schemas.microsoft.com/office/drawing/2014/main" id="{D76815DB-53A8-0CA5-3386-CC8E4EA347B5}"/>
              </a:ext>
            </a:extLst>
          </p:cNvPr>
          <p:cNvSpPr txBox="1"/>
          <p:nvPr/>
        </p:nvSpPr>
        <p:spPr>
          <a:xfrm>
            <a:off x="3714613" y="5075012"/>
            <a:ext cx="515473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Figure.5</a:t>
            </a:r>
            <a:r>
              <a:rPr lang="en-US" sz="1600">
                <a:latin typeface="Times New Roman"/>
                <a:cs typeface="Times New Roman"/>
              </a:rPr>
              <a:t> </a:t>
            </a:r>
            <a:r>
              <a:rPr lang="en-GB">
                <a:latin typeface="Times New Roman"/>
                <a:cs typeface="Times New Roman"/>
              </a:rPr>
              <a:t>Final proposed structure-Parasitic element </a:t>
            </a:r>
            <a:r>
              <a:rPr lang="en-GB" err="1">
                <a:latin typeface="Times New Roman"/>
                <a:cs typeface="Times New Roman"/>
              </a:rPr>
              <a:t>withh</a:t>
            </a:r>
            <a:r>
              <a:rPr lang="en-GB">
                <a:latin typeface="Times New Roman"/>
                <a:cs typeface="Times New Roman"/>
              </a:rPr>
              <a:t> anti-parallel antenna configuration</a:t>
            </a:r>
            <a:endParaRPr lang="en-US"/>
          </a:p>
        </p:txBody>
      </p:sp>
      <p:pic>
        <p:nvPicPr>
          <p:cNvPr id="6" name="Picture 5" descr="A pink and black logo&#10;&#10;AI-generated content may be incorrect.">
            <a:extLst>
              <a:ext uri="{FF2B5EF4-FFF2-40B4-BE49-F238E27FC236}">
                <a16:creationId xmlns:a16="http://schemas.microsoft.com/office/drawing/2014/main" id="{3556AE55-D694-5E95-15A6-DCA3A31C8CB8}"/>
              </a:ext>
            </a:extLst>
          </p:cNvPr>
          <p:cNvPicPr>
            <a:picLocks noChangeAspect="1"/>
          </p:cNvPicPr>
          <p:nvPr/>
        </p:nvPicPr>
        <p:blipFill>
          <a:blip r:embed="rId3"/>
          <a:stretch>
            <a:fillRect/>
          </a:stretch>
        </p:blipFill>
        <p:spPr>
          <a:xfrm>
            <a:off x="9711325" y="2545"/>
            <a:ext cx="2477022" cy="704720"/>
          </a:xfrm>
          <a:prstGeom prst="rect">
            <a:avLst/>
          </a:prstGeom>
        </p:spPr>
      </p:pic>
    </p:spTree>
    <p:extLst>
      <p:ext uri="{BB962C8B-B14F-4D97-AF65-F5344CB8AC3E}">
        <p14:creationId xmlns:p14="http://schemas.microsoft.com/office/powerpoint/2010/main" val="1159434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F90A8-777C-863B-DA11-F1F60C5FD7D1}"/>
              </a:ext>
            </a:extLst>
          </p:cNvPr>
          <p:cNvSpPr>
            <a:spLocks noGrp="1"/>
          </p:cNvSpPr>
          <p:nvPr>
            <p:ph type="title"/>
          </p:nvPr>
        </p:nvSpPr>
        <p:spPr/>
        <p:txBody>
          <a:bodyPr>
            <a:normAutofit/>
          </a:bodyPr>
          <a:lstStyle/>
          <a:p>
            <a:r>
              <a:rPr lang="en-US" sz="4000">
                <a:latin typeface="Times New Roman"/>
                <a:ea typeface="+mj-lt"/>
                <a:cs typeface="Times New Roman"/>
              </a:rPr>
              <a:t>Results and Discussion :</a:t>
            </a:r>
            <a:endParaRPr lang="en-US" sz="4000">
              <a:latin typeface="Times New Roman"/>
              <a:cs typeface="Times New Roman"/>
            </a:endParaRPr>
          </a:p>
        </p:txBody>
      </p:sp>
      <p:sp>
        <p:nvSpPr>
          <p:cNvPr id="3" name="Content Placeholder 2">
            <a:extLst>
              <a:ext uri="{FF2B5EF4-FFF2-40B4-BE49-F238E27FC236}">
                <a16:creationId xmlns:a16="http://schemas.microsoft.com/office/drawing/2014/main" id="{C18CB3E0-4401-8095-C8F5-6C5603809146}"/>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Times New Roman"/>
              </a:rPr>
              <a:t>Performance analysis of a single-element antenna:</a:t>
            </a:r>
            <a:endParaRPr lang="en-US">
              <a:latin typeface="Times New Roman"/>
              <a:cs typeface="Times New Roman"/>
            </a:endParaRPr>
          </a:p>
        </p:txBody>
      </p:sp>
      <p:pic>
        <p:nvPicPr>
          <p:cNvPr id="4" name="Picture 3" descr="A graph with a red line&#10;&#10;AI-generated content may be incorrect.">
            <a:extLst>
              <a:ext uri="{FF2B5EF4-FFF2-40B4-BE49-F238E27FC236}">
                <a16:creationId xmlns:a16="http://schemas.microsoft.com/office/drawing/2014/main" id="{7C7BEFC1-5324-324D-4391-C414E544ABD0}"/>
              </a:ext>
            </a:extLst>
          </p:cNvPr>
          <p:cNvPicPr>
            <a:picLocks noChangeAspect="1"/>
          </p:cNvPicPr>
          <p:nvPr/>
        </p:nvPicPr>
        <p:blipFill>
          <a:blip r:embed="rId2"/>
          <a:stretch>
            <a:fillRect/>
          </a:stretch>
        </p:blipFill>
        <p:spPr>
          <a:xfrm>
            <a:off x="839310" y="2317185"/>
            <a:ext cx="7381875" cy="3371850"/>
          </a:xfrm>
          <a:prstGeom prst="rect">
            <a:avLst/>
          </a:prstGeom>
        </p:spPr>
      </p:pic>
      <p:sp>
        <p:nvSpPr>
          <p:cNvPr id="5" name="TextBox 4">
            <a:extLst>
              <a:ext uri="{FF2B5EF4-FFF2-40B4-BE49-F238E27FC236}">
                <a16:creationId xmlns:a16="http://schemas.microsoft.com/office/drawing/2014/main" id="{4A44E2E1-5E27-C5D5-6257-F0E240989EC9}"/>
              </a:ext>
            </a:extLst>
          </p:cNvPr>
          <p:cNvSpPr txBox="1"/>
          <p:nvPr/>
        </p:nvSpPr>
        <p:spPr>
          <a:xfrm>
            <a:off x="1188982" y="5683579"/>
            <a:ext cx="1101433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Figure 6-Simulated S-parameter of a single element  </a:t>
            </a:r>
            <a:endParaRPr lang="en-US">
              <a:latin typeface="Aptos" panose="020B0004020202020204"/>
              <a:cs typeface="Times New Roman"/>
            </a:endParaRPr>
          </a:p>
          <a:p>
            <a:pPr marL="285750" indent="-285750" algn="just">
              <a:buFont typeface="Arial"/>
              <a:buChar char="•"/>
            </a:pPr>
            <a:r>
              <a:rPr lang="en-US" sz="1600">
                <a:latin typeface="Times New Roman"/>
                <a:ea typeface="+mn-lt"/>
                <a:cs typeface="Times New Roman"/>
              </a:rPr>
              <a:t>As shown in Figure 6, antenna design has sufficiently good input matching (where </a:t>
            </a:r>
            <a:r>
              <a:rPr lang="en-US" sz="1600">
                <a:latin typeface="Times New Roman"/>
                <a:ea typeface="Cambria Math"/>
                <a:cs typeface="Times New Roman"/>
              </a:rPr>
              <a:t>∣</a:t>
            </a:r>
            <a:r>
              <a:rPr lang="en-US" sz="1600">
                <a:latin typeface="Times New Roman"/>
                <a:ea typeface="+mn-lt"/>
                <a:cs typeface="Times New Roman"/>
              </a:rPr>
              <a:t>S11|= -10 dB) at 2.4 GHz (-27.33 dB).</a:t>
            </a:r>
            <a:endParaRPr lang="en-US" sz="1600">
              <a:latin typeface="Times New Roman"/>
              <a:cs typeface="Times New Roman"/>
            </a:endParaRPr>
          </a:p>
          <a:p>
            <a:endParaRPr lang="en-US"/>
          </a:p>
        </p:txBody>
      </p:sp>
      <p:pic>
        <p:nvPicPr>
          <p:cNvPr id="7" name="Picture 6" descr="A pink and black logo&#10;&#10;AI-generated content may be incorrect.">
            <a:extLst>
              <a:ext uri="{FF2B5EF4-FFF2-40B4-BE49-F238E27FC236}">
                <a16:creationId xmlns:a16="http://schemas.microsoft.com/office/drawing/2014/main" id="{9A6C7A75-78DE-48EC-78F1-82251A3407BC}"/>
              </a:ext>
            </a:extLst>
          </p:cNvPr>
          <p:cNvPicPr>
            <a:picLocks noChangeAspect="1"/>
          </p:cNvPicPr>
          <p:nvPr/>
        </p:nvPicPr>
        <p:blipFill>
          <a:blip r:embed="rId3"/>
          <a:stretch>
            <a:fillRect/>
          </a:stretch>
        </p:blipFill>
        <p:spPr>
          <a:xfrm>
            <a:off x="9711325" y="2545"/>
            <a:ext cx="2477022" cy="704720"/>
          </a:xfrm>
          <a:prstGeom prst="rect">
            <a:avLst/>
          </a:prstGeom>
        </p:spPr>
      </p:pic>
    </p:spTree>
    <p:extLst>
      <p:ext uri="{BB962C8B-B14F-4D97-AF65-F5344CB8AC3E}">
        <p14:creationId xmlns:p14="http://schemas.microsoft.com/office/powerpoint/2010/main" val="2035464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C953C-86B0-2636-1153-E4D32714364D}"/>
              </a:ext>
            </a:extLst>
          </p:cNvPr>
          <p:cNvSpPr>
            <a:spLocks noGrp="1"/>
          </p:cNvSpPr>
          <p:nvPr>
            <p:ph type="title"/>
          </p:nvPr>
        </p:nvSpPr>
        <p:spPr>
          <a:xfrm>
            <a:off x="838200" y="365125"/>
            <a:ext cx="10515600" cy="1012413"/>
          </a:xfrm>
        </p:spPr>
        <p:txBody>
          <a:bodyPr/>
          <a:lstStyle/>
          <a:p>
            <a:r>
              <a:rPr lang="en-US" sz="4000">
                <a:latin typeface="Times New Roman"/>
                <a:cs typeface="Times New Roman"/>
              </a:rPr>
              <a:t>Results and Discussion :</a:t>
            </a:r>
          </a:p>
          <a:p>
            <a:endParaRPr lang="en-US"/>
          </a:p>
        </p:txBody>
      </p:sp>
      <p:sp>
        <p:nvSpPr>
          <p:cNvPr id="3" name="Content Placeholder 2">
            <a:extLst>
              <a:ext uri="{FF2B5EF4-FFF2-40B4-BE49-F238E27FC236}">
                <a16:creationId xmlns:a16="http://schemas.microsoft.com/office/drawing/2014/main" id="{5BAFA870-5779-C5D3-8087-95367D1136AF}"/>
              </a:ext>
            </a:extLst>
          </p:cNvPr>
          <p:cNvSpPr>
            <a:spLocks noGrp="1"/>
          </p:cNvSpPr>
          <p:nvPr>
            <p:ph idx="1"/>
          </p:nvPr>
        </p:nvSpPr>
        <p:spPr>
          <a:xfrm>
            <a:off x="838200" y="1251515"/>
            <a:ext cx="10515600" cy="4351338"/>
          </a:xfrm>
        </p:spPr>
        <p:txBody>
          <a:bodyPr vert="horz" lIns="91440" tIns="45720" rIns="91440" bIns="45720" rtlCol="0" anchor="t">
            <a:normAutofit/>
          </a:bodyPr>
          <a:lstStyle/>
          <a:p>
            <a:r>
              <a:rPr lang="en-US" sz="1800">
                <a:latin typeface="Times New Roman"/>
                <a:ea typeface="Calibri"/>
                <a:cs typeface="Times New Roman"/>
              </a:rPr>
              <a:t>Performance analysis of Two-element array:</a:t>
            </a:r>
          </a:p>
          <a:p>
            <a:pPr marL="0" indent="0">
              <a:buNone/>
            </a:pPr>
            <a:endParaRPr lang="en-US" sz="1800">
              <a:latin typeface="Times New Roman"/>
              <a:ea typeface="Calibri"/>
              <a:cs typeface="Times New Roman"/>
            </a:endParaRPr>
          </a:p>
        </p:txBody>
      </p:sp>
      <p:pic>
        <p:nvPicPr>
          <p:cNvPr id="4" name="Picture 3" descr="A graph of a blue and green line&#10;&#10;AI-generated content may be incorrect.">
            <a:extLst>
              <a:ext uri="{FF2B5EF4-FFF2-40B4-BE49-F238E27FC236}">
                <a16:creationId xmlns:a16="http://schemas.microsoft.com/office/drawing/2014/main" id="{63D257F3-7D06-585E-DBEC-EBAD93B248AA}"/>
              </a:ext>
            </a:extLst>
          </p:cNvPr>
          <p:cNvPicPr>
            <a:picLocks noChangeAspect="1"/>
          </p:cNvPicPr>
          <p:nvPr/>
        </p:nvPicPr>
        <p:blipFill>
          <a:blip r:embed="rId2"/>
          <a:stretch>
            <a:fillRect/>
          </a:stretch>
        </p:blipFill>
        <p:spPr>
          <a:xfrm>
            <a:off x="841397" y="1575997"/>
            <a:ext cx="6772275" cy="3914775"/>
          </a:xfrm>
          <a:prstGeom prst="rect">
            <a:avLst/>
          </a:prstGeom>
        </p:spPr>
      </p:pic>
      <p:sp>
        <p:nvSpPr>
          <p:cNvPr id="5" name="TextBox 4">
            <a:extLst>
              <a:ext uri="{FF2B5EF4-FFF2-40B4-BE49-F238E27FC236}">
                <a16:creationId xmlns:a16="http://schemas.microsoft.com/office/drawing/2014/main" id="{42510A9A-2F84-FAC2-9721-F779A7967B35}"/>
              </a:ext>
            </a:extLst>
          </p:cNvPr>
          <p:cNvSpPr txBox="1"/>
          <p:nvPr/>
        </p:nvSpPr>
        <p:spPr>
          <a:xfrm>
            <a:off x="788851" y="5549162"/>
            <a:ext cx="69364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Times New Roman"/>
                <a:cs typeface="Times New Roman"/>
              </a:rPr>
              <a:t>Figure 7-Simulated S-parameter plot of a two-element array</a:t>
            </a:r>
          </a:p>
          <a:p>
            <a:pPr algn="l"/>
            <a:endParaRPr lang="en-GB"/>
          </a:p>
        </p:txBody>
      </p:sp>
      <p:pic>
        <p:nvPicPr>
          <p:cNvPr id="7" name="Picture 6" descr="A pink and black logo&#10;&#10;AI-generated content may be incorrect.">
            <a:extLst>
              <a:ext uri="{FF2B5EF4-FFF2-40B4-BE49-F238E27FC236}">
                <a16:creationId xmlns:a16="http://schemas.microsoft.com/office/drawing/2014/main" id="{55456293-5222-113C-4658-AB39564E0A14}"/>
              </a:ext>
            </a:extLst>
          </p:cNvPr>
          <p:cNvPicPr>
            <a:picLocks noChangeAspect="1"/>
          </p:cNvPicPr>
          <p:nvPr/>
        </p:nvPicPr>
        <p:blipFill>
          <a:blip r:embed="rId3"/>
          <a:stretch>
            <a:fillRect/>
          </a:stretch>
        </p:blipFill>
        <p:spPr>
          <a:xfrm>
            <a:off x="9711325" y="2545"/>
            <a:ext cx="2477022" cy="704720"/>
          </a:xfrm>
          <a:prstGeom prst="rect">
            <a:avLst/>
          </a:prstGeom>
        </p:spPr>
      </p:pic>
    </p:spTree>
    <p:extLst>
      <p:ext uri="{BB962C8B-B14F-4D97-AF65-F5344CB8AC3E}">
        <p14:creationId xmlns:p14="http://schemas.microsoft.com/office/powerpoint/2010/main" val="1079650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DACBA-2568-B6B3-229B-7619F5E9907B}"/>
              </a:ext>
            </a:extLst>
          </p:cNvPr>
          <p:cNvSpPr>
            <a:spLocks noGrp="1"/>
          </p:cNvSpPr>
          <p:nvPr>
            <p:ph type="title"/>
          </p:nvPr>
        </p:nvSpPr>
        <p:spPr>
          <a:xfrm>
            <a:off x="838200" y="386002"/>
            <a:ext cx="10515600" cy="1325563"/>
          </a:xfrm>
        </p:spPr>
        <p:txBody>
          <a:bodyPr/>
          <a:lstStyle/>
          <a:p>
            <a:r>
              <a:rPr lang="en-US" sz="4000">
                <a:latin typeface="Times New Roman"/>
                <a:cs typeface="Times New Roman"/>
              </a:rPr>
              <a:t>Results and Discussion :</a:t>
            </a:r>
            <a:endParaRPr lang="en-US"/>
          </a:p>
        </p:txBody>
      </p:sp>
      <p:sp>
        <p:nvSpPr>
          <p:cNvPr id="3" name="Content Placeholder 2">
            <a:extLst>
              <a:ext uri="{FF2B5EF4-FFF2-40B4-BE49-F238E27FC236}">
                <a16:creationId xmlns:a16="http://schemas.microsoft.com/office/drawing/2014/main" id="{91C75715-0B39-7D0E-8CD6-FDC4FFFE1B91}"/>
              </a:ext>
            </a:extLst>
          </p:cNvPr>
          <p:cNvSpPr>
            <a:spLocks noGrp="1"/>
          </p:cNvSpPr>
          <p:nvPr>
            <p:ph idx="1"/>
          </p:nvPr>
        </p:nvSpPr>
        <p:spPr/>
        <p:txBody>
          <a:bodyPr vert="horz" lIns="91440" tIns="45720" rIns="91440" bIns="45720" rtlCol="0" anchor="t">
            <a:normAutofit/>
          </a:bodyPr>
          <a:lstStyle/>
          <a:p>
            <a:pPr marL="0" indent="0">
              <a:buNone/>
            </a:pPr>
            <a:r>
              <a:rPr lang="en-US" sz="1800">
                <a:latin typeface="Times New Roman"/>
                <a:ea typeface="+mn-lt"/>
                <a:cs typeface="Times New Roman"/>
              </a:rPr>
              <a:t>Performance analysis of Two-element array with a parasitic element:</a:t>
            </a:r>
            <a:endParaRPr lang="en-US" sz="1800">
              <a:latin typeface="Times New Roman"/>
              <a:cs typeface="Times New Roman"/>
            </a:endParaRPr>
          </a:p>
          <a:p>
            <a:pPr>
              <a:buFont typeface="Arial"/>
              <a:buChar char="•"/>
            </a:pPr>
            <a:r>
              <a:rPr lang="en-US" sz="2000">
                <a:latin typeface="Times New Roman"/>
                <a:ea typeface="+mn-lt"/>
                <a:cs typeface="Times New Roman"/>
              </a:rPr>
              <a:t>In the basic two-element array, the antennas were separated by 7 mm (0.056λ₀), resulting in high mutual coupling (S₂₁ ≈ −7.5 dB) and a return loss of −16 dB at 2.389 GHz. </a:t>
            </a:r>
            <a:endParaRPr lang="en-US" sz="2000">
              <a:latin typeface="Times New Roman"/>
              <a:cs typeface="Times New Roman"/>
            </a:endParaRPr>
          </a:p>
          <a:p>
            <a:pPr>
              <a:buFont typeface="Arial"/>
              <a:buChar char="•"/>
            </a:pPr>
            <a:r>
              <a:rPr lang="en-US" sz="2000">
                <a:latin typeface="Times New Roman"/>
                <a:ea typeface="+mn-lt"/>
                <a:cs typeface="Times New Roman"/>
              </a:rPr>
              <a:t>A parasitic strip was introduced between the antenna elements to reduce unwanted electromagnetic interaction. </a:t>
            </a:r>
            <a:endParaRPr lang="en-US" sz="2000">
              <a:latin typeface="Times New Roman"/>
              <a:cs typeface="Times New Roman"/>
            </a:endParaRPr>
          </a:p>
          <a:p>
            <a:pPr>
              <a:buFont typeface="Arial"/>
              <a:buChar char="•"/>
            </a:pPr>
            <a:r>
              <a:rPr lang="en-US" sz="2000">
                <a:latin typeface="Times New Roman"/>
                <a:ea typeface="+mn-lt"/>
                <a:cs typeface="Times New Roman"/>
              </a:rPr>
              <a:t>The resonant frequency shifted closer to the target frequency, reaching 2.404 GHz, with improved impedance matching (S₁₁ ≈ −24.6 dB). </a:t>
            </a:r>
            <a:endParaRPr lang="en-US" sz="2000">
              <a:latin typeface="Times New Roman"/>
              <a:cs typeface="Times New Roman"/>
            </a:endParaRPr>
          </a:p>
          <a:p>
            <a:pPr>
              <a:buFont typeface="Arial"/>
              <a:buChar char="•"/>
            </a:pPr>
            <a:r>
              <a:rPr lang="en-US" sz="2000">
                <a:latin typeface="Times New Roman"/>
                <a:ea typeface="+mn-lt"/>
                <a:cs typeface="Times New Roman"/>
              </a:rPr>
              <a:t>Mutual coupling was significantly reduced to approximately −13.2 dB, indicating improved isolation. </a:t>
            </a:r>
            <a:endParaRPr lang="en-US" sz="2000">
              <a:latin typeface="Times New Roman"/>
              <a:cs typeface="Times New Roman"/>
            </a:endParaRPr>
          </a:p>
          <a:p>
            <a:pPr>
              <a:buFont typeface="Arial"/>
              <a:buChar char="•"/>
            </a:pPr>
            <a:r>
              <a:rPr lang="en-US" sz="2000">
                <a:latin typeface="Times New Roman"/>
                <a:ea typeface="+mn-lt"/>
                <a:cs typeface="Times New Roman"/>
              </a:rPr>
              <a:t>The parasitic element modifies the surface current distribution, weakening the coupling path while maintaining a compact antenna structure.</a:t>
            </a:r>
            <a:endParaRPr lang="en-US" sz="2000">
              <a:latin typeface="Times New Roman"/>
              <a:cs typeface="Times New Roman"/>
            </a:endParaRPr>
          </a:p>
          <a:p>
            <a:pPr marL="0" indent="0">
              <a:buNone/>
            </a:pPr>
            <a:endParaRPr lang="en-US" sz="1800">
              <a:latin typeface="Times New Roman"/>
              <a:cs typeface="Times New Roman"/>
            </a:endParaRPr>
          </a:p>
          <a:p>
            <a:endParaRPr lang="en-US"/>
          </a:p>
        </p:txBody>
      </p:sp>
      <p:pic>
        <p:nvPicPr>
          <p:cNvPr id="5" name="Picture 4" descr="A pink and black logo&#10;&#10;AI-generated content may be incorrect.">
            <a:extLst>
              <a:ext uri="{FF2B5EF4-FFF2-40B4-BE49-F238E27FC236}">
                <a16:creationId xmlns:a16="http://schemas.microsoft.com/office/drawing/2014/main" id="{A0447452-4A3C-C112-0A49-0E9742B3C191}"/>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465635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60BA1-B18F-22B2-9B29-76A3B51889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6F5FC-758B-2785-9155-5C2D5F038253}"/>
              </a:ext>
            </a:extLst>
          </p:cNvPr>
          <p:cNvSpPr>
            <a:spLocks noGrp="1"/>
          </p:cNvSpPr>
          <p:nvPr>
            <p:ph type="title"/>
          </p:nvPr>
        </p:nvSpPr>
        <p:spPr>
          <a:xfrm>
            <a:off x="733816" y="93728"/>
            <a:ext cx="10515600" cy="1325563"/>
          </a:xfrm>
        </p:spPr>
        <p:txBody>
          <a:bodyPr/>
          <a:lstStyle/>
          <a:p>
            <a:r>
              <a:rPr lang="en-US" sz="4000">
                <a:latin typeface="Times New Roman"/>
                <a:cs typeface="Times New Roman"/>
              </a:rPr>
              <a:t>Results and Discussion :</a:t>
            </a:r>
            <a:endParaRPr lang="en-US"/>
          </a:p>
        </p:txBody>
      </p:sp>
      <p:sp>
        <p:nvSpPr>
          <p:cNvPr id="3" name="Content Placeholder 2">
            <a:extLst>
              <a:ext uri="{FF2B5EF4-FFF2-40B4-BE49-F238E27FC236}">
                <a16:creationId xmlns:a16="http://schemas.microsoft.com/office/drawing/2014/main" id="{16AEAC1D-65E0-F14E-396F-4B1981C5149D}"/>
              </a:ext>
            </a:extLst>
          </p:cNvPr>
          <p:cNvSpPr>
            <a:spLocks noGrp="1"/>
          </p:cNvSpPr>
          <p:nvPr>
            <p:ph idx="1"/>
          </p:nvPr>
        </p:nvSpPr>
        <p:spPr/>
        <p:txBody>
          <a:bodyPr vert="horz" lIns="91440" tIns="45720" rIns="91440" bIns="45720" rtlCol="0" anchor="t">
            <a:normAutofit/>
          </a:bodyPr>
          <a:lstStyle/>
          <a:p>
            <a:pPr marL="0" indent="0">
              <a:buNone/>
            </a:pPr>
            <a:r>
              <a:rPr lang="en-US" sz="1800">
                <a:latin typeface="Times New Roman"/>
                <a:ea typeface="+mn-lt"/>
                <a:cs typeface="Times New Roman"/>
              </a:rPr>
              <a:t>Performance analysis of Two-element array with a parasitic element:</a:t>
            </a:r>
            <a:endParaRPr lang="en-US" sz="1800">
              <a:latin typeface="Times New Roman"/>
              <a:cs typeface="Times New Roman"/>
            </a:endParaRPr>
          </a:p>
          <a:p>
            <a:pPr marL="0" indent="0">
              <a:buNone/>
            </a:pPr>
            <a:endParaRPr lang="en-US" sz="2000">
              <a:latin typeface="Times New Roman"/>
              <a:cs typeface="Times New Roman"/>
            </a:endParaRPr>
          </a:p>
          <a:p>
            <a:pPr marL="0" indent="0">
              <a:buNone/>
            </a:pPr>
            <a:endParaRPr lang="en-US" sz="1800">
              <a:latin typeface="Times New Roman"/>
              <a:cs typeface="Times New Roman"/>
            </a:endParaRPr>
          </a:p>
          <a:p>
            <a:endParaRPr lang="en-US"/>
          </a:p>
        </p:txBody>
      </p:sp>
      <p:pic>
        <p:nvPicPr>
          <p:cNvPr id="4" name="Picture 3" descr="A graph of a frequency&#10;&#10;AI-generated content may be incorrect.">
            <a:extLst>
              <a:ext uri="{FF2B5EF4-FFF2-40B4-BE49-F238E27FC236}">
                <a16:creationId xmlns:a16="http://schemas.microsoft.com/office/drawing/2014/main" id="{79D58CD5-2E10-2EAA-1141-794B03055A9E}"/>
              </a:ext>
            </a:extLst>
          </p:cNvPr>
          <p:cNvPicPr>
            <a:picLocks noChangeAspect="1"/>
          </p:cNvPicPr>
          <p:nvPr/>
        </p:nvPicPr>
        <p:blipFill>
          <a:blip r:embed="rId2"/>
          <a:stretch>
            <a:fillRect/>
          </a:stretch>
        </p:blipFill>
        <p:spPr>
          <a:xfrm>
            <a:off x="398354" y="2145735"/>
            <a:ext cx="5591567" cy="3714750"/>
          </a:xfrm>
          <a:prstGeom prst="rect">
            <a:avLst/>
          </a:prstGeom>
        </p:spPr>
      </p:pic>
      <p:pic>
        <p:nvPicPr>
          <p:cNvPr id="5" name="Picture 4">
            <a:extLst>
              <a:ext uri="{FF2B5EF4-FFF2-40B4-BE49-F238E27FC236}">
                <a16:creationId xmlns:a16="http://schemas.microsoft.com/office/drawing/2014/main" id="{4913AD28-CE48-D5C9-D570-338182F24CA9}"/>
              </a:ext>
            </a:extLst>
          </p:cNvPr>
          <p:cNvPicPr>
            <a:picLocks noChangeAspect="1"/>
          </p:cNvPicPr>
          <p:nvPr/>
        </p:nvPicPr>
        <p:blipFill>
          <a:blip r:embed="rId3"/>
          <a:stretch>
            <a:fillRect/>
          </a:stretch>
        </p:blipFill>
        <p:spPr>
          <a:xfrm>
            <a:off x="6100045" y="2149062"/>
            <a:ext cx="6077471" cy="3697657"/>
          </a:xfrm>
          <a:prstGeom prst="rect">
            <a:avLst/>
          </a:prstGeom>
        </p:spPr>
      </p:pic>
      <p:sp>
        <p:nvSpPr>
          <p:cNvPr id="6" name="TextBox 5">
            <a:extLst>
              <a:ext uri="{FF2B5EF4-FFF2-40B4-BE49-F238E27FC236}">
                <a16:creationId xmlns:a16="http://schemas.microsoft.com/office/drawing/2014/main" id="{7C443A37-618A-F80F-3CA9-92DACBAA5A6F}"/>
              </a:ext>
            </a:extLst>
          </p:cNvPr>
          <p:cNvSpPr txBox="1"/>
          <p:nvPr/>
        </p:nvSpPr>
        <p:spPr>
          <a:xfrm>
            <a:off x="652842" y="5997992"/>
            <a:ext cx="524994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i="1">
                <a:latin typeface="Times New Roman"/>
                <a:ea typeface="+mn-lt"/>
                <a:cs typeface="Times New Roman"/>
              </a:rPr>
              <a:t>Figure 8- Simulated S parameter of a 1×2 Patch antenna Array without a parasitic element</a:t>
            </a:r>
            <a:endParaRPr lang="en-US">
              <a:latin typeface="Times New Roman"/>
              <a:cs typeface="Times New Roman"/>
            </a:endParaRPr>
          </a:p>
          <a:p>
            <a:pPr algn="l"/>
            <a:endParaRPr lang="en-GB"/>
          </a:p>
        </p:txBody>
      </p:sp>
      <p:sp>
        <p:nvSpPr>
          <p:cNvPr id="7" name="TextBox 6">
            <a:extLst>
              <a:ext uri="{FF2B5EF4-FFF2-40B4-BE49-F238E27FC236}">
                <a16:creationId xmlns:a16="http://schemas.microsoft.com/office/drawing/2014/main" id="{0DC1D5EB-7085-785C-A442-F34422584FCD}"/>
              </a:ext>
            </a:extLst>
          </p:cNvPr>
          <p:cNvSpPr txBox="1"/>
          <p:nvPr/>
        </p:nvSpPr>
        <p:spPr>
          <a:xfrm>
            <a:off x="6582830" y="5997991"/>
            <a:ext cx="548115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i="1">
                <a:latin typeface="Times New Roman"/>
                <a:ea typeface="+mn-lt"/>
                <a:cs typeface="Times New Roman"/>
              </a:rPr>
              <a:t>Figure 9- Simulated S parameter of a 1×2 Patch antenna Array with a parasitic element</a:t>
            </a:r>
            <a:endParaRPr lang="en-US">
              <a:latin typeface="Times New Roman"/>
              <a:cs typeface="Times New Roman"/>
            </a:endParaRPr>
          </a:p>
          <a:p>
            <a:pPr algn="l"/>
            <a:endParaRPr lang="en-GB"/>
          </a:p>
        </p:txBody>
      </p:sp>
      <p:pic>
        <p:nvPicPr>
          <p:cNvPr id="9" name="Picture 8" descr="A pink and black logo&#10;&#10;AI-generated content may be incorrect.">
            <a:extLst>
              <a:ext uri="{FF2B5EF4-FFF2-40B4-BE49-F238E27FC236}">
                <a16:creationId xmlns:a16="http://schemas.microsoft.com/office/drawing/2014/main" id="{06E6299C-679B-AF0A-3B4C-694BF8086F29}"/>
              </a:ext>
            </a:extLst>
          </p:cNvPr>
          <p:cNvPicPr>
            <a:picLocks noChangeAspect="1"/>
          </p:cNvPicPr>
          <p:nvPr/>
        </p:nvPicPr>
        <p:blipFill>
          <a:blip r:embed="rId4"/>
          <a:stretch>
            <a:fillRect/>
          </a:stretch>
        </p:blipFill>
        <p:spPr>
          <a:xfrm>
            <a:off x="9711325" y="2545"/>
            <a:ext cx="2477022" cy="704720"/>
          </a:xfrm>
          <a:prstGeom prst="rect">
            <a:avLst/>
          </a:prstGeom>
        </p:spPr>
      </p:pic>
    </p:spTree>
    <p:extLst>
      <p:ext uri="{BB962C8B-B14F-4D97-AF65-F5344CB8AC3E}">
        <p14:creationId xmlns:p14="http://schemas.microsoft.com/office/powerpoint/2010/main" val="37314794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5B7F1-5B52-1A8A-21BC-E3C044A2308E}"/>
              </a:ext>
            </a:extLst>
          </p:cNvPr>
          <p:cNvSpPr>
            <a:spLocks noGrp="1"/>
          </p:cNvSpPr>
          <p:nvPr>
            <p:ph type="title"/>
          </p:nvPr>
        </p:nvSpPr>
        <p:spPr/>
        <p:txBody>
          <a:bodyPr/>
          <a:lstStyle/>
          <a:p>
            <a:r>
              <a:rPr lang="en-US" sz="4000">
                <a:latin typeface="Times New Roman"/>
                <a:cs typeface="Times New Roman"/>
              </a:rPr>
              <a:t>Results and Discussion :</a:t>
            </a:r>
            <a:endParaRPr lang="en-US"/>
          </a:p>
        </p:txBody>
      </p:sp>
      <p:sp>
        <p:nvSpPr>
          <p:cNvPr id="3" name="Content Placeholder 2">
            <a:extLst>
              <a:ext uri="{FF2B5EF4-FFF2-40B4-BE49-F238E27FC236}">
                <a16:creationId xmlns:a16="http://schemas.microsoft.com/office/drawing/2014/main" id="{1828EB2D-85AF-DD63-A7EB-5C011A4736A3}"/>
              </a:ext>
            </a:extLst>
          </p:cNvPr>
          <p:cNvSpPr>
            <a:spLocks noGrp="1"/>
          </p:cNvSpPr>
          <p:nvPr>
            <p:ph idx="1"/>
          </p:nvPr>
        </p:nvSpPr>
        <p:spPr/>
        <p:txBody>
          <a:bodyPr vert="horz" lIns="91440" tIns="45720" rIns="91440" bIns="45720" rtlCol="0" anchor="t">
            <a:normAutofit/>
          </a:bodyPr>
          <a:lstStyle/>
          <a:p>
            <a:pPr marL="0" indent="0">
              <a:buNone/>
            </a:pPr>
            <a:r>
              <a:rPr lang="en-US" sz="1800">
                <a:latin typeface="Times New Roman"/>
                <a:ea typeface="+mn-lt"/>
                <a:cs typeface="Times New Roman"/>
              </a:rPr>
              <a:t>Performance analysis of the final proposed structure-</a:t>
            </a:r>
            <a:r>
              <a:rPr lang="en-GB" sz="1800">
                <a:latin typeface="Times New Roman"/>
                <a:ea typeface="+mn-lt"/>
                <a:cs typeface="Times New Roman"/>
              </a:rPr>
              <a:t>parasitic element with anti-parallel antenna configuration:</a:t>
            </a:r>
            <a:endParaRPr lang="en-US" sz="1800">
              <a:latin typeface="Times New Roman"/>
              <a:cs typeface="Times New Roman"/>
            </a:endParaRPr>
          </a:p>
          <a:p>
            <a:pPr>
              <a:buFont typeface="Arial"/>
              <a:buChar char="•"/>
            </a:pPr>
            <a:r>
              <a:rPr lang="en-GB" sz="1800">
                <a:latin typeface="Times New Roman"/>
                <a:ea typeface="+mn-lt"/>
                <a:cs typeface="Times New Roman"/>
              </a:rPr>
              <a:t>After optimizing the parasitic strip with anti-parallel antenna configuration, the antenna achieved improved overall performance. </a:t>
            </a:r>
            <a:endParaRPr lang="en-GB">
              <a:latin typeface="Times New Roman"/>
              <a:cs typeface="Times New Roman"/>
            </a:endParaRPr>
          </a:p>
          <a:p>
            <a:pPr>
              <a:buFont typeface="Arial"/>
              <a:buChar char="•"/>
            </a:pPr>
            <a:r>
              <a:rPr lang="en-GB" sz="1800">
                <a:latin typeface="Times New Roman"/>
                <a:ea typeface="+mn-lt"/>
                <a:cs typeface="Times New Roman"/>
              </a:rPr>
              <a:t>The antenna resonates at 2.428 GHz, close to the target 2.4 GHz ISM band, with excellent impedance matching (S₁₁ ≈ −22.7 dB). </a:t>
            </a:r>
            <a:endParaRPr lang="en-GB">
              <a:latin typeface="Times New Roman"/>
              <a:cs typeface="Times New Roman"/>
            </a:endParaRPr>
          </a:p>
          <a:p>
            <a:pPr>
              <a:buFont typeface="Arial"/>
              <a:buChar char="•"/>
            </a:pPr>
            <a:r>
              <a:rPr lang="en-GB" sz="1800">
                <a:latin typeface="Times New Roman"/>
                <a:ea typeface="+mn-lt"/>
                <a:cs typeface="Times New Roman"/>
              </a:rPr>
              <a:t>Mutual coupling was significantly reduced to S₂₁ ≈ −17.4 dB, indicating strong isolation between the antenna elements. </a:t>
            </a:r>
            <a:endParaRPr lang="en-GB">
              <a:latin typeface="Times New Roman"/>
              <a:cs typeface="Times New Roman"/>
            </a:endParaRPr>
          </a:p>
          <a:p>
            <a:pPr>
              <a:buFont typeface="Arial"/>
              <a:buChar char="•"/>
            </a:pPr>
            <a:r>
              <a:rPr lang="en-GB" sz="1800">
                <a:latin typeface="Times New Roman"/>
                <a:ea typeface="+mn-lt"/>
                <a:cs typeface="Times New Roman"/>
              </a:rPr>
              <a:t>Isolation improvement compared to previous stages: </a:t>
            </a:r>
            <a:endParaRPr lang="en-GB">
              <a:latin typeface="Times New Roman"/>
              <a:cs typeface="Times New Roman"/>
            </a:endParaRPr>
          </a:p>
          <a:p>
            <a:pPr>
              <a:buFont typeface="Arial"/>
              <a:buChar char="•"/>
            </a:pPr>
            <a:r>
              <a:rPr lang="en-GB" sz="1800">
                <a:latin typeface="Times New Roman"/>
                <a:ea typeface="+mn-lt"/>
                <a:cs typeface="Times New Roman"/>
              </a:rPr>
              <a:t>Basic Array: −7.5 dB </a:t>
            </a:r>
            <a:endParaRPr lang="en-GB">
              <a:latin typeface="Times New Roman"/>
              <a:cs typeface="Times New Roman"/>
            </a:endParaRPr>
          </a:p>
          <a:p>
            <a:pPr>
              <a:buFont typeface="Arial"/>
              <a:buChar char="•"/>
            </a:pPr>
            <a:r>
              <a:rPr lang="en-GB" sz="1800">
                <a:latin typeface="Times New Roman"/>
                <a:ea typeface="+mn-lt"/>
                <a:cs typeface="Times New Roman"/>
              </a:rPr>
              <a:t>Parasitic Element: −13.2 dB </a:t>
            </a:r>
            <a:endParaRPr lang="en-GB">
              <a:latin typeface="Times New Roman"/>
              <a:cs typeface="Times New Roman"/>
            </a:endParaRPr>
          </a:p>
          <a:p>
            <a:pPr>
              <a:buFont typeface="Arial"/>
              <a:buChar char="•"/>
            </a:pPr>
            <a:r>
              <a:rPr lang="en-GB" sz="1800">
                <a:latin typeface="Times New Roman"/>
                <a:ea typeface="+mn-lt"/>
                <a:cs typeface="Times New Roman"/>
              </a:rPr>
              <a:t>Final Proposed Structure: −17.4 dB </a:t>
            </a:r>
            <a:endParaRPr lang="en-GB">
              <a:latin typeface="Times New Roman"/>
              <a:cs typeface="Times New Roman"/>
            </a:endParaRPr>
          </a:p>
          <a:p>
            <a:pPr>
              <a:buFont typeface="Arial"/>
              <a:buChar char="•"/>
            </a:pPr>
            <a:r>
              <a:rPr lang="en-GB" sz="1800">
                <a:latin typeface="Times New Roman"/>
                <a:ea typeface="+mn-lt"/>
                <a:cs typeface="Times New Roman"/>
              </a:rPr>
              <a:t>The proposed design achieved an isolation improvement of nearly 10 dB, confirming the effectiveness of the parasitic strip in suppressing unwanted coupling while maintaining a compact antenna structure.</a:t>
            </a:r>
            <a:endParaRPr lang="en-GB">
              <a:latin typeface="Times New Roman"/>
              <a:cs typeface="Times New Roman"/>
            </a:endParaRPr>
          </a:p>
          <a:p>
            <a:pPr marL="0" indent="0">
              <a:buNone/>
            </a:pPr>
            <a:endParaRPr lang="en-GB" sz="1800"/>
          </a:p>
          <a:p>
            <a:endParaRPr lang="en-US"/>
          </a:p>
        </p:txBody>
      </p:sp>
      <p:pic>
        <p:nvPicPr>
          <p:cNvPr id="5" name="Picture 4" descr="A pink and black logo&#10;&#10;AI-generated content may be incorrect.">
            <a:extLst>
              <a:ext uri="{FF2B5EF4-FFF2-40B4-BE49-F238E27FC236}">
                <a16:creationId xmlns:a16="http://schemas.microsoft.com/office/drawing/2014/main" id="{0FB1E1C4-FD30-FADE-E800-495E4DE4E90B}"/>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823159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59683-9F18-B3F7-C3F2-659B2C0E2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D38C8-3E72-FB4A-31F0-B45DC2AFBB92}"/>
              </a:ext>
            </a:extLst>
          </p:cNvPr>
          <p:cNvSpPr>
            <a:spLocks noGrp="1"/>
          </p:cNvSpPr>
          <p:nvPr>
            <p:ph type="title"/>
          </p:nvPr>
        </p:nvSpPr>
        <p:spPr/>
        <p:txBody>
          <a:bodyPr/>
          <a:lstStyle/>
          <a:p>
            <a:r>
              <a:rPr lang="en-US" sz="4000">
                <a:latin typeface="Times New Roman"/>
                <a:cs typeface="Times New Roman"/>
              </a:rPr>
              <a:t>Results and Discussion :</a:t>
            </a:r>
            <a:endParaRPr lang="en-US"/>
          </a:p>
        </p:txBody>
      </p:sp>
      <p:sp>
        <p:nvSpPr>
          <p:cNvPr id="3" name="Content Placeholder 2">
            <a:extLst>
              <a:ext uri="{FF2B5EF4-FFF2-40B4-BE49-F238E27FC236}">
                <a16:creationId xmlns:a16="http://schemas.microsoft.com/office/drawing/2014/main" id="{7C12B3F7-E865-ADFA-9595-4EE2587598B2}"/>
              </a:ext>
            </a:extLst>
          </p:cNvPr>
          <p:cNvSpPr>
            <a:spLocks noGrp="1"/>
          </p:cNvSpPr>
          <p:nvPr>
            <p:ph idx="1"/>
          </p:nvPr>
        </p:nvSpPr>
        <p:spPr/>
        <p:txBody>
          <a:bodyPr vert="horz" lIns="91440" tIns="45720" rIns="91440" bIns="45720" rtlCol="0" anchor="t">
            <a:normAutofit/>
          </a:bodyPr>
          <a:lstStyle/>
          <a:p>
            <a:pPr marL="0" indent="0">
              <a:buNone/>
            </a:pPr>
            <a:r>
              <a:rPr lang="en-US" sz="1800">
                <a:latin typeface="Times New Roman"/>
                <a:ea typeface="+mn-lt"/>
                <a:cs typeface="Times New Roman"/>
              </a:rPr>
              <a:t>Performance analysis of the final proposed structure-</a:t>
            </a:r>
            <a:r>
              <a:rPr lang="en-GB" sz="1800">
                <a:latin typeface="Times New Roman"/>
                <a:ea typeface="+mn-lt"/>
                <a:cs typeface="Times New Roman"/>
              </a:rPr>
              <a:t>parasitic element with anti-parallel antenna configuration:</a:t>
            </a:r>
            <a:endParaRPr lang="en-US" sz="1800">
              <a:latin typeface="Times New Roman"/>
              <a:cs typeface="Times New Roman"/>
            </a:endParaRPr>
          </a:p>
          <a:p>
            <a:pPr marL="0" indent="0">
              <a:buNone/>
            </a:pPr>
            <a:endParaRPr lang="en-GB" sz="1800">
              <a:latin typeface="Times New Roman"/>
              <a:cs typeface="Times New Roman"/>
            </a:endParaRPr>
          </a:p>
          <a:p>
            <a:pPr marL="0" indent="0">
              <a:buNone/>
            </a:pPr>
            <a:endParaRPr lang="en-GB" sz="1800"/>
          </a:p>
          <a:p>
            <a:endParaRPr lang="en-US"/>
          </a:p>
        </p:txBody>
      </p:sp>
      <p:pic>
        <p:nvPicPr>
          <p:cNvPr id="4" name="Picture 3" descr="A graph of a frequency&#10;&#10;AI-generated content may be incorrect.">
            <a:extLst>
              <a:ext uri="{FF2B5EF4-FFF2-40B4-BE49-F238E27FC236}">
                <a16:creationId xmlns:a16="http://schemas.microsoft.com/office/drawing/2014/main" id="{2E389A88-C8DD-844F-526C-CEDE54CFA292}"/>
              </a:ext>
            </a:extLst>
          </p:cNvPr>
          <p:cNvPicPr>
            <a:picLocks noChangeAspect="1"/>
          </p:cNvPicPr>
          <p:nvPr/>
        </p:nvPicPr>
        <p:blipFill>
          <a:blip r:embed="rId2"/>
          <a:stretch>
            <a:fillRect/>
          </a:stretch>
        </p:blipFill>
        <p:spPr>
          <a:xfrm>
            <a:off x="633478" y="2172549"/>
            <a:ext cx="5810250" cy="3076575"/>
          </a:xfrm>
          <a:prstGeom prst="rect">
            <a:avLst/>
          </a:prstGeom>
        </p:spPr>
      </p:pic>
      <p:sp>
        <p:nvSpPr>
          <p:cNvPr id="5" name="TextBox 4">
            <a:extLst>
              <a:ext uri="{FF2B5EF4-FFF2-40B4-BE49-F238E27FC236}">
                <a16:creationId xmlns:a16="http://schemas.microsoft.com/office/drawing/2014/main" id="{FA900135-BD2B-06EC-8A46-F6A786F948C5}"/>
              </a:ext>
            </a:extLst>
          </p:cNvPr>
          <p:cNvSpPr txBox="1"/>
          <p:nvPr/>
        </p:nvSpPr>
        <p:spPr>
          <a:xfrm>
            <a:off x="612039" y="5453956"/>
            <a:ext cx="595718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i="1">
                <a:latin typeface="Times New Roman"/>
                <a:ea typeface="+mn-lt"/>
                <a:cs typeface="Times New Roman"/>
              </a:rPr>
              <a:t>Figure 10- Simulated S parameter of a 1×2 Patch antenna Array without a parasitic element with anti-parallel antenna configuration</a:t>
            </a:r>
            <a:endParaRPr lang="en-US">
              <a:latin typeface="Times New Roman"/>
              <a:cs typeface="Times New Roman"/>
            </a:endParaRPr>
          </a:p>
          <a:p>
            <a:pPr algn="l"/>
            <a:endParaRPr lang="en-GB"/>
          </a:p>
        </p:txBody>
      </p:sp>
      <p:pic>
        <p:nvPicPr>
          <p:cNvPr id="6" name="Picture 5" descr="A graph with a red line&#10;&#10;AI-generated content may be incorrect.">
            <a:extLst>
              <a:ext uri="{FF2B5EF4-FFF2-40B4-BE49-F238E27FC236}">
                <a16:creationId xmlns:a16="http://schemas.microsoft.com/office/drawing/2014/main" id="{57EA0D0B-3067-4C23-AFD8-C904DCD9FBA0}"/>
              </a:ext>
            </a:extLst>
          </p:cNvPr>
          <p:cNvPicPr>
            <a:picLocks noChangeAspect="1"/>
          </p:cNvPicPr>
          <p:nvPr/>
        </p:nvPicPr>
        <p:blipFill>
          <a:blip r:embed="rId3"/>
          <a:stretch>
            <a:fillRect/>
          </a:stretch>
        </p:blipFill>
        <p:spPr>
          <a:xfrm>
            <a:off x="6565596" y="2171048"/>
            <a:ext cx="5657850" cy="3371850"/>
          </a:xfrm>
          <a:prstGeom prst="rect">
            <a:avLst/>
          </a:prstGeom>
        </p:spPr>
      </p:pic>
      <p:sp>
        <p:nvSpPr>
          <p:cNvPr id="7" name="TextBox 6">
            <a:extLst>
              <a:ext uri="{FF2B5EF4-FFF2-40B4-BE49-F238E27FC236}">
                <a16:creationId xmlns:a16="http://schemas.microsoft.com/office/drawing/2014/main" id="{5B2F973C-DC18-9AC1-1453-A78276898F24}"/>
              </a:ext>
            </a:extLst>
          </p:cNvPr>
          <p:cNvSpPr txBox="1"/>
          <p:nvPr/>
        </p:nvSpPr>
        <p:spPr>
          <a:xfrm>
            <a:off x="6678036" y="5685171"/>
            <a:ext cx="538595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i="1">
                <a:latin typeface="Times New Roman"/>
                <a:ea typeface="+mn-lt"/>
                <a:cs typeface="Times New Roman"/>
              </a:rPr>
              <a:t>Figure 11- Simulated Gain plot of a 1×2 Patch antenna Array with a parasitic element with anti-parallel antenna configuration</a:t>
            </a:r>
            <a:endParaRPr lang="en-US">
              <a:latin typeface="Times New Roman"/>
              <a:cs typeface="Times New Roman"/>
            </a:endParaRPr>
          </a:p>
          <a:p>
            <a:pPr algn="l"/>
            <a:endParaRPr lang="en-GB"/>
          </a:p>
        </p:txBody>
      </p:sp>
      <p:pic>
        <p:nvPicPr>
          <p:cNvPr id="9" name="Picture 8" descr="A pink and black logo&#10;&#10;AI-generated content may be incorrect.">
            <a:extLst>
              <a:ext uri="{FF2B5EF4-FFF2-40B4-BE49-F238E27FC236}">
                <a16:creationId xmlns:a16="http://schemas.microsoft.com/office/drawing/2014/main" id="{351B38CD-D0D1-4479-E353-5FE31D62099F}"/>
              </a:ext>
            </a:extLst>
          </p:cNvPr>
          <p:cNvPicPr>
            <a:picLocks noChangeAspect="1"/>
          </p:cNvPicPr>
          <p:nvPr/>
        </p:nvPicPr>
        <p:blipFill>
          <a:blip r:embed="rId4"/>
          <a:stretch>
            <a:fillRect/>
          </a:stretch>
        </p:blipFill>
        <p:spPr>
          <a:xfrm>
            <a:off x="9711325" y="2545"/>
            <a:ext cx="2477022" cy="704720"/>
          </a:xfrm>
          <a:prstGeom prst="rect">
            <a:avLst/>
          </a:prstGeom>
        </p:spPr>
      </p:pic>
    </p:spTree>
    <p:extLst>
      <p:ext uri="{BB962C8B-B14F-4D97-AF65-F5344CB8AC3E}">
        <p14:creationId xmlns:p14="http://schemas.microsoft.com/office/powerpoint/2010/main" val="3913438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0A266-C434-7751-9E26-5C3AD2C9A695}"/>
              </a:ext>
            </a:extLst>
          </p:cNvPr>
          <p:cNvSpPr>
            <a:spLocks noGrp="1"/>
          </p:cNvSpPr>
          <p:nvPr>
            <p:ph type="title"/>
          </p:nvPr>
        </p:nvSpPr>
        <p:spPr/>
        <p:txBody>
          <a:bodyPr>
            <a:normAutofit/>
          </a:bodyPr>
          <a:lstStyle/>
          <a:p>
            <a:r>
              <a:rPr lang="en-GB" sz="2800" b="1">
                <a:latin typeface="Times New Roman"/>
                <a:ea typeface="Calibri"/>
                <a:cs typeface="Times New Roman"/>
              </a:rPr>
              <a:t>Comparison of results:</a:t>
            </a:r>
            <a:endParaRPr lang="en-US" sz="2800">
              <a:latin typeface="Times New Roman"/>
              <a:cs typeface="Times New Roman"/>
            </a:endParaRPr>
          </a:p>
        </p:txBody>
      </p:sp>
      <p:sp>
        <p:nvSpPr>
          <p:cNvPr id="3" name="Content Placeholder 2">
            <a:extLst>
              <a:ext uri="{FF2B5EF4-FFF2-40B4-BE49-F238E27FC236}">
                <a16:creationId xmlns:a16="http://schemas.microsoft.com/office/drawing/2014/main" id="{E366FCD3-3004-B751-4739-5859EDBE6E3C}"/>
              </a:ext>
            </a:extLst>
          </p:cNvPr>
          <p:cNvSpPr>
            <a:spLocks noGrp="1"/>
          </p:cNvSpPr>
          <p:nvPr>
            <p:ph idx="1"/>
          </p:nvPr>
        </p:nvSpPr>
        <p:spPr>
          <a:xfrm>
            <a:off x="838200" y="1825625"/>
            <a:ext cx="10515600" cy="4434845"/>
          </a:xfrm>
        </p:spPr>
        <p:txBody>
          <a:bodyPr vert="horz" lIns="91440" tIns="45720" rIns="91440" bIns="45720" rtlCol="0" anchor="t">
            <a:normAutofit fontScale="92500"/>
          </a:bodyPr>
          <a:lstStyle/>
          <a:p>
            <a:r>
              <a:rPr lang="en-US">
                <a:latin typeface="Times New Roman"/>
                <a:ea typeface="+mn-lt"/>
                <a:cs typeface="Times New Roman"/>
              </a:rPr>
              <a:t>In the basic two-element array, the antenna elements were closely spaced (7 mm), resulting in high mutual coupling of −7.5 </a:t>
            </a:r>
            <a:r>
              <a:rPr lang="en-US" err="1">
                <a:latin typeface="Times New Roman"/>
                <a:ea typeface="+mn-lt"/>
                <a:cs typeface="Times New Roman"/>
              </a:rPr>
              <a:t>dB.</a:t>
            </a:r>
            <a:r>
              <a:rPr lang="en-US">
                <a:latin typeface="Times New Roman"/>
                <a:ea typeface="+mn-lt"/>
                <a:cs typeface="Times New Roman"/>
              </a:rPr>
              <a:t> </a:t>
            </a:r>
            <a:endParaRPr lang="en-US">
              <a:latin typeface="Times New Roman"/>
              <a:cs typeface="Times New Roman"/>
            </a:endParaRPr>
          </a:p>
          <a:p>
            <a:r>
              <a:rPr lang="en-US">
                <a:latin typeface="Times New Roman"/>
                <a:ea typeface="+mn-lt"/>
                <a:cs typeface="Times New Roman"/>
              </a:rPr>
              <a:t>Introducing a neutralization line improved isolation, reducing mutual coupling to approximately −11.7 </a:t>
            </a:r>
            <a:r>
              <a:rPr lang="en-US" err="1">
                <a:latin typeface="Times New Roman"/>
                <a:ea typeface="+mn-lt"/>
                <a:cs typeface="Times New Roman"/>
              </a:rPr>
              <a:t>dB.</a:t>
            </a:r>
            <a:r>
              <a:rPr lang="en-US">
                <a:latin typeface="Times New Roman"/>
                <a:ea typeface="+mn-lt"/>
                <a:cs typeface="Times New Roman"/>
              </a:rPr>
              <a:t> </a:t>
            </a:r>
            <a:endParaRPr lang="en-US">
              <a:latin typeface="Times New Roman"/>
              <a:cs typeface="Times New Roman"/>
            </a:endParaRPr>
          </a:p>
          <a:p>
            <a:r>
              <a:rPr lang="en-US">
                <a:latin typeface="Times New Roman"/>
                <a:ea typeface="+mn-lt"/>
                <a:cs typeface="Times New Roman"/>
              </a:rPr>
              <a:t>Replacing the neutralization line with a parasitic element further improved isolation to about −13.2 dB by modifying the surface current distribution. </a:t>
            </a:r>
            <a:endParaRPr lang="en-US">
              <a:latin typeface="Times New Roman"/>
              <a:cs typeface="Times New Roman"/>
            </a:endParaRPr>
          </a:p>
          <a:p>
            <a:r>
              <a:rPr lang="en-US">
                <a:latin typeface="Times New Roman"/>
                <a:ea typeface="+mn-lt"/>
                <a:cs typeface="Times New Roman"/>
              </a:rPr>
              <a:t>The optimized parasitic element with anti-parallel configuration provided the best performance, achieving −17.4 dB isolation at 2.428 GHz. </a:t>
            </a:r>
            <a:endParaRPr lang="en-US">
              <a:latin typeface="Times New Roman"/>
              <a:cs typeface="Times New Roman"/>
            </a:endParaRPr>
          </a:p>
          <a:p>
            <a:r>
              <a:rPr lang="en-US">
                <a:latin typeface="Times New Roman"/>
                <a:ea typeface="+mn-lt"/>
                <a:cs typeface="Times New Roman"/>
              </a:rPr>
              <a:t>Overall, the proposed structure delivered nearly 10 dB improvement in isolation while maintaining a compact antenna design.</a:t>
            </a:r>
            <a:endParaRPr lang="en-US">
              <a:latin typeface="Times New Roman"/>
              <a:cs typeface="Times New Roman"/>
            </a:endParaRPr>
          </a:p>
        </p:txBody>
      </p:sp>
      <p:pic>
        <p:nvPicPr>
          <p:cNvPr id="5" name="Picture 4" descr="A pink and black logo&#10;&#10;AI-generated content may be incorrect.">
            <a:extLst>
              <a:ext uri="{FF2B5EF4-FFF2-40B4-BE49-F238E27FC236}">
                <a16:creationId xmlns:a16="http://schemas.microsoft.com/office/drawing/2014/main" id="{746495FE-D85D-85E7-EAFC-CE359835FBB4}"/>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2991115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0372-C1C1-BE6D-3D95-C817D18B1906}"/>
              </a:ext>
            </a:extLst>
          </p:cNvPr>
          <p:cNvSpPr>
            <a:spLocks noGrp="1"/>
          </p:cNvSpPr>
          <p:nvPr>
            <p:ph type="title"/>
          </p:nvPr>
        </p:nvSpPr>
        <p:spPr/>
        <p:txBody>
          <a:bodyPr/>
          <a:lstStyle/>
          <a:p>
            <a:r>
              <a:rPr lang="en-GB" sz="2800" b="1">
                <a:latin typeface="Times New Roman"/>
                <a:cs typeface="Times New Roman"/>
              </a:rPr>
              <a:t>Comparison of results:</a:t>
            </a:r>
            <a:endParaRPr lang="en-US"/>
          </a:p>
        </p:txBody>
      </p:sp>
      <p:graphicFrame>
        <p:nvGraphicFramePr>
          <p:cNvPr id="5" name="Content Placeholder 4">
            <a:extLst>
              <a:ext uri="{FF2B5EF4-FFF2-40B4-BE49-F238E27FC236}">
                <a16:creationId xmlns:a16="http://schemas.microsoft.com/office/drawing/2014/main" id="{3A1DB39C-0D64-4E22-F8E1-74D67DEF6B8C}"/>
              </a:ext>
            </a:extLst>
          </p:cNvPr>
          <p:cNvGraphicFramePr>
            <a:graphicFrameLocks noGrp="1"/>
          </p:cNvGraphicFramePr>
          <p:nvPr>
            <p:ph idx="1"/>
            <p:extLst>
              <p:ext uri="{D42A27DB-BD31-4B8C-83A1-F6EECF244321}">
                <p14:modId xmlns:p14="http://schemas.microsoft.com/office/powerpoint/2010/main" val="3801791213"/>
              </p:ext>
            </p:extLst>
          </p:nvPr>
        </p:nvGraphicFramePr>
        <p:xfrm>
          <a:off x="963460" y="2754639"/>
          <a:ext cx="10515598" cy="2948203"/>
        </p:xfrm>
        <a:graphic>
          <a:graphicData uri="http://schemas.openxmlformats.org/drawingml/2006/table">
            <a:tbl>
              <a:tblPr firstRow="1" firstCol="1" bandRow="1">
                <a:tableStyleId>{5C22544A-7EE6-4342-B048-85BDC9FD1C3A}</a:tableStyleId>
              </a:tblPr>
              <a:tblGrid>
                <a:gridCol w="3504396">
                  <a:extLst>
                    <a:ext uri="{9D8B030D-6E8A-4147-A177-3AD203B41FA5}">
                      <a16:colId xmlns:a16="http://schemas.microsoft.com/office/drawing/2014/main" val="4165839058"/>
                    </a:ext>
                  </a:extLst>
                </a:gridCol>
                <a:gridCol w="3505601">
                  <a:extLst>
                    <a:ext uri="{9D8B030D-6E8A-4147-A177-3AD203B41FA5}">
                      <a16:colId xmlns:a16="http://schemas.microsoft.com/office/drawing/2014/main" val="662058250"/>
                    </a:ext>
                  </a:extLst>
                </a:gridCol>
                <a:gridCol w="3505601">
                  <a:extLst>
                    <a:ext uri="{9D8B030D-6E8A-4147-A177-3AD203B41FA5}">
                      <a16:colId xmlns:a16="http://schemas.microsoft.com/office/drawing/2014/main" val="1464569673"/>
                    </a:ext>
                  </a:extLst>
                </a:gridCol>
              </a:tblGrid>
              <a:tr h="1117021">
                <a:tc>
                  <a:txBody>
                    <a:bodyPr/>
                    <a:lstStyle/>
                    <a:p>
                      <a:pPr algn="ctr">
                        <a:buNone/>
                      </a:pPr>
                      <a:r>
                        <a:rPr lang="en-GB">
                          <a:solidFill>
                            <a:schemeClr val="tx1"/>
                          </a:solidFill>
                          <a:latin typeface="Times New Roman"/>
                          <a:cs typeface="Times New Roman"/>
                        </a:rPr>
                        <a:t>Method of mutual coupling reduction</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dirty="0">
                          <a:solidFill>
                            <a:schemeClr val="tx1"/>
                          </a:solidFill>
                          <a:latin typeface="Times New Roman"/>
                          <a:cs typeface="Times New Roman"/>
                        </a:rPr>
                        <a:t>S21 without modifying the two-element array structure(in dB)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dirty="0">
                          <a:solidFill>
                            <a:schemeClr val="tx1"/>
                          </a:solidFill>
                          <a:latin typeface="Times New Roman"/>
                          <a:cs typeface="Times New Roman"/>
                        </a:rPr>
                        <a:t>S21 after modifying the two-element array structure</a:t>
                      </a:r>
                    </a:p>
                    <a:p>
                      <a:pPr algn="ctr">
                        <a:buNone/>
                      </a:pPr>
                      <a:r>
                        <a:rPr lang="en-GB">
                          <a:solidFill>
                            <a:schemeClr val="tx1"/>
                          </a:solidFill>
                          <a:latin typeface="Times New Roman"/>
                          <a:cs typeface="Times New Roman"/>
                        </a:rPr>
                        <a:t>(in dB)</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6760877"/>
                  </a:ext>
                </a:extLst>
              </a:tr>
              <a:tr h="366236">
                <a:tc>
                  <a:txBody>
                    <a:bodyPr/>
                    <a:lstStyle/>
                    <a:p>
                      <a:pPr algn="ctr">
                        <a:buNone/>
                      </a:pPr>
                      <a:r>
                        <a:rPr lang="en-GB" dirty="0" err="1">
                          <a:solidFill>
                            <a:schemeClr val="tx1"/>
                          </a:solidFill>
                          <a:latin typeface="Times New Roman"/>
                          <a:cs typeface="Times New Roman"/>
                        </a:rPr>
                        <a:t>Neutralisation</a:t>
                      </a:r>
                      <a:r>
                        <a:rPr lang="en-GB" dirty="0">
                          <a:solidFill>
                            <a:schemeClr val="tx1"/>
                          </a:solidFill>
                          <a:latin typeface="Times New Roman"/>
                          <a:cs typeface="Times New Roman"/>
                        </a:rPr>
                        <a:t> line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a:solidFill>
                            <a:schemeClr val="tx1"/>
                          </a:solidFill>
                          <a:latin typeface="Times New Roman"/>
                          <a:cs typeface="Times New Roman"/>
                        </a:rPr>
                        <a:t>7.5 </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a:solidFill>
                            <a:schemeClr val="tx1"/>
                          </a:solidFill>
                          <a:latin typeface="Times New Roman"/>
                          <a:cs typeface="Times New Roman"/>
                        </a:rPr>
                        <a:t>11.7</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2740704"/>
                  </a:ext>
                </a:extLst>
              </a:tr>
              <a:tr h="366236">
                <a:tc>
                  <a:txBody>
                    <a:bodyPr/>
                    <a:lstStyle/>
                    <a:p>
                      <a:pPr algn="ctr">
                        <a:buNone/>
                      </a:pPr>
                      <a:r>
                        <a:rPr lang="en-GB">
                          <a:solidFill>
                            <a:schemeClr val="tx1"/>
                          </a:solidFill>
                          <a:latin typeface="Times New Roman"/>
                          <a:cs typeface="Times New Roman"/>
                        </a:rPr>
                        <a:t>Parasitic element</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a:solidFill>
                            <a:schemeClr val="tx1"/>
                          </a:solidFill>
                          <a:latin typeface="Times New Roman"/>
                          <a:cs typeface="Times New Roman"/>
                        </a:rPr>
                        <a:t>7.5</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a:solidFill>
                            <a:schemeClr val="tx1"/>
                          </a:solidFill>
                          <a:latin typeface="Times New Roman"/>
                          <a:cs typeface="Times New Roman"/>
                        </a:rPr>
                        <a:t>13.2</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8049484"/>
                  </a:ext>
                </a:extLst>
              </a:tr>
              <a:tr h="1098710">
                <a:tc>
                  <a:txBody>
                    <a:bodyPr/>
                    <a:lstStyle/>
                    <a:p>
                      <a:pPr algn="ctr">
                        <a:buNone/>
                      </a:pPr>
                      <a:r>
                        <a:rPr lang="en-GB">
                          <a:solidFill>
                            <a:schemeClr val="tx1"/>
                          </a:solidFill>
                          <a:latin typeface="Times New Roman"/>
                          <a:cs typeface="Times New Roman"/>
                        </a:rPr>
                        <a:t>Final proposed structure: Parasitic element with anti-parallel antenna configuration</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a:solidFill>
                            <a:schemeClr val="tx1"/>
                          </a:solidFill>
                          <a:latin typeface="Times New Roman"/>
                          <a:cs typeface="Times New Roman"/>
                        </a:rPr>
                        <a:t>7.5</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GB">
                          <a:solidFill>
                            <a:schemeClr val="tx1"/>
                          </a:solidFill>
                          <a:latin typeface="Times New Roman"/>
                          <a:cs typeface="Times New Roman"/>
                        </a:rPr>
                        <a:t>17.4</a:t>
                      </a:r>
                      <a:endParaRPr lang="en-GB" dirty="0">
                        <a:solidFill>
                          <a:schemeClr val="tx1"/>
                        </a:solidFill>
                        <a:latin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1704689"/>
                  </a:ext>
                </a:extLst>
              </a:tr>
            </a:tbl>
          </a:graphicData>
        </a:graphic>
      </p:graphicFrame>
      <p:sp>
        <p:nvSpPr>
          <p:cNvPr id="6" name="TextBox 5">
            <a:extLst>
              <a:ext uri="{FF2B5EF4-FFF2-40B4-BE49-F238E27FC236}">
                <a16:creationId xmlns:a16="http://schemas.microsoft.com/office/drawing/2014/main" id="{DD009838-06F2-FDC9-2137-D0B18B46F32A}"/>
              </a:ext>
            </a:extLst>
          </p:cNvPr>
          <p:cNvSpPr txBox="1"/>
          <p:nvPr/>
        </p:nvSpPr>
        <p:spPr>
          <a:xfrm>
            <a:off x="3215013" y="2218151"/>
            <a:ext cx="6002055"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a:latin typeface="Times New Roman"/>
                <a:cs typeface="Times New Roman"/>
              </a:rPr>
              <a:t>Table 3 Comparison of results</a:t>
            </a:r>
          </a:p>
          <a:p>
            <a:pPr algn="ctr"/>
            <a:endParaRPr lang="en-GB"/>
          </a:p>
        </p:txBody>
      </p:sp>
      <p:pic>
        <p:nvPicPr>
          <p:cNvPr id="4" name="Picture 3" descr="A pink and black logo&#10;&#10;AI-generated content may be incorrect.">
            <a:extLst>
              <a:ext uri="{FF2B5EF4-FFF2-40B4-BE49-F238E27FC236}">
                <a16:creationId xmlns:a16="http://schemas.microsoft.com/office/drawing/2014/main" id="{728E62D8-8858-5751-7EC9-229EBAC0B71D}"/>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369596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8589A-E093-0F16-6554-237D4AF93AFA}"/>
              </a:ext>
            </a:extLst>
          </p:cNvPr>
          <p:cNvSpPr>
            <a:spLocks noGrp="1"/>
          </p:cNvSpPr>
          <p:nvPr>
            <p:ph type="title"/>
          </p:nvPr>
        </p:nvSpPr>
        <p:spPr/>
        <p:txBody>
          <a:bodyPr>
            <a:normAutofit/>
          </a:bodyPr>
          <a:lstStyle/>
          <a:p>
            <a:r>
              <a:rPr lang="en-US" sz="4000">
                <a:latin typeface="Times New Roman"/>
                <a:cs typeface="Times New Roman"/>
              </a:rPr>
              <a:t>Conclusion:</a:t>
            </a:r>
          </a:p>
        </p:txBody>
      </p:sp>
      <p:sp>
        <p:nvSpPr>
          <p:cNvPr id="3" name="Content Placeholder 2">
            <a:extLst>
              <a:ext uri="{FF2B5EF4-FFF2-40B4-BE49-F238E27FC236}">
                <a16:creationId xmlns:a16="http://schemas.microsoft.com/office/drawing/2014/main" id="{4DFCDDFB-CD34-2F85-62E5-364717BE8C92}"/>
              </a:ext>
            </a:extLst>
          </p:cNvPr>
          <p:cNvSpPr>
            <a:spLocks noGrp="1"/>
          </p:cNvSpPr>
          <p:nvPr>
            <p:ph idx="1"/>
          </p:nvPr>
        </p:nvSpPr>
        <p:spPr/>
        <p:txBody>
          <a:bodyPr vert="horz" lIns="91440" tIns="45720" rIns="91440" bIns="45720" rtlCol="0" anchor="t">
            <a:normAutofit fontScale="92500"/>
          </a:bodyPr>
          <a:lstStyle/>
          <a:p>
            <a:r>
              <a:rPr lang="en-US">
                <a:latin typeface="Times New Roman"/>
                <a:ea typeface="+mn-lt"/>
                <a:cs typeface="Times New Roman"/>
              </a:rPr>
              <a:t>A compact 1×2 microstrip patch antenna array operating at 2.4 GHz was designed for Wi-Fi and Bluetooth applications. </a:t>
            </a:r>
            <a:endParaRPr lang="en-US">
              <a:latin typeface="Times New Roman"/>
              <a:cs typeface="Times New Roman"/>
            </a:endParaRPr>
          </a:p>
          <a:p>
            <a:r>
              <a:rPr lang="en-US">
                <a:latin typeface="Times New Roman"/>
                <a:ea typeface="+mn-lt"/>
                <a:cs typeface="Times New Roman"/>
              </a:rPr>
              <a:t>The project focused on reducing mutual coupling between closely spaced antenna elements using a parasitic decoupling structure. </a:t>
            </a:r>
            <a:endParaRPr lang="en-US">
              <a:latin typeface="Times New Roman"/>
              <a:cs typeface="Times New Roman"/>
            </a:endParaRPr>
          </a:p>
          <a:p>
            <a:r>
              <a:rPr lang="en-US">
                <a:latin typeface="Times New Roman"/>
                <a:ea typeface="+mn-lt"/>
                <a:cs typeface="Times New Roman"/>
              </a:rPr>
              <a:t>The antenna was designed and optimized in ANSYS HFSS by tuning the parasitic element geometry and antenna spacing. </a:t>
            </a:r>
            <a:endParaRPr lang="en-US">
              <a:latin typeface="Times New Roman"/>
              <a:cs typeface="Times New Roman"/>
            </a:endParaRPr>
          </a:p>
          <a:p>
            <a:r>
              <a:rPr lang="en-US">
                <a:latin typeface="Times New Roman"/>
                <a:ea typeface="+mn-lt"/>
                <a:cs typeface="Times New Roman"/>
              </a:rPr>
              <a:t>The final design achieved good impedance matching, stable radiation characteristics, and an isolation of approximately 17.4 </a:t>
            </a:r>
            <a:r>
              <a:rPr lang="en-US" err="1">
                <a:latin typeface="Times New Roman"/>
                <a:ea typeface="+mn-lt"/>
                <a:cs typeface="Times New Roman"/>
              </a:rPr>
              <a:t>dB.</a:t>
            </a:r>
            <a:r>
              <a:rPr lang="en-US">
                <a:latin typeface="Times New Roman"/>
                <a:ea typeface="+mn-lt"/>
                <a:cs typeface="Times New Roman"/>
              </a:rPr>
              <a:t> </a:t>
            </a:r>
            <a:endParaRPr lang="en-US">
              <a:latin typeface="Times New Roman"/>
              <a:cs typeface="Times New Roman"/>
            </a:endParaRPr>
          </a:p>
          <a:p>
            <a:r>
              <a:rPr lang="en-US">
                <a:latin typeface="Times New Roman"/>
                <a:ea typeface="+mn-lt"/>
                <a:cs typeface="Times New Roman"/>
              </a:rPr>
              <a:t>A gain of around 7 </a:t>
            </a:r>
            <a:r>
              <a:rPr lang="en-US" err="1">
                <a:latin typeface="Times New Roman"/>
                <a:ea typeface="+mn-lt"/>
                <a:cs typeface="Times New Roman"/>
              </a:rPr>
              <a:t>dBi</a:t>
            </a:r>
            <a:r>
              <a:rPr lang="en-US">
                <a:latin typeface="Times New Roman"/>
                <a:ea typeface="+mn-lt"/>
                <a:cs typeface="Times New Roman"/>
              </a:rPr>
              <a:t> was obtained, demonstrating the effectiveness of the proposed structure for compact wireless communication systems.</a:t>
            </a:r>
            <a:endParaRPr lang="en-US">
              <a:latin typeface="Times New Roman"/>
              <a:cs typeface="Times New Roman"/>
            </a:endParaRPr>
          </a:p>
        </p:txBody>
      </p:sp>
      <p:pic>
        <p:nvPicPr>
          <p:cNvPr id="5" name="Picture 4" descr="A pink and black logo&#10;&#10;AI-generated content may be incorrect.">
            <a:extLst>
              <a:ext uri="{FF2B5EF4-FFF2-40B4-BE49-F238E27FC236}">
                <a16:creationId xmlns:a16="http://schemas.microsoft.com/office/drawing/2014/main" id="{6DDC68E7-4BB8-D4FD-8F07-7BE2A9F51FE3}"/>
              </a:ext>
            </a:extLst>
          </p:cNvPr>
          <p:cNvPicPr>
            <a:picLocks noChangeAspect="1"/>
          </p:cNvPicPr>
          <p:nvPr/>
        </p:nvPicPr>
        <p:blipFill>
          <a:blip r:embed="rId2"/>
          <a:stretch>
            <a:fillRect/>
          </a:stretch>
        </p:blipFill>
        <p:spPr>
          <a:xfrm>
            <a:off x="9711325" y="2545"/>
            <a:ext cx="2477022" cy="704720"/>
          </a:xfrm>
          <a:prstGeom prst="rect">
            <a:avLst/>
          </a:prstGeom>
        </p:spPr>
      </p:pic>
    </p:spTree>
    <p:extLst>
      <p:ext uri="{BB962C8B-B14F-4D97-AF65-F5344CB8AC3E}">
        <p14:creationId xmlns:p14="http://schemas.microsoft.com/office/powerpoint/2010/main" val="1865107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4335</Words>
  <Application>Microsoft Office PowerPoint</Application>
  <PresentationFormat>Widescreen</PresentationFormat>
  <Paragraphs>347</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Aptos Display</vt:lpstr>
      <vt:lpstr>Arial</vt:lpstr>
      <vt:lpstr>Cambria Math</vt:lpstr>
      <vt:lpstr>Segoe UI</vt:lpstr>
      <vt:lpstr>Times New Roman</vt:lpstr>
      <vt:lpstr>office theme</vt:lpstr>
      <vt:lpstr>PowerPoint Presentation</vt:lpstr>
      <vt:lpstr>Motivation:</vt:lpstr>
      <vt:lpstr>Challenges: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Methodology :</vt:lpstr>
      <vt:lpstr>PowerPoint Presentation</vt:lpstr>
      <vt:lpstr>PowerPoint Presentation</vt:lpstr>
      <vt:lpstr>PowerPoint Presentation</vt:lpstr>
      <vt:lpstr>PowerPoint Presentation</vt:lpstr>
      <vt:lpstr>Two-element MIMO array:</vt:lpstr>
      <vt:lpstr>Two-element MIMO array:</vt:lpstr>
      <vt:lpstr>Design of a two-element patch antenna array incorporating a neutralisation line:</vt:lpstr>
      <vt:lpstr>Design of a two-element patch antenna array incorporating a neutralisation line:</vt:lpstr>
      <vt:lpstr>Design of a two-element patch antenna array incorporating a neutralisation line:</vt:lpstr>
      <vt:lpstr>Design of a two-element patch antenna array incorporating a parasitic element:</vt:lpstr>
      <vt:lpstr>Design of a two-element patch antenna array incorporating a parasitic element:</vt:lpstr>
      <vt:lpstr>Final proposed structure- Parasitic element with anti-parallel antenna configuration</vt:lpstr>
      <vt:lpstr>Final proposed structure- Parasitic element with anti-parallel antenna configuration</vt:lpstr>
      <vt:lpstr>Results and Discussion :</vt:lpstr>
      <vt:lpstr>Results and Discussion : </vt:lpstr>
      <vt:lpstr>Results and Discussion :</vt:lpstr>
      <vt:lpstr>Results and Discussion :</vt:lpstr>
      <vt:lpstr>Results and Discussion :</vt:lpstr>
      <vt:lpstr>Results and Discussion :</vt:lpstr>
      <vt:lpstr>Comparison of results:</vt:lpstr>
      <vt:lpstr>Comparison of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Yashwanth Peddakudala</cp:lastModifiedBy>
  <cp:revision>62</cp:revision>
  <dcterms:created xsi:type="dcterms:W3CDTF">2026-05-25T17:35:44Z</dcterms:created>
  <dcterms:modified xsi:type="dcterms:W3CDTF">2026-06-22T17:09:59Z</dcterms:modified>
</cp:coreProperties>
</file>