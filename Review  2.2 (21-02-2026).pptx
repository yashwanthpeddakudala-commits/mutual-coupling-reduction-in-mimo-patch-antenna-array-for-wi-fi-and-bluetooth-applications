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5"/>
  </p:notesMasterIdLst>
  <p:sldIdLst>
    <p:sldId id="256" r:id="rId2"/>
    <p:sldId id="268" r:id="rId3"/>
    <p:sldId id="258" r:id="rId4"/>
    <p:sldId id="265" r:id="rId5"/>
    <p:sldId id="266" r:id="rId6"/>
    <p:sldId id="281" r:id="rId7"/>
    <p:sldId id="282" r:id="rId8"/>
    <p:sldId id="269" r:id="rId9"/>
    <p:sldId id="285" r:id="rId10"/>
    <p:sldId id="286" r:id="rId11"/>
    <p:sldId id="287" r:id="rId12"/>
    <p:sldId id="288" r:id="rId13"/>
    <p:sldId id="289" r:id="rId14"/>
    <p:sldId id="292" r:id="rId15"/>
    <p:sldId id="293" r:id="rId16"/>
    <p:sldId id="290" r:id="rId17"/>
    <p:sldId id="291" r:id="rId18"/>
    <p:sldId id="295" r:id="rId19"/>
    <p:sldId id="296" r:id="rId20"/>
    <p:sldId id="297" r:id="rId21"/>
    <p:sldId id="298" r:id="rId22"/>
    <p:sldId id="299" r:id="rId23"/>
    <p:sldId id="300" r:id="rId24"/>
    <p:sldId id="301" r:id="rId25"/>
    <p:sldId id="302" r:id="rId26"/>
    <p:sldId id="303" r:id="rId27"/>
    <p:sldId id="305" r:id="rId28"/>
    <p:sldId id="304" r:id="rId29"/>
    <p:sldId id="307" r:id="rId30"/>
    <p:sldId id="308" r:id="rId31"/>
    <p:sldId id="306" r:id="rId32"/>
    <p:sldId id="270" r:id="rId33"/>
    <p:sldId id="294"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7D3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83887DF-D131-1361-7E81-F7462DD20248}" v="648" dt="2026-02-10T08:10:52.620"/>
    <p1510:client id="{2A5E48BB-3AEC-EC83-0825-3C9F77874720}" v="191" dt="2026-02-10T08:05:41.21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2-27T07:29:00.068"/>
    </inkml:context>
    <inkml:brush xml:id="br0">
      <inkml:brushProperty name="width" value="0.1" units="cm"/>
      <inkml:brushProperty name="height" value="0.1" units="cm"/>
    </inkml:brush>
  </inkml:definitions>
  <inkml:trace contextRef="#ctx0" brushRef="#br0">31951 4091 8063 0 0,'0'-4'608'0'0,"5"7"-2176"0"0,5 7 96 0 0,1 8-2336 0 0,0-1 3808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C0B5480-35D9-4413-8338-6DFF5F69C6CA}" type="datetimeFigureOut">
              <a:rPr lang="en-IN" smtClean="0"/>
              <a:t>09-02-2026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14512A9-F063-4475-A224-CD8B807765D8}" type="slidenum">
              <a:rPr lang="en-IN" smtClean="0"/>
              <a:t>‹#›</a:t>
            </a:fld>
            <a:endParaRPr lang="en-IN"/>
          </a:p>
        </p:txBody>
      </p:sp>
    </p:spTree>
    <p:extLst>
      <p:ext uri="{BB962C8B-B14F-4D97-AF65-F5344CB8AC3E}">
        <p14:creationId xmlns:p14="http://schemas.microsoft.com/office/powerpoint/2010/main" val="7437605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B8557E-577A-1A4B-D0A9-B49D6AA934C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D9A6345-1727-BF08-5FBA-D1480918FBB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BD1097E-4D4E-F21C-31D0-A35C82012310}"/>
              </a:ext>
            </a:extLst>
          </p:cNvPr>
          <p:cNvSpPr>
            <a:spLocks noGrp="1"/>
          </p:cNvSpPr>
          <p:nvPr>
            <p:ph type="dt" sz="half" idx="10"/>
          </p:nvPr>
        </p:nvSpPr>
        <p:spPr/>
        <p:txBody>
          <a:bodyPr/>
          <a:lstStyle/>
          <a:p>
            <a:fld id="{D3D64490-186A-471C-B39D-C10226A9DE62}" type="datetime1">
              <a:rPr lang="en-IN" smtClean="0"/>
              <a:t>09-02-2026</a:t>
            </a:fld>
            <a:endParaRPr lang="en-IN"/>
          </a:p>
        </p:txBody>
      </p:sp>
      <p:sp>
        <p:nvSpPr>
          <p:cNvPr id="5" name="Footer Placeholder 4">
            <a:extLst>
              <a:ext uri="{FF2B5EF4-FFF2-40B4-BE49-F238E27FC236}">
                <a16:creationId xmlns:a16="http://schemas.microsoft.com/office/drawing/2014/main" id="{D416A90A-3C27-D42B-D5E1-274BAFD22C4B}"/>
              </a:ext>
            </a:extLst>
          </p:cNvPr>
          <p:cNvSpPr>
            <a:spLocks noGrp="1"/>
          </p:cNvSpPr>
          <p:nvPr>
            <p:ph type="ftr" sz="quarter" idx="11"/>
          </p:nvPr>
        </p:nvSpPr>
        <p:spPr/>
        <p:txBody>
          <a:bodyPr/>
          <a:lstStyle/>
          <a:p>
            <a:r>
              <a:rPr lang="en-IN"/>
              <a:t>Review 1.3</a:t>
            </a:r>
          </a:p>
        </p:txBody>
      </p:sp>
      <p:sp>
        <p:nvSpPr>
          <p:cNvPr id="6" name="Slide Number Placeholder 5">
            <a:extLst>
              <a:ext uri="{FF2B5EF4-FFF2-40B4-BE49-F238E27FC236}">
                <a16:creationId xmlns:a16="http://schemas.microsoft.com/office/drawing/2014/main" id="{713CC22F-26D7-B732-4B8D-0D55BCBD007C}"/>
              </a:ext>
            </a:extLst>
          </p:cNvPr>
          <p:cNvSpPr>
            <a:spLocks noGrp="1"/>
          </p:cNvSpPr>
          <p:nvPr>
            <p:ph type="sldNum" sz="quarter" idx="12"/>
          </p:nvPr>
        </p:nvSpPr>
        <p:spPr/>
        <p:txBody>
          <a:bodyPr/>
          <a:lstStyle/>
          <a:p>
            <a:fld id="{1CCCFFBF-4DCD-46DE-85E1-69841FB49368}" type="slidenum">
              <a:rPr lang="en-IN" smtClean="0"/>
              <a:t>‹#›</a:t>
            </a:fld>
            <a:endParaRPr lang="en-IN"/>
          </a:p>
        </p:txBody>
      </p:sp>
    </p:spTree>
    <p:extLst>
      <p:ext uri="{BB962C8B-B14F-4D97-AF65-F5344CB8AC3E}">
        <p14:creationId xmlns:p14="http://schemas.microsoft.com/office/powerpoint/2010/main" val="28171262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210C73-D074-E8F3-5EA1-008A0CA7F48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C72A10E-8420-A386-29D7-CBF138C8CF5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9C6F5B1-8A04-67B7-80F3-F03302899DD0}"/>
              </a:ext>
            </a:extLst>
          </p:cNvPr>
          <p:cNvSpPr>
            <a:spLocks noGrp="1"/>
          </p:cNvSpPr>
          <p:nvPr>
            <p:ph type="dt" sz="half" idx="10"/>
          </p:nvPr>
        </p:nvSpPr>
        <p:spPr/>
        <p:txBody>
          <a:bodyPr/>
          <a:lstStyle/>
          <a:p>
            <a:fld id="{BDA09FE3-B6C6-47B1-AD17-7C726B7EDAD1}" type="datetime1">
              <a:rPr lang="en-IN" smtClean="0"/>
              <a:t>09-02-2026</a:t>
            </a:fld>
            <a:endParaRPr lang="en-IN"/>
          </a:p>
        </p:txBody>
      </p:sp>
      <p:sp>
        <p:nvSpPr>
          <p:cNvPr id="5" name="Footer Placeholder 4">
            <a:extLst>
              <a:ext uri="{FF2B5EF4-FFF2-40B4-BE49-F238E27FC236}">
                <a16:creationId xmlns:a16="http://schemas.microsoft.com/office/drawing/2014/main" id="{38C73483-7866-5C0E-2F7B-8CB5908ACEA7}"/>
              </a:ext>
            </a:extLst>
          </p:cNvPr>
          <p:cNvSpPr>
            <a:spLocks noGrp="1"/>
          </p:cNvSpPr>
          <p:nvPr>
            <p:ph type="ftr" sz="quarter" idx="11"/>
          </p:nvPr>
        </p:nvSpPr>
        <p:spPr/>
        <p:txBody>
          <a:bodyPr/>
          <a:lstStyle/>
          <a:p>
            <a:r>
              <a:rPr lang="en-IN"/>
              <a:t>Review 1.3</a:t>
            </a:r>
          </a:p>
        </p:txBody>
      </p:sp>
      <p:sp>
        <p:nvSpPr>
          <p:cNvPr id="6" name="Slide Number Placeholder 5">
            <a:extLst>
              <a:ext uri="{FF2B5EF4-FFF2-40B4-BE49-F238E27FC236}">
                <a16:creationId xmlns:a16="http://schemas.microsoft.com/office/drawing/2014/main" id="{0E9D3B79-F6ED-B58A-4AB3-966BC74C894F}"/>
              </a:ext>
            </a:extLst>
          </p:cNvPr>
          <p:cNvSpPr>
            <a:spLocks noGrp="1"/>
          </p:cNvSpPr>
          <p:nvPr>
            <p:ph type="sldNum" sz="quarter" idx="12"/>
          </p:nvPr>
        </p:nvSpPr>
        <p:spPr/>
        <p:txBody>
          <a:bodyPr/>
          <a:lstStyle/>
          <a:p>
            <a:fld id="{1CCCFFBF-4DCD-46DE-85E1-69841FB49368}" type="slidenum">
              <a:rPr lang="en-IN" smtClean="0"/>
              <a:t>‹#›</a:t>
            </a:fld>
            <a:endParaRPr lang="en-IN"/>
          </a:p>
        </p:txBody>
      </p:sp>
    </p:spTree>
    <p:extLst>
      <p:ext uri="{BB962C8B-B14F-4D97-AF65-F5344CB8AC3E}">
        <p14:creationId xmlns:p14="http://schemas.microsoft.com/office/powerpoint/2010/main" val="18766279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F5DE9F-235F-EFDC-CBA4-EAA2C281AB7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378B69C-AF20-256B-A536-A440EE7A6CF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E7381B9-8AD2-B779-BCA0-09AED492F53B}"/>
              </a:ext>
            </a:extLst>
          </p:cNvPr>
          <p:cNvSpPr>
            <a:spLocks noGrp="1"/>
          </p:cNvSpPr>
          <p:nvPr>
            <p:ph type="dt" sz="half" idx="10"/>
          </p:nvPr>
        </p:nvSpPr>
        <p:spPr/>
        <p:txBody>
          <a:bodyPr/>
          <a:lstStyle/>
          <a:p>
            <a:fld id="{D61BBD71-A439-4148-BDE7-032BA23A77CD}" type="datetime1">
              <a:rPr lang="en-IN" smtClean="0"/>
              <a:t>09-02-2026</a:t>
            </a:fld>
            <a:endParaRPr lang="en-IN"/>
          </a:p>
        </p:txBody>
      </p:sp>
      <p:sp>
        <p:nvSpPr>
          <p:cNvPr id="5" name="Footer Placeholder 4">
            <a:extLst>
              <a:ext uri="{FF2B5EF4-FFF2-40B4-BE49-F238E27FC236}">
                <a16:creationId xmlns:a16="http://schemas.microsoft.com/office/drawing/2014/main" id="{40E15FCF-BB0B-525D-D4E8-851FAB41B533}"/>
              </a:ext>
            </a:extLst>
          </p:cNvPr>
          <p:cNvSpPr>
            <a:spLocks noGrp="1"/>
          </p:cNvSpPr>
          <p:nvPr>
            <p:ph type="ftr" sz="quarter" idx="11"/>
          </p:nvPr>
        </p:nvSpPr>
        <p:spPr/>
        <p:txBody>
          <a:bodyPr/>
          <a:lstStyle/>
          <a:p>
            <a:r>
              <a:rPr lang="en-IN"/>
              <a:t>Review 1.3</a:t>
            </a:r>
          </a:p>
        </p:txBody>
      </p:sp>
      <p:sp>
        <p:nvSpPr>
          <p:cNvPr id="6" name="Slide Number Placeholder 5">
            <a:extLst>
              <a:ext uri="{FF2B5EF4-FFF2-40B4-BE49-F238E27FC236}">
                <a16:creationId xmlns:a16="http://schemas.microsoft.com/office/drawing/2014/main" id="{2FFB6306-B9F4-9EB4-FB9B-C2E0C6FF73B6}"/>
              </a:ext>
            </a:extLst>
          </p:cNvPr>
          <p:cNvSpPr>
            <a:spLocks noGrp="1"/>
          </p:cNvSpPr>
          <p:nvPr>
            <p:ph type="sldNum" sz="quarter" idx="12"/>
          </p:nvPr>
        </p:nvSpPr>
        <p:spPr/>
        <p:txBody>
          <a:bodyPr/>
          <a:lstStyle/>
          <a:p>
            <a:fld id="{1CCCFFBF-4DCD-46DE-85E1-69841FB49368}" type="slidenum">
              <a:rPr lang="en-IN" smtClean="0"/>
              <a:t>‹#›</a:t>
            </a:fld>
            <a:endParaRPr lang="en-IN"/>
          </a:p>
        </p:txBody>
      </p:sp>
    </p:spTree>
    <p:extLst>
      <p:ext uri="{BB962C8B-B14F-4D97-AF65-F5344CB8AC3E}">
        <p14:creationId xmlns:p14="http://schemas.microsoft.com/office/powerpoint/2010/main" val="40418814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46B1BB-9762-9CD2-389C-0A5DD3B1F56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07C1483-E424-4334-E341-75B518E58ED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8762C47-FD3D-1A67-4A93-71EA42C5296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12D3408-8B40-760B-A753-783669F79137}"/>
              </a:ext>
            </a:extLst>
          </p:cNvPr>
          <p:cNvSpPr>
            <a:spLocks noGrp="1"/>
          </p:cNvSpPr>
          <p:nvPr>
            <p:ph type="dt" sz="half" idx="10"/>
          </p:nvPr>
        </p:nvSpPr>
        <p:spPr/>
        <p:txBody>
          <a:bodyPr/>
          <a:lstStyle/>
          <a:p>
            <a:fld id="{763C57E0-F0B6-4983-9AB2-DFD27A785C75}" type="datetime1">
              <a:rPr lang="en-IN" smtClean="0"/>
              <a:t>09-02-2026</a:t>
            </a:fld>
            <a:endParaRPr lang="en-IN"/>
          </a:p>
        </p:txBody>
      </p:sp>
      <p:sp>
        <p:nvSpPr>
          <p:cNvPr id="6" name="Footer Placeholder 5">
            <a:extLst>
              <a:ext uri="{FF2B5EF4-FFF2-40B4-BE49-F238E27FC236}">
                <a16:creationId xmlns:a16="http://schemas.microsoft.com/office/drawing/2014/main" id="{4649D7A8-72B5-6D2F-1C0E-BBA75C2D2B13}"/>
              </a:ext>
            </a:extLst>
          </p:cNvPr>
          <p:cNvSpPr>
            <a:spLocks noGrp="1"/>
          </p:cNvSpPr>
          <p:nvPr>
            <p:ph type="ftr" sz="quarter" idx="11"/>
          </p:nvPr>
        </p:nvSpPr>
        <p:spPr/>
        <p:txBody>
          <a:bodyPr/>
          <a:lstStyle/>
          <a:p>
            <a:r>
              <a:rPr lang="en-IN"/>
              <a:t>Review 1.3</a:t>
            </a:r>
          </a:p>
        </p:txBody>
      </p:sp>
      <p:sp>
        <p:nvSpPr>
          <p:cNvPr id="7" name="Slide Number Placeholder 6">
            <a:extLst>
              <a:ext uri="{FF2B5EF4-FFF2-40B4-BE49-F238E27FC236}">
                <a16:creationId xmlns:a16="http://schemas.microsoft.com/office/drawing/2014/main" id="{E5F049B4-CDDF-85C8-0582-F25EDC8F8F87}"/>
              </a:ext>
            </a:extLst>
          </p:cNvPr>
          <p:cNvSpPr>
            <a:spLocks noGrp="1"/>
          </p:cNvSpPr>
          <p:nvPr>
            <p:ph type="sldNum" sz="quarter" idx="12"/>
          </p:nvPr>
        </p:nvSpPr>
        <p:spPr/>
        <p:txBody>
          <a:bodyPr/>
          <a:lstStyle/>
          <a:p>
            <a:fld id="{1CCCFFBF-4DCD-46DE-85E1-69841FB49368}" type="slidenum">
              <a:rPr lang="en-IN" smtClean="0"/>
              <a:t>‹#›</a:t>
            </a:fld>
            <a:endParaRPr lang="en-IN"/>
          </a:p>
        </p:txBody>
      </p:sp>
    </p:spTree>
    <p:extLst>
      <p:ext uri="{BB962C8B-B14F-4D97-AF65-F5344CB8AC3E}">
        <p14:creationId xmlns:p14="http://schemas.microsoft.com/office/powerpoint/2010/main" val="42246371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1D7A58-433F-859B-67A2-9EBB997E56A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A5E1DAF-6DB8-F6EF-568B-8E3B52FB5D7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D34A187-A2D7-9D35-15B2-6BE64CF6E65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4D41396-D400-3219-4DED-BDDF6013C43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E786F65-1274-3888-F1C5-1C115CDCC68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40EE9C5-A22F-88D2-D355-A938E3916774}"/>
              </a:ext>
            </a:extLst>
          </p:cNvPr>
          <p:cNvSpPr>
            <a:spLocks noGrp="1"/>
          </p:cNvSpPr>
          <p:nvPr>
            <p:ph type="dt" sz="half" idx="10"/>
          </p:nvPr>
        </p:nvSpPr>
        <p:spPr/>
        <p:txBody>
          <a:bodyPr/>
          <a:lstStyle/>
          <a:p>
            <a:fld id="{94A94853-7B92-452D-AA3E-163D8316F795}" type="datetime1">
              <a:rPr lang="en-IN" smtClean="0"/>
              <a:t>09-02-2026</a:t>
            </a:fld>
            <a:endParaRPr lang="en-IN"/>
          </a:p>
        </p:txBody>
      </p:sp>
      <p:sp>
        <p:nvSpPr>
          <p:cNvPr id="8" name="Footer Placeholder 7">
            <a:extLst>
              <a:ext uri="{FF2B5EF4-FFF2-40B4-BE49-F238E27FC236}">
                <a16:creationId xmlns:a16="http://schemas.microsoft.com/office/drawing/2014/main" id="{DCD581C7-A739-D19C-6964-5FA694A76A80}"/>
              </a:ext>
            </a:extLst>
          </p:cNvPr>
          <p:cNvSpPr>
            <a:spLocks noGrp="1"/>
          </p:cNvSpPr>
          <p:nvPr>
            <p:ph type="ftr" sz="quarter" idx="11"/>
          </p:nvPr>
        </p:nvSpPr>
        <p:spPr/>
        <p:txBody>
          <a:bodyPr/>
          <a:lstStyle/>
          <a:p>
            <a:r>
              <a:rPr lang="en-IN"/>
              <a:t>Review 1.3</a:t>
            </a:r>
          </a:p>
        </p:txBody>
      </p:sp>
      <p:sp>
        <p:nvSpPr>
          <p:cNvPr id="9" name="Slide Number Placeholder 8">
            <a:extLst>
              <a:ext uri="{FF2B5EF4-FFF2-40B4-BE49-F238E27FC236}">
                <a16:creationId xmlns:a16="http://schemas.microsoft.com/office/drawing/2014/main" id="{93B20310-AC03-6B30-440E-5408D3219951}"/>
              </a:ext>
            </a:extLst>
          </p:cNvPr>
          <p:cNvSpPr>
            <a:spLocks noGrp="1"/>
          </p:cNvSpPr>
          <p:nvPr>
            <p:ph type="sldNum" sz="quarter" idx="12"/>
          </p:nvPr>
        </p:nvSpPr>
        <p:spPr/>
        <p:txBody>
          <a:bodyPr/>
          <a:lstStyle/>
          <a:p>
            <a:fld id="{1CCCFFBF-4DCD-46DE-85E1-69841FB49368}" type="slidenum">
              <a:rPr lang="en-IN" smtClean="0"/>
              <a:t>‹#›</a:t>
            </a:fld>
            <a:endParaRPr lang="en-IN"/>
          </a:p>
        </p:txBody>
      </p:sp>
    </p:spTree>
    <p:extLst>
      <p:ext uri="{BB962C8B-B14F-4D97-AF65-F5344CB8AC3E}">
        <p14:creationId xmlns:p14="http://schemas.microsoft.com/office/powerpoint/2010/main" val="33937312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592C36-4CEE-CFA3-F050-269EDE191E2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2EEEE2B-7DA3-20C4-BF38-C0803C0CF1E9}"/>
              </a:ext>
            </a:extLst>
          </p:cNvPr>
          <p:cNvSpPr>
            <a:spLocks noGrp="1"/>
          </p:cNvSpPr>
          <p:nvPr>
            <p:ph type="dt" sz="half" idx="10"/>
          </p:nvPr>
        </p:nvSpPr>
        <p:spPr/>
        <p:txBody>
          <a:bodyPr/>
          <a:lstStyle/>
          <a:p>
            <a:fld id="{0CE95790-CE47-4E69-A599-E15E6423C45F}" type="datetime1">
              <a:rPr lang="en-IN" smtClean="0"/>
              <a:t>09-02-2026</a:t>
            </a:fld>
            <a:endParaRPr lang="en-IN"/>
          </a:p>
        </p:txBody>
      </p:sp>
      <p:sp>
        <p:nvSpPr>
          <p:cNvPr id="4" name="Footer Placeholder 3">
            <a:extLst>
              <a:ext uri="{FF2B5EF4-FFF2-40B4-BE49-F238E27FC236}">
                <a16:creationId xmlns:a16="http://schemas.microsoft.com/office/drawing/2014/main" id="{7203F414-0EF9-5AD1-AB2F-E2B99D709842}"/>
              </a:ext>
            </a:extLst>
          </p:cNvPr>
          <p:cNvSpPr>
            <a:spLocks noGrp="1"/>
          </p:cNvSpPr>
          <p:nvPr>
            <p:ph type="ftr" sz="quarter" idx="11"/>
          </p:nvPr>
        </p:nvSpPr>
        <p:spPr/>
        <p:txBody>
          <a:bodyPr/>
          <a:lstStyle/>
          <a:p>
            <a:r>
              <a:rPr lang="en-IN"/>
              <a:t>Review 1.3</a:t>
            </a:r>
          </a:p>
        </p:txBody>
      </p:sp>
      <p:sp>
        <p:nvSpPr>
          <p:cNvPr id="5" name="Slide Number Placeholder 4">
            <a:extLst>
              <a:ext uri="{FF2B5EF4-FFF2-40B4-BE49-F238E27FC236}">
                <a16:creationId xmlns:a16="http://schemas.microsoft.com/office/drawing/2014/main" id="{09BA6A99-6498-47E0-90D3-813B1133CF33}"/>
              </a:ext>
            </a:extLst>
          </p:cNvPr>
          <p:cNvSpPr>
            <a:spLocks noGrp="1"/>
          </p:cNvSpPr>
          <p:nvPr>
            <p:ph type="sldNum" sz="quarter" idx="12"/>
          </p:nvPr>
        </p:nvSpPr>
        <p:spPr/>
        <p:txBody>
          <a:bodyPr/>
          <a:lstStyle/>
          <a:p>
            <a:fld id="{1CCCFFBF-4DCD-46DE-85E1-69841FB49368}" type="slidenum">
              <a:rPr lang="en-IN" smtClean="0"/>
              <a:t>‹#›</a:t>
            </a:fld>
            <a:endParaRPr lang="en-IN"/>
          </a:p>
        </p:txBody>
      </p:sp>
    </p:spTree>
    <p:extLst>
      <p:ext uri="{BB962C8B-B14F-4D97-AF65-F5344CB8AC3E}">
        <p14:creationId xmlns:p14="http://schemas.microsoft.com/office/powerpoint/2010/main" val="8935021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C01FD6B-6636-B51F-2958-579B67FB813B}"/>
              </a:ext>
            </a:extLst>
          </p:cNvPr>
          <p:cNvSpPr>
            <a:spLocks noGrp="1"/>
          </p:cNvSpPr>
          <p:nvPr>
            <p:ph type="dt" sz="half" idx="10"/>
          </p:nvPr>
        </p:nvSpPr>
        <p:spPr/>
        <p:txBody>
          <a:bodyPr/>
          <a:lstStyle/>
          <a:p>
            <a:fld id="{A65498C3-4B27-4C67-9847-0971B464EF5C}" type="datetime1">
              <a:rPr lang="en-IN" smtClean="0"/>
              <a:t>09-02-2026</a:t>
            </a:fld>
            <a:endParaRPr lang="en-IN"/>
          </a:p>
        </p:txBody>
      </p:sp>
      <p:sp>
        <p:nvSpPr>
          <p:cNvPr id="3" name="Footer Placeholder 2">
            <a:extLst>
              <a:ext uri="{FF2B5EF4-FFF2-40B4-BE49-F238E27FC236}">
                <a16:creationId xmlns:a16="http://schemas.microsoft.com/office/drawing/2014/main" id="{B02F95F5-47E0-7117-0F47-1FB38ACF78C8}"/>
              </a:ext>
            </a:extLst>
          </p:cNvPr>
          <p:cNvSpPr>
            <a:spLocks noGrp="1"/>
          </p:cNvSpPr>
          <p:nvPr>
            <p:ph type="ftr" sz="quarter" idx="11"/>
          </p:nvPr>
        </p:nvSpPr>
        <p:spPr/>
        <p:txBody>
          <a:bodyPr/>
          <a:lstStyle/>
          <a:p>
            <a:r>
              <a:rPr lang="en-IN"/>
              <a:t>Review 1.3</a:t>
            </a:r>
          </a:p>
        </p:txBody>
      </p:sp>
      <p:sp>
        <p:nvSpPr>
          <p:cNvPr id="4" name="Slide Number Placeholder 3">
            <a:extLst>
              <a:ext uri="{FF2B5EF4-FFF2-40B4-BE49-F238E27FC236}">
                <a16:creationId xmlns:a16="http://schemas.microsoft.com/office/drawing/2014/main" id="{A5D81218-8E82-5289-ABDD-662BB7622869}"/>
              </a:ext>
            </a:extLst>
          </p:cNvPr>
          <p:cNvSpPr>
            <a:spLocks noGrp="1"/>
          </p:cNvSpPr>
          <p:nvPr>
            <p:ph type="sldNum" sz="quarter" idx="12"/>
          </p:nvPr>
        </p:nvSpPr>
        <p:spPr/>
        <p:txBody>
          <a:bodyPr/>
          <a:lstStyle/>
          <a:p>
            <a:fld id="{1CCCFFBF-4DCD-46DE-85E1-69841FB49368}" type="slidenum">
              <a:rPr lang="en-IN" smtClean="0"/>
              <a:t>‹#›</a:t>
            </a:fld>
            <a:endParaRPr lang="en-IN"/>
          </a:p>
        </p:txBody>
      </p:sp>
    </p:spTree>
    <p:extLst>
      <p:ext uri="{BB962C8B-B14F-4D97-AF65-F5344CB8AC3E}">
        <p14:creationId xmlns:p14="http://schemas.microsoft.com/office/powerpoint/2010/main" val="26262131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BA8CB-39BF-00B2-96F4-AF006926B7A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8027B58B-F599-67B9-F577-8AE3778F1F6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FF44A15-EF80-87F8-45EE-BE04C59DC3A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F4D515F-29A2-D9FC-5B8B-4BDF7B48CFB8}"/>
              </a:ext>
            </a:extLst>
          </p:cNvPr>
          <p:cNvSpPr>
            <a:spLocks noGrp="1"/>
          </p:cNvSpPr>
          <p:nvPr>
            <p:ph type="dt" sz="half" idx="10"/>
          </p:nvPr>
        </p:nvSpPr>
        <p:spPr/>
        <p:txBody>
          <a:bodyPr/>
          <a:lstStyle/>
          <a:p>
            <a:fld id="{82C9B323-F0E4-46FE-ACA5-C1BFAE1E7A00}" type="datetime1">
              <a:rPr lang="en-IN" smtClean="0"/>
              <a:t>09-02-2026</a:t>
            </a:fld>
            <a:endParaRPr lang="en-IN"/>
          </a:p>
        </p:txBody>
      </p:sp>
      <p:sp>
        <p:nvSpPr>
          <p:cNvPr id="6" name="Footer Placeholder 5">
            <a:extLst>
              <a:ext uri="{FF2B5EF4-FFF2-40B4-BE49-F238E27FC236}">
                <a16:creationId xmlns:a16="http://schemas.microsoft.com/office/drawing/2014/main" id="{04204EB7-F07C-3CB5-B86B-BF4DBD6707A0}"/>
              </a:ext>
            </a:extLst>
          </p:cNvPr>
          <p:cNvSpPr>
            <a:spLocks noGrp="1"/>
          </p:cNvSpPr>
          <p:nvPr>
            <p:ph type="ftr" sz="quarter" idx="11"/>
          </p:nvPr>
        </p:nvSpPr>
        <p:spPr/>
        <p:txBody>
          <a:bodyPr/>
          <a:lstStyle/>
          <a:p>
            <a:r>
              <a:rPr lang="en-IN"/>
              <a:t>Review 1.3</a:t>
            </a:r>
          </a:p>
        </p:txBody>
      </p:sp>
      <p:sp>
        <p:nvSpPr>
          <p:cNvPr id="7" name="Slide Number Placeholder 6">
            <a:extLst>
              <a:ext uri="{FF2B5EF4-FFF2-40B4-BE49-F238E27FC236}">
                <a16:creationId xmlns:a16="http://schemas.microsoft.com/office/drawing/2014/main" id="{18A8C99B-5CFE-F25A-E5C6-2E3686F5DB16}"/>
              </a:ext>
            </a:extLst>
          </p:cNvPr>
          <p:cNvSpPr>
            <a:spLocks noGrp="1"/>
          </p:cNvSpPr>
          <p:nvPr>
            <p:ph type="sldNum" sz="quarter" idx="12"/>
          </p:nvPr>
        </p:nvSpPr>
        <p:spPr/>
        <p:txBody>
          <a:bodyPr/>
          <a:lstStyle/>
          <a:p>
            <a:fld id="{1CCCFFBF-4DCD-46DE-85E1-69841FB49368}" type="slidenum">
              <a:rPr lang="en-IN" smtClean="0"/>
              <a:t>‹#›</a:t>
            </a:fld>
            <a:endParaRPr lang="en-IN"/>
          </a:p>
        </p:txBody>
      </p:sp>
    </p:spTree>
    <p:extLst>
      <p:ext uri="{BB962C8B-B14F-4D97-AF65-F5344CB8AC3E}">
        <p14:creationId xmlns:p14="http://schemas.microsoft.com/office/powerpoint/2010/main" val="17979586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6A6C5D-8821-254F-C8CB-673F5A04F12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B431A56-BD85-B668-073F-994A645D759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58C1384-6AAC-60FB-BF95-D54229A7361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843BF8A-9B24-7A35-3814-04A91B4AC24A}"/>
              </a:ext>
            </a:extLst>
          </p:cNvPr>
          <p:cNvSpPr>
            <a:spLocks noGrp="1"/>
          </p:cNvSpPr>
          <p:nvPr>
            <p:ph type="dt" sz="half" idx="10"/>
          </p:nvPr>
        </p:nvSpPr>
        <p:spPr/>
        <p:txBody>
          <a:bodyPr/>
          <a:lstStyle/>
          <a:p>
            <a:fld id="{34B72575-D5B3-4994-A14E-77743A4E9592}" type="datetime1">
              <a:rPr lang="en-IN" smtClean="0"/>
              <a:t>09-02-2026</a:t>
            </a:fld>
            <a:endParaRPr lang="en-IN"/>
          </a:p>
        </p:txBody>
      </p:sp>
      <p:sp>
        <p:nvSpPr>
          <p:cNvPr id="6" name="Footer Placeholder 5">
            <a:extLst>
              <a:ext uri="{FF2B5EF4-FFF2-40B4-BE49-F238E27FC236}">
                <a16:creationId xmlns:a16="http://schemas.microsoft.com/office/drawing/2014/main" id="{593EAE6A-C01B-08CE-DAFC-D0B0C1707B33}"/>
              </a:ext>
            </a:extLst>
          </p:cNvPr>
          <p:cNvSpPr>
            <a:spLocks noGrp="1"/>
          </p:cNvSpPr>
          <p:nvPr>
            <p:ph type="ftr" sz="quarter" idx="11"/>
          </p:nvPr>
        </p:nvSpPr>
        <p:spPr/>
        <p:txBody>
          <a:bodyPr/>
          <a:lstStyle/>
          <a:p>
            <a:r>
              <a:rPr lang="en-IN"/>
              <a:t>Review 1.3</a:t>
            </a:r>
          </a:p>
        </p:txBody>
      </p:sp>
      <p:sp>
        <p:nvSpPr>
          <p:cNvPr id="7" name="Slide Number Placeholder 6">
            <a:extLst>
              <a:ext uri="{FF2B5EF4-FFF2-40B4-BE49-F238E27FC236}">
                <a16:creationId xmlns:a16="http://schemas.microsoft.com/office/drawing/2014/main" id="{197CAC27-7D7B-1B47-81F2-2F2BE9D238E8}"/>
              </a:ext>
            </a:extLst>
          </p:cNvPr>
          <p:cNvSpPr>
            <a:spLocks noGrp="1"/>
          </p:cNvSpPr>
          <p:nvPr>
            <p:ph type="sldNum" sz="quarter" idx="12"/>
          </p:nvPr>
        </p:nvSpPr>
        <p:spPr/>
        <p:txBody>
          <a:bodyPr/>
          <a:lstStyle/>
          <a:p>
            <a:fld id="{1CCCFFBF-4DCD-46DE-85E1-69841FB49368}" type="slidenum">
              <a:rPr lang="en-IN" smtClean="0"/>
              <a:t>‹#›</a:t>
            </a:fld>
            <a:endParaRPr lang="en-IN"/>
          </a:p>
        </p:txBody>
      </p:sp>
    </p:spTree>
    <p:extLst>
      <p:ext uri="{BB962C8B-B14F-4D97-AF65-F5344CB8AC3E}">
        <p14:creationId xmlns:p14="http://schemas.microsoft.com/office/powerpoint/2010/main" val="17228757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21E264-0D6B-1AEB-DB25-46F79A4A348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F6080E1-9F61-1A94-0E61-24E71E47CE6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3BDF4F0-5C04-F038-B359-0405724E39B3}"/>
              </a:ext>
            </a:extLst>
          </p:cNvPr>
          <p:cNvSpPr>
            <a:spLocks noGrp="1"/>
          </p:cNvSpPr>
          <p:nvPr>
            <p:ph type="dt" sz="half" idx="10"/>
          </p:nvPr>
        </p:nvSpPr>
        <p:spPr/>
        <p:txBody>
          <a:bodyPr/>
          <a:lstStyle/>
          <a:p>
            <a:fld id="{0A2CC7DE-3EF0-4304-919A-BE8995EDAA73}" type="datetime1">
              <a:rPr lang="en-IN" smtClean="0"/>
              <a:t>09-02-2026</a:t>
            </a:fld>
            <a:endParaRPr lang="en-IN"/>
          </a:p>
        </p:txBody>
      </p:sp>
      <p:sp>
        <p:nvSpPr>
          <p:cNvPr id="5" name="Footer Placeholder 4">
            <a:extLst>
              <a:ext uri="{FF2B5EF4-FFF2-40B4-BE49-F238E27FC236}">
                <a16:creationId xmlns:a16="http://schemas.microsoft.com/office/drawing/2014/main" id="{EA0C9D8A-F3EC-361C-E210-2CE20B902DF2}"/>
              </a:ext>
            </a:extLst>
          </p:cNvPr>
          <p:cNvSpPr>
            <a:spLocks noGrp="1"/>
          </p:cNvSpPr>
          <p:nvPr>
            <p:ph type="ftr" sz="quarter" idx="11"/>
          </p:nvPr>
        </p:nvSpPr>
        <p:spPr/>
        <p:txBody>
          <a:bodyPr/>
          <a:lstStyle/>
          <a:p>
            <a:r>
              <a:rPr lang="en-IN"/>
              <a:t>Review 1.3</a:t>
            </a:r>
          </a:p>
        </p:txBody>
      </p:sp>
      <p:sp>
        <p:nvSpPr>
          <p:cNvPr id="6" name="Slide Number Placeholder 5">
            <a:extLst>
              <a:ext uri="{FF2B5EF4-FFF2-40B4-BE49-F238E27FC236}">
                <a16:creationId xmlns:a16="http://schemas.microsoft.com/office/drawing/2014/main" id="{11B165DC-93FA-A300-25DD-7F83B032216D}"/>
              </a:ext>
            </a:extLst>
          </p:cNvPr>
          <p:cNvSpPr>
            <a:spLocks noGrp="1"/>
          </p:cNvSpPr>
          <p:nvPr>
            <p:ph type="sldNum" sz="quarter" idx="12"/>
          </p:nvPr>
        </p:nvSpPr>
        <p:spPr/>
        <p:txBody>
          <a:bodyPr/>
          <a:lstStyle/>
          <a:p>
            <a:fld id="{1CCCFFBF-4DCD-46DE-85E1-69841FB49368}" type="slidenum">
              <a:rPr lang="en-IN" smtClean="0"/>
              <a:t>‹#›</a:t>
            </a:fld>
            <a:endParaRPr lang="en-IN"/>
          </a:p>
        </p:txBody>
      </p:sp>
    </p:spTree>
    <p:extLst>
      <p:ext uri="{BB962C8B-B14F-4D97-AF65-F5344CB8AC3E}">
        <p14:creationId xmlns:p14="http://schemas.microsoft.com/office/powerpoint/2010/main" val="4890745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DABE380-EB2E-19A4-7ECA-63D5496898D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C16AE81-2BDF-4BB4-CD34-2F49180A7A6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97A1AA9-FC00-D5AA-4F79-767B3AA22AE0}"/>
              </a:ext>
            </a:extLst>
          </p:cNvPr>
          <p:cNvSpPr>
            <a:spLocks noGrp="1"/>
          </p:cNvSpPr>
          <p:nvPr>
            <p:ph type="dt" sz="half" idx="10"/>
          </p:nvPr>
        </p:nvSpPr>
        <p:spPr/>
        <p:txBody>
          <a:bodyPr/>
          <a:lstStyle/>
          <a:p>
            <a:fld id="{12C5F899-C02C-4246-B819-1294AC7493C8}" type="datetime1">
              <a:rPr lang="en-IN" smtClean="0"/>
              <a:t>09-02-2026</a:t>
            </a:fld>
            <a:endParaRPr lang="en-IN"/>
          </a:p>
        </p:txBody>
      </p:sp>
      <p:sp>
        <p:nvSpPr>
          <p:cNvPr id="5" name="Footer Placeholder 4">
            <a:extLst>
              <a:ext uri="{FF2B5EF4-FFF2-40B4-BE49-F238E27FC236}">
                <a16:creationId xmlns:a16="http://schemas.microsoft.com/office/drawing/2014/main" id="{2A08C137-B1FC-88E1-281E-FDA9237C92B3}"/>
              </a:ext>
            </a:extLst>
          </p:cNvPr>
          <p:cNvSpPr>
            <a:spLocks noGrp="1"/>
          </p:cNvSpPr>
          <p:nvPr>
            <p:ph type="ftr" sz="quarter" idx="11"/>
          </p:nvPr>
        </p:nvSpPr>
        <p:spPr/>
        <p:txBody>
          <a:bodyPr/>
          <a:lstStyle/>
          <a:p>
            <a:r>
              <a:rPr lang="en-IN"/>
              <a:t>Review 1.3</a:t>
            </a:r>
          </a:p>
        </p:txBody>
      </p:sp>
      <p:sp>
        <p:nvSpPr>
          <p:cNvPr id="6" name="Slide Number Placeholder 5">
            <a:extLst>
              <a:ext uri="{FF2B5EF4-FFF2-40B4-BE49-F238E27FC236}">
                <a16:creationId xmlns:a16="http://schemas.microsoft.com/office/drawing/2014/main" id="{CFEB0744-824F-29C6-B9DD-C10644C9DFBD}"/>
              </a:ext>
            </a:extLst>
          </p:cNvPr>
          <p:cNvSpPr>
            <a:spLocks noGrp="1"/>
          </p:cNvSpPr>
          <p:nvPr>
            <p:ph type="sldNum" sz="quarter" idx="12"/>
          </p:nvPr>
        </p:nvSpPr>
        <p:spPr/>
        <p:txBody>
          <a:bodyPr/>
          <a:lstStyle/>
          <a:p>
            <a:fld id="{1CCCFFBF-4DCD-46DE-85E1-69841FB49368}" type="slidenum">
              <a:rPr lang="en-IN" smtClean="0"/>
              <a:t>‹#›</a:t>
            </a:fld>
            <a:endParaRPr lang="en-IN"/>
          </a:p>
        </p:txBody>
      </p:sp>
    </p:spTree>
    <p:extLst>
      <p:ext uri="{BB962C8B-B14F-4D97-AF65-F5344CB8AC3E}">
        <p14:creationId xmlns:p14="http://schemas.microsoft.com/office/powerpoint/2010/main" val="24409951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3929BA6-AB7D-7547-DD79-56F8EDBF57F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1031319-B695-C1C1-F31A-D97698AD41C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8E93FB6-9A41-9EC5-A137-0F5605D4ABE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53B41DD-E271-4DD3-BF71-7885E38FE432}" type="datetime1">
              <a:rPr lang="en-IN" smtClean="0"/>
              <a:t>09-02-2026</a:t>
            </a:fld>
            <a:endParaRPr lang="en-IN"/>
          </a:p>
        </p:txBody>
      </p:sp>
      <p:sp>
        <p:nvSpPr>
          <p:cNvPr id="5" name="Footer Placeholder 4">
            <a:extLst>
              <a:ext uri="{FF2B5EF4-FFF2-40B4-BE49-F238E27FC236}">
                <a16:creationId xmlns:a16="http://schemas.microsoft.com/office/drawing/2014/main" id="{CACB2068-E82E-7B38-FC5E-5F23063D3E6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Review 1.3</a:t>
            </a:r>
          </a:p>
        </p:txBody>
      </p:sp>
      <p:sp>
        <p:nvSpPr>
          <p:cNvPr id="6" name="Slide Number Placeholder 5">
            <a:extLst>
              <a:ext uri="{FF2B5EF4-FFF2-40B4-BE49-F238E27FC236}">
                <a16:creationId xmlns:a16="http://schemas.microsoft.com/office/drawing/2014/main" id="{4366DAEE-F66D-EBD2-8998-E41BFC7E136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CCCFFBF-4DCD-46DE-85E1-69841FB49368}" type="slidenum">
              <a:rPr lang="en-IN" smtClean="0"/>
              <a:t>‹#›</a:t>
            </a:fld>
            <a:endParaRPr lang="en-IN"/>
          </a:p>
        </p:txBody>
      </p:sp>
    </p:spTree>
    <p:extLst>
      <p:ext uri="{BB962C8B-B14F-4D97-AF65-F5344CB8AC3E}">
        <p14:creationId xmlns:p14="http://schemas.microsoft.com/office/powerpoint/2010/main" val="41938376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gif"/></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18.jpeg"/></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24.jpeg"/></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customXml" Target="../ink/ink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doi.org/10.1109/TAP.2022.3199567" TargetMode="Externa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748C5DBA-7669-B3A3-1FE0-82F3E34E2D96}"/>
              </a:ext>
            </a:extLst>
          </p:cNvPr>
          <p:cNvSpPr>
            <a:spLocks noGrp="1"/>
          </p:cNvSpPr>
          <p:nvPr>
            <p:ph type="subTitle" idx="1"/>
          </p:nvPr>
        </p:nvSpPr>
        <p:spPr>
          <a:xfrm>
            <a:off x="178904" y="609504"/>
            <a:ext cx="11867322" cy="5652149"/>
          </a:xfrm>
        </p:spPr>
        <p:txBody>
          <a:bodyPr vert="horz" lIns="91440" tIns="45720" rIns="91440" bIns="45720" rtlCol="0" anchor="t">
            <a:normAutofit/>
          </a:bodyPr>
          <a:lstStyle/>
          <a:p>
            <a:r>
              <a:rPr lang="en-US" b="1">
                <a:solidFill>
                  <a:srgbClr val="C00000"/>
                </a:solidFill>
                <a:latin typeface="Times New Roman"/>
                <a:cs typeface="Times New Roman"/>
              </a:rPr>
              <a:t>Review 2.2</a:t>
            </a:r>
            <a:endParaRPr lang="en-US" b="1">
              <a:solidFill>
                <a:srgbClr val="C00000"/>
              </a:solidFill>
              <a:latin typeface="Times New Roman" panose="02020603050405020304" pitchFamily="18" charset="0"/>
              <a:cs typeface="Times New Roman" panose="02020603050405020304" pitchFamily="18" charset="0"/>
            </a:endParaRPr>
          </a:p>
          <a:p>
            <a:r>
              <a:rPr lang="en-US" b="1" u="sng">
                <a:latin typeface="Times New Roman"/>
                <a:cs typeface="Times New Roman"/>
              </a:rPr>
              <a:t>B. Tech. Project  (19ECE495)</a:t>
            </a:r>
            <a:endParaRPr lang="en-IN">
              <a:latin typeface="Times New Roman"/>
              <a:cs typeface="Times New Roman"/>
            </a:endParaRPr>
          </a:p>
          <a:p>
            <a:r>
              <a:rPr lang="en-US">
                <a:latin typeface="Times New Roman"/>
                <a:cs typeface="Times New Roman"/>
              </a:rPr>
              <a:t>Batch ID: </a:t>
            </a:r>
            <a:r>
              <a:rPr lang="en-US" b="1">
                <a:solidFill>
                  <a:srgbClr val="C00000"/>
                </a:solidFill>
                <a:latin typeface="Times New Roman"/>
                <a:cs typeface="Times New Roman"/>
              </a:rPr>
              <a:t>070</a:t>
            </a:r>
            <a:endParaRPr lang="en-US" b="1">
              <a:solidFill>
                <a:srgbClr val="C00000"/>
              </a:solidFill>
              <a:latin typeface="Times New Roman" panose="02020603050405020304" pitchFamily="18" charset="0"/>
              <a:cs typeface="Times New Roman" panose="02020603050405020304" pitchFamily="18" charset="0"/>
            </a:endParaRPr>
          </a:p>
          <a:p>
            <a:endParaRPr lang="en-US" b="1">
              <a:solidFill>
                <a:srgbClr val="C00000"/>
              </a:solidFill>
              <a:cs typeface="Calibri"/>
            </a:endParaRPr>
          </a:p>
          <a:p>
            <a:r>
              <a:rPr lang="en-US" b="1">
                <a:latin typeface="Times New Roman"/>
                <a:cs typeface="Times New Roman"/>
              </a:rPr>
              <a:t>Mutual coupling reduction in MIMO Patch Antenna Array for Wi-Fi and Bluetooth applications</a:t>
            </a:r>
            <a:endParaRPr lang="en-US"/>
          </a:p>
          <a:p>
            <a:pPr algn="r">
              <a:lnSpc>
                <a:spcPct val="150000"/>
              </a:lnSpc>
            </a:pPr>
            <a:endParaRPr lang="en-US" sz="1600" b="1">
              <a:latin typeface="Times New Roman"/>
              <a:cs typeface="Times New Roman"/>
            </a:endParaRPr>
          </a:p>
          <a:p>
            <a:pPr algn="r">
              <a:lnSpc>
                <a:spcPct val="150000"/>
              </a:lnSpc>
            </a:pPr>
            <a:endParaRPr lang="en-US" sz="1600" b="1">
              <a:latin typeface="Times New Roman"/>
              <a:cs typeface="Times New Roman"/>
            </a:endParaRPr>
          </a:p>
          <a:p>
            <a:pPr algn="r">
              <a:lnSpc>
                <a:spcPct val="150000"/>
              </a:lnSpc>
            </a:pPr>
            <a:r>
              <a:rPr lang="en-US" sz="2000" b="1">
                <a:latin typeface="Times New Roman"/>
                <a:cs typeface="Times New Roman"/>
              </a:rPr>
              <a:t>MENTOR</a:t>
            </a:r>
            <a:r>
              <a:rPr lang="en-US" sz="2000">
                <a:latin typeface="Times New Roman"/>
                <a:cs typeface="Times New Roman"/>
              </a:rPr>
              <a:t>:  Ms. V. MEKALADEVI </a:t>
            </a:r>
          </a:p>
          <a:p>
            <a:pPr algn="r"/>
            <a:r>
              <a:rPr lang="en-US" sz="1600">
                <a:latin typeface="Times New Roman"/>
                <a:cs typeface="Times New Roman"/>
              </a:rPr>
              <a:t>Dept. of Elec. and Commn. Engg. </a:t>
            </a:r>
          </a:p>
          <a:p>
            <a:pPr algn="r"/>
            <a:r>
              <a:rPr lang="en-US" sz="1600">
                <a:latin typeface="Times New Roman"/>
                <a:cs typeface="Times New Roman"/>
              </a:rPr>
              <a:t>Amrita School of Engineering, Coimbatore</a:t>
            </a:r>
          </a:p>
          <a:p>
            <a:endParaRPr lang="en-IN"/>
          </a:p>
        </p:txBody>
      </p:sp>
      <p:pic>
        <p:nvPicPr>
          <p:cNvPr id="4" name="Picture 3">
            <a:extLst>
              <a:ext uri="{FF2B5EF4-FFF2-40B4-BE49-F238E27FC236}">
                <a16:creationId xmlns:a16="http://schemas.microsoft.com/office/drawing/2014/main" id="{CE238DF5-47ED-F5E6-3A81-B8FAA9ECDF0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92871" y="-31376"/>
            <a:ext cx="1999129" cy="591742"/>
          </a:xfrm>
          <a:prstGeom prst="rect">
            <a:avLst/>
          </a:prstGeom>
        </p:spPr>
      </p:pic>
      <p:sp>
        <p:nvSpPr>
          <p:cNvPr id="5" name="Date Placeholder 4">
            <a:extLst>
              <a:ext uri="{FF2B5EF4-FFF2-40B4-BE49-F238E27FC236}">
                <a16:creationId xmlns:a16="http://schemas.microsoft.com/office/drawing/2014/main" id="{BF0B6189-DEAD-9B52-80B9-FC064616B4E4}"/>
              </a:ext>
            </a:extLst>
          </p:cNvPr>
          <p:cNvSpPr>
            <a:spLocks noGrp="1"/>
          </p:cNvSpPr>
          <p:nvPr>
            <p:ph type="dt" sz="half" idx="10"/>
          </p:nvPr>
        </p:nvSpPr>
        <p:spPr/>
        <p:txBody>
          <a:bodyPr/>
          <a:lstStyle/>
          <a:p>
            <a:fld id="{2E0F70C3-D96B-44D4-986B-D7DE1C5B048E}" type="datetime1">
              <a:rPr lang="en-IN" smtClean="0"/>
              <a:t>09-02-2026</a:t>
            </a:fld>
            <a:endParaRPr lang="en-IN"/>
          </a:p>
        </p:txBody>
      </p:sp>
      <p:sp>
        <p:nvSpPr>
          <p:cNvPr id="6" name="Footer Placeholder 5">
            <a:extLst>
              <a:ext uri="{FF2B5EF4-FFF2-40B4-BE49-F238E27FC236}">
                <a16:creationId xmlns:a16="http://schemas.microsoft.com/office/drawing/2014/main" id="{183A66EF-9FFC-6601-E0C4-04167D402C33}"/>
              </a:ext>
            </a:extLst>
          </p:cNvPr>
          <p:cNvSpPr>
            <a:spLocks noGrp="1"/>
          </p:cNvSpPr>
          <p:nvPr>
            <p:ph type="ftr" sz="quarter" idx="11"/>
          </p:nvPr>
        </p:nvSpPr>
        <p:spPr/>
        <p:txBody>
          <a:bodyPr/>
          <a:lstStyle/>
          <a:p>
            <a:r>
              <a:rPr lang="en-IN"/>
              <a:t>Review 2.2</a:t>
            </a:r>
          </a:p>
        </p:txBody>
      </p:sp>
      <p:sp>
        <p:nvSpPr>
          <p:cNvPr id="7" name="Slide Number Placeholder 6">
            <a:extLst>
              <a:ext uri="{FF2B5EF4-FFF2-40B4-BE49-F238E27FC236}">
                <a16:creationId xmlns:a16="http://schemas.microsoft.com/office/drawing/2014/main" id="{4A520838-F936-9418-9EB6-DFA190BD8A45}"/>
              </a:ext>
            </a:extLst>
          </p:cNvPr>
          <p:cNvSpPr>
            <a:spLocks noGrp="1"/>
          </p:cNvSpPr>
          <p:nvPr>
            <p:ph type="sldNum" sz="quarter" idx="12"/>
          </p:nvPr>
        </p:nvSpPr>
        <p:spPr/>
        <p:txBody>
          <a:bodyPr/>
          <a:lstStyle/>
          <a:p>
            <a:fld id="{1CCCFFBF-4DCD-46DE-85E1-69841FB49368}" type="slidenum">
              <a:rPr lang="en-IN" smtClean="0"/>
              <a:t>1</a:t>
            </a:fld>
            <a:endParaRPr lang="en-IN"/>
          </a:p>
        </p:txBody>
      </p:sp>
      <p:graphicFrame>
        <p:nvGraphicFramePr>
          <p:cNvPr id="8" name="Table 7">
            <a:extLst>
              <a:ext uri="{FF2B5EF4-FFF2-40B4-BE49-F238E27FC236}">
                <a16:creationId xmlns:a16="http://schemas.microsoft.com/office/drawing/2014/main" id="{DB472AD6-6F63-ABB9-7E63-F2CF4A67F0C1}"/>
              </a:ext>
            </a:extLst>
          </p:cNvPr>
          <p:cNvGraphicFramePr>
            <a:graphicFrameLocks noGrp="1"/>
          </p:cNvGraphicFramePr>
          <p:nvPr>
            <p:extLst>
              <p:ext uri="{D42A27DB-BD31-4B8C-83A1-F6EECF244321}">
                <p14:modId xmlns:p14="http://schemas.microsoft.com/office/powerpoint/2010/main" val="2932393503"/>
              </p:ext>
            </p:extLst>
          </p:nvPr>
        </p:nvGraphicFramePr>
        <p:xfrm>
          <a:off x="465638" y="4158652"/>
          <a:ext cx="6083300" cy="2110613"/>
        </p:xfrm>
        <a:graphic>
          <a:graphicData uri="http://schemas.openxmlformats.org/drawingml/2006/table">
            <a:tbl>
              <a:tblPr firstRow="1" bandRow="1">
                <a:tableStyleId>{5C22544A-7EE6-4342-B048-85BDC9FD1C3A}</a:tableStyleId>
              </a:tblPr>
              <a:tblGrid>
                <a:gridCol w="2458667">
                  <a:extLst>
                    <a:ext uri="{9D8B030D-6E8A-4147-A177-3AD203B41FA5}">
                      <a16:colId xmlns:a16="http://schemas.microsoft.com/office/drawing/2014/main" val="3211070789"/>
                    </a:ext>
                  </a:extLst>
                </a:gridCol>
                <a:gridCol w="519615">
                  <a:extLst>
                    <a:ext uri="{9D8B030D-6E8A-4147-A177-3AD203B41FA5}">
                      <a16:colId xmlns:a16="http://schemas.microsoft.com/office/drawing/2014/main" val="2994234566"/>
                    </a:ext>
                  </a:extLst>
                </a:gridCol>
                <a:gridCol w="3105018">
                  <a:extLst>
                    <a:ext uri="{9D8B030D-6E8A-4147-A177-3AD203B41FA5}">
                      <a16:colId xmlns:a16="http://schemas.microsoft.com/office/drawing/2014/main" val="3625299904"/>
                    </a:ext>
                  </a:extLst>
                </a:gridCol>
              </a:tblGrid>
              <a:tr h="679704">
                <a:tc>
                  <a:txBody>
                    <a:bodyPr/>
                    <a:lstStyle/>
                    <a:p>
                      <a:pPr marL="0" algn="l" rtl="0" eaLnBrk="1" latinLnBrk="0" hangingPunct="1">
                        <a:buNone/>
                      </a:pPr>
                      <a:r>
                        <a:rPr lang="en-US" sz="2000" b="0" kern="1200">
                          <a:solidFill>
                            <a:srgbClr val="000000"/>
                          </a:solidFill>
                          <a:effectLst/>
                          <a:latin typeface="Times New Roman" panose="02020603050405020304" pitchFamily="18" charset="0"/>
                        </a:rPr>
                        <a:t>CB.EN.U4ECE22225</a:t>
                      </a:r>
                      <a:endParaRPr lang="en-US">
                        <a:effectLst/>
                      </a:endParaRPr>
                    </a:p>
                  </a:txBody>
                  <a:tcPr marL="0" marR="0" marT="0" marB="0" anchor="ctr">
                    <a:lnL>
                      <a:noFill/>
                    </a:lnL>
                    <a:lnR>
                      <a:noFill/>
                    </a:lnR>
                    <a:lnT>
                      <a:noFill/>
                    </a:lnT>
                    <a:lnB>
                      <a:noFill/>
                    </a:lnB>
                    <a:noFill/>
                  </a:tcPr>
                </a:tc>
                <a:tc>
                  <a:txBody>
                    <a:bodyPr/>
                    <a:lstStyle/>
                    <a:p>
                      <a:pPr marL="0" algn="l" rtl="0" eaLnBrk="1" latinLnBrk="0" hangingPunct="1">
                        <a:buNone/>
                      </a:pPr>
                      <a:r>
                        <a:rPr lang="en-US" sz="2000" b="0" kern="1200">
                          <a:solidFill>
                            <a:srgbClr val="000000"/>
                          </a:solidFill>
                          <a:effectLst/>
                          <a:latin typeface="Times New Roman" panose="02020603050405020304" pitchFamily="18" charset="0"/>
                        </a:rPr>
                        <a:t>-</a:t>
                      </a:r>
                      <a:endParaRPr lang="en-US">
                        <a:effectLst/>
                      </a:endParaRPr>
                    </a:p>
                  </a:txBody>
                  <a:tcPr marL="0" marR="0" marT="0" marB="0" anchor="ctr">
                    <a:lnL>
                      <a:noFill/>
                    </a:lnL>
                    <a:lnR>
                      <a:noFill/>
                    </a:lnR>
                    <a:lnT>
                      <a:noFill/>
                    </a:lnT>
                    <a:lnB>
                      <a:noFill/>
                    </a:lnB>
                    <a:noFill/>
                  </a:tcPr>
                </a:tc>
                <a:tc>
                  <a:txBody>
                    <a:bodyPr/>
                    <a:lstStyle/>
                    <a:p>
                      <a:pPr marL="0" algn="l" rtl="0" eaLnBrk="1" latinLnBrk="0" hangingPunct="1">
                        <a:buNone/>
                      </a:pPr>
                      <a:r>
                        <a:rPr lang="en-IN" sz="2000" b="0" kern="1200">
                          <a:solidFill>
                            <a:srgbClr val="000000"/>
                          </a:solidFill>
                          <a:effectLst/>
                          <a:latin typeface="Times New Roman" panose="02020603050405020304" pitchFamily="18" charset="0"/>
                        </a:rPr>
                        <a:t>J Rohith</a:t>
                      </a:r>
                      <a:endParaRPr lang="en-IN">
                        <a:effectLst/>
                      </a:endParaRPr>
                    </a:p>
                  </a:txBody>
                  <a:tcPr marL="0" marR="0" marT="0" marB="0" anchor="ctr">
                    <a:lnL>
                      <a:noFill/>
                    </a:lnL>
                    <a:lnR>
                      <a:noFill/>
                    </a:lnR>
                    <a:lnT>
                      <a:noFill/>
                    </a:lnT>
                    <a:lnB>
                      <a:noFill/>
                    </a:lnB>
                    <a:noFill/>
                  </a:tcPr>
                </a:tc>
                <a:extLst>
                  <a:ext uri="{0D108BD9-81ED-4DB2-BD59-A6C34878D82A}">
                    <a16:rowId xmlns:a16="http://schemas.microsoft.com/office/drawing/2014/main" val="3766194565"/>
                  </a:ext>
                </a:extLst>
              </a:tr>
              <a:tr h="679704">
                <a:tc>
                  <a:txBody>
                    <a:bodyPr/>
                    <a:lstStyle/>
                    <a:p>
                      <a:pPr marL="0" algn="l" rtl="0" eaLnBrk="1" latinLnBrk="0" hangingPunct="1">
                        <a:buNone/>
                      </a:pPr>
                      <a:r>
                        <a:rPr lang="en-US" sz="2000" b="0" kern="1200">
                          <a:solidFill>
                            <a:srgbClr val="000000"/>
                          </a:solidFill>
                          <a:effectLst/>
                          <a:latin typeface="Times New Roman" panose="02020603050405020304" pitchFamily="18" charset="0"/>
                        </a:rPr>
                        <a:t>CB.EN.U4ECE22262</a:t>
                      </a:r>
                      <a:endParaRPr lang="en-US">
                        <a:effectLst/>
                      </a:endParaRPr>
                    </a:p>
                  </a:txBody>
                  <a:tcPr marL="0" marR="0" marT="0" marB="0" anchor="ctr">
                    <a:lnL>
                      <a:noFill/>
                    </a:lnL>
                    <a:lnR>
                      <a:noFill/>
                    </a:lnR>
                    <a:lnT>
                      <a:noFill/>
                    </a:lnT>
                    <a:lnB>
                      <a:noFill/>
                    </a:lnB>
                    <a:noFill/>
                  </a:tcPr>
                </a:tc>
                <a:tc>
                  <a:txBody>
                    <a:bodyPr/>
                    <a:lstStyle/>
                    <a:p>
                      <a:pPr marL="0" algn="l" rtl="0" eaLnBrk="1" latinLnBrk="0" hangingPunct="1">
                        <a:buNone/>
                      </a:pPr>
                      <a:r>
                        <a:rPr lang="en-US" sz="2000" b="0" kern="1200">
                          <a:solidFill>
                            <a:srgbClr val="000000"/>
                          </a:solidFill>
                          <a:effectLst/>
                          <a:latin typeface="Times New Roman" panose="02020603050405020304" pitchFamily="18" charset="0"/>
                        </a:rPr>
                        <a:t>-</a:t>
                      </a:r>
                      <a:endParaRPr lang="en-US">
                        <a:effectLst/>
                      </a:endParaRPr>
                    </a:p>
                  </a:txBody>
                  <a:tcPr marL="0" marR="0" marT="0" marB="0" anchor="ctr">
                    <a:lnL>
                      <a:noFill/>
                    </a:lnL>
                    <a:lnR>
                      <a:noFill/>
                    </a:lnR>
                    <a:lnT>
                      <a:noFill/>
                    </a:lnT>
                    <a:lnB>
                      <a:noFill/>
                    </a:lnB>
                    <a:noFill/>
                  </a:tcPr>
                </a:tc>
                <a:tc>
                  <a:txBody>
                    <a:bodyPr/>
                    <a:lstStyle/>
                    <a:p>
                      <a:pPr marL="0" algn="l" rtl="0" eaLnBrk="1" latinLnBrk="0" hangingPunct="1">
                        <a:buNone/>
                      </a:pPr>
                      <a:r>
                        <a:rPr lang="en-IN" sz="2000" b="0" kern="1200">
                          <a:solidFill>
                            <a:srgbClr val="000000"/>
                          </a:solidFill>
                          <a:effectLst/>
                          <a:latin typeface="Times New Roman" panose="02020603050405020304" pitchFamily="18" charset="0"/>
                        </a:rPr>
                        <a:t>P</a:t>
                      </a:r>
                      <a:r>
                        <a:rPr lang="en-IN" sz="2000" b="0" i="0" kern="1200">
                          <a:solidFill>
                            <a:srgbClr val="000000"/>
                          </a:solidFill>
                          <a:effectLst/>
                          <a:latin typeface="Times New Roman" panose="02020603050405020304" pitchFamily="18" charset="0"/>
                        </a:rPr>
                        <a:t>eddakudala</a:t>
                      </a:r>
                      <a:r>
                        <a:rPr lang="en-IN" sz="2000" b="0" kern="1200">
                          <a:solidFill>
                            <a:srgbClr val="000000"/>
                          </a:solidFill>
                          <a:effectLst/>
                          <a:latin typeface="Times New Roman" panose="02020603050405020304" pitchFamily="18" charset="0"/>
                        </a:rPr>
                        <a:t> Yashwanth</a:t>
                      </a:r>
                      <a:endParaRPr lang="en-IN">
                        <a:effectLst/>
                      </a:endParaRPr>
                    </a:p>
                  </a:txBody>
                  <a:tcPr marL="0" marR="0" marT="0" marB="0" anchor="ctr">
                    <a:lnL>
                      <a:noFill/>
                    </a:lnL>
                    <a:lnR>
                      <a:noFill/>
                    </a:lnR>
                    <a:lnT>
                      <a:noFill/>
                    </a:lnT>
                    <a:lnB>
                      <a:noFill/>
                    </a:lnB>
                    <a:noFill/>
                  </a:tcPr>
                </a:tc>
                <a:extLst>
                  <a:ext uri="{0D108BD9-81ED-4DB2-BD59-A6C34878D82A}">
                    <a16:rowId xmlns:a16="http://schemas.microsoft.com/office/drawing/2014/main" val="2229694027"/>
                  </a:ext>
                </a:extLst>
              </a:tr>
              <a:tr h="751205">
                <a:tc>
                  <a:txBody>
                    <a:bodyPr/>
                    <a:lstStyle/>
                    <a:p>
                      <a:pPr marL="0" algn="l" rtl="0" eaLnBrk="1" latinLnBrk="0" hangingPunct="1">
                        <a:buNone/>
                      </a:pPr>
                      <a:r>
                        <a:rPr lang="en-US" sz="2000" b="0" kern="1200">
                          <a:solidFill>
                            <a:srgbClr val="000000"/>
                          </a:solidFill>
                          <a:effectLst/>
                          <a:latin typeface="Times New Roman" panose="02020603050405020304" pitchFamily="18" charset="0"/>
                        </a:rPr>
                        <a:t>CB.EN.U4ECE22213</a:t>
                      </a:r>
                      <a:endParaRPr lang="en-US">
                        <a:effectLst/>
                      </a:endParaRPr>
                    </a:p>
                  </a:txBody>
                  <a:tcPr marL="0" marR="0" marT="0" marB="0" anchor="ctr">
                    <a:lnL>
                      <a:noFill/>
                    </a:lnL>
                    <a:lnR>
                      <a:noFill/>
                    </a:lnR>
                    <a:lnT>
                      <a:noFill/>
                    </a:lnT>
                    <a:lnB>
                      <a:noFill/>
                    </a:lnB>
                    <a:noFill/>
                  </a:tcPr>
                </a:tc>
                <a:tc>
                  <a:txBody>
                    <a:bodyPr/>
                    <a:lstStyle/>
                    <a:p>
                      <a:pPr marL="0" algn="l" rtl="0" eaLnBrk="1" latinLnBrk="0" hangingPunct="1">
                        <a:buNone/>
                      </a:pPr>
                      <a:r>
                        <a:rPr lang="en-US" sz="2000" b="0" kern="1200">
                          <a:solidFill>
                            <a:srgbClr val="000000"/>
                          </a:solidFill>
                          <a:effectLst/>
                          <a:latin typeface="Times New Roman" panose="02020603050405020304" pitchFamily="18" charset="0"/>
                        </a:rPr>
                        <a:t>-</a:t>
                      </a:r>
                      <a:endParaRPr lang="en-US">
                        <a:effectLst/>
                      </a:endParaRPr>
                    </a:p>
                  </a:txBody>
                  <a:tcPr marL="0" marR="0" marT="0" marB="0" anchor="ctr">
                    <a:lnL>
                      <a:noFill/>
                    </a:lnL>
                    <a:lnR>
                      <a:noFill/>
                    </a:lnR>
                    <a:lnT>
                      <a:noFill/>
                    </a:lnT>
                    <a:lnB>
                      <a:noFill/>
                    </a:lnB>
                    <a:noFill/>
                  </a:tcPr>
                </a:tc>
                <a:tc>
                  <a:txBody>
                    <a:bodyPr/>
                    <a:lstStyle/>
                    <a:p>
                      <a:pPr marL="0" algn="l" rtl="0" eaLnBrk="1" latinLnBrk="0" hangingPunct="1">
                        <a:buNone/>
                      </a:pPr>
                      <a:r>
                        <a:rPr lang="en-IN" sz="2000" b="0" kern="1200">
                          <a:solidFill>
                            <a:srgbClr val="000000"/>
                          </a:solidFill>
                          <a:effectLst/>
                          <a:latin typeface="Times New Roman" panose="02020603050405020304" pitchFamily="18" charset="0"/>
                        </a:rPr>
                        <a:t>Chundupalle Tej Siddanth</a:t>
                      </a:r>
                      <a:endParaRPr lang="en-IN">
                        <a:effectLst/>
                      </a:endParaRPr>
                    </a:p>
                  </a:txBody>
                  <a:tcPr marL="0" marR="0" marT="0" marB="0" anchor="ctr">
                    <a:lnL>
                      <a:noFill/>
                    </a:lnL>
                    <a:lnR>
                      <a:noFill/>
                    </a:lnR>
                    <a:lnT>
                      <a:noFill/>
                    </a:lnT>
                    <a:lnB>
                      <a:noFill/>
                    </a:lnB>
                    <a:noFill/>
                  </a:tcPr>
                </a:tc>
                <a:extLst>
                  <a:ext uri="{0D108BD9-81ED-4DB2-BD59-A6C34878D82A}">
                    <a16:rowId xmlns:a16="http://schemas.microsoft.com/office/drawing/2014/main" val="667066241"/>
                  </a:ext>
                </a:extLst>
              </a:tr>
            </a:tbl>
          </a:graphicData>
        </a:graphic>
      </p:graphicFrame>
    </p:spTree>
    <p:extLst>
      <p:ext uri="{BB962C8B-B14F-4D97-AF65-F5344CB8AC3E}">
        <p14:creationId xmlns:p14="http://schemas.microsoft.com/office/powerpoint/2010/main" val="23960865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01A0B2-474C-E57D-C923-86E320A9BE49}"/>
              </a:ext>
            </a:extLst>
          </p:cNvPr>
          <p:cNvSpPr>
            <a:spLocks noGrp="1"/>
          </p:cNvSpPr>
          <p:nvPr>
            <p:ph type="title"/>
          </p:nvPr>
        </p:nvSpPr>
        <p:spPr>
          <a:xfrm>
            <a:off x="3132" y="-52410"/>
            <a:ext cx="2540696" cy="782769"/>
          </a:xfrm>
        </p:spPr>
        <p:txBody>
          <a:bodyPr>
            <a:normAutofit/>
          </a:bodyPr>
          <a:lstStyle/>
          <a:p>
            <a:r>
              <a:rPr lang="en-IN" sz="2800" b="1" u="sng">
                <a:latin typeface="Times New Roman"/>
                <a:ea typeface="Calibri Light"/>
                <a:cs typeface="Calibri Light"/>
              </a:rPr>
              <a:t>OBJECTIVE</a:t>
            </a:r>
            <a:r>
              <a:rPr lang="en-IN" sz="2800" b="1">
                <a:latin typeface="Times New Roman"/>
                <a:ea typeface="Calibri Light"/>
                <a:cs typeface="Calibri Light"/>
              </a:rPr>
              <a:t>:</a:t>
            </a:r>
            <a:endParaRPr lang="en-IN" sz="2800" b="1">
              <a:latin typeface="Times New Roman"/>
            </a:endParaRPr>
          </a:p>
        </p:txBody>
      </p:sp>
      <p:sp>
        <p:nvSpPr>
          <p:cNvPr id="3" name="Content Placeholder 2">
            <a:extLst>
              <a:ext uri="{FF2B5EF4-FFF2-40B4-BE49-F238E27FC236}">
                <a16:creationId xmlns:a16="http://schemas.microsoft.com/office/drawing/2014/main" id="{BBDC251B-4EDF-012F-CAEA-2DD70D578811}"/>
              </a:ext>
            </a:extLst>
          </p:cNvPr>
          <p:cNvSpPr>
            <a:spLocks noGrp="1"/>
          </p:cNvSpPr>
          <p:nvPr>
            <p:ph idx="1"/>
          </p:nvPr>
        </p:nvSpPr>
        <p:spPr>
          <a:xfrm>
            <a:off x="3132" y="934278"/>
            <a:ext cx="12175298" cy="5252079"/>
          </a:xfrm>
        </p:spPr>
        <p:txBody>
          <a:bodyPr vert="horz" lIns="91440" tIns="45720" rIns="91440" bIns="45720" rtlCol="0" anchor="t">
            <a:normAutofit lnSpcReduction="10000"/>
          </a:bodyPr>
          <a:lstStyle/>
          <a:p>
            <a:pPr marL="0" indent="0" algn="just">
              <a:buNone/>
            </a:pPr>
            <a:r>
              <a:rPr lang="en-IN" sz="2400">
                <a:latin typeface="Arial"/>
                <a:ea typeface="Calibri"/>
                <a:cs typeface="Arial"/>
              </a:rPr>
              <a:t>•</a:t>
            </a:r>
            <a:r>
              <a:rPr lang="en-IN" sz="2400">
                <a:latin typeface="Times New Roman"/>
                <a:ea typeface="Calibri"/>
                <a:cs typeface="Times New Roman"/>
              </a:rPr>
              <a:t>Design and analysis of base antenna at 2.4 GHz.</a:t>
            </a:r>
            <a:endParaRPr lang="en-IN" sz="2400">
              <a:ea typeface="Calibri"/>
              <a:cs typeface="Calibri"/>
            </a:endParaRPr>
          </a:p>
          <a:p>
            <a:pPr marL="0" indent="0" algn="just">
              <a:buNone/>
            </a:pPr>
            <a:endParaRPr lang="en-IN" sz="2400">
              <a:latin typeface="Times New Roman"/>
              <a:ea typeface="Calibri"/>
              <a:cs typeface="Times New Roman"/>
            </a:endParaRPr>
          </a:p>
          <a:p>
            <a:pPr marL="0" indent="0" algn="just">
              <a:buNone/>
            </a:pPr>
            <a:r>
              <a:rPr lang="en-IN" sz="2400">
                <a:latin typeface="Arial"/>
                <a:ea typeface="Calibri"/>
                <a:cs typeface="Arial"/>
              </a:rPr>
              <a:t>•</a:t>
            </a:r>
            <a:r>
              <a:rPr lang="en-IN" sz="2400">
                <a:latin typeface="Times New Roman"/>
                <a:ea typeface="Calibri"/>
                <a:cs typeface="Times New Roman"/>
              </a:rPr>
              <a:t>Design and analysis of  Patch antenna array at 2.4 GHz.</a:t>
            </a:r>
            <a:endParaRPr lang="en-IN" sz="2400">
              <a:ea typeface="Calibri" panose="020F0502020204030204"/>
              <a:cs typeface="Calibri" panose="020F0502020204030204"/>
            </a:endParaRPr>
          </a:p>
          <a:p>
            <a:pPr marL="0" indent="0" algn="just">
              <a:buNone/>
            </a:pPr>
            <a:endParaRPr lang="en-IN" sz="2400">
              <a:latin typeface="Arial"/>
              <a:ea typeface="Calibri" panose="020F0502020204030204"/>
              <a:cs typeface="Arial"/>
            </a:endParaRPr>
          </a:p>
          <a:p>
            <a:pPr marL="0" indent="0" algn="just">
              <a:buNone/>
            </a:pPr>
            <a:r>
              <a:rPr lang="en-IN" sz="2400">
                <a:latin typeface="Arial"/>
                <a:ea typeface="Calibri" panose="020F0502020204030204"/>
                <a:cs typeface="Arial"/>
              </a:rPr>
              <a:t>•</a:t>
            </a:r>
            <a:r>
              <a:rPr lang="en-IN" sz="2400">
                <a:latin typeface="Times New Roman"/>
                <a:ea typeface="Calibri"/>
                <a:cs typeface="Times New Roman"/>
              </a:rPr>
              <a:t>Design and analysis of Patch antenna array with decoupling structures.</a:t>
            </a:r>
            <a:endParaRPr lang="en-IN" sz="2400">
              <a:ea typeface="Calibri" panose="020F0502020204030204"/>
              <a:cs typeface="Calibri" panose="020F0502020204030204"/>
            </a:endParaRPr>
          </a:p>
          <a:p>
            <a:pPr marL="0" indent="0" algn="just">
              <a:buNone/>
            </a:pPr>
            <a:endParaRPr lang="en-IN" sz="2400">
              <a:latin typeface="Arial"/>
              <a:ea typeface="Calibri"/>
              <a:cs typeface="Arial"/>
            </a:endParaRPr>
          </a:p>
          <a:p>
            <a:pPr marL="0" indent="0" algn="just">
              <a:buNone/>
            </a:pPr>
            <a:r>
              <a:rPr lang="en-IN" sz="2400">
                <a:latin typeface="Arial"/>
                <a:ea typeface="Calibri"/>
                <a:cs typeface="Arial"/>
              </a:rPr>
              <a:t>•</a:t>
            </a:r>
            <a:r>
              <a:rPr lang="en-IN" sz="2400">
                <a:latin typeface="Times New Roman"/>
                <a:ea typeface="Calibri"/>
                <a:cs typeface="Times New Roman"/>
              </a:rPr>
              <a:t>Prototype and Measurement.</a:t>
            </a:r>
            <a:endParaRPr lang="en-IN" sz="2400">
              <a:ea typeface="Calibri" panose="020F0502020204030204"/>
              <a:cs typeface="Calibri" panose="020F0502020204030204"/>
            </a:endParaRPr>
          </a:p>
          <a:p>
            <a:pPr marL="0" indent="0" algn="just">
              <a:buNone/>
            </a:pPr>
            <a:endParaRPr lang="en-IN" sz="2400">
              <a:latin typeface="Times New Roman"/>
              <a:ea typeface="Calibri"/>
              <a:cs typeface="Times New Roman"/>
            </a:endParaRPr>
          </a:p>
          <a:p>
            <a:pPr marL="0" indent="0" algn="just">
              <a:buNone/>
            </a:pPr>
            <a:r>
              <a:rPr lang="en-IN" sz="2400">
                <a:latin typeface="Times New Roman"/>
                <a:ea typeface="Calibri"/>
                <a:cs typeface="Times New Roman"/>
              </a:rPr>
              <a:t>Performance Targets:</a:t>
            </a:r>
            <a:endParaRPr lang="en-IN" sz="2400">
              <a:ea typeface="Calibri" panose="020F0502020204030204"/>
              <a:cs typeface="Calibri" panose="020F0502020204030204"/>
            </a:endParaRPr>
          </a:p>
          <a:p>
            <a:pPr marL="0" indent="0" algn="just">
              <a:buNone/>
            </a:pPr>
            <a:r>
              <a:rPr lang="en-IN" sz="2400">
                <a:latin typeface="Arial"/>
                <a:ea typeface="Calibri"/>
                <a:cs typeface="Arial"/>
              </a:rPr>
              <a:t>•</a:t>
            </a:r>
            <a:r>
              <a:rPr lang="en-IN" sz="2400" b="1">
                <a:latin typeface="Times New Roman"/>
                <a:ea typeface="Calibri"/>
                <a:cs typeface="Times New Roman"/>
              </a:rPr>
              <a:t>Isolation:</a:t>
            </a:r>
            <a:r>
              <a:rPr lang="en-IN" sz="2400">
                <a:latin typeface="Times New Roman"/>
                <a:ea typeface="Calibri"/>
                <a:cs typeface="Times New Roman"/>
              </a:rPr>
              <a:t> &gt; 20 dB between antenna elements</a:t>
            </a:r>
            <a:endParaRPr lang="en-IN" sz="2400">
              <a:ea typeface="Calibri" panose="020F0502020204030204"/>
              <a:cs typeface="Calibri" panose="020F0502020204030204"/>
            </a:endParaRPr>
          </a:p>
          <a:p>
            <a:pPr marL="0" indent="0" algn="just">
              <a:buNone/>
            </a:pPr>
            <a:r>
              <a:rPr lang="en-IN" sz="2400">
                <a:latin typeface="Arial"/>
                <a:ea typeface="Calibri"/>
                <a:cs typeface="Arial"/>
              </a:rPr>
              <a:t>•</a:t>
            </a:r>
            <a:r>
              <a:rPr lang="en-IN" sz="2400" b="1">
                <a:latin typeface="Times New Roman"/>
                <a:ea typeface="Calibri"/>
                <a:cs typeface="Times New Roman"/>
              </a:rPr>
              <a:t>Element Spacing:</a:t>
            </a:r>
            <a:r>
              <a:rPr lang="en-IN" sz="2400">
                <a:latin typeface="Times New Roman"/>
                <a:ea typeface="Calibri"/>
                <a:cs typeface="Times New Roman"/>
              </a:rPr>
              <a:t> &lt; λ/2 for compact design</a:t>
            </a:r>
            <a:endParaRPr lang="en-IN" sz="2400">
              <a:ea typeface="Calibri" panose="020F0502020204030204"/>
              <a:cs typeface="Calibri" panose="020F0502020204030204"/>
            </a:endParaRPr>
          </a:p>
          <a:p>
            <a:pPr marL="0" indent="0" algn="just">
              <a:buNone/>
            </a:pPr>
            <a:r>
              <a:rPr lang="en-IN" sz="2400">
                <a:latin typeface="Arial"/>
                <a:ea typeface="Calibri"/>
                <a:cs typeface="Arial"/>
              </a:rPr>
              <a:t>•</a:t>
            </a:r>
            <a:r>
              <a:rPr lang="en-IN" sz="2400" b="1">
                <a:latin typeface="Times New Roman"/>
                <a:ea typeface="Calibri"/>
                <a:cs typeface="Times New Roman"/>
              </a:rPr>
              <a:t>Operating Frequency:</a:t>
            </a:r>
            <a:r>
              <a:rPr lang="en-IN" sz="2400">
                <a:latin typeface="Times New Roman"/>
                <a:ea typeface="Calibri"/>
                <a:cs typeface="Times New Roman"/>
              </a:rPr>
              <a:t> 2.4 GHz (Wi-Fi and Bluetooth bands)</a:t>
            </a:r>
            <a:endParaRPr lang="en-IN" sz="2400">
              <a:ea typeface="Calibri" panose="020F0502020204030204"/>
              <a:cs typeface="Calibri" panose="020F0502020204030204"/>
            </a:endParaRPr>
          </a:p>
          <a:p>
            <a:endParaRPr lang="en-IN">
              <a:ea typeface="Calibri"/>
              <a:cs typeface="Calibri"/>
            </a:endParaRPr>
          </a:p>
        </p:txBody>
      </p:sp>
      <p:sp>
        <p:nvSpPr>
          <p:cNvPr id="4" name="Date Placeholder 3">
            <a:extLst>
              <a:ext uri="{FF2B5EF4-FFF2-40B4-BE49-F238E27FC236}">
                <a16:creationId xmlns:a16="http://schemas.microsoft.com/office/drawing/2014/main" id="{71A546BC-29EB-7A07-D3A9-4BB2F8F3F6CB}"/>
              </a:ext>
            </a:extLst>
          </p:cNvPr>
          <p:cNvSpPr>
            <a:spLocks noGrp="1"/>
          </p:cNvSpPr>
          <p:nvPr>
            <p:ph type="dt" sz="half" idx="10"/>
          </p:nvPr>
        </p:nvSpPr>
        <p:spPr/>
        <p:txBody>
          <a:bodyPr/>
          <a:lstStyle/>
          <a:p>
            <a:fld id="{AB4F4AF7-F178-46DC-A38A-8721620E5AEC}" type="datetime1">
              <a:rPr lang="en-IN" smtClean="0"/>
              <a:t>09-02-2026</a:t>
            </a:fld>
            <a:endParaRPr lang="en-IN"/>
          </a:p>
        </p:txBody>
      </p:sp>
      <p:sp>
        <p:nvSpPr>
          <p:cNvPr id="5" name="Footer Placeholder 4">
            <a:extLst>
              <a:ext uri="{FF2B5EF4-FFF2-40B4-BE49-F238E27FC236}">
                <a16:creationId xmlns:a16="http://schemas.microsoft.com/office/drawing/2014/main" id="{5124678C-F173-5AFD-03CB-5A20C80DCA04}"/>
              </a:ext>
            </a:extLst>
          </p:cNvPr>
          <p:cNvSpPr>
            <a:spLocks noGrp="1"/>
          </p:cNvSpPr>
          <p:nvPr>
            <p:ph type="ftr" sz="quarter" idx="11"/>
          </p:nvPr>
        </p:nvSpPr>
        <p:spPr/>
        <p:txBody>
          <a:bodyPr/>
          <a:lstStyle/>
          <a:p>
            <a:r>
              <a:rPr lang="en-IN"/>
              <a:t>Review 2.2</a:t>
            </a:r>
          </a:p>
        </p:txBody>
      </p:sp>
      <p:sp>
        <p:nvSpPr>
          <p:cNvPr id="6" name="Slide Number Placeholder 5">
            <a:extLst>
              <a:ext uri="{FF2B5EF4-FFF2-40B4-BE49-F238E27FC236}">
                <a16:creationId xmlns:a16="http://schemas.microsoft.com/office/drawing/2014/main" id="{ECEA6E5A-5B53-D590-443A-C869110ACD9B}"/>
              </a:ext>
            </a:extLst>
          </p:cNvPr>
          <p:cNvSpPr>
            <a:spLocks noGrp="1"/>
          </p:cNvSpPr>
          <p:nvPr>
            <p:ph type="sldNum" sz="quarter" idx="12"/>
          </p:nvPr>
        </p:nvSpPr>
        <p:spPr/>
        <p:txBody>
          <a:bodyPr/>
          <a:lstStyle/>
          <a:p>
            <a:fld id="{1CCCFFBF-4DCD-46DE-85E1-69841FB49368}" type="slidenum">
              <a:rPr lang="en-IN" smtClean="0"/>
              <a:t>2</a:t>
            </a:fld>
            <a:endParaRPr lang="en-IN"/>
          </a:p>
        </p:txBody>
      </p:sp>
      <p:pic>
        <p:nvPicPr>
          <p:cNvPr id="8" name="Picture 7" descr="A pink and black logo&#10;&#10;AI-generated content may be incorrect.">
            <a:extLst>
              <a:ext uri="{FF2B5EF4-FFF2-40B4-BE49-F238E27FC236}">
                <a16:creationId xmlns:a16="http://schemas.microsoft.com/office/drawing/2014/main" id="{1DA894CD-0FA6-0801-A9AA-5402445B481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92871" y="-31376"/>
            <a:ext cx="1999129" cy="591742"/>
          </a:xfrm>
          <a:prstGeom prst="rect">
            <a:avLst/>
          </a:prstGeom>
        </p:spPr>
      </p:pic>
    </p:spTree>
    <p:extLst>
      <p:ext uri="{BB962C8B-B14F-4D97-AF65-F5344CB8AC3E}">
        <p14:creationId xmlns:p14="http://schemas.microsoft.com/office/powerpoint/2010/main" val="11560375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A79F92E0-E562-C90E-DEA7-1EBCD354CE6E}"/>
              </a:ext>
            </a:extLst>
          </p:cNvPr>
          <p:cNvSpPr>
            <a:spLocks noGrp="1"/>
          </p:cNvSpPr>
          <p:nvPr>
            <p:ph type="dt" sz="half" idx="10"/>
          </p:nvPr>
        </p:nvSpPr>
        <p:spPr/>
        <p:txBody>
          <a:bodyPr/>
          <a:lstStyle/>
          <a:p>
            <a:fld id="{2CC3D980-2AAE-486E-B4FE-7DEC5FFAE68E}" type="datetime1">
              <a:rPr lang="en-IN" smtClean="0"/>
              <a:t>09-02-2026</a:t>
            </a:fld>
            <a:endParaRPr lang="en-IN"/>
          </a:p>
        </p:txBody>
      </p:sp>
      <p:sp>
        <p:nvSpPr>
          <p:cNvPr id="5" name="Footer Placeholder 4">
            <a:extLst>
              <a:ext uri="{FF2B5EF4-FFF2-40B4-BE49-F238E27FC236}">
                <a16:creationId xmlns:a16="http://schemas.microsoft.com/office/drawing/2014/main" id="{8B998222-50E3-93DD-70AF-B23BA27244A9}"/>
              </a:ext>
            </a:extLst>
          </p:cNvPr>
          <p:cNvSpPr>
            <a:spLocks noGrp="1"/>
          </p:cNvSpPr>
          <p:nvPr>
            <p:ph type="ftr" sz="quarter" idx="11"/>
          </p:nvPr>
        </p:nvSpPr>
        <p:spPr/>
        <p:txBody>
          <a:bodyPr/>
          <a:lstStyle/>
          <a:p>
            <a:r>
              <a:rPr lang="en-IN"/>
              <a:t>Review 2.2</a:t>
            </a:r>
          </a:p>
        </p:txBody>
      </p:sp>
      <p:sp>
        <p:nvSpPr>
          <p:cNvPr id="6" name="Slide Number Placeholder 5">
            <a:extLst>
              <a:ext uri="{FF2B5EF4-FFF2-40B4-BE49-F238E27FC236}">
                <a16:creationId xmlns:a16="http://schemas.microsoft.com/office/drawing/2014/main" id="{765D5705-91E5-EAEC-8810-873B827AEB2B}"/>
              </a:ext>
            </a:extLst>
          </p:cNvPr>
          <p:cNvSpPr>
            <a:spLocks noGrp="1"/>
          </p:cNvSpPr>
          <p:nvPr>
            <p:ph type="sldNum" sz="quarter" idx="12"/>
          </p:nvPr>
        </p:nvSpPr>
        <p:spPr/>
        <p:txBody>
          <a:bodyPr/>
          <a:lstStyle/>
          <a:p>
            <a:fld id="{1CCCFFBF-4DCD-46DE-85E1-69841FB49368}" type="slidenum">
              <a:rPr lang="en-IN" smtClean="0"/>
              <a:t>3</a:t>
            </a:fld>
            <a:endParaRPr lang="en-IN"/>
          </a:p>
        </p:txBody>
      </p:sp>
      <p:pic>
        <p:nvPicPr>
          <p:cNvPr id="3" name="Picture 2">
            <a:extLst>
              <a:ext uri="{FF2B5EF4-FFF2-40B4-BE49-F238E27FC236}">
                <a16:creationId xmlns:a16="http://schemas.microsoft.com/office/drawing/2014/main" id="{1F79B9E3-82BA-DFDD-541A-098FAF4766D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92871" y="-31376"/>
            <a:ext cx="1999129" cy="591742"/>
          </a:xfrm>
          <a:prstGeom prst="rect">
            <a:avLst/>
          </a:prstGeom>
        </p:spPr>
      </p:pic>
      <p:sp>
        <p:nvSpPr>
          <p:cNvPr id="7" name="Content Placeholder 6">
            <a:extLst>
              <a:ext uri="{FF2B5EF4-FFF2-40B4-BE49-F238E27FC236}">
                <a16:creationId xmlns:a16="http://schemas.microsoft.com/office/drawing/2014/main" id="{BE59A3DE-6967-9325-65EC-8F0DC3CD08E1}"/>
              </a:ext>
            </a:extLst>
          </p:cNvPr>
          <p:cNvSpPr>
            <a:spLocks noGrp="1"/>
          </p:cNvSpPr>
          <p:nvPr>
            <p:ph idx="1"/>
          </p:nvPr>
        </p:nvSpPr>
        <p:spPr>
          <a:xfrm>
            <a:off x="3132" y="-1087"/>
            <a:ext cx="2217107" cy="572654"/>
          </a:xfrm>
        </p:spPr>
        <p:txBody>
          <a:bodyPr vert="horz" lIns="91440" tIns="45720" rIns="91440" bIns="45720" rtlCol="0" anchor="t">
            <a:normAutofit/>
          </a:bodyPr>
          <a:lstStyle/>
          <a:p>
            <a:pPr marL="0" indent="0">
              <a:buNone/>
            </a:pPr>
            <a:r>
              <a:rPr lang="en-GB" b="1" u="sng">
                <a:latin typeface="Times New Roman"/>
                <a:ea typeface="Calibri"/>
                <a:cs typeface="Calibri"/>
              </a:rPr>
              <a:t>TIMELINE</a:t>
            </a:r>
            <a:r>
              <a:rPr lang="en-GB" sz="3200" b="1">
                <a:latin typeface="Times New Roman"/>
                <a:ea typeface="Calibri"/>
                <a:cs typeface="Calibri"/>
              </a:rPr>
              <a:t>:</a:t>
            </a:r>
          </a:p>
        </p:txBody>
      </p:sp>
      <p:graphicFrame>
        <p:nvGraphicFramePr>
          <p:cNvPr id="2" name="Table 1">
            <a:extLst>
              <a:ext uri="{FF2B5EF4-FFF2-40B4-BE49-F238E27FC236}">
                <a16:creationId xmlns:a16="http://schemas.microsoft.com/office/drawing/2014/main" id="{820F39C3-5944-05ED-23F4-C9732064E1AA}"/>
              </a:ext>
            </a:extLst>
          </p:cNvPr>
          <p:cNvGraphicFramePr>
            <a:graphicFrameLocks noGrp="1"/>
          </p:cNvGraphicFramePr>
          <p:nvPr>
            <p:extLst>
              <p:ext uri="{D42A27DB-BD31-4B8C-83A1-F6EECF244321}">
                <p14:modId xmlns:p14="http://schemas.microsoft.com/office/powerpoint/2010/main" val="4293162995"/>
              </p:ext>
            </p:extLst>
          </p:nvPr>
        </p:nvGraphicFramePr>
        <p:xfrm>
          <a:off x="0" y="904462"/>
          <a:ext cx="12192001" cy="4518095"/>
        </p:xfrm>
        <a:graphic>
          <a:graphicData uri="http://schemas.openxmlformats.org/drawingml/2006/table">
            <a:tbl>
              <a:tblPr firstRow="1" bandRow="1">
                <a:tableStyleId>{21E4AEA4-8DFA-4A89-87EB-49C32662AFE0}</a:tableStyleId>
              </a:tblPr>
              <a:tblGrid>
                <a:gridCol w="1677518">
                  <a:extLst>
                    <a:ext uri="{9D8B030D-6E8A-4147-A177-3AD203B41FA5}">
                      <a16:colId xmlns:a16="http://schemas.microsoft.com/office/drawing/2014/main" val="2178584100"/>
                    </a:ext>
                  </a:extLst>
                </a:gridCol>
                <a:gridCol w="3454296">
                  <a:extLst>
                    <a:ext uri="{9D8B030D-6E8A-4147-A177-3AD203B41FA5}">
                      <a16:colId xmlns:a16="http://schemas.microsoft.com/office/drawing/2014/main" val="821642616"/>
                    </a:ext>
                  </a:extLst>
                </a:gridCol>
                <a:gridCol w="7060187">
                  <a:extLst>
                    <a:ext uri="{9D8B030D-6E8A-4147-A177-3AD203B41FA5}">
                      <a16:colId xmlns:a16="http://schemas.microsoft.com/office/drawing/2014/main" val="1589290081"/>
                    </a:ext>
                  </a:extLst>
                </a:gridCol>
              </a:tblGrid>
              <a:tr h="525619">
                <a:tc>
                  <a:txBody>
                    <a:bodyPr/>
                    <a:lstStyle/>
                    <a:p>
                      <a:pPr algn="ctr"/>
                      <a:r>
                        <a:rPr lang="en-GB">
                          <a:latin typeface="Times New Roman"/>
                          <a:cs typeface="Times New Roman"/>
                        </a:rPr>
                        <a:t>Review </a:t>
                      </a:r>
                      <a:endParaRPr lang="en-IN">
                        <a:latin typeface="Times New Roman"/>
                        <a:cs typeface="Times New Roman"/>
                      </a:endParaRPr>
                    </a:p>
                  </a:txBody>
                  <a:tcPr/>
                </a:tc>
                <a:tc>
                  <a:txBody>
                    <a:bodyPr/>
                    <a:lstStyle/>
                    <a:p>
                      <a:pPr algn="ctr"/>
                      <a:r>
                        <a:rPr lang="en-GB">
                          <a:latin typeface="Times New Roman"/>
                          <a:cs typeface="Times New Roman"/>
                        </a:rPr>
                        <a:t>Month </a:t>
                      </a:r>
                      <a:endParaRPr lang="en-IN">
                        <a:latin typeface="Times New Roman"/>
                        <a:cs typeface="Times New Roman"/>
                      </a:endParaRPr>
                    </a:p>
                  </a:txBody>
                  <a:tcPr/>
                </a:tc>
                <a:tc>
                  <a:txBody>
                    <a:bodyPr/>
                    <a:lstStyle/>
                    <a:p>
                      <a:pPr algn="ctr"/>
                      <a:r>
                        <a:rPr lang="en-GB">
                          <a:latin typeface="Times New Roman"/>
                          <a:cs typeface="Times New Roman"/>
                        </a:rPr>
                        <a:t>Milestone</a:t>
                      </a:r>
                      <a:endParaRPr lang="en-IN">
                        <a:latin typeface="Times New Roman"/>
                        <a:cs typeface="Times New Roman"/>
                      </a:endParaRPr>
                    </a:p>
                  </a:txBody>
                  <a:tcPr/>
                </a:tc>
                <a:extLst>
                  <a:ext uri="{0D108BD9-81ED-4DB2-BD59-A6C34878D82A}">
                    <a16:rowId xmlns:a16="http://schemas.microsoft.com/office/drawing/2014/main" val="627693734"/>
                  </a:ext>
                </a:extLst>
              </a:tr>
              <a:tr h="769519">
                <a:tc>
                  <a:txBody>
                    <a:bodyPr/>
                    <a:lstStyle/>
                    <a:p>
                      <a:pPr algn="ctr"/>
                      <a:r>
                        <a:rPr lang="en-GB">
                          <a:latin typeface="Times New Roman"/>
                          <a:cs typeface="Times New Roman"/>
                        </a:rPr>
                        <a:t>1.1</a:t>
                      </a:r>
                      <a:endParaRPr lang="en-IN">
                        <a:latin typeface="Times New Roman"/>
                        <a:cs typeface="Times New Roman"/>
                      </a:endParaRPr>
                    </a:p>
                  </a:txBody>
                  <a:tcPr/>
                </a:tc>
                <a:tc>
                  <a:txBody>
                    <a:bodyPr/>
                    <a:lstStyle/>
                    <a:p>
                      <a:pPr algn="ctr"/>
                      <a:r>
                        <a:rPr lang="en-GB">
                          <a:latin typeface="Times New Roman"/>
                          <a:cs typeface="Times New Roman"/>
                        </a:rPr>
                        <a:t>June-July 2025 </a:t>
                      </a:r>
                    </a:p>
                    <a:p>
                      <a:pPr algn="ctr"/>
                      <a:endParaRPr lang="en-IN">
                        <a:latin typeface="Times New Roman" panose="02020603050405020304" pitchFamily="18" charset="0"/>
                        <a:cs typeface="Times New Roman" panose="02020603050405020304" pitchFamily="18" charset="0"/>
                      </a:endParaRPr>
                    </a:p>
                  </a:txBody>
                  <a:tcPr/>
                </a:tc>
                <a:tc>
                  <a:txBody>
                    <a:bodyPr/>
                    <a:lstStyle/>
                    <a:p>
                      <a:pPr algn="ctr"/>
                      <a:r>
                        <a:rPr lang="en-IN">
                          <a:latin typeface="Times New Roman"/>
                          <a:cs typeface="Times New Roman"/>
                        </a:rPr>
                        <a:t>Literature Survey of Decoupling </a:t>
                      </a:r>
                      <a:r>
                        <a:rPr lang="en-IN" err="1">
                          <a:latin typeface="Times New Roman"/>
                          <a:cs typeface="Times New Roman"/>
                        </a:rPr>
                        <a:t>Structers</a:t>
                      </a:r>
                      <a:r>
                        <a:rPr lang="en-IN">
                          <a:latin typeface="Times New Roman"/>
                          <a:cs typeface="Times New Roman"/>
                        </a:rPr>
                        <a:t>.</a:t>
                      </a:r>
                    </a:p>
                  </a:txBody>
                  <a:tcPr/>
                </a:tc>
                <a:extLst>
                  <a:ext uri="{0D108BD9-81ED-4DB2-BD59-A6C34878D82A}">
                    <a16:rowId xmlns:a16="http://schemas.microsoft.com/office/drawing/2014/main" val="654487334"/>
                  </a:ext>
                </a:extLst>
              </a:tr>
              <a:tr h="769519">
                <a:tc>
                  <a:txBody>
                    <a:bodyPr/>
                    <a:lstStyle/>
                    <a:p>
                      <a:pPr algn="ctr"/>
                      <a:r>
                        <a:rPr lang="en-GB">
                          <a:latin typeface="Times New Roman"/>
                          <a:cs typeface="Times New Roman"/>
                        </a:rPr>
                        <a:t>1.2</a:t>
                      </a:r>
                      <a:endParaRPr lang="en-IN">
                        <a:latin typeface="Times New Roman"/>
                        <a:cs typeface="Times New Roman"/>
                      </a:endParaRPr>
                    </a:p>
                  </a:txBody>
                  <a:tcPr/>
                </a:tc>
                <a:tc>
                  <a:txBody>
                    <a:bodyPr/>
                    <a:lstStyle/>
                    <a:p>
                      <a:pPr algn="ctr"/>
                      <a:r>
                        <a:rPr lang="en-GB">
                          <a:latin typeface="Times New Roman"/>
                          <a:cs typeface="Times New Roman"/>
                        </a:rPr>
                        <a:t>August – September 2025</a:t>
                      </a:r>
                      <a:endParaRPr lang="en-IN">
                        <a:latin typeface="Times New Roman"/>
                        <a:cs typeface="Times New Roman"/>
                      </a:endParaRPr>
                    </a:p>
                  </a:txBody>
                  <a:tcPr/>
                </a:tc>
                <a:tc>
                  <a:txBody>
                    <a:bodyPr/>
                    <a:lstStyle/>
                    <a:p>
                      <a:pPr algn="ctr"/>
                      <a:r>
                        <a:rPr lang="en-IN">
                          <a:solidFill>
                            <a:schemeClr val="tx1"/>
                          </a:solidFill>
                          <a:latin typeface="Times New Roman"/>
                          <a:cs typeface="Times New Roman"/>
                        </a:rPr>
                        <a:t>Design and Analysis of Base Antenna at 2.4 GHZ.</a:t>
                      </a:r>
                    </a:p>
                  </a:txBody>
                  <a:tcPr/>
                </a:tc>
                <a:extLst>
                  <a:ext uri="{0D108BD9-81ED-4DB2-BD59-A6C34878D82A}">
                    <a16:rowId xmlns:a16="http://schemas.microsoft.com/office/drawing/2014/main" val="2176508695"/>
                  </a:ext>
                </a:extLst>
              </a:tr>
              <a:tr h="769519">
                <a:tc>
                  <a:txBody>
                    <a:bodyPr/>
                    <a:lstStyle/>
                    <a:p>
                      <a:pPr algn="ctr"/>
                      <a:r>
                        <a:rPr lang="en-GB">
                          <a:latin typeface="Times New Roman"/>
                          <a:cs typeface="Times New Roman"/>
                        </a:rPr>
                        <a:t>1.3</a:t>
                      </a:r>
                      <a:endParaRPr lang="en-IN">
                        <a:latin typeface="Times New Roman"/>
                        <a:cs typeface="Times New Roman"/>
                      </a:endParaRPr>
                    </a:p>
                  </a:txBody>
                  <a:tcPr/>
                </a:tc>
                <a:tc>
                  <a:txBody>
                    <a:bodyPr/>
                    <a:lstStyle/>
                    <a:p>
                      <a:pPr algn="ctr"/>
                      <a:r>
                        <a:rPr lang="en-GB">
                          <a:latin typeface="Times New Roman"/>
                          <a:cs typeface="Times New Roman"/>
                        </a:rPr>
                        <a:t>October-November 2025</a:t>
                      </a:r>
                      <a:endParaRPr lang="en-IN">
                        <a:latin typeface="Times New Roman"/>
                        <a:cs typeface="Times New Roman"/>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a:solidFill>
                            <a:schemeClr val="tx1"/>
                          </a:solidFill>
                          <a:latin typeface="Times New Roman"/>
                          <a:cs typeface="Times New Roman"/>
                        </a:rPr>
                        <a:t>Design and Analysis of Patch Antenna Array at 2.4 GHZ.</a:t>
                      </a:r>
                    </a:p>
                    <a:p>
                      <a:pPr algn="ctr"/>
                      <a:endParaRPr lang="en-IN">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43037153"/>
                  </a:ext>
                </a:extLst>
              </a:tr>
              <a:tr h="769519">
                <a:tc>
                  <a:txBody>
                    <a:bodyPr/>
                    <a:lstStyle/>
                    <a:p>
                      <a:pPr algn="ctr"/>
                      <a:r>
                        <a:rPr lang="en-GB" b="0">
                          <a:latin typeface="Times New Roman"/>
                          <a:cs typeface="Times New Roman"/>
                        </a:rPr>
                        <a:t>2.1</a:t>
                      </a:r>
                      <a:endParaRPr lang="en-IN" b="0">
                        <a:latin typeface="Times New Roman"/>
                        <a:cs typeface="Times New Roman"/>
                      </a:endParaRPr>
                    </a:p>
                  </a:txBody>
                  <a:tcPr/>
                </a:tc>
                <a:tc>
                  <a:txBody>
                    <a:bodyPr/>
                    <a:lstStyle/>
                    <a:p>
                      <a:pPr algn="ctr"/>
                      <a:r>
                        <a:rPr lang="en-GB" b="0">
                          <a:latin typeface="Times New Roman"/>
                          <a:cs typeface="Times New Roman"/>
                        </a:rPr>
                        <a:t>December 2025-January 2026</a:t>
                      </a:r>
                      <a:endParaRPr lang="en-IN" b="0">
                        <a:latin typeface="Times New Roman"/>
                        <a:cs typeface="Times New Roman"/>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b="0">
                          <a:solidFill>
                            <a:schemeClr val="tx1"/>
                          </a:solidFill>
                          <a:latin typeface="Times New Roman"/>
                          <a:cs typeface="Times New Roman"/>
                        </a:rPr>
                        <a:t>Design and Analysis of Patch Antenna Array with De-Coupling Structure at 2.4 GHZ.</a:t>
                      </a:r>
                    </a:p>
                    <a:p>
                      <a:pPr algn="ctr"/>
                      <a:endParaRPr lang="en-IN" b="0">
                        <a:latin typeface="Times New Roman"/>
                        <a:cs typeface="Times New Roman"/>
                      </a:endParaRPr>
                    </a:p>
                  </a:txBody>
                  <a:tcPr/>
                </a:tc>
                <a:extLst>
                  <a:ext uri="{0D108BD9-81ED-4DB2-BD59-A6C34878D82A}">
                    <a16:rowId xmlns:a16="http://schemas.microsoft.com/office/drawing/2014/main" val="2256465523"/>
                  </a:ext>
                </a:extLst>
              </a:tr>
              <a:tr h="769519">
                <a:tc>
                  <a:txBody>
                    <a:bodyPr/>
                    <a:lstStyle/>
                    <a:p>
                      <a:pPr algn="ctr"/>
                      <a:r>
                        <a:rPr lang="en-GB">
                          <a:latin typeface="Times New Roman"/>
                          <a:cs typeface="Times New Roman"/>
                        </a:rPr>
                        <a:t>2.2</a:t>
                      </a:r>
                      <a:endParaRPr lang="en-IN">
                        <a:latin typeface="Times New Roman"/>
                        <a:cs typeface="Times New Roman"/>
                      </a:endParaRPr>
                    </a:p>
                  </a:txBody>
                  <a:tcPr/>
                </a:tc>
                <a:tc>
                  <a:txBody>
                    <a:bodyPr/>
                    <a:lstStyle/>
                    <a:p>
                      <a:pPr algn="ctr"/>
                      <a:r>
                        <a:rPr lang="en-GB">
                          <a:latin typeface="Times New Roman"/>
                          <a:cs typeface="Times New Roman"/>
                        </a:rPr>
                        <a:t>February-March 2026</a:t>
                      </a:r>
                      <a:endParaRPr lang="en-IN">
                        <a:latin typeface="Times New Roman"/>
                        <a:cs typeface="Times New Roman"/>
                      </a:endParaRPr>
                    </a:p>
                  </a:txBody>
                  <a:tcPr/>
                </a:tc>
                <a:tc>
                  <a:txBody>
                    <a:bodyPr/>
                    <a:lstStyle/>
                    <a:p>
                      <a:pPr algn="ctr"/>
                      <a:r>
                        <a:rPr lang="en-IN">
                          <a:latin typeface="Times New Roman"/>
                          <a:cs typeface="Times New Roman"/>
                        </a:rPr>
                        <a:t>Prototype and Measurement</a:t>
                      </a:r>
                    </a:p>
                  </a:txBody>
                  <a:tcPr/>
                </a:tc>
                <a:extLst>
                  <a:ext uri="{0D108BD9-81ED-4DB2-BD59-A6C34878D82A}">
                    <a16:rowId xmlns:a16="http://schemas.microsoft.com/office/drawing/2014/main" val="1064965704"/>
                  </a:ext>
                </a:extLst>
              </a:tr>
            </a:tbl>
          </a:graphicData>
        </a:graphic>
      </p:graphicFrame>
    </p:spTree>
    <p:extLst>
      <p:ext uri="{BB962C8B-B14F-4D97-AF65-F5344CB8AC3E}">
        <p14:creationId xmlns:p14="http://schemas.microsoft.com/office/powerpoint/2010/main" val="35964095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9108369D-A279-166C-3F26-6BD3C89D0E9D}"/>
              </a:ext>
            </a:extLst>
          </p:cNvPr>
          <p:cNvSpPr>
            <a:spLocks noGrp="1"/>
          </p:cNvSpPr>
          <p:nvPr>
            <p:ph type="dt" sz="half" idx="10"/>
          </p:nvPr>
        </p:nvSpPr>
        <p:spPr/>
        <p:txBody>
          <a:bodyPr/>
          <a:lstStyle/>
          <a:p>
            <a:fld id="{EDF88E1D-3A48-4414-98C3-FF9C491158CD}" type="datetime1">
              <a:rPr lang="en-IN" smtClean="0"/>
              <a:t>09-02-2026</a:t>
            </a:fld>
            <a:endParaRPr lang="en-IN"/>
          </a:p>
        </p:txBody>
      </p:sp>
      <p:sp>
        <p:nvSpPr>
          <p:cNvPr id="5" name="Footer Placeholder 4">
            <a:extLst>
              <a:ext uri="{FF2B5EF4-FFF2-40B4-BE49-F238E27FC236}">
                <a16:creationId xmlns:a16="http://schemas.microsoft.com/office/drawing/2014/main" id="{3C3CA329-71B7-AB31-6941-1C0064FB5A8A}"/>
              </a:ext>
            </a:extLst>
          </p:cNvPr>
          <p:cNvSpPr>
            <a:spLocks noGrp="1"/>
          </p:cNvSpPr>
          <p:nvPr>
            <p:ph type="ftr" sz="quarter" idx="11"/>
          </p:nvPr>
        </p:nvSpPr>
        <p:spPr/>
        <p:txBody>
          <a:bodyPr/>
          <a:lstStyle/>
          <a:p>
            <a:r>
              <a:rPr lang="en-IN"/>
              <a:t>Review 2.2</a:t>
            </a:r>
          </a:p>
        </p:txBody>
      </p:sp>
      <p:sp>
        <p:nvSpPr>
          <p:cNvPr id="6" name="Slide Number Placeholder 5">
            <a:extLst>
              <a:ext uri="{FF2B5EF4-FFF2-40B4-BE49-F238E27FC236}">
                <a16:creationId xmlns:a16="http://schemas.microsoft.com/office/drawing/2014/main" id="{BDA2DC4B-E8A9-1E71-78C8-7EBE44CCB6E7}"/>
              </a:ext>
            </a:extLst>
          </p:cNvPr>
          <p:cNvSpPr>
            <a:spLocks noGrp="1"/>
          </p:cNvSpPr>
          <p:nvPr>
            <p:ph type="sldNum" sz="quarter" idx="12"/>
          </p:nvPr>
        </p:nvSpPr>
        <p:spPr/>
        <p:txBody>
          <a:bodyPr/>
          <a:lstStyle/>
          <a:p>
            <a:fld id="{1CCCFFBF-4DCD-46DE-85E1-69841FB49368}" type="slidenum">
              <a:rPr lang="en-IN" smtClean="0"/>
              <a:t>4</a:t>
            </a:fld>
            <a:endParaRPr lang="en-IN"/>
          </a:p>
        </p:txBody>
      </p:sp>
      <p:pic>
        <p:nvPicPr>
          <p:cNvPr id="8" name="Picture 7">
            <a:extLst>
              <a:ext uri="{FF2B5EF4-FFF2-40B4-BE49-F238E27FC236}">
                <a16:creationId xmlns:a16="http://schemas.microsoft.com/office/drawing/2014/main" id="{1CBAF2EE-79D6-51D8-FCC6-39695074B12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92871" y="-31376"/>
            <a:ext cx="1999129" cy="591742"/>
          </a:xfrm>
          <a:prstGeom prst="rect">
            <a:avLst/>
          </a:prstGeom>
        </p:spPr>
      </p:pic>
      <p:sp>
        <p:nvSpPr>
          <p:cNvPr id="7" name="TextBox 6">
            <a:extLst>
              <a:ext uri="{FF2B5EF4-FFF2-40B4-BE49-F238E27FC236}">
                <a16:creationId xmlns:a16="http://schemas.microsoft.com/office/drawing/2014/main" id="{9536602E-4E7C-4A25-4C4B-9FF997BD29B4}"/>
              </a:ext>
            </a:extLst>
          </p:cNvPr>
          <p:cNvSpPr txBox="1"/>
          <p:nvPr/>
        </p:nvSpPr>
        <p:spPr>
          <a:xfrm>
            <a:off x="83507" y="5219"/>
            <a:ext cx="6096000"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u="sng">
                <a:latin typeface="Times New Roman"/>
                <a:cs typeface="Times New Roman"/>
              </a:rPr>
              <a:t>METHODOLOGY</a:t>
            </a:r>
            <a:r>
              <a:rPr lang="en-US" sz="3200" b="1">
                <a:latin typeface="Times New Roman"/>
                <a:cs typeface="Times New Roman"/>
              </a:rPr>
              <a:t>:</a:t>
            </a:r>
          </a:p>
        </p:txBody>
      </p:sp>
      <p:pic>
        <p:nvPicPr>
          <p:cNvPr id="10" name="Content Placeholder 9">
            <a:extLst>
              <a:ext uri="{FF2B5EF4-FFF2-40B4-BE49-F238E27FC236}">
                <a16:creationId xmlns:a16="http://schemas.microsoft.com/office/drawing/2014/main" id="{4BC3CAD1-94EF-8F98-A8ED-ABCA5591E1A3}"/>
              </a:ext>
            </a:extLst>
          </p:cNvPr>
          <p:cNvPicPr>
            <a:picLocks noGrp="1" noChangeAspect="1"/>
          </p:cNvPicPr>
          <p:nvPr>
            <p:ph idx="1"/>
          </p:nvPr>
        </p:nvPicPr>
        <p:blipFill>
          <a:blip r:embed="rId3"/>
          <a:stretch>
            <a:fillRect/>
          </a:stretch>
        </p:blipFill>
        <p:spPr>
          <a:xfrm>
            <a:off x="642883" y="854858"/>
            <a:ext cx="8881192" cy="4351338"/>
          </a:xfrm>
          <a:prstGeom prst="rect">
            <a:avLst/>
          </a:prstGeom>
        </p:spPr>
      </p:pic>
    </p:spTree>
    <p:extLst>
      <p:ext uri="{BB962C8B-B14F-4D97-AF65-F5344CB8AC3E}">
        <p14:creationId xmlns:p14="http://schemas.microsoft.com/office/powerpoint/2010/main" val="11754077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D6414CB-1881-61EF-8A75-9EF94FAB781D}"/>
              </a:ext>
            </a:extLst>
          </p:cNvPr>
          <p:cNvSpPr>
            <a:spLocks noGrp="1"/>
          </p:cNvSpPr>
          <p:nvPr>
            <p:ph idx="1"/>
          </p:nvPr>
        </p:nvSpPr>
        <p:spPr>
          <a:xfrm>
            <a:off x="221877" y="861920"/>
            <a:ext cx="11972364" cy="5315043"/>
          </a:xfrm>
        </p:spPr>
        <p:txBody>
          <a:bodyPr vert="horz" lIns="91440" tIns="45720" rIns="91440" bIns="45720" rtlCol="0" anchor="t">
            <a:normAutofit/>
          </a:bodyPr>
          <a:lstStyle/>
          <a:p>
            <a:pPr marL="0" indent="0">
              <a:buNone/>
            </a:pPr>
            <a:r>
              <a:rPr lang="en-IN" sz="2000">
                <a:latin typeface="Wingdings"/>
                <a:sym typeface="Wingdings"/>
              </a:rPr>
              <a:t>q</a:t>
            </a:r>
            <a:r>
              <a:rPr lang="en-IN" sz="2000" b="1">
                <a:latin typeface="Times New Roman"/>
                <a:cs typeface="Times New Roman"/>
              </a:rPr>
              <a:t>Patch Antenna Dimension Calculation</a:t>
            </a:r>
            <a:r>
              <a:rPr lang="en-IN" sz="1800" b="1">
                <a:latin typeface="Times New Roman"/>
                <a:cs typeface="Times New Roman"/>
              </a:rPr>
              <a:t>:</a:t>
            </a:r>
            <a:endParaRPr lang="en-IN">
              <a:ea typeface="Calibri" panose="020F0502020204030204"/>
              <a:cs typeface="Calibri" panose="020F0502020204030204"/>
            </a:endParaRPr>
          </a:p>
          <a:p>
            <a:endParaRPr lang="en-IN">
              <a:ea typeface="Calibri" panose="020F0502020204030204"/>
              <a:cs typeface="Calibri" panose="020F0502020204030204"/>
            </a:endParaRPr>
          </a:p>
        </p:txBody>
      </p:sp>
      <p:sp>
        <p:nvSpPr>
          <p:cNvPr id="4" name="Date Placeholder 3">
            <a:extLst>
              <a:ext uri="{FF2B5EF4-FFF2-40B4-BE49-F238E27FC236}">
                <a16:creationId xmlns:a16="http://schemas.microsoft.com/office/drawing/2014/main" id="{F788E993-E9A8-5C1B-9330-60D2C04A719C}"/>
              </a:ext>
            </a:extLst>
          </p:cNvPr>
          <p:cNvSpPr>
            <a:spLocks noGrp="1"/>
          </p:cNvSpPr>
          <p:nvPr>
            <p:ph type="dt" sz="half" idx="10"/>
          </p:nvPr>
        </p:nvSpPr>
        <p:spPr/>
        <p:txBody>
          <a:bodyPr/>
          <a:lstStyle/>
          <a:p>
            <a:fld id="{FFA23234-F5B4-4BA6-BFFC-BEB05161B9C1}" type="datetime1">
              <a:rPr lang="en-IN" smtClean="0"/>
              <a:t>09-02-2026</a:t>
            </a:fld>
            <a:endParaRPr lang="en-IN"/>
          </a:p>
        </p:txBody>
      </p:sp>
      <p:sp>
        <p:nvSpPr>
          <p:cNvPr id="5" name="Footer Placeholder 4">
            <a:extLst>
              <a:ext uri="{FF2B5EF4-FFF2-40B4-BE49-F238E27FC236}">
                <a16:creationId xmlns:a16="http://schemas.microsoft.com/office/drawing/2014/main" id="{381E3C32-970B-1C8B-CC87-79ED6A08511B}"/>
              </a:ext>
            </a:extLst>
          </p:cNvPr>
          <p:cNvSpPr>
            <a:spLocks noGrp="1"/>
          </p:cNvSpPr>
          <p:nvPr>
            <p:ph type="ftr" sz="quarter" idx="11"/>
          </p:nvPr>
        </p:nvSpPr>
        <p:spPr/>
        <p:txBody>
          <a:bodyPr/>
          <a:lstStyle/>
          <a:p>
            <a:r>
              <a:rPr lang="en-IN"/>
              <a:t>Review 2.2</a:t>
            </a:r>
          </a:p>
        </p:txBody>
      </p:sp>
      <p:sp>
        <p:nvSpPr>
          <p:cNvPr id="6" name="Slide Number Placeholder 5">
            <a:extLst>
              <a:ext uri="{FF2B5EF4-FFF2-40B4-BE49-F238E27FC236}">
                <a16:creationId xmlns:a16="http://schemas.microsoft.com/office/drawing/2014/main" id="{C3CC18D0-8F41-A501-21C0-79A1226AC25C}"/>
              </a:ext>
            </a:extLst>
          </p:cNvPr>
          <p:cNvSpPr>
            <a:spLocks noGrp="1"/>
          </p:cNvSpPr>
          <p:nvPr>
            <p:ph type="sldNum" sz="quarter" idx="12"/>
          </p:nvPr>
        </p:nvSpPr>
        <p:spPr/>
        <p:txBody>
          <a:bodyPr/>
          <a:lstStyle/>
          <a:p>
            <a:fld id="{1CCCFFBF-4DCD-46DE-85E1-69841FB49368}" type="slidenum">
              <a:rPr lang="en-IN" smtClean="0"/>
              <a:t>5</a:t>
            </a:fld>
            <a:endParaRPr lang="en-IN"/>
          </a:p>
        </p:txBody>
      </p:sp>
      <p:pic>
        <p:nvPicPr>
          <p:cNvPr id="8" name="Picture 7" descr="A pink and black logo&#10;&#10;AI-generated content may be incorrect.">
            <a:extLst>
              <a:ext uri="{FF2B5EF4-FFF2-40B4-BE49-F238E27FC236}">
                <a16:creationId xmlns:a16="http://schemas.microsoft.com/office/drawing/2014/main" id="{28F06BF9-9536-1EDE-C5A9-4AFB5D39D02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92871" y="-31376"/>
            <a:ext cx="1999129" cy="591742"/>
          </a:xfrm>
          <a:prstGeom prst="rect">
            <a:avLst/>
          </a:prstGeom>
        </p:spPr>
      </p:pic>
      <p:sp>
        <p:nvSpPr>
          <p:cNvPr id="2" name="TextBox 1">
            <a:extLst>
              <a:ext uri="{FF2B5EF4-FFF2-40B4-BE49-F238E27FC236}">
                <a16:creationId xmlns:a16="http://schemas.microsoft.com/office/drawing/2014/main" id="{134BEBA5-6E5A-3363-24DF-F5384D72FF23}"/>
              </a:ext>
            </a:extLst>
          </p:cNvPr>
          <p:cNvSpPr txBox="1"/>
          <p:nvPr/>
        </p:nvSpPr>
        <p:spPr>
          <a:xfrm>
            <a:off x="0" y="5219"/>
            <a:ext cx="6096000"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u="sng">
                <a:latin typeface="Times New Roman"/>
              </a:rPr>
              <a:t>METHODOLOGY</a:t>
            </a:r>
            <a:r>
              <a:rPr lang="en-US" sz="3200" b="1">
                <a:latin typeface="Times New Roman"/>
              </a:rPr>
              <a:t>:</a:t>
            </a:r>
            <a:endParaRPr lang="en-GB"/>
          </a:p>
        </p:txBody>
      </p:sp>
      <p:sp>
        <p:nvSpPr>
          <p:cNvPr id="7" name="TextBox 6">
            <a:extLst>
              <a:ext uri="{FF2B5EF4-FFF2-40B4-BE49-F238E27FC236}">
                <a16:creationId xmlns:a16="http://schemas.microsoft.com/office/drawing/2014/main" id="{A399DD05-9EC7-3475-88D2-8E42057B56AA}"/>
              </a:ext>
            </a:extLst>
          </p:cNvPr>
          <p:cNvSpPr txBox="1"/>
          <p:nvPr/>
        </p:nvSpPr>
        <p:spPr>
          <a:xfrm>
            <a:off x="219207" y="1299576"/>
            <a:ext cx="8110601" cy="37856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3210" indent="-283210" algn="just">
              <a:buFont typeface="Arial"/>
              <a:buChar char="•"/>
            </a:pPr>
            <a:r>
              <a:rPr lang="en-US">
                <a:latin typeface="Times New Roman"/>
                <a:cs typeface="Times New Roman"/>
              </a:rPr>
              <a:t>As the frequency of the application is 2.4 GHz, considering </a:t>
            </a:r>
            <a:r>
              <a:rPr lang="en-US">
                <a:latin typeface="Times New Roman"/>
                <a:ea typeface="Calibri"/>
                <a:cs typeface="Calibri"/>
              </a:rPr>
              <a:t>Rogers RT </a:t>
            </a:r>
            <a:r>
              <a:rPr lang="en-US" err="1">
                <a:latin typeface="Times New Roman"/>
                <a:ea typeface="Calibri"/>
                <a:cs typeface="Calibri"/>
              </a:rPr>
              <a:t>duroid</a:t>
            </a:r>
            <a:r>
              <a:rPr lang="en-US">
                <a:latin typeface="Times New Roman"/>
                <a:ea typeface="Calibri"/>
                <a:cs typeface="Calibri"/>
              </a:rPr>
              <a:t> 5880 </a:t>
            </a:r>
            <a:r>
              <a:rPr lang="en-US">
                <a:latin typeface="Times New Roman"/>
                <a:cs typeface="Times New Roman"/>
              </a:rPr>
              <a:t> (</a:t>
            </a:r>
            <a:r>
              <a:rPr lang="en-US" err="1">
                <a:latin typeface="Times New Roman"/>
                <a:cs typeface="Times New Roman"/>
              </a:rPr>
              <a:t>εr</a:t>
            </a:r>
            <a:r>
              <a:rPr lang="en-US">
                <a:latin typeface="Times New Roman"/>
                <a:cs typeface="Times New Roman"/>
              </a:rPr>
              <a:t> = 2.2) is a suitable substrate</a:t>
            </a:r>
            <a:r>
              <a:rPr lang="en-US">
                <a:latin typeface="Times New Roman"/>
                <a:ea typeface="Calibri"/>
                <a:cs typeface="Calibri"/>
              </a:rPr>
              <a:t>, the basic patch antenna dimensions are determined through</a:t>
            </a:r>
            <a:r>
              <a:rPr lang="en-US">
                <a:latin typeface="Times New Roman"/>
                <a:cs typeface="Times New Roman"/>
              </a:rPr>
              <a:t> mathematical calculations.</a:t>
            </a:r>
          </a:p>
          <a:p>
            <a:pPr marL="283210" indent="-283210" algn="just"/>
            <a:endParaRPr lang="en-IN">
              <a:latin typeface="Times New Roman"/>
              <a:cs typeface="Times New Roman"/>
            </a:endParaRPr>
          </a:p>
          <a:p>
            <a:pPr marL="283210" indent="-283210" algn="just">
              <a:buFont typeface="Arial"/>
              <a:buChar char="•"/>
            </a:pPr>
            <a:r>
              <a:rPr lang="en-US">
                <a:latin typeface="Times New Roman"/>
                <a:cs typeface="Times New Roman"/>
              </a:rPr>
              <a:t>Designed for 2.4 GHz rectangular patch on   </a:t>
            </a:r>
            <a:r>
              <a:rPr lang="en-US">
                <a:latin typeface="Times New Roman"/>
                <a:ea typeface="Calibri"/>
                <a:cs typeface="Calibri"/>
              </a:rPr>
              <a:t>Rogers RT </a:t>
            </a:r>
            <a:r>
              <a:rPr lang="en-US" err="1">
                <a:latin typeface="Times New Roman"/>
                <a:ea typeface="Calibri"/>
                <a:cs typeface="Calibri"/>
              </a:rPr>
              <a:t>duroid</a:t>
            </a:r>
            <a:r>
              <a:rPr lang="en-US">
                <a:latin typeface="Times New Roman"/>
                <a:ea typeface="Calibri"/>
                <a:cs typeface="Calibri"/>
              </a:rPr>
              <a:t> 5880</a:t>
            </a:r>
            <a:r>
              <a:rPr lang="en-US">
                <a:latin typeface="Times New Roman"/>
                <a:cs typeface="Times New Roman"/>
              </a:rPr>
              <a:t>(</a:t>
            </a:r>
            <a:r>
              <a:rPr lang="el-GR">
                <a:latin typeface="Times New Roman"/>
                <a:cs typeface="Times New Roman"/>
              </a:rPr>
              <a:t>ε</a:t>
            </a:r>
            <a:r>
              <a:rPr lang="en-IN">
                <a:latin typeface="Times New Roman"/>
                <a:cs typeface="Times New Roman"/>
              </a:rPr>
              <a:t>r = 2.2)</a:t>
            </a:r>
            <a:r>
              <a:rPr lang="en-US">
                <a:latin typeface="Times New Roman"/>
                <a:cs typeface="Times New Roman"/>
              </a:rPr>
              <a:t> with h = 1.6 mm.</a:t>
            </a:r>
          </a:p>
          <a:p>
            <a:pPr algn="just"/>
            <a:r>
              <a:rPr lang="en-US">
                <a:latin typeface="Times New Roman"/>
                <a:cs typeface="Times New Roman"/>
              </a:rPr>
              <a:t>     Patch Width(W): </a:t>
            </a:r>
          </a:p>
          <a:p>
            <a:pPr algn="just"/>
            <a:r>
              <a:rPr lang="en-US">
                <a:latin typeface="Times New Roman"/>
                <a:cs typeface="Times New Roman"/>
              </a:rPr>
              <a:t>          </a:t>
            </a:r>
          </a:p>
          <a:p>
            <a:pPr algn="just"/>
            <a:r>
              <a:rPr lang="en-US">
                <a:latin typeface="Times New Roman"/>
                <a:cs typeface="Times New Roman"/>
              </a:rPr>
              <a:t>                                                                   </a:t>
            </a:r>
          </a:p>
          <a:p>
            <a:pPr algn="just"/>
            <a:r>
              <a:rPr lang="en-US">
                <a:latin typeface="Times New Roman"/>
                <a:cs typeface="Times New Roman"/>
              </a:rPr>
              <a:t>                                                                                           …(1)        </a:t>
            </a:r>
          </a:p>
          <a:p>
            <a:pPr algn="just"/>
            <a:endParaRPr lang="en-US">
              <a:latin typeface="Times New Roman"/>
              <a:cs typeface="Times New Roman"/>
            </a:endParaRPr>
          </a:p>
          <a:p>
            <a:pPr algn="just"/>
            <a:r>
              <a:rPr lang="en-US">
                <a:latin typeface="Times New Roman"/>
                <a:cs typeface="Times New Roman"/>
              </a:rPr>
              <a:t>        </a:t>
            </a:r>
            <a:endParaRPr lang="en-US">
              <a:ea typeface="Calibri"/>
              <a:cs typeface="Calibri"/>
            </a:endParaRPr>
          </a:p>
          <a:p>
            <a:pPr algn="just"/>
            <a:r>
              <a:rPr lang="en-US">
                <a:latin typeface="Times New Roman"/>
                <a:cs typeface="Times New Roman"/>
              </a:rPr>
              <a:t>                                                      =&gt; </a:t>
            </a:r>
            <a:r>
              <a:rPr lang="en-US" sz="2400">
                <a:latin typeface="Times New Roman"/>
                <a:cs typeface="Times New Roman"/>
              </a:rPr>
              <a:t>W = 45.38mm</a:t>
            </a:r>
            <a:r>
              <a:rPr lang="en-US">
                <a:latin typeface="Times New Roman"/>
                <a:cs typeface="Times New Roman"/>
              </a:rPr>
              <a:t>           </a:t>
            </a:r>
          </a:p>
        </p:txBody>
      </p:sp>
      <p:pic>
        <p:nvPicPr>
          <p:cNvPr id="9" name="Picture 8" descr="A square root of a mathematical equation&#10;&#10;AI-generated content may be incorrect.">
            <a:extLst>
              <a:ext uri="{FF2B5EF4-FFF2-40B4-BE49-F238E27FC236}">
                <a16:creationId xmlns:a16="http://schemas.microsoft.com/office/drawing/2014/main" id="{BA5B80CF-3B90-360A-02FB-565567FBA5A1}"/>
              </a:ext>
            </a:extLst>
          </p:cNvPr>
          <p:cNvPicPr>
            <a:picLocks noChangeAspect="1"/>
          </p:cNvPicPr>
          <p:nvPr/>
        </p:nvPicPr>
        <p:blipFill>
          <a:blip r:embed="rId3"/>
          <a:stretch>
            <a:fillRect/>
          </a:stretch>
        </p:blipFill>
        <p:spPr>
          <a:xfrm>
            <a:off x="1435" y="3368263"/>
            <a:ext cx="3295650" cy="1019175"/>
          </a:xfrm>
          <a:prstGeom prst="rect">
            <a:avLst/>
          </a:prstGeom>
        </p:spPr>
      </p:pic>
      <p:pic>
        <p:nvPicPr>
          <p:cNvPr id="10" name="Picture 9">
            <a:extLst>
              <a:ext uri="{FF2B5EF4-FFF2-40B4-BE49-F238E27FC236}">
                <a16:creationId xmlns:a16="http://schemas.microsoft.com/office/drawing/2014/main" id="{EFF6CEBF-E82E-804D-CD40-A31E8794A5F4}"/>
              </a:ext>
            </a:extLst>
          </p:cNvPr>
          <p:cNvPicPr>
            <a:picLocks noChangeAspect="1"/>
          </p:cNvPicPr>
          <p:nvPr/>
        </p:nvPicPr>
        <p:blipFill>
          <a:blip r:embed="rId4"/>
          <a:stretch>
            <a:fillRect/>
          </a:stretch>
        </p:blipFill>
        <p:spPr>
          <a:xfrm>
            <a:off x="372649" y="4498540"/>
            <a:ext cx="2824620" cy="856729"/>
          </a:xfrm>
          <a:prstGeom prst="rect">
            <a:avLst/>
          </a:prstGeom>
        </p:spPr>
      </p:pic>
      <p:pic>
        <p:nvPicPr>
          <p:cNvPr id="11" name="Picture 10" descr="A diagram of a rectangular object&#10;&#10;AI-generated content may be incorrect.">
            <a:extLst>
              <a:ext uri="{FF2B5EF4-FFF2-40B4-BE49-F238E27FC236}">
                <a16:creationId xmlns:a16="http://schemas.microsoft.com/office/drawing/2014/main" id="{3E5B97BD-CC2F-2E3D-1F35-6141E8C445C5}"/>
              </a:ext>
            </a:extLst>
          </p:cNvPr>
          <p:cNvPicPr>
            <a:picLocks noChangeAspect="1"/>
          </p:cNvPicPr>
          <p:nvPr/>
        </p:nvPicPr>
        <p:blipFill>
          <a:blip r:embed="rId5"/>
          <a:stretch>
            <a:fillRect/>
          </a:stretch>
        </p:blipFill>
        <p:spPr>
          <a:xfrm>
            <a:off x="8363799" y="1031506"/>
            <a:ext cx="3648075" cy="4314825"/>
          </a:xfrm>
          <a:prstGeom prst="rect">
            <a:avLst/>
          </a:prstGeom>
        </p:spPr>
      </p:pic>
      <p:sp>
        <p:nvSpPr>
          <p:cNvPr id="12" name="TextBox 11">
            <a:extLst>
              <a:ext uri="{FF2B5EF4-FFF2-40B4-BE49-F238E27FC236}">
                <a16:creationId xmlns:a16="http://schemas.microsoft.com/office/drawing/2014/main" id="{113DB6C3-0547-D6A2-B8FA-7EE5049B0039}"/>
              </a:ext>
            </a:extLst>
          </p:cNvPr>
          <p:cNvSpPr txBox="1"/>
          <p:nvPr/>
        </p:nvSpPr>
        <p:spPr>
          <a:xfrm>
            <a:off x="8377107" y="5656369"/>
            <a:ext cx="3642304"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a:latin typeface="Times New Roman"/>
                <a:ea typeface="Calibri"/>
                <a:cs typeface="Calibri"/>
              </a:rPr>
              <a:t>Figure 1. </a:t>
            </a:r>
            <a:r>
              <a:rPr lang="en-US" sz="1600">
                <a:latin typeface="Times New Roman"/>
                <a:ea typeface="Calibri"/>
                <a:cs typeface="Calibri"/>
              </a:rPr>
              <a:t>Simulated model of a unit element of an Array</a:t>
            </a:r>
            <a:endParaRPr lang="en-GB" sz="1600">
              <a:latin typeface="Times New Roman"/>
            </a:endParaRPr>
          </a:p>
        </p:txBody>
      </p:sp>
    </p:spTree>
    <p:extLst>
      <p:ext uri="{BB962C8B-B14F-4D97-AF65-F5344CB8AC3E}">
        <p14:creationId xmlns:p14="http://schemas.microsoft.com/office/powerpoint/2010/main" val="27615284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A640A4-FB6A-5523-E162-CEF05C92279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3596A51-E690-B480-438E-1EF7DC46CE12}"/>
              </a:ext>
            </a:extLst>
          </p:cNvPr>
          <p:cNvSpPr>
            <a:spLocks noGrp="1"/>
          </p:cNvSpPr>
          <p:nvPr>
            <p:ph idx="1"/>
          </p:nvPr>
        </p:nvSpPr>
        <p:spPr>
          <a:xfrm>
            <a:off x="221877" y="861920"/>
            <a:ext cx="11972364" cy="5315043"/>
          </a:xfrm>
        </p:spPr>
        <p:txBody>
          <a:bodyPr vert="horz" lIns="91440" tIns="45720" rIns="91440" bIns="45720" rtlCol="0" anchor="t">
            <a:normAutofit/>
          </a:bodyPr>
          <a:lstStyle/>
          <a:p>
            <a:pPr marL="0" indent="0">
              <a:buNone/>
            </a:pPr>
            <a:r>
              <a:rPr lang="en-IN" sz="2000">
                <a:latin typeface="Wingdings"/>
                <a:sym typeface="Wingdings"/>
              </a:rPr>
              <a:t>q</a:t>
            </a:r>
            <a:r>
              <a:rPr lang="en-IN" sz="2000" b="1">
                <a:latin typeface="Times New Roman"/>
                <a:cs typeface="Times New Roman"/>
              </a:rPr>
              <a:t>Patch Antenna Dimension Calculation</a:t>
            </a:r>
            <a:r>
              <a:rPr lang="en-IN" sz="1800" b="1">
                <a:latin typeface="Times New Roman"/>
                <a:cs typeface="Times New Roman"/>
              </a:rPr>
              <a:t>:</a:t>
            </a:r>
            <a:endParaRPr lang="en-IN">
              <a:ea typeface="Calibri" panose="020F0502020204030204"/>
              <a:cs typeface="Calibri" panose="020F0502020204030204"/>
            </a:endParaRPr>
          </a:p>
          <a:p>
            <a:pPr algn="just">
              <a:buNone/>
            </a:pPr>
            <a:r>
              <a:rPr lang="en-IN" sz="1800">
                <a:latin typeface="Times New Roman"/>
                <a:ea typeface="Calibri"/>
                <a:cs typeface="Times New Roman"/>
              </a:rPr>
              <a:t>Effective Permittivity ε</a:t>
            </a:r>
            <a:r>
              <a:rPr lang="en-IN" sz="1800" baseline="-25000">
                <a:latin typeface="Times New Roman"/>
                <a:ea typeface="Calibri"/>
                <a:cs typeface="Times New Roman"/>
              </a:rPr>
              <a:t>eff  </a:t>
            </a:r>
            <a:endParaRPr lang="en-IN" baseline="-25000">
              <a:ea typeface="Calibri"/>
              <a:cs typeface="Calibri"/>
            </a:endParaRPr>
          </a:p>
          <a:p>
            <a:pPr marL="0" indent="0">
              <a:buNone/>
            </a:pPr>
            <a:endParaRPr lang="en-IN" sz="1800" b="1">
              <a:latin typeface="Times New Roman"/>
              <a:ea typeface="Calibri"/>
              <a:cs typeface="Times New Roman"/>
            </a:endParaRPr>
          </a:p>
          <a:p>
            <a:pPr marL="0" indent="0">
              <a:buNone/>
            </a:pPr>
            <a:r>
              <a:rPr lang="en-IN" sz="1800" b="1">
                <a:latin typeface="Times New Roman"/>
                <a:ea typeface="Calibri"/>
                <a:cs typeface="Times New Roman"/>
              </a:rPr>
              <a:t>                                                                                       </a:t>
            </a:r>
            <a:r>
              <a:rPr lang="en-IN" sz="1800">
                <a:latin typeface="Times New Roman"/>
                <a:ea typeface="Calibri"/>
                <a:cs typeface="Times New Roman"/>
              </a:rPr>
              <a:t> ...(2)</a:t>
            </a:r>
          </a:p>
          <a:p>
            <a:pPr marL="0" indent="0">
              <a:buNone/>
            </a:pPr>
            <a:endParaRPr lang="en-IN" sz="1800">
              <a:latin typeface="Times New Roman"/>
              <a:ea typeface="Calibri"/>
              <a:cs typeface="Times New Roman"/>
            </a:endParaRPr>
          </a:p>
          <a:p>
            <a:pPr marL="0" indent="0">
              <a:buNone/>
            </a:pPr>
            <a:r>
              <a:rPr lang="en-IN" sz="1800">
                <a:latin typeface="Times New Roman"/>
                <a:ea typeface="Calibri"/>
                <a:cs typeface="Times New Roman"/>
              </a:rPr>
              <a:t>                                                                              =&gt;</a:t>
            </a:r>
            <a:r>
              <a:rPr lang="en-IN" sz="3600">
                <a:latin typeface="Times New Roman"/>
                <a:ea typeface="Calibri"/>
                <a:cs typeface="Calibri"/>
              </a:rPr>
              <a:t>ε</a:t>
            </a:r>
            <a:r>
              <a:rPr lang="en-IN" sz="1600">
                <a:latin typeface="Times New Roman"/>
                <a:ea typeface="Calibri"/>
                <a:cs typeface="Calibri"/>
              </a:rPr>
              <a:t>eff</a:t>
            </a:r>
            <a:r>
              <a:rPr lang="en-IN" sz="1800">
                <a:latin typeface="Times New Roman"/>
                <a:ea typeface="Calibri"/>
                <a:cs typeface="Calibri"/>
              </a:rPr>
              <a:t>≈2.03</a:t>
            </a:r>
          </a:p>
          <a:p>
            <a:pPr algn="just">
              <a:buNone/>
            </a:pPr>
            <a:r>
              <a:rPr lang="en-IN" sz="1800">
                <a:latin typeface="Times New Roman"/>
                <a:cs typeface="Times New Roman"/>
              </a:rPr>
              <a:t>Fringing extension ΔL</a:t>
            </a:r>
            <a:endParaRPr lang="en-IN">
              <a:latin typeface="Calibri" panose="020F0502020204030204"/>
              <a:ea typeface="Calibri"/>
              <a:cs typeface="Calibri" panose="020F0502020204030204"/>
            </a:endParaRPr>
          </a:p>
          <a:p>
            <a:pPr algn="just">
              <a:buNone/>
            </a:pPr>
            <a:endParaRPr lang="en-IN" sz="1800">
              <a:latin typeface="Times New Roman"/>
              <a:ea typeface="Calibri"/>
              <a:cs typeface="Times New Roman"/>
            </a:endParaRPr>
          </a:p>
          <a:p>
            <a:pPr marL="0" indent="0">
              <a:buNone/>
            </a:pPr>
            <a:r>
              <a:rPr lang="en-IN">
                <a:latin typeface="Calibri" panose="020F0502020204030204"/>
                <a:ea typeface="Calibri"/>
                <a:cs typeface="Calibri"/>
              </a:rPr>
              <a:t>                                                               </a:t>
            </a:r>
            <a:r>
              <a:rPr lang="en-IN" sz="1800">
                <a:latin typeface="Times New Roman"/>
                <a:ea typeface="Calibri"/>
                <a:cs typeface="Calibri"/>
              </a:rPr>
              <a:t> ...(3)</a:t>
            </a:r>
          </a:p>
          <a:p>
            <a:pPr marL="0" indent="0">
              <a:buNone/>
            </a:pPr>
            <a:endParaRPr lang="en-IN" sz="1800">
              <a:latin typeface="Times New Roman"/>
              <a:ea typeface="Calibri"/>
              <a:cs typeface="Calibri"/>
            </a:endParaRPr>
          </a:p>
          <a:p>
            <a:pPr marL="0" indent="0">
              <a:buNone/>
            </a:pPr>
            <a:r>
              <a:rPr lang="en-IN" sz="1800">
                <a:latin typeface="Times New Roman"/>
                <a:ea typeface="Calibri"/>
                <a:cs typeface="Times New Roman"/>
              </a:rPr>
              <a:t>                                                                          =&gt;   ΔL≈0.74mm </a:t>
            </a:r>
          </a:p>
        </p:txBody>
      </p:sp>
      <p:sp>
        <p:nvSpPr>
          <p:cNvPr id="4" name="Date Placeholder 3">
            <a:extLst>
              <a:ext uri="{FF2B5EF4-FFF2-40B4-BE49-F238E27FC236}">
                <a16:creationId xmlns:a16="http://schemas.microsoft.com/office/drawing/2014/main" id="{ACADB529-BDC5-B664-5F6E-DF68E25FD799}"/>
              </a:ext>
            </a:extLst>
          </p:cNvPr>
          <p:cNvSpPr>
            <a:spLocks noGrp="1"/>
          </p:cNvSpPr>
          <p:nvPr>
            <p:ph type="dt" sz="half" idx="10"/>
          </p:nvPr>
        </p:nvSpPr>
        <p:spPr/>
        <p:txBody>
          <a:bodyPr/>
          <a:lstStyle/>
          <a:p>
            <a:fld id="{FFA23234-F5B4-4BA6-BFFC-BEB05161B9C1}" type="datetime1">
              <a:rPr lang="en-IN" smtClean="0"/>
              <a:t>09-02-2026</a:t>
            </a:fld>
            <a:endParaRPr lang="en-IN"/>
          </a:p>
        </p:txBody>
      </p:sp>
      <p:sp>
        <p:nvSpPr>
          <p:cNvPr id="5" name="Footer Placeholder 4">
            <a:extLst>
              <a:ext uri="{FF2B5EF4-FFF2-40B4-BE49-F238E27FC236}">
                <a16:creationId xmlns:a16="http://schemas.microsoft.com/office/drawing/2014/main" id="{0DAB643E-E20C-1EAD-746A-190B29C2D5E6}"/>
              </a:ext>
            </a:extLst>
          </p:cNvPr>
          <p:cNvSpPr>
            <a:spLocks noGrp="1"/>
          </p:cNvSpPr>
          <p:nvPr>
            <p:ph type="ftr" sz="quarter" idx="11"/>
          </p:nvPr>
        </p:nvSpPr>
        <p:spPr/>
        <p:txBody>
          <a:bodyPr/>
          <a:lstStyle/>
          <a:p>
            <a:r>
              <a:rPr lang="en-IN"/>
              <a:t>Review 2.2</a:t>
            </a:r>
          </a:p>
        </p:txBody>
      </p:sp>
      <p:sp>
        <p:nvSpPr>
          <p:cNvPr id="6" name="Slide Number Placeholder 5">
            <a:extLst>
              <a:ext uri="{FF2B5EF4-FFF2-40B4-BE49-F238E27FC236}">
                <a16:creationId xmlns:a16="http://schemas.microsoft.com/office/drawing/2014/main" id="{D370D2F7-7DC5-3BFF-7963-DF80015D83E6}"/>
              </a:ext>
            </a:extLst>
          </p:cNvPr>
          <p:cNvSpPr>
            <a:spLocks noGrp="1"/>
          </p:cNvSpPr>
          <p:nvPr>
            <p:ph type="sldNum" sz="quarter" idx="12"/>
          </p:nvPr>
        </p:nvSpPr>
        <p:spPr/>
        <p:txBody>
          <a:bodyPr/>
          <a:lstStyle/>
          <a:p>
            <a:fld id="{1CCCFFBF-4DCD-46DE-85E1-69841FB49368}" type="slidenum">
              <a:rPr lang="en-IN" smtClean="0"/>
              <a:t>6</a:t>
            </a:fld>
            <a:endParaRPr lang="en-IN"/>
          </a:p>
        </p:txBody>
      </p:sp>
      <p:pic>
        <p:nvPicPr>
          <p:cNvPr id="8" name="Picture 7" descr="A pink and black logo&#10;&#10;AI-generated content may be incorrect.">
            <a:extLst>
              <a:ext uri="{FF2B5EF4-FFF2-40B4-BE49-F238E27FC236}">
                <a16:creationId xmlns:a16="http://schemas.microsoft.com/office/drawing/2014/main" id="{87250E40-E4FF-2975-EE9F-0BBEBFF98B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92871" y="-31376"/>
            <a:ext cx="1999129" cy="591742"/>
          </a:xfrm>
          <a:prstGeom prst="rect">
            <a:avLst/>
          </a:prstGeom>
        </p:spPr>
      </p:pic>
      <p:sp>
        <p:nvSpPr>
          <p:cNvPr id="2" name="TextBox 1">
            <a:extLst>
              <a:ext uri="{FF2B5EF4-FFF2-40B4-BE49-F238E27FC236}">
                <a16:creationId xmlns:a16="http://schemas.microsoft.com/office/drawing/2014/main" id="{CA603D1E-8676-42D5-337C-E824F2892B0E}"/>
              </a:ext>
            </a:extLst>
          </p:cNvPr>
          <p:cNvSpPr txBox="1"/>
          <p:nvPr/>
        </p:nvSpPr>
        <p:spPr>
          <a:xfrm>
            <a:off x="0" y="5219"/>
            <a:ext cx="6096000"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u="sng">
                <a:latin typeface="Times New Roman"/>
              </a:rPr>
              <a:t>METHODOLOGY</a:t>
            </a:r>
            <a:r>
              <a:rPr lang="en-US" sz="3200" b="1">
                <a:latin typeface="Times New Roman"/>
              </a:rPr>
              <a:t>:</a:t>
            </a:r>
            <a:endParaRPr lang="en-GB"/>
          </a:p>
        </p:txBody>
      </p:sp>
      <p:pic>
        <p:nvPicPr>
          <p:cNvPr id="15" name="Picture 14">
            <a:extLst>
              <a:ext uri="{FF2B5EF4-FFF2-40B4-BE49-F238E27FC236}">
                <a16:creationId xmlns:a16="http://schemas.microsoft.com/office/drawing/2014/main" id="{79B57BFD-F168-1002-677E-9769EC3652B4}"/>
              </a:ext>
            </a:extLst>
          </p:cNvPr>
          <p:cNvPicPr>
            <a:picLocks noChangeAspect="1"/>
          </p:cNvPicPr>
          <p:nvPr/>
        </p:nvPicPr>
        <p:blipFill>
          <a:blip r:embed="rId3"/>
          <a:stretch>
            <a:fillRect/>
          </a:stretch>
        </p:blipFill>
        <p:spPr>
          <a:xfrm>
            <a:off x="331353" y="1719589"/>
            <a:ext cx="3971925" cy="704850"/>
          </a:xfrm>
          <a:prstGeom prst="rect">
            <a:avLst/>
          </a:prstGeom>
        </p:spPr>
      </p:pic>
      <p:pic>
        <p:nvPicPr>
          <p:cNvPr id="16" name="Picture 15" descr="A math equation with numbers and plus and two&#10;&#10;AI-generated content may be incorrect.">
            <a:extLst>
              <a:ext uri="{FF2B5EF4-FFF2-40B4-BE49-F238E27FC236}">
                <a16:creationId xmlns:a16="http://schemas.microsoft.com/office/drawing/2014/main" id="{9F696CE7-1842-B098-9A4C-83EA1C388400}"/>
              </a:ext>
            </a:extLst>
          </p:cNvPr>
          <p:cNvPicPr>
            <a:picLocks noChangeAspect="1"/>
          </p:cNvPicPr>
          <p:nvPr/>
        </p:nvPicPr>
        <p:blipFill>
          <a:blip r:embed="rId4"/>
          <a:stretch>
            <a:fillRect/>
          </a:stretch>
        </p:blipFill>
        <p:spPr>
          <a:xfrm>
            <a:off x="332593" y="2596344"/>
            <a:ext cx="4094706" cy="840680"/>
          </a:xfrm>
          <a:prstGeom prst="rect">
            <a:avLst/>
          </a:prstGeom>
        </p:spPr>
      </p:pic>
      <p:pic>
        <p:nvPicPr>
          <p:cNvPr id="17" name="Picture 16">
            <a:extLst>
              <a:ext uri="{FF2B5EF4-FFF2-40B4-BE49-F238E27FC236}">
                <a16:creationId xmlns:a16="http://schemas.microsoft.com/office/drawing/2014/main" id="{6323CDDE-077D-4052-8654-126C2424E5D6}"/>
              </a:ext>
            </a:extLst>
          </p:cNvPr>
          <p:cNvPicPr>
            <a:picLocks noChangeAspect="1"/>
          </p:cNvPicPr>
          <p:nvPr/>
        </p:nvPicPr>
        <p:blipFill>
          <a:blip r:embed="rId5"/>
          <a:stretch>
            <a:fillRect/>
          </a:stretch>
        </p:blipFill>
        <p:spPr>
          <a:xfrm>
            <a:off x="333375" y="3849732"/>
            <a:ext cx="3905250" cy="828675"/>
          </a:xfrm>
          <a:prstGeom prst="rect">
            <a:avLst/>
          </a:prstGeom>
        </p:spPr>
      </p:pic>
      <p:pic>
        <p:nvPicPr>
          <p:cNvPr id="18" name="Picture 17" descr="A black numbers and symbols&#10;&#10;AI-generated content may be incorrect.">
            <a:extLst>
              <a:ext uri="{FF2B5EF4-FFF2-40B4-BE49-F238E27FC236}">
                <a16:creationId xmlns:a16="http://schemas.microsoft.com/office/drawing/2014/main" id="{FCAD0E8B-98EC-7D73-3177-D910CA9A0BE6}"/>
              </a:ext>
            </a:extLst>
          </p:cNvPr>
          <p:cNvPicPr>
            <a:picLocks noChangeAspect="1"/>
          </p:cNvPicPr>
          <p:nvPr/>
        </p:nvPicPr>
        <p:blipFill>
          <a:blip r:embed="rId6"/>
          <a:stretch>
            <a:fillRect/>
          </a:stretch>
        </p:blipFill>
        <p:spPr>
          <a:xfrm>
            <a:off x="333571" y="4862969"/>
            <a:ext cx="3977928" cy="764610"/>
          </a:xfrm>
          <a:prstGeom prst="rect">
            <a:avLst/>
          </a:prstGeom>
        </p:spPr>
      </p:pic>
    </p:spTree>
    <p:extLst>
      <p:ext uri="{BB962C8B-B14F-4D97-AF65-F5344CB8AC3E}">
        <p14:creationId xmlns:p14="http://schemas.microsoft.com/office/powerpoint/2010/main" val="9324294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04A0A4-1DBD-4AF8-8960-5F637C40B28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F9D8D3B-012C-F45B-21AB-2326C8F19A3B}"/>
              </a:ext>
            </a:extLst>
          </p:cNvPr>
          <p:cNvSpPr>
            <a:spLocks noGrp="1"/>
          </p:cNvSpPr>
          <p:nvPr>
            <p:ph idx="1"/>
          </p:nvPr>
        </p:nvSpPr>
        <p:spPr>
          <a:xfrm>
            <a:off x="221877" y="861920"/>
            <a:ext cx="11972364" cy="5315043"/>
          </a:xfrm>
        </p:spPr>
        <p:txBody>
          <a:bodyPr vert="horz" lIns="91440" tIns="45720" rIns="91440" bIns="45720" rtlCol="0" anchor="t">
            <a:normAutofit/>
          </a:bodyPr>
          <a:lstStyle/>
          <a:p>
            <a:pPr marL="0" indent="0">
              <a:buNone/>
            </a:pPr>
            <a:r>
              <a:rPr lang="en-IN" sz="2000" err="1">
                <a:latin typeface="Wingdings"/>
                <a:sym typeface="Wingdings"/>
              </a:rPr>
              <a:t>q</a:t>
            </a:r>
            <a:r>
              <a:rPr lang="en-IN" sz="2000" b="1" err="1">
                <a:latin typeface="Times New Roman"/>
                <a:cs typeface="Times New Roman"/>
              </a:rPr>
              <a:t>Patch</a:t>
            </a:r>
            <a:r>
              <a:rPr lang="en-IN" sz="2000" b="1">
                <a:latin typeface="Times New Roman"/>
                <a:cs typeface="Times New Roman"/>
              </a:rPr>
              <a:t> Antenna Dimension Calculation</a:t>
            </a:r>
            <a:r>
              <a:rPr lang="en-IN" sz="1800" b="1">
                <a:latin typeface="Times New Roman"/>
                <a:cs typeface="Times New Roman"/>
              </a:rPr>
              <a:t>:</a:t>
            </a:r>
          </a:p>
          <a:p>
            <a:pPr marL="0" indent="0">
              <a:buNone/>
            </a:pPr>
            <a:r>
              <a:rPr lang="en-IN" sz="1800">
                <a:latin typeface="Times New Roman"/>
                <a:ea typeface="Calibri"/>
                <a:cs typeface="Times New Roman"/>
              </a:rPr>
              <a:t>Effective length(L</a:t>
            </a:r>
            <a:r>
              <a:rPr lang="en-IN" sz="1800" baseline="-25000">
                <a:latin typeface="Times New Roman"/>
                <a:ea typeface="Calibri"/>
                <a:cs typeface="Times New Roman"/>
              </a:rPr>
              <a:t>eff</a:t>
            </a:r>
            <a:r>
              <a:rPr lang="en-IN" sz="1800">
                <a:latin typeface="Times New Roman"/>
                <a:ea typeface="Calibri"/>
                <a:cs typeface="Times New Roman"/>
              </a:rPr>
              <a:t>):</a:t>
            </a:r>
          </a:p>
          <a:p>
            <a:pPr marL="0" indent="0">
              <a:buNone/>
            </a:pPr>
            <a:r>
              <a:rPr lang="en-IN" sz="1800">
                <a:latin typeface="Times New Roman"/>
                <a:ea typeface="Calibri"/>
                <a:cs typeface="Times New Roman"/>
              </a:rPr>
              <a:t>                                               </a:t>
            </a:r>
          </a:p>
          <a:p>
            <a:pPr marL="0" indent="0">
              <a:buNone/>
            </a:pPr>
            <a:r>
              <a:rPr lang="en-IN" sz="1800">
                <a:latin typeface="Times New Roman"/>
                <a:ea typeface="Calibri"/>
                <a:cs typeface="Times New Roman"/>
              </a:rPr>
              <a:t>                                                          ...(4)     </a:t>
            </a:r>
          </a:p>
          <a:p>
            <a:pPr marL="0" indent="0">
              <a:buNone/>
            </a:pPr>
            <a:endParaRPr lang="en-IN" sz="1800">
              <a:latin typeface="Times New Roman"/>
              <a:ea typeface="Calibri"/>
              <a:cs typeface="Times New Roman"/>
            </a:endParaRPr>
          </a:p>
          <a:p>
            <a:pPr marL="0" indent="0">
              <a:buNone/>
            </a:pPr>
            <a:r>
              <a:rPr lang="en-IN" sz="1800">
                <a:latin typeface="Times New Roman"/>
                <a:ea typeface="Calibri"/>
                <a:cs typeface="Times New Roman"/>
              </a:rPr>
              <a:t>                                            =&gt; L</a:t>
            </a:r>
            <a:r>
              <a:rPr lang="en-IN" sz="1800" baseline="-25000">
                <a:latin typeface="Times New Roman"/>
                <a:ea typeface="Calibri"/>
                <a:cs typeface="Times New Roman"/>
              </a:rPr>
              <a:t>eff</a:t>
            </a:r>
            <a:r>
              <a:rPr lang="en-IN" sz="1800">
                <a:latin typeface="Times New Roman"/>
                <a:ea typeface="Calibri"/>
                <a:cs typeface="Times New Roman"/>
              </a:rPr>
              <a:t> = 30.2mm</a:t>
            </a:r>
          </a:p>
          <a:p>
            <a:pPr marL="0" indent="0">
              <a:buNone/>
            </a:pPr>
            <a:endParaRPr lang="en-IN" sz="1800">
              <a:latin typeface="Times New Roman"/>
              <a:ea typeface="Calibri"/>
              <a:cs typeface="Times New Roman"/>
            </a:endParaRPr>
          </a:p>
          <a:p>
            <a:pPr marL="0" indent="0">
              <a:buNone/>
            </a:pPr>
            <a:r>
              <a:rPr lang="en-IN" sz="1800">
                <a:latin typeface="Times New Roman"/>
                <a:ea typeface="Calibri"/>
                <a:cs typeface="Times New Roman"/>
              </a:rPr>
              <a:t>Physical length of patch:</a:t>
            </a:r>
          </a:p>
          <a:p>
            <a:pPr marL="0" indent="0">
              <a:buNone/>
            </a:pPr>
            <a:r>
              <a:rPr lang="en-IN" sz="1800">
                <a:latin typeface="Times New Roman"/>
                <a:ea typeface="Calibri"/>
                <a:cs typeface="Times New Roman"/>
              </a:rPr>
              <a:t>                                                           ...(5)</a:t>
            </a:r>
          </a:p>
          <a:p>
            <a:pPr marL="0" indent="0">
              <a:buNone/>
            </a:pPr>
            <a:endParaRPr lang="en-IN" sz="1800">
              <a:latin typeface="Times New Roman"/>
              <a:ea typeface="Calibri"/>
              <a:cs typeface="Times New Roman"/>
            </a:endParaRPr>
          </a:p>
          <a:p>
            <a:pPr marL="0" indent="0">
              <a:buNone/>
            </a:pPr>
            <a:r>
              <a:rPr lang="en-IN" sz="1800">
                <a:latin typeface="Times New Roman"/>
                <a:ea typeface="Calibri"/>
                <a:cs typeface="Times New Roman"/>
              </a:rPr>
              <a:t>L = 39.7mm </a:t>
            </a:r>
          </a:p>
          <a:p>
            <a:pPr marL="0" indent="0">
              <a:buNone/>
            </a:pPr>
            <a:r>
              <a:rPr lang="en-IN" sz="1800">
                <a:latin typeface="Times New Roman"/>
                <a:ea typeface="Calibri"/>
                <a:cs typeface="Times New Roman"/>
              </a:rPr>
              <a:t>                                               </a:t>
            </a:r>
          </a:p>
        </p:txBody>
      </p:sp>
      <p:sp>
        <p:nvSpPr>
          <p:cNvPr id="4" name="Date Placeholder 3">
            <a:extLst>
              <a:ext uri="{FF2B5EF4-FFF2-40B4-BE49-F238E27FC236}">
                <a16:creationId xmlns:a16="http://schemas.microsoft.com/office/drawing/2014/main" id="{4DA039FC-C555-B125-014B-C5D58D9F96F5}"/>
              </a:ext>
            </a:extLst>
          </p:cNvPr>
          <p:cNvSpPr>
            <a:spLocks noGrp="1"/>
          </p:cNvSpPr>
          <p:nvPr>
            <p:ph type="dt" sz="half" idx="10"/>
          </p:nvPr>
        </p:nvSpPr>
        <p:spPr/>
        <p:txBody>
          <a:bodyPr/>
          <a:lstStyle/>
          <a:p>
            <a:fld id="{FFA23234-F5B4-4BA6-BFFC-BEB05161B9C1}" type="datetime1">
              <a:rPr lang="en-IN" smtClean="0"/>
              <a:t>09-02-2026</a:t>
            </a:fld>
            <a:endParaRPr lang="en-IN"/>
          </a:p>
        </p:txBody>
      </p:sp>
      <p:sp>
        <p:nvSpPr>
          <p:cNvPr id="5" name="Footer Placeholder 4">
            <a:extLst>
              <a:ext uri="{FF2B5EF4-FFF2-40B4-BE49-F238E27FC236}">
                <a16:creationId xmlns:a16="http://schemas.microsoft.com/office/drawing/2014/main" id="{38787953-B46F-D755-ABDC-0585D38A0B88}"/>
              </a:ext>
            </a:extLst>
          </p:cNvPr>
          <p:cNvSpPr>
            <a:spLocks noGrp="1"/>
          </p:cNvSpPr>
          <p:nvPr>
            <p:ph type="ftr" sz="quarter" idx="11"/>
          </p:nvPr>
        </p:nvSpPr>
        <p:spPr/>
        <p:txBody>
          <a:bodyPr/>
          <a:lstStyle/>
          <a:p>
            <a:r>
              <a:rPr lang="en-IN"/>
              <a:t>Review 2.2</a:t>
            </a:r>
          </a:p>
        </p:txBody>
      </p:sp>
      <p:sp>
        <p:nvSpPr>
          <p:cNvPr id="6" name="Slide Number Placeholder 5">
            <a:extLst>
              <a:ext uri="{FF2B5EF4-FFF2-40B4-BE49-F238E27FC236}">
                <a16:creationId xmlns:a16="http://schemas.microsoft.com/office/drawing/2014/main" id="{E2078046-E315-1186-0A59-070B949B94B8}"/>
              </a:ext>
            </a:extLst>
          </p:cNvPr>
          <p:cNvSpPr>
            <a:spLocks noGrp="1"/>
          </p:cNvSpPr>
          <p:nvPr>
            <p:ph type="sldNum" sz="quarter" idx="12"/>
          </p:nvPr>
        </p:nvSpPr>
        <p:spPr/>
        <p:txBody>
          <a:bodyPr/>
          <a:lstStyle/>
          <a:p>
            <a:fld id="{1CCCFFBF-4DCD-46DE-85E1-69841FB49368}" type="slidenum">
              <a:rPr lang="en-IN" smtClean="0"/>
              <a:t>7</a:t>
            </a:fld>
            <a:endParaRPr lang="en-IN"/>
          </a:p>
        </p:txBody>
      </p:sp>
      <p:pic>
        <p:nvPicPr>
          <p:cNvPr id="8" name="Picture 7" descr="A pink and black logo&#10;&#10;AI-generated content may be incorrect.">
            <a:extLst>
              <a:ext uri="{FF2B5EF4-FFF2-40B4-BE49-F238E27FC236}">
                <a16:creationId xmlns:a16="http://schemas.microsoft.com/office/drawing/2014/main" id="{40F4BD05-2313-BD3E-F050-164D2E7966D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92871" y="-31376"/>
            <a:ext cx="1999129" cy="591742"/>
          </a:xfrm>
          <a:prstGeom prst="rect">
            <a:avLst/>
          </a:prstGeom>
        </p:spPr>
      </p:pic>
      <p:sp>
        <p:nvSpPr>
          <p:cNvPr id="2" name="TextBox 1">
            <a:extLst>
              <a:ext uri="{FF2B5EF4-FFF2-40B4-BE49-F238E27FC236}">
                <a16:creationId xmlns:a16="http://schemas.microsoft.com/office/drawing/2014/main" id="{9CB9ADEB-D853-F57D-A9A7-ED486E891966}"/>
              </a:ext>
            </a:extLst>
          </p:cNvPr>
          <p:cNvSpPr txBox="1"/>
          <p:nvPr/>
        </p:nvSpPr>
        <p:spPr>
          <a:xfrm>
            <a:off x="0" y="5219"/>
            <a:ext cx="6096000"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u="sng">
                <a:latin typeface="Times New Roman"/>
              </a:rPr>
              <a:t>METHODOLOGY</a:t>
            </a:r>
            <a:r>
              <a:rPr lang="en-US" sz="3200" b="1">
                <a:latin typeface="Times New Roman"/>
              </a:rPr>
              <a:t>:</a:t>
            </a:r>
            <a:endParaRPr lang="en-GB"/>
          </a:p>
        </p:txBody>
      </p:sp>
      <p:pic>
        <p:nvPicPr>
          <p:cNvPr id="10" name="Picture 9" descr="A mathematical equation with numbers and symbols&#10;&#10;AI-generated content may be incorrect.">
            <a:extLst>
              <a:ext uri="{FF2B5EF4-FFF2-40B4-BE49-F238E27FC236}">
                <a16:creationId xmlns:a16="http://schemas.microsoft.com/office/drawing/2014/main" id="{EB884B74-83FF-2F78-31CD-BE9A789CE1F1}"/>
              </a:ext>
            </a:extLst>
          </p:cNvPr>
          <p:cNvPicPr>
            <a:picLocks noChangeAspect="1"/>
          </p:cNvPicPr>
          <p:nvPr/>
        </p:nvPicPr>
        <p:blipFill>
          <a:blip r:embed="rId3"/>
          <a:stretch>
            <a:fillRect/>
          </a:stretch>
        </p:blipFill>
        <p:spPr>
          <a:xfrm>
            <a:off x="325221" y="1716652"/>
            <a:ext cx="1666875" cy="752475"/>
          </a:xfrm>
          <a:prstGeom prst="rect">
            <a:avLst/>
          </a:prstGeom>
        </p:spPr>
      </p:pic>
      <p:pic>
        <p:nvPicPr>
          <p:cNvPr id="13" name="Picture 12" descr="A number on a black background&#10;&#10;AI-generated content may be incorrect.">
            <a:extLst>
              <a:ext uri="{FF2B5EF4-FFF2-40B4-BE49-F238E27FC236}">
                <a16:creationId xmlns:a16="http://schemas.microsoft.com/office/drawing/2014/main" id="{7F3B78C2-34E5-1706-4949-5A9EE97FC81D}"/>
              </a:ext>
            </a:extLst>
          </p:cNvPr>
          <p:cNvPicPr>
            <a:picLocks noChangeAspect="1"/>
          </p:cNvPicPr>
          <p:nvPr/>
        </p:nvPicPr>
        <p:blipFill>
          <a:blip r:embed="rId4"/>
          <a:stretch>
            <a:fillRect/>
          </a:stretch>
        </p:blipFill>
        <p:spPr>
          <a:xfrm>
            <a:off x="322538" y="2686809"/>
            <a:ext cx="2314575" cy="733425"/>
          </a:xfrm>
          <a:prstGeom prst="rect">
            <a:avLst/>
          </a:prstGeom>
        </p:spPr>
      </p:pic>
      <p:pic>
        <p:nvPicPr>
          <p:cNvPr id="14" name="Picture 13">
            <a:extLst>
              <a:ext uri="{FF2B5EF4-FFF2-40B4-BE49-F238E27FC236}">
                <a16:creationId xmlns:a16="http://schemas.microsoft.com/office/drawing/2014/main" id="{A27797B4-2DF0-52C2-5B4C-8EA04EAF2AFB}"/>
              </a:ext>
            </a:extLst>
          </p:cNvPr>
          <p:cNvPicPr>
            <a:picLocks noChangeAspect="1"/>
          </p:cNvPicPr>
          <p:nvPr/>
        </p:nvPicPr>
        <p:blipFill>
          <a:blip r:embed="rId5"/>
          <a:stretch>
            <a:fillRect/>
          </a:stretch>
        </p:blipFill>
        <p:spPr>
          <a:xfrm>
            <a:off x="222250" y="4011336"/>
            <a:ext cx="2095500" cy="447675"/>
          </a:xfrm>
          <a:prstGeom prst="rect">
            <a:avLst/>
          </a:prstGeom>
        </p:spPr>
      </p:pic>
    </p:spTree>
    <p:extLst>
      <p:ext uri="{BB962C8B-B14F-4D97-AF65-F5344CB8AC3E}">
        <p14:creationId xmlns:p14="http://schemas.microsoft.com/office/powerpoint/2010/main" val="3937579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A89D8F-A2E9-B034-8079-B956D87DC3D9}"/>
              </a:ext>
            </a:extLst>
          </p:cNvPr>
          <p:cNvSpPr>
            <a:spLocks noGrp="1"/>
          </p:cNvSpPr>
          <p:nvPr>
            <p:ph type="title"/>
          </p:nvPr>
        </p:nvSpPr>
        <p:spPr>
          <a:xfrm>
            <a:off x="24008" y="104166"/>
            <a:ext cx="1622122" cy="615755"/>
          </a:xfrm>
        </p:spPr>
        <p:txBody>
          <a:bodyPr>
            <a:normAutofit/>
          </a:bodyPr>
          <a:lstStyle/>
          <a:p>
            <a:r>
              <a:rPr lang="en-IN" sz="3200" b="1" u="sng">
                <a:latin typeface="Times New Roman"/>
                <a:cs typeface="Times New Roman"/>
              </a:rPr>
              <a:t>Results</a:t>
            </a:r>
            <a:r>
              <a:rPr lang="en-IN" sz="3200" b="1">
                <a:latin typeface="Times New Roman"/>
                <a:cs typeface="Times New Roman"/>
              </a:rPr>
              <a:t>:</a:t>
            </a:r>
          </a:p>
        </p:txBody>
      </p:sp>
      <p:sp>
        <p:nvSpPr>
          <p:cNvPr id="3" name="Content Placeholder 2">
            <a:extLst>
              <a:ext uri="{FF2B5EF4-FFF2-40B4-BE49-F238E27FC236}">
                <a16:creationId xmlns:a16="http://schemas.microsoft.com/office/drawing/2014/main" id="{1112DF30-4446-769E-6F25-0108B175FF1C}"/>
              </a:ext>
            </a:extLst>
          </p:cNvPr>
          <p:cNvSpPr>
            <a:spLocks noGrp="1"/>
          </p:cNvSpPr>
          <p:nvPr>
            <p:ph idx="1"/>
          </p:nvPr>
        </p:nvSpPr>
        <p:spPr>
          <a:xfrm>
            <a:off x="24008" y="875735"/>
            <a:ext cx="10515600" cy="4351338"/>
          </a:xfrm>
        </p:spPr>
        <p:txBody>
          <a:bodyPr vert="horz" lIns="91440" tIns="45720" rIns="91440" bIns="45720" rtlCol="0" anchor="t">
            <a:normAutofit lnSpcReduction="10000"/>
          </a:bodyPr>
          <a:lstStyle/>
          <a:p>
            <a:r>
              <a:rPr lang="en-IN" sz="2400">
                <a:latin typeface="Times New Roman"/>
                <a:ea typeface="Calibri"/>
                <a:cs typeface="Calibri"/>
              </a:rPr>
              <a:t>Analysis of the S-parameter plot for an element with HFSS.</a:t>
            </a:r>
          </a:p>
          <a:p>
            <a:endParaRPr lang="en-IN">
              <a:latin typeface="Times New Roman"/>
              <a:ea typeface="Calibri"/>
              <a:cs typeface="Calibri"/>
            </a:endParaRPr>
          </a:p>
          <a:p>
            <a:endParaRPr lang="en-IN">
              <a:latin typeface="Times New Roman"/>
              <a:ea typeface="Calibri"/>
              <a:cs typeface="Calibri"/>
            </a:endParaRPr>
          </a:p>
          <a:p>
            <a:endParaRPr lang="en-IN">
              <a:latin typeface="Times New Roman"/>
              <a:ea typeface="Calibri"/>
              <a:cs typeface="Calibri"/>
            </a:endParaRPr>
          </a:p>
          <a:p>
            <a:endParaRPr lang="en-IN">
              <a:latin typeface="Times New Roman"/>
              <a:ea typeface="Calibri"/>
              <a:cs typeface="Calibri"/>
            </a:endParaRPr>
          </a:p>
          <a:p>
            <a:endParaRPr lang="en-IN">
              <a:latin typeface="Times New Roman"/>
              <a:ea typeface="Calibri"/>
              <a:cs typeface="Calibri"/>
            </a:endParaRPr>
          </a:p>
          <a:p>
            <a:endParaRPr lang="en-IN">
              <a:latin typeface="Times New Roman"/>
              <a:ea typeface="Calibri"/>
              <a:cs typeface="Calibri"/>
            </a:endParaRPr>
          </a:p>
          <a:p>
            <a:endParaRPr lang="en-IN">
              <a:latin typeface="Times New Roman"/>
              <a:ea typeface="Calibri"/>
              <a:cs typeface="Calibri"/>
            </a:endParaRPr>
          </a:p>
          <a:p>
            <a:pPr marL="0" indent="0">
              <a:buNone/>
            </a:pPr>
            <a:r>
              <a:rPr lang="en-IN">
                <a:latin typeface="Times New Roman"/>
                <a:ea typeface="Calibri"/>
                <a:cs typeface="Calibri"/>
              </a:rPr>
              <a:t> </a:t>
            </a:r>
            <a:r>
              <a:rPr lang="en-IN" sz="2000">
                <a:latin typeface="Times New Roman"/>
                <a:ea typeface="Calibri"/>
                <a:cs typeface="Calibri"/>
              </a:rPr>
              <a:t> Figure 2. </a:t>
            </a:r>
            <a:r>
              <a:rPr lang="en-US" sz="2000">
                <a:latin typeface="Times New Roman"/>
                <a:ea typeface="Calibri"/>
                <a:cs typeface="Times New Roman"/>
              </a:rPr>
              <a:t>Simulated  S-parameter of a unit element   </a:t>
            </a:r>
            <a:endParaRPr lang="en-IN" sz="2000">
              <a:latin typeface="Times New Roman"/>
              <a:ea typeface="Calibri"/>
              <a:cs typeface="Calibri"/>
            </a:endParaRPr>
          </a:p>
          <a:p>
            <a:pPr marL="0" indent="0">
              <a:buNone/>
            </a:pPr>
            <a:endParaRPr lang="en-IN" sz="2000">
              <a:latin typeface="Times New Roman"/>
              <a:ea typeface="Calibri"/>
              <a:cs typeface="Calibri"/>
            </a:endParaRPr>
          </a:p>
        </p:txBody>
      </p:sp>
      <p:sp>
        <p:nvSpPr>
          <p:cNvPr id="4" name="Date Placeholder 3">
            <a:extLst>
              <a:ext uri="{FF2B5EF4-FFF2-40B4-BE49-F238E27FC236}">
                <a16:creationId xmlns:a16="http://schemas.microsoft.com/office/drawing/2014/main" id="{FA32CEFC-AF3F-31E2-B677-ED4EA7C9C4AF}"/>
              </a:ext>
            </a:extLst>
          </p:cNvPr>
          <p:cNvSpPr>
            <a:spLocks noGrp="1"/>
          </p:cNvSpPr>
          <p:nvPr>
            <p:ph type="dt" sz="half" idx="10"/>
          </p:nvPr>
        </p:nvSpPr>
        <p:spPr/>
        <p:txBody>
          <a:bodyPr/>
          <a:lstStyle/>
          <a:p>
            <a:fld id="{C0883387-8E05-44FA-9CA1-FD7515E30DCB}" type="datetime1">
              <a:rPr lang="en-IN" smtClean="0"/>
              <a:t>09-02-2026</a:t>
            </a:fld>
            <a:endParaRPr lang="en-IN"/>
          </a:p>
        </p:txBody>
      </p:sp>
      <p:sp>
        <p:nvSpPr>
          <p:cNvPr id="5" name="Footer Placeholder 4">
            <a:extLst>
              <a:ext uri="{FF2B5EF4-FFF2-40B4-BE49-F238E27FC236}">
                <a16:creationId xmlns:a16="http://schemas.microsoft.com/office/drawing/2014/main" id="{8647BBB2-6270-7149-E9AA-0B1D4AAF3247}"/>
              </a:ext>
            </a:extLst>
          </p:cNvPr>
          <p:cNvSpPr>
            <a:spLocks noGrp="1"/>
          </p:cNvSpPr>
          <p:nvPr>
            <p:ph type="ftr" sz="quarter" idx="11"/>
          </p:nvPr>
        </p:nvSpPr>
        <p:spPr/>
        <p:txBody>
          <a:bodyPr/>
          <a:lstStyle/>
          <a:p>
            <a:r>
              <a:rPr lang="en-IN"/>
              <a:t>Review 2.2</a:t>
            </a:r>
          </a:p>
        </p:txBody>
      </p:sp>
      <p:sp>
        <p:nvSpPr>
          <p:cNvPr id="6" name="Slide Number Placeholder 5">
            <a:extLst>
              <a:ext uri="{FF2B5EF4-FFF2-40B4-BE49-F238E27FC236}">
                <a16:creationId xmlns:a16="http://schemas.microsoft.com/office/drawing/2014/main" id="{3FA27AB3-DDD7-9895-B48A-9D63AB2A247F}"/>
              </a:ext>
            </a:extLst>
          </p:cNvPr>
          <p:cNvSpPr>
            <a:spLocks noGrp="1"/>
          </p:cNvSpPr>
          <p:nvPr>
            <p:ph type="sldNum" sz="quarter" idx="12"/>
          </p:nvPr>
        </p:nvSpPr>
        <p:spPr/>
        <p:txBody>
          <a:bodyPr/>
          <a:lstStyle/>
          <a:p>
            <a:fld id="{1CCCFFBF-4DCD-46DE-85E1-69841FB49368}" type="slidenum">
              <a:rPr lang="en-IN" smtClean="0"/>
              <a:t>8</a:t>
            </a:fld>
            <a:endParaRPr lang="en-IN"/>
          </a:p>
        </p:txBody>
      </p:sp>
      <p:pic>
        <p:nvPicPr>
          <p:cNvPr id="8" name="Picture 7" descr="A pink and black logo&#10;&#10;AI-generated content may be incorrect.">
            <a:extLst>
              <a:ext uri="{FF2B5EF4-FFF2-40B4-BE49-F238E27FC236}">
                <a16:creationId xmlns:a16="http://schemas.microsoft.com/office/drawing/2014/main" id="{8B955D76-F9C3-989B-AC61-6E28157F902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92871" y="-31376"/>
            <a:ext cx="1999129" cy="591742"/>
          </a:xfrm>
          <a:prstGeom prst="rect">
            <a:avLst/>
          </a:prstGeom>
        </p:spPr>
      </p:pic>
      <p:pic>
        <p:nvPicPr>
          <p:cNvPr id="9" name="Picture 8" descr="A graph with red lines and yellow text&#10;&#10;AI-generated content may be incorrect.">
            <a:extLst>
              <a:ext uri="{FF2B5EF4-FFF2-40B4-BE49-F238E27FC236}">
                <a16:creationId xmlns:a16="http://schemas.microsoft.com/office/drawing/2014/main" id="{8D72CAF5-2204-B474-37DE-8A67D59DA06F}"/>
              </a:ext>
            </a:extLst>
          </p:cNvPr>
          <p:cNvPicPr>
            <a:picLocks noChangeAspect="1"/>
          </p:cNvPicPr>
          <p:nvPr/>
        </p:nvPicPr>
        <p:blipFill>
          <a:blip r:embed="rId3"/>
          <a:stretch>
            <a:fillRect/>
          </a:stretch>
        </p:blipFill>
        <p:spPr>
          <a:xfrm>
            <a:off x="279878" y="1429794"/>
            <a:ext cx="8667750" cy="3090275"/>
          </a:xfrm>
          <a:prstGeom prst="rect">
            <a:avLst/>
          </a:prstGeom>
        </p:spPr>
      </p:pic>
    </p:spTree>
    <p:extLst>
      <p:ext uri="{BB962C8B-B14F-4D97-AF65-F5344CB8AC3E}">
        <p14:creationId xmlns:p14="http://schemas.microsoft.com/office/powerpoint/2010/main" val="22134989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B67E27-4DA2-B690-1A41-6AAD2154F5FA}"/>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41C1EA40-94AB-4F49-E9DE-0AF8F1A5CECA}"/>
              </a:ext>
            </a:extLst>
          </p:cNvPr>
          <p:cNvSpPr>
            <a:spLocks noGrp="1"/>
          </p:cNvSpPr>
          <p:nvPr>
            <p:ph type="dt" sz="half" idx="10"/>
          </p:nvPr>
        </p:nvSpPr>
        <p:spPr/>
        <p:txBody>
          <a:bodyPr/>
          <a:lstStyle/>
          <a:p>
            <a:fld id="{EDF88E1D-3A48-4414-98C3-FF9C491158CD}" type="datetime1">
              <a:rPr lang="en-IN" smtClean="0"/>
              <a:t>09-02-2026</a:t>
            </a:fld>
            <a:endParaRPr lang="en-IN"/>
          </a:p>
        </p:txBody>
      </p:sp>
      <p:sp>
        <p:nvSpPr>
          <p:cNvPr id="5" name="Footer Placeholder 4">
            <a:extLst>
              <a:ext uri="{FF2B5EF4-FFF2-40B4-BE49-F238E27FC236}">
                <a16:creationId xmlns:a16="http://schemas.microsoft.com/office/drawing/2014/main" id="{0B01F75C-4C69-CBB1-FE38-01B5F181B014}"/>
              </a:ext>
            </a:extLst>
          </p:cNvPr>
          <p:cNvSpPr>
            <a:spLocks noGrp="1"/>
          </p:cNvSpPr>
          <p:nvPr>
            <p:ph type="ftr" sz="quarter" idx="11"/>
          </p:nvPr>
        </p:nvSpPr>
        <p:spPr/>
        <p:txBody>
          <a:bodyPr/>
          <a:lstStyle/>
          <a:p>
            <a:r>
              <a:rPr lang="en-IN"/>
              <a:t>Review 2.2</a:t>
            </a:r>
          </a:p>
        </p:txBody>
      </p:sp>
      <p:sp>
        <p:nvSpPr>
          <p:cNvPr id="6" name="Slide Number Placeholder 5">
            <a:extLst>
              <a:ext uri="{FF2B5EF4-FFF2-40B4-BE49-F238E27FC236}">
                <a16:creationId xmlns:a16="http://schemas.microsoft.com/office/drawing/2014/main" id="{9395C7DC-CAEF-43E4-0104-B8E90F2CC49C}"/>
              </a:ext>
            </a:extLst>
          </p:cNvPr>
          <p:cNvSpPr>
            <a:spLocks noGrp="1"/>
          </p:cNvSpPr>
          <p:nvPr>
            <p:ph type="sldNum" sz="quarter" idx="12"/>
          </p:nvPr>
        </p:nvSpPr>
        <p:spPr/>
        <p:txBody>
          <a:bodyPr/>
          <a:lstStyle/>
          <a:p>
            <a:fld id="{1CCCFFBF-4DCD-46DE-85E1-69841FB49368}" type="slidenum">
              <a:rPr lang="en-IN" smtClean="0"/>
              <a:t>9</a:t>
            </a:fld>
            <a:endParaRPr lang="en-IN"/>
          </a:p>
        </p:txBody>
      </p:sp>
      <p:pic>
        <p:nvPicPr>
          <p:cNvPr id="8" name="Picture 7">
            <a:extLst>
              <a:ext uri="{FF2B5EF4-FFF2-40B4-BE49-F238E27FC236}">
                <a16:creationId xmlns:a16="http://schemas.microsoft.com/office/drawing/2014/main" id="{89D06988-F1BE-4317-C050-C408DA350F2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92871" y="-31376"/>
            <a:ext cx="1999129" cy="591742"/>
          </a:xfrm>
          <a:prstGeom prst="rect">
            <a:avLst/>
          </a:prstGeom>
        </p:spPr>
      </p:pic>
      <p:sp>
        <p:nvSpPr>
          <p:cNvPr id="7" name="TextBox 6">
            <a:extLst>
              <a:ext uri="{FF2B5EF4-FFF2-40B4-BE49-F238E27FC236}">
                <a16:creationId xmlns:a16="http://schemas.microsoft.com/office/drawing/2014/main" id="{3CF8AC13-CF6E-3F44-50B5-5089E353B5B1}"/>
              </a:ext>
            </a:extLst>
          </p:cNvPr>
          <p:cNvSpPr txBox="1"/>
          <p:nvPr/>
        </p:nvSpPr>
        <p:spPr>
          <a:xfrm>
            <a:off x="83507" y="5219"/>
            <a:ext cx="6096000"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u="sng">
                <a:latin typeface="Times New Roman"/>
                <a:cs typeface="Times New Roman"/>
              </a:rPr>
              <a:t>METHODOLOGY</a:t>
            </a:r>
            <a:r>
              <a:rPr lang="en-US" sz="3200" b="1">
                <a:latin typeface="Times New Roman"/>
                <a:cs typeface="Times New Roman"/>
              </a:rPr>
              <a:t>:</a:t>
            </a:r>
          </a:p>
        </p:txBody>
      </p:sp>
      <p:sp>
        <p:nvSpPr>
          <p:cNvPr id="3" name="Content Placeholder 2">
            <a:extLst>
              <a:ext uri="{FF2B5EF4-FFF2-40B4-BE49-F238E27FC236}">
                <a16:creationId xmlns:a16="http://schemas.microsoft.com/office/drawing/2014/main" id="{61C0FC07-2204-C51A-3E51-9A19DC88C7F3}"/>
              </a:ext>
            </a:extLst>
          </p:cNvPr>
          <p:cNvSpPr>
            <a:spLocks noGrp="1"/>
          </p:cNvSpPr>
          <p:nvPr>
            <p:ph idx="1"/>
          </p:nvPr>
        </p:nvSpPr>
        <p:spPr>
          <a:xfrm>
            <a:off x="3132" y="792228"/>
            <a:ext cx="6997874" cy="4351338"/>
          </a:xfrm>
        </p:spPr>
        <p:txBody>
          <a:bodyPr vert="horz" lIns="91440" tIns="45720" rIns="91440" bIns="45720" rtlCol="0" anchor="t">
            <a:normAutofit/>
          </a:bodyPr>
          <a:lstStyle/>
          <a:p>
            <a:pPr marL="0" indent="0">
              <a:buNone/>
            </a:pPr>
            <a:r>
              <a:rPr lang="en-GB" sz="2000">
                <a:latin typeface="Times New Roman"/>
                <a:cs typeface="Times New Roman"/>
              </a:rPr>
              <a:t>Design of 1×2 Patch antenna Array without Decoupling Structure</a:t>
            </a:r>
            <a:r>
              <a:rPr lang="en-GB" sz="1800">
                <a:latin typeface="Times New Roman"/>
                <a:cs typeface="Times New Roman"/>
              </a:rPr>
              <a:t>: </a:t>
            </a:r>
            <a:endParaRPr lang="en-GB">
              <a:ea typeface="Calibri" panose="020F0502020204030204"/>
              <a:cs typeface="Calibri" panose="020F0502020204030204"/>
            </a:endParaRPr>
          </a:p>
          <a:p>
            <a:pPr marL="0" indent="0">
              <a:buNone/>
            </a:pPr>
            <a:endParaRPr lang="en-GB" sz="1800">
              <a:latin typeface="Times New Roman"/>
              <a:ea typeface="Calibri"/>
              <a:cs typeface="Times New Roman"/>
            </a:endParaRPr>
          </a:p>
          <a:p>
            <a:r>
              <a:rPr lang="en-US" sz="1800">
                <a:latin typeface="Times New Roman"/>
                <a:ea typeface="Calibri"/>
                <a:cs typeface="Calibri"/>
              </a:rPr>
              <a:t>The spacing between the centres of the two patches is chosen to be more than 0.5 </a:t>
            </a:r>
            <a:r>
              <a:rPr lang="en-US" sz="1800">
                <a:latin typeface="Times New Roman"/>
                <a:ea typeface="Cambria Math"/>
                <a:cs typeface="Times New Roman"/>
              </a:rPr>
              <a:t>λ₀</a:t>
            </a:r>
            <a:r>
              <a:rPr lang="en-US" sz="1800">
                <a:latin typeface="Times New Roman"/>
                <a:ea typeface="Calibri"/>
                <a:cs typeface="Calibri"/>
              </a:rPr>
              <a:t> at 2.4</a:t>
            </a:r>
            <a:r>
              <a:rPr lang="en-US" sz="1800">
                <a:latin typeface="Times New Roman"/>
                <a:ea typeface="Cambria Math"/>
                <a:cs typeface="Times New Roman"/>
              </a:rPr>
              <a:t> </a:t>
            </a:r>
            <a:r>
              <a:rPr lang="en-US" sz="1800">
                <a:latin typeface="Times New Roman"/>
                <a:ea typeface="Calibri"/>
                <a:cs typeface="Calibri"/>
              </a:rPr>
              <a:t>GHz. </a:t>
            </a:r>
            <a:endParaRPr lang="en-GB" sz="1800">
              <a:latin typeface="Times New Roman"/>
              <a:ea typeface="Calibri" panose="020F0502020204030204"/>
              <a:cs typeface="Calibri" panose="020F0502020204030204"/>
            </a:endParaRPr>
          </a:p>
          <a:p>
            <a:pPr marL="0" indent="0">
              <a:buNone/>
            </a:pPr>
            <a:endParaRPr lang="en-US" sz="1800">
              <a:latin typeface="Times New Roman"/>
              <a:ea typeface="Calibri"/>
              <a:cs typeface="Calibri"/>
            </a:endParaRPr>
          </a:p>
          <a:p>
            <a:r>
              <a:rPr lang="en-US" sz="1800">
                <a:latin typeface="Times New Roman"/>
                <a:ea typeface="Calibri"/>
                <a:cs typeface="Calibri"/>
              </a:rPr>
              <a:t>This spacing is ideal because it helps the radiated waves from the two patches add constructively in the main lobe direction, enhancing the overall gain without creating unwanted grating lobes, also increasing isolation between the patches.</a:t>
            </a:r>
            <a:endParaRPr lang="en-GB" sz="1800">
              <a:latin typeface="Times New Roman"/>
              <a:cs typeface="Times New Roman"/>
            </a:endParaRPr>
          </a:p>
          <a:p>
            <a:endParaRPr lang="en-GB">
              <a:ea typeface="Calibri"/>
              <a:cs typeface="Calibri"/>
            </a:endParaRPr>
          </a:p>
        </p:txBody>
      </p:sp>
      <p:pic>
        <p:nvPicPr>
          <p:cNvPr id="11" name="Picture 10" descr="A diagram of a diagram&#10;&#10;AI-generated content may be incorrect.">
            <a:extLst>
              <a:ext uri="{FF2B5EF4-FFF2-40B4-BE49-F238E27FC236}">
                <a16:creationId xmlns:a16="http://schemas.microsoft.com/office/drawing/2014/main" id="{DD33F75C-D10A-A490-929D-4BF20CE3D02D}"/>
              </a:ext>
            </a:extLst>
          </p:cNvPr>
          <p:cNvPicPr>
            <a:picLocks noChangeAspect="1"/>
          </p:cNvPicPr>
          <p:nvPr/>
        </p:nvPicPr>
        <p:blipFill>
          <a:blip r:embed="rId3"/>
          <a:stretch>
            <a:fillRect/>
          </a:stretch>
        </p:blipFill>
        <p:spPr>
          <a:xfrm>
            <a:off x="7003876" y="797165"/>
            <a:ext cx="4530769" cy="3280384"/>
          </a:xfrm>
          <a:prstGeom prst="rect">
            <a:avLst/>
          </a:prstGeom>
        </p:spPr>
      </p:pic>
      <p:sp>
        <p:nvSpPr>
          <p:cNvPr id="12" name="TextBox 11">
            <a:extLst>
              <a:ext uri="{FF2B5EF4-FFF2-40B4-BE49-F238E27FC236}">
                <a16:creationId xmlns:a16="http://schemas.microsoft.com/office/drawing/2014/main" id="{85276183-9BCD-9208-BBAF-7AD7FF1EB09B}"/>
              </a:ext>
            </a:extLst>
          </p:cNvPr>
          <p:cNvSpPr txBox="1"/>
          <p:nvPr/>
        </p:nvSpPr>
        <p:spPr>
          <a:xfrm>
            <a:off x="7078375" y="4291179"/>
            <a:ext cx="4511947"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a:latin typeface="Times New Roman"/>
                <a:ea typeface="Calibri"/>
                <a:cs typeface="Calibri"/>
              </a:rPr>
              <a:t>Figure 3.</a:t>
            </a:r>
            <a:r>
              <a:rPr lang="en-GB" sz="2000">
                <a:latin typeface="Times New Roman"/>
                <a:ea typeface="Calibri"/>
                <a:cs typeface="Times New Roman"/>
              </a:rPr>
              <a:t>1×2 Patch antenna Array</a:t>
            </a:r>
            <a:r>
              <a:rPr lang="en-GB">
                <a:latin typeface="Times New Roman"/>
                <a:ea typeface="Calibri"/>
                <a:cs typeface="Calibri"/>
              </a:rPr>
              <a:t> </a:t>
            </a:r>
            <a:endParaRPr lang="en-GB">
              <a:latin typeface="Times New Roman"/>
            </a:endParaRPr>
          </a:p>
        </p:txBody>
      </p:sp>
      <p:graphicFrame>
        <p:nvGraphicFramePr>
          <p:cNvPr id="14" name="Table 13">
            <a:extLst>
              <a:ext uri="{FF2B5EF4-FFF2-40B4-BE49-F238E27FC236}">
                <a16:creationId xmlns:a16="http://schemas.microsoft.com/office/drawing/2014/main" id="{C9032190-9235-C24B-6376-AF43616AB9A6}"/>
              </a:ext>
            </a:extLst>
          </p:cNvPr>
          <p:cNvGraphicFramePr>
            <a:graphicFrameLocks noGrp="1"/>
          </p:cNvGraphicFramePr>
          <p:nvPr>
            <p:extLst>
              <p:ext uri="{D42A27DB-BD31-4B8C-83A1-F6EECF244321}">
                <p14:modId xmlns:p14="http://schemas.microsoft.com/office/powerpoint/2010/main" val="2921628789"/>
              </p:ext>
            </p:extLst>
          </p:nvPr>
        </p:nvGraphicFramePr>
        <p:xfrm>
          <a:off x="396657" y="3977013"/>
          <a:ext cx="6424941" cy="1708671"/>
        </p:xfrm>
        <a:graphic>
          <a:graphicData uri="http://schemas.openxmlformats.org/drawingml/2006/table">
            <a:tbl>
              <a:tblPr firstRow="1" firstCol="1" bandRow="1">
                <a:tableStyleId>{5C22544A-7EE6-4342-B048-85BDC9FD1C3A}</a:tableStyleId>
              </a:tblPr>
              <a:tblGrid>
                <a:gridCol w="2141157">
                  <a:extLst>
                    <a:ext uri="{9D8B030D-6E8A-4147-A177-3AD203B41FA5}">
                      <a16:colId xmlns:a16="http://schemas.microsoft.com/office/drawing/2014/main" val="3512262732"/>
                    </a:ext>
                  </a:extLst>
                </a:gridCol>
                <a:gridCol w="2141892">
                  <a:extLst>
                    <a:ext uri="{9D8B030D-6E8A-4147-A177-3AD203B41FA5}">
                      <a16:colId xmlns:a16="http://schemas.microsoft.com/office/drawing/2014/main" val="1301493863"/>
                    </a:ext>
                  </a:extLst>
                </a:gridCol>
                <a:gridCol w="2141892">
                  <a:extLst>
                    <a:ext uri="{9D8B030D-6E8A-4147-A177-3AD203B41FA5}">
                      <a16:colId xmlns:a16="http://schemas.microsoft.com/office/drawing/2014/main" val="1464065069"/>
                    </a:ext>
                  </a:extLst>
                </a:gridCol>
              </a:tblGrid>
              <a:tr h="578971">
                <a:tc>
                  <a:txBody>
                    <a:bodyPr/>
                    <a:lstStyle/>
                    <a:p>
                      <a:pPr algn="l">
                        <a:buNone/>
                      </a:pPr>
                      <a:r>
                        <a:rPr lang="en-US" b="1">
                          <a:solidFill>
                            <a:schemeClr val="tx1"/>
                          </a:solidFill>
                          <a:effectLst/>
                          <a:latin typeface="Times New Roman"/>
                        </a:rPr>
                        <a:t>           Variable</a:t>
                      </a:r>
                      <a:endParaRPr lang="en-US">
                        <a:solidFill>
                          <a:schemeClr val="tx1"/>
                        </a:solidFill>
                        <a:effectLst/>
                        <a:latin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buNone/>
                      </a:pPr>
                      <a:r>
                        <a:rPr lang="en-US" b="1">
                          <a:solidFill>
                            <a:schemeClr val="tx1"/>
                          </a:solidFill>
                          <a:effectLst/>
                          <a:latin typeface="Times New Roman"/>
                        </a:rPr>
                        <a:t>             Value</a:t>
                      </a:r>
                      <a:endParaRPr lang="en-US">
                        <a:solidFill>
                          <a:schemeClr val="tx1"/>
                        </a:solidFill>
                        <a:effectLst/>
                        <a:latin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buNone/>
                      </a:pPr>
                      <a:r>
                        <a:rPr lang="en-US">
                          <a:solidFill>
                            <a:schemeClr val="tx1"/>
                          </a:solidFill>
                          <a:effectLst/>
                          <a:latin typeface="Times New Roman"/>
                        </a:rPr>
                        <a:t> </a:t>
                      </a:r>
                      <a:r>
                        <a:rPr lang="en-US" b="1">
                          <a:solidFill>
                            <a:schemeClr val="tx1"/>
                          </a:solidFill>
                          <a:effectLst/>
                          <a:latin typeface="Times New Roman"/>
                        </a:rPr>
                        <a:t>Value In terms of </a:t>
                      </a:r>
                      <a:r>
                        <a:rPr lang="el-GR" b="1">
                          <a:solidFill>
                            <a:schemeClr val="tx1"/>
                          </a:solidFill>
                          <a:effectLst/>
                          <a:latin typeface="Times New Roman"/>
                        </a:rPr>
                        <a:t>λ</a:t>
                      </a:r>
                      <a:r>
                        <a:rPr lang="el-GR" b="1" baseline="-25000">
                          <a:solidFill>
                            <a:schemeClr val="tx1"/>
                          </a:solidFill>
                          <a:effectLst/>
                          <a:latin typeface="Times New Roman"/>
                        </a:rPr>
                        <a:t>0</a:t>
                      </a:r>
                      <a:endParaRPr lang="el-GR">
                        <a:solidFill>
                          <a:schemeClr val="tx1"/>
                        </a:solidFill>
                        <a:effectLst/>
                        <a:latin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16525318"/>
                  </a:ext>
                </a:extLst>
              </a:tr>
              <a:tr h="564850">
                <a:tc>
                  <a:txBody>
                    <a:bodyPr/>
                    <a:lstStyle/>
                    <a:p>
                      <a:pPr algn="l">
                        <a:buNone/>
                      </a:pPr>
                      <a:r>
                        <a:rPr lang="en-US">
                          <a:solidFill>
                            <a:schemeClr val="tx1"/>
                          </a:solidFill>
                          <a:effectLst/>
                          <a:latin typeface="Times New Roman"/>
                        </a:rPr>
                        <a:t>           D(edge to edge)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buNone/>
                      </a:pPr>
                      <a:r>
                        <a:rPr lang="en-US">
                          <a:solidFill>
                            <a:schemeClr val="tx1"/>
                          </a:solidFill>
                          <a:effectLst/>
                          <a:latin typeface="Times New Roman"/>
                        </a:rPr>
                        <a:t>             24.6 mm</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buNone/>
                      </a:pPr>
                      <a:r>
                        <a:rPr lang="el-GR">
                          <a:solidFill>
                            <a:schemeClr val="tx1"/>
                          </a:solidFill>
                          <a:effectLst/>
                          <a:latin typeface="Times New Roman"/>
                        </a:rPr>
                        <a:t>                 0.2</a:t>
                      </a:r>
                      <a:r>
                        <a:rPr lang="el-GR" b="1">
                          <a:solidFill>
                            <a:schemeClr val="tx1"/>
                          </a:solidFill>
                          <a:effectLst/>
                          <a:latin typeface="Times New Roman"/>
                        </a:rPr>
                        <a:t> </a:t>
                      </a:r>
                      <a:r>
                        <a:rPr lang="el-GR">
                          <a:solidFill>
                            <a:schemeClr val="tx1"/>
                          </a:solidFill>
                          <a:effectLst/>
                          <a:latin typeface="Times New Roman"/>
                        </a:rPr>
                        <a:t>λ</a:t>
                      </a:r>
                      <a:r>
                        <a:rPr lang="el-GR" baseline="-25000">
                          <a:solidFill>
                            <a:schemeClr val="tx1"/>
                          </a:solidFill>
                          <a:effectLst/>
                          <a:latin typeface="Times New Roman"/>
                        </a:rPr>
                        <a:t>0</a:t>
                      </a:r>
                      <a:endParaRPr lang="el-GR">
                        <a:solidFill>
                          <a:schemeClr val="tx1"/>
                        </a:solidFill>
                        <a:effectLst/>
                        <a:latin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96093700"/>
                  </a:ext>
                </a:extLst>
              </a:tr>
              <a:tr h="564850">
                <a:tc>
                  <a:txBody>
                    <a:bodyPr/>
                    <a:lstStyle/>
                    <a:p>
                      <a:pPr algn="l">
                        <a:buNone/>
                      </a:pPr>
                      <a:r>
                        <a:rPr lang="en-US">
                          <a:solidFill>
                            <a:schemeClr val="tx1"/>
                          </a:solidFill>
                          <a:effectLst/>
                          <a:latin typeface="Times New Roman"/>
                        </a:rPr>
                        <a:t>           S(centre to centre)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buNone/>
                      </a:pPr>
                      <a:r>
                        <a:rPr lang="en-US">
                          <a:solidFill>
                            <a:schemeClr val="tx1"/>
                          </a:solidFill>
                          <a:effectLst/>
                          <a:latin typeface="Times New Roman"/>
                        </a:rPr>
                        <a:t>             71.4mm</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buNone/>
                      </a:pPr>
                      <a:r>
                        <a:rPr lang="el-GR">
                          <a:solidFill>
                            <a:schemeClr val="tx1"/>
                          </a:solidFill>
                          <a:effectLst/>
                          <a:latin typeface="Times New Roman"/>
                        </a:rPr>
                        <a:t>               0.56</a:t>
                      </a:r>
                      <a:r>
                        <a:rPr lang="el-GR" b="1">
                          <a:solidFill>
                            <a:schemeClr val="tx1"/>
                          </a:solidFill>
                          <a:effectLst/>
                          <a:latin typeface="Times New Roman"/>
                        </a:rPr>
                        <a:t> </a:t>
                      </a:r>
                      <a:r>
                        <a:rPr lang="el-GR">
                          <a:solidFill>
                            <a:schemeClr val="tx1"/>
                          </a:solidFill>
                          <a:effectLst/>
                          <a:latin typeface="Times New Roman"/>
                        </a:rPr>
                        <a:t>λ</a:t>
                      </a:r>
                      <a:r>
                        <a:rPr lang="el-GR" baseline="-25000">
                          <a:solidFill>
                            <a:schemeClr val="tx1"/>
                          </a:solidFill>
                          <a:effectLst/>
                          <a:latin typeface="Times New Roman"/>
                        </a:rPr>
                        <a:t>0</a:t>
                      </a:r>
                      <a:endParaRPr lang="el-GR">
                        <a:solidFill>
                          <a:schemeClr val="tx1"/>
                        </a:solidFill>
                        <a:effectLst/>
                        <a:latin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69524360"/>
                  </a:ext>
                </a:extLst>
              </a:tr>
            </a:tbl>
          </a:graphicData>
        </a:graphic>
      </p:graphicFrame>
      <p:sp>
        <p:nvSpPr>
          <p:cNvPr id="15" name="TextBox 14">
            <a:extLst>
              <a:ext uri="{FF2B5EF4-FFF2-40B4-BE49-F238E27FC236}">
                <a16:creationId xmlns:a16="http://schemas.microsoft.com/office/drawing/2014/main" id="{CED869D9-AEAB-95C5-626B-6678908082DB}"/>
              </a:ext>
            </a:extLst>
          </p:cNvPr>
          <p:cNvSpPr txBox="1"/>
          <p:nvPr/>
        </p:nvSpPr>
        <p:spPr>
          <a:xfrm>
            <a:off x="396781" y="5808959"/>
            <a:ext cx="483192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a:latin typeface="Times New Roman"/>
                <a:ea typeface="Calibri"/>
                <a:cs typeface="Calibri"/>
              </a:rPr>
              <a:t>Table 1 : </a:t>
            </a:r>
            <a:r>
              <a:rPr lang="en-US">
                <a:latin typeface="Times New Roman"/>
                <a:ea typeface="Calibri"/>
                <a:cs typeface="Calibri"/>
              </a:rPr>
              <a:t>Spacing between the antennas</a:t>
            </a:r>
            <a:endParaRPr lang="en-GB">
              <a:latin typeface="Times New Roman"/>
            </a:endParaRPr>
          </a:p>
        </p:txBody>
      </p:sp>
    </p:spTree>
    <p:extLst>
      <p:ext uri="{BB962C8B-B14F-4D97-AF65-F5344CB8AC3E}">
        <p14:creationId xmlns:p14="http://schemas.microsoft.com/office/powerpoint/2010/main" val="23207379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9B834A-A950-A593-D583-CD40D706F6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EFA5F5-A570-121E-414A-336D70DB85F9}"/>
              </a:ext>
            </a:extLst>
          </p:cNvPr>
          <p:cNvSpPr>
            <a:spLocks noGrp="1"/>
          </p:cNvSpPr>
          <p:nvPr>
            <p:ph type="title"/>
          </p:nvPr>
        </p:nvSpPr>
        <p:spPr>
          <a:xfrm>
            <a:off x="24008" y="104166"/>
            <a:ext cx="1622122" cy="615755"/>
          </a:xfrm>
        </p:spPr>
        <p:txBody>
          <a:bodyPr>
            <a:normAutofit/>
          </a:bodyPr>
          <a:lstStyle/>
          <a:p>
            <a:r>
              <a:rPr lang="en-IN" sz="3200" b="1" u="sng">
                <a:latin typeface="Times New Roman"/>
                <a:cs typeface="Times New Roman"/>
              </a:rPr>
              <a:t>Results</a:t>
            </a:r>
            <a:r>
              <a:rPr lang="en-IN" sz="3200" b="1">
                <a:latin typeface="Times New Roman"/>
                <a:cs typeface="Times New Roman"/>
              </a:rPr>
              <a:t>:</a:t>
            </a:r>
          </a:p>
        </p:txBody>
      </p:sp>
      <p:sp>
        <p:nvSpPr>
          <p:cNvPr id="3" name="Content Placeholder 2">
            <a:extLst>
              <a:ext uri="{FF2B5EF4-FFF2-40B4-BE49-F238E27FC236}">
                <a16:creationId xmlns:a16="http://schemas.microsoft.com/office/drawing/2014/main" id="{AF707481-3A27-B991-3A4A-F3B69C21A1A6}"/>
              </a:ext>
            </a:extLst>
          </p:cNvPr>
          <p:cNvSpPr>
            <a:spLocks noGrp="1"/>
          </p:cNvSpPr>
          <p:nvPr>
            <p:ph idx="1"/>
          </p:nvPr>
        </p:nvSpPr>
        <p:spPr>
          <a:xfrm>
            <a:off x="24008" y="875735"/>
            <a:ext cx="10515600" cy="4351338"/>
          </a:xfrm>
        </p:spPr>
        <p:txBody>
          <a:bodyPr vert="horz" lIns="91440" tIns="45720" rIns="91440" bIns="45720" rtlCol="0" anchor="t">
            <a:normAutofit fontScale="55000" lnSpcReduction="20000"/>
          </a:bodyPr>
          <a:lstStyle/>
          <a:p>
            <a:r>
              <a:rPr lang="en-IN" sz="3300">
                <a:latin typeface="Times New Roman"/>
                <a:ea typeface="Calibri"/>
                <a:cs typeface="Calibri"/>
              </a:rPr>
              <a:t>Analysis of the S-parameter plot for </a:t>
            </a:r>
            <a:r>
              <a:rPr lang="en-GB" sz="2900">
                <a:latin typeface="Times New Roman"/>
                <a:ea typeface="Calibri"/>
                <a:cs typeface="Times New Roman"/>
              </a:rPr>
              <a:t>1×2 Patch antenna Array without a Decoupling Structure with </a:t>
            </a:r>
            <a:r>
              <a:rPr lang="en-IN" sz="2900">
                <a:latin typeface="Times New Roman"/>
                <a:ea typeface="Calibri"/>
                <a:cs typeface="Calibri"/>
              </a:rPr>
              <a:t>HFSS  with centre to centre spacing as </a:t>
            </a:r>
            <a:r>
              <a:rPr lang="el-GR" sz="2900">
                <a:latin typeface="Times New Roman"/>
                <a:ea typeface="Calibri"/>
                <a:cs typeface="Times New Roman"/>
              </a:rPr>
              <a:t>0.56</a:t>
            </a:r>
            <a:r>
              <a:rPr lang="el-GR" sz="2900" b="1">
                <a:latin typeface="Times New Roman"/>
                <a:ea typeface="Calibri"/>
                <a:cs typeface="Times New Roman"/>
              </a:rPr>
              <a:t> </a:t>
            </a:r>
            <a:r>
              <a:rPr lang="el-GR" sz="2900">
                <a:latin typeface="Times New Roman"/>
                <a:ea typeface="Calibri"/>
                <a:cs typeface="Times New Roman"/>
              </a:rPr>
              <a:t>λ</a:t>
            </a:r>
            <a:r>
              <a:rPr lang="el-GR" sz="2500" baseline="-25000">
                <a:latin typeface="Times New Roman"/>
                <a:ea typeface="Calibri"/>
                <a:cs typeface="Times New Roman"/>
              </a:rPr>
              <a:t>0</a:t>
            </a:r>
            <a:r>
              <a:rPr lang="en-IN" sz="2900">
                <a:latin typeface="Times New Roman"/>
                <a:ea typeface="Calibri"/>
                <a:cs typeface="Calibri"/>
              </a:rPr>
              <a:t>.</a:t>
            </a:r>
            <a:endParaRPr lang="en-IN" sz="2900">
              <a:ea typeface="Calibri" panose="020F0502020204030204"/>
              <a:cs typeface="Calibri" panose="020F0502020204030204"/>
            </a:endParaRPr>
          </a:p>
          <a:p>
            <a:pPr marL="0" indent="0">
              <a:buNone/>
            </a:pPr>
            <a:endParaRPr lang="en-IN" sz="2400">
              <a:latin typeface="Times New Roman"/>
              <a:ea typeface="Calibri"/>
              <a:cs typeface="Calibri"/>
            </a:endParaRPr>
          </a:p>
          <a:p>
            <a:endParaRPr lang="en-IN" sz="2400">
              <a:latin typeface="Times New Roman"/>
              <a:ea typeface="Calibri"/>
              <a:cs typeface="Calibri"/>
            </a:endParaRPr>
          </a:p>
          <a:p>
            <a:endParaRPr lang="en-IN" sz="2400">
              <a:latin typeface="Times New Roman"/>
              <a:ea typeface="Calibri"/>
              <a:cs typeface="Calibri"/>
            </a:endParaRPr>
          </a:p>
          <a:p>
            <a:endParaRPr lang="en-IN" sz="2400">
              <a:latin typeface="Times New Roman"/>
              <a:ea typeface="Calibri"/>
              <a:cs typeface="Calibri"/>
            </a:endParaRPr>
          </a:p>
          <a:p>
            <a:endParaRPr lang="en-IN" sz="2400">
              <a:latin typeface="Times New Roman"/>
              <a:ea typeface="Calibri"/>
              <a:cs typeface="Calibri"/>
            </a:endParaRPr>
          </a:p>
          <a:p>
            <a:endParaRPr lang="en-IN" sz="2400">
              <a:latin typeface="Times New Roman"/>
              <a:ea typeface="Calibri"/>
              <a:cs typeface="Calibri"/>
            </a:endParaRPr>
          </a:p>
          <a:p>
            <a:endParaRPr lang="en-IN" sz="2400">
              <a:latin typeface="Times New Roman"/>
              <a:ea typeface="Calibri"/>
              <a:cs typeface="Calibri"/>
            </a:endParaRPr>
          </a:p>
          <a:p>
            <a:endParaRPr lang="en-IN" sz="2400">
              <a:latin typeface="Times New Roman"/>
              <a:ea typeface="Calibri"/>
              <a:cs typeface="Calibri"/>
            </a:endParaRPr>
          </a:p>
          <a:p>
            <a:endParaRPr lang="en-IN" sz="2400">
              <a:latin typeface="Times New Roman"/>
              <a:ea typeface="Calibri"/>
              <a:cs typeface="Calibri"/>
            </a:endParaRPr>
          </a:p>
          <a:p>
            <a:pPr marL="0" indent="0">
              <a:buNone/>
            </a:pPr>
            <a:endParaRPr lang="en-IN" sz="2400">
              <a:latin typeface="Times New Roman"/>
              <a:ea typeface="Calibri"/>
              <a:cs typeface="Calibri"/>
            </a:endParaRPr>
          </a:p>
          <a:p>
            <a:pPr marL="0" indent="0">
              <a:buNone/>
            </a:pPr>
            <a:endParaRPr lang="en-IN" sz="2400">
              <a:latin typeface="Times New Roman"/>
              <a:ea typeface="Calibri"/>
              <a:cs typeface="Calibri"/>
            </a:endParaRPr>
          </a:p>
          <a:p>
            <a:pPr marL="0" indent="0">
              <a:buNone/>
            </a:pPr>
            <a:r>
              <a:rPr lang="en-IN" sz="2400">
                <a:latin typeface="Times New Roman"/>
                <a:ea typeface="Calibri"/>
                <a:cs typeface="Calibri"/>
              </a:rPr>
              <a:t>   </a:t>
            </a:r>
            <a:endParaRPr lang="en-IN" sz="2900">
              <a:latin typeface="Times New Roman"/>
              <a:ea typeface="Calibri"/>
              <a:cs typeface="Calibri"/>
            </a:endParaRPr>
          </a:p>
          <a:p>
            <a:pPr marL="0" indent="0">
              <a:buNone/>
            </a:pPr>
            <a:r>
              <a:rPr lang="en-IN" sz="2300">
                <a:latin typeface="Times New Roman"/>
                <a:ea typeface="Calibri"/>
                <a:cs typeface="Calibri"/>
              </a:rPr>
              <a:t>    </a:t>
            </a:r>
          </a:p>
          <a:p>
            <a:pPr marL="0" indent="0">
              <a:buNone/>
            </a:pPr>
            <a:r>
              <a:rPr lang="en-IN" sz="2300">
                <a:latin typeface="Times New Roman"/>
                <a:ea typeface="Calibri"/>
                <a:cs typeface="Calibri"/>
              </a:rPr>
              <a:t>     </a:t>
            </a:r>
            <a:r>
              <a:rPr lang="en-IN" sz="2900">
                <a:latin typeface="Times New Roman"/>
                <a:ea typeface="Calibri"/>
                <a:cs typeface="Calibri"/>
              </a:rPr>
              <a:t>Figure 4.  Simulated S</a:t>
            </a:r>
            <a:r>
              <a:rPr lang="en-IN" sz="2900" baseline="-25000">
                <a:latin typeface="Times New Roman"/>
                <a:ea typeface="Calibri"/>
                <a:cs typeface="Calibri"/>
              </a:rPr>
              <a:t>11</a:t>
            </a:r>
            <a:r>
              <a:rPr lang="en-IN" sz="2900">
                <a:latin typeface="Times New Roman"/>
                <a:ea typeface="Calibri"/>
                <a:cs typeface="Calibri"/>
              </a:rPr>
              <a:t> of  </a:t>
            </a:r>
            <a:r>
              <a:rPr lang="en-GB" sz="2900">
                <a:latin typeface="Times New Roman"/>
                <a:ea typeface="Calibri"/>
                <a:cs typeface="Times New Roman"/>
              </a:rPr>
              <a:t>1×2 Patch antenna Array </a:t>
            </a:r>
            <a:endParaRPr lang="en-IN" sz="2900">
              <a:latin typeface="Times New Roman"/>
              <a:ea typeface="Calibri"/>
              <a:cs typeface="Calibri"/>
            </a:endParaRPr>
          </a:p>
          <a:p>
            <a:pPr marL="0" indent="0">
              <a:buNone/>
            </a:pPr>
            <a:endParaRPr lang="en-IN" sz="2400">
              <a:latin typeface="Times New Roman"/>
              <a:ea typeface="Calibri"/>
              <a:cs typeface="Calibri"/>
            </a:endParaRPr>
          </a:p>
          <a:p>
            <a:pPr marL="0" indent="0">
              <a:buNone/>
            </a:pPr>
            <a:endParaRPr lang="en-IN" sz="2400">
              <a:latin typeface="Times New Roman"/>
              <a:ea typeface="Calibri"/>
              <a:cs typeface="Calibri"/>
            </a:endParaRPr>
          </a:p>
          <a:p>
            <a:endParaRPr lang="en-IN">
              <a:latin typeface="Times New Roman"/>
              <a:ea typeface="Calibri"/>
              <a:cs typeface="Calibri"/>
            </a:endParaRPr>
          </a:p>
          <a:p>
            <a:endParaRPr lang="en-IN">
              <a:latin typeface="Times New Roman"/>
              <a:ea typeface="Calibri"/>
              <a:cs typeface="Calibri"/>
            </a:endParaRPr>
          </a:p>
          <a:p>
            <a:endParaRPr lang="en-IN">
              <a:latin typeface="Times New Roman"/>
              <a:ea typeface="Calibri"/>
              <a:cs typeface="Calibri"/>
            </a:endParaRPr>
          </a:p>
          <a:p>
            <a:endParaRPr lang="en-IN">
              <a:latin typeface="Times New Roman"/>
              <a:ea typeface="Calibri"/>
              <a:cs typeface="Calibri"/>
            </a:endParaRPr>
          </a:p>
          <a:p>
            <a:endParaRPr lang="en-IN">
              <a:latin typeface="Times New Roman"/>
              <a:ea typeface="Calibri"/>
              <a:cs typeface="Calibri"/>
            </a:endParaRPr>
          </a:p>
          <a:p>
            <a:endParaRPr lang="en-IN">
              <a:latin typeface="Times New Roman"/>
              <a:ea typeface="Calibri"/>
              <a:cs typeface="Calibri"/>
            </a:endParaRPr>
          </a:p>
          <a:p>
            <a:endParaRPr lang="en-IN">
              <a:latin typeface="Times New Roman"/>
              <a:ea typeface="Calibri"/>
              <a:cs typeface="Calibri"/>
            </a:endParaRPr>
          </a:p>
          <a:p>
            <a:pPr marL="0" indent="0">
              <a:buNone/>
            </a:pPr>
            <a:endParaRPr lang="en-IN" sz="2000">
              <a:latin typeface="Times New Roman"/>
              <a:ea typeface="Calibri"/>
              <a:cs typeface="Calibri"/>
            </a:endParaRPr>
          </a:p>
        </p:txBody>
      </p:sp>
      <p:sp>
        <p:nvSpPr>
          <p:cNvPr id="4" name="Date Placeholder 3">
            <a:extLst>
              <a:ext uri="{FF2B5EF4-FFF2-40B4-BE49-F238E27FC236}">
                <a16:creationId xmlns:a16="http://schemas.microsoft.com/office/drawing/2014/main" id="{6C31BF2F-2A87-279B-B204-236A52B6CA2D}"/>
              </a:ext>
            </a:extLst>
          </p:cNvPr>
          <p:cNvSpPr>
            <a:spLocks noGrp="1"/>
          </p:cNvSpPr>
          <p:nvPr>
            <p:ph type="dt" sz="half" idx="10"/>
          </p:nvPr>
        </p:nvSpPr>
        <p:spPr/>
        <p:txBody>
          <a:bodyPr/>
          <a:lstStyle/>
          <a:p>
            <a:fld id="{C0883387-8E05-44FA-9CA1-FD7515E30DCB}" type="datetime1">
              <a:rPr lang="en-IN" smtClean="0"/>
              <a:t>09-02-2026</a:t>
            </a:fld>
            <a:endParaRPr lang="en-IN"/>
          </a:p>
        </p:txBody>
      </p:sp>
      <p:sp>
        <p:nvSpPr>
          <p:cNvPr id="5" name="Footer Placeholder 4">
            <a:extLst>
              <a:ext uri="{FF2B5EF4-FFF2-40B4-BE49-F238E27FC236}">
                <a16:creationId xmlns:a16="http://schemas.microsoft.com/office/drawing/2014/main" id="{5B5934CF-0519-B762-AC4B-B40B2FF2BD4D}"/>
              </a:ext>
            </a:extLst>
          </p:cNvPr>
          <p:cNvSpPr>
            <a:spLocks noGrp="1"/>
          </p:cNvSpPr>
          <p:nvPr>
            <p:ph type="ftr" sz="quarter" idx="11"/>
          </p:nvPr>
        </p:nvSpPr>
        <p:spPr/>
        <p:txBody>
          <a:bodyPr/>
          <a:lstStyle/>
          <a:p>
            <a:r>
              <a:rPr lang="en-IN"/>
              <a:t>Review 2.2</a:t>
            </a:r>
          </a:p>
        </p:txBody>
      </p:sp>
      <p:sp>
        <p:nvSpPr>
          <p:cNvPr id="6" name="Slide Number Placeholder 5">
            <a:extLst>
              <a:ext uri="{FF2B5EF4-FFF2-40B4-BE49-F238E27FC236}">
                <a16:creationId xmlns:a16="http://schemas.microsoft.com/office/drawing/2014/main" id="{648C34E6-8B4F-0D62-390C-856AB072E3ED}"/>
              </a:ext>
            </a:extLst>
          </p:cNvPr>
          <p:cNvSpPr>
            <a:spLocks noGrp="1"/>
          </p:cNvSpPr>
          <p:nvPr>
            <p:ph type="sldNum" sz="quarter" idx="12"/>
          </p:nvPr>
        </p:nvSpPr>
        <p:spPr/>
        <p:txBody>
          <a:bodyPr/>
          <a:lstStyle/>
          <a:p>
            <a:fld id="{1CCCFFBF-4DCD-46DE-85E1-69841FB49368}" type="slidenum">
              <a:rPr lang="en-IN" smtClean="0"/>
              <a:t>10</a:t>
            </a:fld>
            <a:endParaRPr lang="en-IN"/>
          </a:p>
        </p:txBody>
      </p:sp>
      <p:pic>
        <p:nvPicPr>
          <p:cNvPr id="8" name="Picture 7" descr="A pink and black logo&#10;&#10;AI-generated content may be incorrect.">
            <a:extLst>
              <a:ext uri="{FF2B5EF4-FFF2-40B4-BE49-F238E27FC236}">
                <a16:creationId xmlns:a16="http://schemas.microsoft.com/office/drawing/2014/main" id="{98B7E8DD-24A7-9DFD-7DE5-E293C2F3C8F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92871" y="-31376"/>
            <a:ext cx="1999129" cy="591742"/>
          </a:xfrm>
          <a:prstGeom prst="rect">
            <a:avLst/>
          </a:prstGeom>
        </p:spPr>
      </p:pic>
      <p:pic>
        <p:nvPicPr>
          <p:cNvPr id="7" name="Picture 6" descr="A graph with green lines and numbers&#10;&#10;AI-generated content may be incorrect.">
            <a:extLst>
              <a:ext uri="{FF2B5EF4-FFF2-40B4-BE49-F238E27FC236}">
                <a16:creationId xmlns:a16="http://schemas.microsoft.com/office/drawing/2014/main" id="{C7081579-4343-4C30-8720-48D785273DD7}"/>
              </a:ext>
            </a:extLst>
          </p:cNvPr>
          <p:cNvPicPr>
            <a:picLocks noChangeAspect="1"/>
          </p:cNvPicPr>
          <p:nvPr/>
        </p:nvPicPr>
        <p:blipFill>
          <a:blip r:embed="rId3"/>
          <a:stretch>
            <a:fillRect/>
          </a:stretch>
        </p:blipFill>
        <p:spPr>
          <a:xfrm>
            <a:off x="323587" y="1295729"/>
            <a:ext cx="8736906" cy="3514976"/>
          </a:xfrm>
          <a:prstGeom prst="rect">
            <a:avLst/>
          </a:prstGeom>
        </p:spPr>
      </p:pic>
    </p:spTree>
    <p:extLst>
      <p:ext uri="{BB962C8B-B14F-4D97-AF65-F5344CB8AC3E}">
        <p14:creationId xmlns:p14="http://schemas.microsoft.com/office/powerpoint/2010/main" val="37839841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00CEA6-6A4E-6ED8-B3EA-CAAB0246EE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46ACFB-A988-955C-ABBC-9D03221A4823}"/>
              </a:ext>
            </a:extLst>
          </p:cNvPr>
          <p:cNvSpPr>
            <a:spLocks noGrp="1"/>
          </p:cNvSpPr>
          <p:nvPr>
            <p:ph type="title"/>
          </p:nvPr>
        </p:nvSpPr>
        <p:spPr>
          <a:xfrm>
            <a:off x="24008" y="104166"/>
            <a:ext cx="1622122" cy="615755"/>
          </a:xfrm>
        </p:spPr>
        <p:txBody>
          <a:bodyPr>
            <a:normAutofit/>
          </a:bodyPr>
          <a:lstStyle/>
          <a:p>
            <a:r>
              <a:rPr lang="en-IN" sz="3200" b="1" u="sng">
                <a:latin typeface="Times New Roman"/>
                <a:cs typeface="Times New Roman"/>
              </a:rPr>
              <a:t>Results</a:t>
            </a:r>
            <a:r>
              <a:rPr lang="en-IN" sz="3200" b="1">
                <a:latin typeface="Times New Roman"/>
                <a:cs typeface="Times New Roman"/>
              </a:rPr>
              <a:t>:</a:t>
            </a:r>
          </a:p>
        </p:txBody>
      </p:sp>
      <p:sp>
        <p:nvSpPr>
          <p:cNvPr id="3" name="Content Placeholder 2">
            <a:extLst>
              <a:ext uri="{FF2B5EF4-FFF2-40B4-BE49-F238E27FC236}">
                <a16:creationId xmlns:a16="http://schemas.microsoft.com/office/drawing/2014/main" id="{952AD307-FA1F-265E-3CD4-01B1840F2E1D}"/>
              </a:ext>
            </a:extLst>
          </p:cNvPr>
          <p:cNvSpPr>
            <a:spLocks noGrp="1"/>
          </p:cNvSpPr>
          <p:nvPr>
            <p:ph idx="1"/>
          </p:nvPr>
        </p:nvSpPr>
        <p:spPr>
          <a:xfrm>
            <a:off x="24008" y="875735"/>
            <a:ext cx="10515600" cy="4351338"/>
          </a:xfrm>
        </p:spPr>
        <p:txBody>
          <a:bodyPr vert="horz" lIns="91440" tIns="45720" rIns="91440" bIns="45720" rtlCol="0" anchor="t">
            <a:normAutofit fontScale="55000" lnSpcReduction="20000"/>
          </a:bodyPr>
          <a:lstStyle/>
          <a:p>
            <a:r>
              <a:rPr lang="en-IN" sz="3300">
                <a:latin typeface="Times New Roman"/>
                <a:ea typeface="Calibri"/>
                <a:cs typeface="Calibri"/>
              </a:rPr>
              <a:t>Analysis of the S-parameter plot for </a:t>
            </a:r>
            <a:r>
              <a:rPr lang="en-GB" sz="2900">
                <a:latin typeface="Times New Roman"/>
                <a:ea typeface="Calibri"/>
                <a:cs typeface="Times New Roman"/>
              </a:rPr>
              <a:t>1×2 Patch antenna Array without a Decoupling Structure with </a:t>
            </a:r>
            <a:r>
              <a:rPr lang="en-IN" sz="2900">
                <a:latin typeface="Times New Roman"/>
                <a:ea typeface="Calibri"/>
                <a:cs typeface="Calibri"/>
              </a:rPr>
              <a:t>HFSS  with centre to centre spacing as </a:t>
            </a:r>
            <a:r>
              <a:rPr lang="el-GR" sz="2900">
                <a:latin typeface="Times New Roman"/>
                <a:ea typeface="Calibri"/>
                <a:cs typeface="Times New Roman"/>
              </a:rPr>
              <a:t>0.56</a:t>
            </a:r>
            <a:r>
              <a:rPr lang="el-GR" sz="2900" b="1">
                <a:latin typeface="Times New Roman"/>
                <a:ea typeface="Calibri"/>
                <a:cs typeface="Times New Roman"/>
              </a:rPr>
              <a:t> </a:t>
            </a:r>
            <a:r>
              <a:rPr lang="el-GR" sz="2900">
                <a:latin typeface="Times New Roman"/>
                <a:ea typeface="Calibri"/>
                <a:cs typeface="Times New Roman"/>
              </a:rPr>
              <a:t>λ</a:t>
            </a:r>
            <a:r>
              <a:rPr lang="el-GR" sz="2500" baseline="-25000">
                <a:latin typeface="Times New Roman"/>
                <a:ea typeface="Calibri"/>
                <a:cs typeface="Times New Roman"/>
              </a:rPr>
              <a:t>0</a:t>
            </a:r>
            <a:r>
              <a:rPr lang="en-IN" sz="2900">
                <a:latin typeface="Times New Roman"/>
                <a:ea typeface="Calibri"/>
                <a:cs typeface="Calibri"/>
              </a:rPr>
              <a:t>.</a:t>
            </a:r>
            <a:endParaRPr lang="en-IN" sz="2900">
              <a:ea typeface="Calibri" panose="020F0502020204030204"/>
              <a:cs typeface="Calibri" panose="020F0502020204030204"/>
            </a:endParaRPr>
          </a:p>
          <a:p>
            <a:pPr marL="0" indent="0">
              <a:buNone/>
            </a:pPr>
            <a:endParaRPr lang="en-IN" sz="2400">
              <a:latin typeface="Times New Roman"/>
              <a:ea typeface="Calibri"/>
              <a:cs typeface="Calibri"/>
            </a:endParaRPr>
          </a:p>
          <a:p>
            <a:endParaRPr lang="en-IN" sz="2400">
              <a:latin typeface="Times New Roman"/>
              <a:ea typeface="Calibri"/>
              <a:cs typeface="Calibri"/>
            </a:endParaRPr>
          </a:p>
          <a:p>
            <a:endParaRPr lang="en-IN" sz="2400">
              <a:latin typeface="Times New Roman"/>
              <a:ea typeface="Calibri"/>
              <a:cs typeface="Calibri"/>
            </a:endParaRPr>
          </a:p>
          <a:p>
            <a:endParaRPr lang="en-IN" sz="2400">
              <a:latin typeface="Times New Roman"/>
              <a:ea typeface="Calibri"/>
              <a:cs typeface="Calibri"/>
            </a:endParaRPr>
          </a:p>
          <a:p>
            <a:endParaRPr lang="en-IN" sz="2400">
              <a:latin typeface="Times New Roman"/>
              <a:ea typeface="Calibri"/>
              <a:cs typeface="Calibri"/>
            </a:endParaRPr>
          </a:p>
          <a:p>
            <a:endParaRPr lang="en-IN" sz="2400">
              <a:latin typeface="Times New Roman"/>
              <a:ea typeface="Calibri"/>
              <a:cs typeface="Calibri"/>
            </a:endParaRPr>
          </a:p>
          <a:p>
            <a:endParaRPr lang="en-IN" sz="2400">
              <a:latin typeface="Times New Roman"/>
              <a:ea typeface="Calibri"/>
              <a:cs typeface="Calibri"/>
            </a:endParaRPr>
          </a:p>
          <a:p>
            <a:endParaRPr lang="en-IN" sz="2400">
              <a:latin typeface="Times New Roman"/>
              <a:ea typeface="Calibri"/>
              <a:cs typeface="Calibri"/>
            </a:endParaRPr>
          </a:p>
          <a:p>
            <a:endParaRPr lang="en-IN" sz="2400">
              <a:latin typeface="Times New Roman"/>
              <a:ea typeface="Calibri"/>
              <a:cs typeface="Calibri"/>
            </a:endParaRPr>
          </a:p>
          <a:p>
            <a:pPr marL="0" indent="0">
              <a:buNone/>
            </a:pPr>
            <a:endParaRPr lang="en-IN" sz="2400">
              <a:latin typeface="Times New Roman"/>
              <a:ea typeface="Calibri"/>
              <a:cs typeface="Calibri"/>
            </a:endParaRPr>
          </a:p>
          <a:p>
            <a:pPr marL="0" indent="0">
              <a:buNone/>
            </a:pPr>
            <a:endParaRPr lang="en-IN" sz="2400">
              <a:latin typeface="Times New Roman"/>
              <a:ea typeface="Calibri"/>
              <a:cs typeface="Calibri"/>
            </a:endParaRPr>
          </a:p>
          <a:p>
            <a:pPr marL="0" indent="0">
              <a:buNone/>
            </a:pPr>
            <a:r>
              <a:rPr lang="en-IN" sz="2400">
                <a:latin typeface="Times New Roman"/>
                <a:ea typeface="Calibri"/>
                <a:cs typeface="Calibri"/>
              </a:rPr>
              <a:t>   </a:t>
            </a:r>
            <a:endParaRPr lang="en-IN" sz="2900">
              <a:latin typeface="Times New Roman"/>
              <a:ea typeface="Calibri"/>
              <a:cs typeface="Calibri"/>
            </a:endParaRPr>
          </a:p>
          <a:p>
            <a:pPr marL="0" indent="0">
              <a:buNone/>
            </a:pPr>
            <a:r>
              <a:rPr lang="en-IN" sz="2300">
                <a:latin typeface="Times New Roman"/>
                <a:ea typeface="Calibri"/>
                <a:cs typeface="Calibri"/>
              </a:rPr>
              <a:t>    </a:t>
            </a:r>
          </a:p>
          <a:p>
            <a:pPr marL="0" indent="0">
              <a:buNone/>
            </a:pPr>
            <a:r>
              <a:rPr lang="en-IN" sz="2300">
                <a:latin typeface="Times New Roman"/>
                <a:ea typeface="Calibri"/>
                <a:cs typeface="Calibri"/>
              </a:rPr>
              <a:t>     </a:t>
            </a:r>
            <a:r>
              <a:rPr lang="en-IN" sz="2900">
                <a:latin typeface="Times New Roman"/>
                <a:ea typeface="Calibri"/>
                <a:cs typeface="Calibri"/>
              </a:rPr>
              <a:t>Figure 5.  Simulated S</a:t>
            </a:r>
            <a:r>
              <a:rPr lang="en-IN" sz="2900" baseline="-25000">
                <a:latin typeface="Times New Roman"/>
                <a:ea typeface="Calibri"/>
                <a:cs typeface="Calibri"/>
              </a:rPr>
              <a:t>21</a:t>
            </a:r>
            <a:r>
              <a:rPr lang="en-IN" sz="2900">
                <a:latin typeface="Times New Roman"/>
                <a:ea typeface="Calibri"/>
                <a:cs typeface="Calibri"/>
              </a:rPr>
              <a:t> of  </a:t>
            </a:r>
            <a:r>
              <a:rPr lang="en-GB" sz="2900">
                <a:latin typeface="Times New Roman"/>
                <a:ea typeface="Calibri"/>
                <a:cs typeface="Times New Roman"/>
              </a:rPr>
              <a:t>1×2 Patch antenna Array </a:t>
            </a:r>
            <a:endParaRPr lang="en-IN" sz="2900">
              <a:latin typeface="Times New Roman"/>
              <a:ea typeface="Calibri"/>
              <a:cs typeface="Calibri"/>
            </a:endParaRPr>
          </a:p>
          <a:p>
            <a:pPr marL="0" indent="0">
              <a:buNone/>
            </a:pPr>
            <a:endParaRPr lang="en-IN" sz="2400">
              <a:latin typeface="Times New Roman"/>
              <a:ea typeface="Calibri"/>
              <a:cs typeface="Calibri"/>
            </a:endParaRPr>
          </a:p>
          <a:p>
            <a:pPr marL="0" indent="0">
              <a:buNone/>
            </a:pPr>
            <a:endParaRPr lang="en-IN" sz="2400">
              <a:latin typeface="Times New Roman"/>
              <a:ea typeface="Calibri"/>
              <a:cs typeface="Calibri"/>
            </a:endParaRPr>
          </a:p>
          <a:p>
            <a:endParaRPr lang="en-IN">
              <a:latin typeface="Times New Roman"/>
              <a:ea typeface="Calibri"/>
              <a:cs typeface="Calibri"/>
            </a:endParaRPr>
          </a:p>
          <a:p>
            <a:endParaRPr lang="en-IN">
              <a:latin typeface="Times New Roman"/>
              <a:ea typeface="Calibri"/>
              <a:cs typeface="Calibri"/>
            </a:endParaRPr>
          </a:p>
          <a:p>
            <a:pPr marL="0" indent="0">
              <a:buNone/>
            </a:pPr>
            <a:endParaRPr lang="en-IN">
              <a:latin typeface="Times New Roman"/>
              <a:ea typeface="Calibri"/>
              <a:cs typeface="Calibri"/>
            </a:endParaRPr>
          </a:p>
          <a:p>
            <a:endParaRPr lang="en-IN">
              <a:latin typeface="Times New Roman"/>
              <a:ea typeface="Calibri"/>
              <a:cs typeface="Calibri"/>
            </a:endParaRPr>
          </a:p>
          <a:p>
            <a:endParaRPr lang="en-IN">
              <a:latin typeface="Times New Roman"/>
              <a:ea typeface="Calibri"/>
              <a:cs typeface="Calibri"/>
            </a:endParaRPr>
          </a:p>
          <a:p>
            <a:endParaRPr lang="en-IN">
              <a:latin typeface="Times New Roman"/>
              <a:ea typeface="Calibri"/>
              <a:cs typeface="Calibri"/>
            </a:endParaRPr>
          </a:p>
          <a:p>
            <a:endParaRPr lang="en-IN">
              <a:latin typeface="Times New Roman"/>
              <a:ea typeface="Calibri"/>
              <a:cs typeface="Calibri"/>
            </a:endParaRPr>
          </a:p>
          <a:p>
            <a:pPr marL="0" indent="0">
              <a:buNone/>
            </a:pPr>
            <a:endParaRPr lang="en-IN" sz="2000">
              <a:latin typeface="Times New Roman"/>
              <a:ea typeface="Calibri"/>
              <a:cs typeface="Calibri"/>
            </a:endParaRPr>
          </a:p>
        </p:txBody>
      </p:sp>
      <p:sp>
        <p:nvSpPr>
          <p:cNvPr id="4" name="Date Placeholder 3">
            <a:extLst>
              <a:ext uri="{FF2B5EF4-FFF2-40B4-BE49-F238E27FC236}">
                <a16:creationId xmlns:a16="http://schemas.microsoft.com/office/drawing/2014/main" id="{F86FCCA7-06C6-E4C5-60E8-71C253FFA677}"/>
              </a:ext>
            </a:extLst>
          </p:cNvPr>
          <p:cNvSpPr>
            <a:spLocks noGrp="1"/>
          </p:cNvSpPr>
          <p:nvPr>
            <p:ph type="dt" sz="half" idx="10"/>
          </p:nvPr>
        </p:nvSpPr>
        <p:spPr/>
        <p:txBody>
          <a:bodyPr/>
          <a:lstStyle/>
          <a:p>
            <a:fld id="{C0883387-8E05-44FA-9CA1-FD7515E30DCB}" type="datetime1">
              <a:rPr lang="en-IN" smtClean="0"/>
              <a:t>09-02-2026</a:t>
            </a:fld>
            <a:endParaRPr lang="en-IN"/>
          </a:p>
        </p:txBody>
      </p:sp>
      <p:sp>
        <p:nvSpPr>
          <p:cNvPr id="5" name="Footer Placeholder 4">
            <a:extLst>
              <a:ext uri="{FF2B5EF4-FFF2-40B4-BE49-F238E27FC236}">
                <a16:creationId xmlns:a16="http://schemas.microsoft.com/office/drawing/2014/main" id="{CAB9B025-BC11-4FD7-FCCC-A58D6B329313}"/>
              </a:ext>
            </a:extLst>
          </p:cNvPr>
          <p:cNvSpPr>
            <a:spLocks noGrp="1"/>
          </p:cNvSpPr>
          <p:nvPr>
            <p:ph type="ftr" sz="quarter" idx="11"/>
          </p:nvPr>
        </p:nvSpPr>
        <p:spPr/>
        <p:txBody>
          <a:bodyPr/>
          <a:lstStyle/>
          <a:p>
            <a:r>
              <a:rPr lang="en-IN"/>
              <a:t>Review 2.2</a:t>
            </a:r>
          </a:p>
        </p:txBody>
      </p:sp>
      <p:sp>
        <p:nvSpPr>
          <p:cNvPr id="6" name="Slide Number Placeholder 5">
            <a:extLst>
              <a:ext uri="{FF2B5EF4-FFF2-40B4-BE49-F238E27FC236}">
                <a16:creationId xmlns:a16="http://schemas.microsoft.com/office/drawing/2014/main" id="{6325D730-3A02-F0FF-9903-DE5B872CBA72}"/>
              </a:ext>
            </a:extLst>
          </p:cNvPr>
          <p:cNvSpPr>
            <a:spLocks noGrp="1"/>
          </p:cNvSpPr>
          <p:nvPr>
            <p:ph type="sldNum" sz="quarter" idx="12"/>
          </p:nvPr>
        </p:nvSpPr>
        <p:spPr/>
        <p:txBody>
          <a:bodyPr/>
          <a:lstStyle/>
          <a:p>
            <a:fld id="{1CCCFFBF-4DCD-46DE-85E1-69841FB49368}" type="slidenum">
              <a:rPr lang="en-IN" smtClean="0"/>
              <a:t>11</a:t>
            </a:fld>
            <a:endParaRPr lang="en-IN"/>
          </a:p>
        </p:txBody>
      </p:sp>
      <p:pic>
        <p:nvPicPr>
          <p:cNvPr id="8" name="Picture 7" descr="A pink and black logo&#10;&#10;AI-generated content may be incorrect.">
            <a:extLst>
              <a:ext uri="{FF2B5EF4-FFF2-40B4-BE49-F238E27FC236}">
                <a16:creationId xmlns:a16="http://schemas.microsoft.com/office/drawing/2014/main" id="{22C4663F-2A0D-91B0-64A1-3623D4BF5B5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92871" y="-31376"/>
            <a:ext cx="1999129" cy="591742"/>
          </a:xfrm>
          <a:prstGeom prst="rect">
            <a:avLst/>
          </a:prstGeom>
        </p:spPr>
      </p:pic>
      <p:pic>
        <p:nvPicPr>
          <p:cNvPr id="9" name="Picture 8" descr="A graph with lines and numbers&#10;&#10;AI-generated content may be incorrect.">
            <a:extLst>
              <a:ext uri="{FF2B5EF4-FFF2-40B4-BE49-F238E27FC236}">
                <a16:creationId xmlns:a16="http://schemas.microsoft.com/office/drawing/2014/main" id="{C8DBD541-A6B1-C543-EAC3-5D74C115A656}"/>
              </a:ext>
            </a:extLst>
          </p:cNvPr>
          <p:cNvPicPr>
            <a:picLocks noChangeAspect="1"/>
          </p:cNvPicPr>
          <p:nvPr/>
        </p:nvPicPr>
        <p:blipFill>
          <a:blip r:embed="rId3"/>
          <a:stretch>
            <a:fillRect/>
          </a:stretch>
        </p:blipFill>
        <p:spPr>
          <a:xfrm>
            <a:off x="365342" y="1465647"/>
            <a:ext cx="8413316" cy="3154269"/>
          </a:xfrm>
          <a:prstGeom prst="rect">
            <a:avLst/>
          </a:prstGeom>
        </p:spPr>
      </p:pic>
    </p:spTree>
    <p:extLst>
      <p:ext uri="{BB962C8B-B14F-4D97-AF65-F5344CB8AC3E}">
        <p14:creationId xmlns:p14="http://schemas.microsoft.com/office/powerpoint/2010/main" val="16689634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ACB83C-47F5-BF2B-D5DC-9A21E04025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A825EE-C216-5560-39CB-2C75ABF8C195}"/>
              </a:ext>
            </a:extLst>
          </p:cNvPr>
          <p:cNvSpPr>
            <a:spLocks noGrp="1"/>
          </p:cNvSpPr>
          <p:nvPr>
            <p:ph type="title"/>
          </p:nvPr>
        </p:nvSpPr>
        <p:spPr>
          <a:xfrm>
            <a:off x="24008" y="104166"/>
            <a:ext cx="1622122" cy="615755"/>
          </a:xfrm>
        </p:spPr>
        <p:txBody>
          <a:bodyPr>
            <a:normAutofit/>
          </a:bodyPr>
          <a:lstStyle/>
          <a:p>
            <a:r>
              <a:rPr lang="en-IN" sz="3200" b="1" u="sng">
                <a:latin typeface="Times New Roman"/>
                <a:cs typeface="Times New Roman"/>
              </a:rPr>
              <a:t>Results</a:t>
            </a:r>
            <a:r>
              <a:rPr lang="en-IN" sz="3200" b="1">
                <a:latin typeface="Times New Roman"/>
                <a:cs typeface="Times New Roman"/>
              </a:rPr>
              <a:t>:</a:t>
            </a:r>
          </a:p>
        </p:txBody>
      </p:sp>
      <p:sp>
        <p:nvSpPr>
          <p:cNvPr id="3" name="Content Placeholder 2">
            <a:extLst>
              <a:ext uri="{FF2B5EF4-FFF2-40B4-BE49-F238E27FC236}">
                <a16:creationId xmlns:a16="http://schemas.microsoft.com/office/drawing/2014/main" id="{4BB6A3D3-426F-9A71-6568-53A9598993A5}"/>
              </a:ext>
            </a:extLst>
          </p:cNvPr>
          <p:cNvSpPr>
            <a:spLocks noGrp="1"/>
          </p:cNvSpPr>
          <p:nvPr>
            <p:ph idx="1"/>
          </p:nvPr>
        </p:nvSpPr>
        <p:spPr>
          <a:xfrm>
            <a:off x="24008" y="875735"/>
            <a:ext cx="10515600" cy="4351338"/>
          </a:xfrm>
        </p:spPr>
        <p:txBody>
          <a:bodyPr vert="horz" lIns="91440" tIns="45720" rIns="91440" bIns="45720" rtlCol="0" anchor="t">
            <a:normAutofit fontScale="55000" lnSpcReduction="20000"/>
          </a:bodyPr>
          <a:lstStyle/>
          <a:p>
            <a:r>
              <a:rPr lang="en-IN" sz="3300">
                <a:latin typeface="Times New Roman"/>
                <a:ea typeface="Calibri"/>
                <a:cs typeface="Calibri"/>
              </a:rPr>
              <a:t>Analysis of the S-parameter plot for </a:t>
            </a:r>
            <a:r>
              <a:rPr lang="en-GB" sz="2900">
                <a:latin typeface="Times New Roman"/>
                <a:ea typeface="Calibri"/>
                <a:cs typeface="Times New Roman"/>
              </a:rPr>
              <a:t>1×2 Patch antenna Array without a Decoupling Structure with </a:t>
            </a:r>
            <a:r>
              <a:rPr lang="en-IN" sz="2900">
                <a:latin typeface="Times New Roman"/>
                <a:ea typeface="Calibri"/>
                <a:cs typeface="Calibri"/>
              </a:rPr>
              <a:t>HFSS  with centre to centre spacing as </a:t>
            </a:r>
            <a:r>
              <a:rPr lang="el-GR" sz="2900">
                <a:latin typeface="Times New Roman"/>
                <a:ea typeface="Calibri"/>
                <a:cs typeface="Times New Roman"/>
              </a:rPr>
              <a:t>0.5</a:t>
            </a:r>
            <a:r>
              <a:rPr lang="el-GR" sz="2900" b="1">
                <a:latin typeface="Times New Roman"/>
                <a:ea typeface="Calibri"/>
                <a:cs typeface="Times New Roman"/>
              </a:rPr>
              <a:t> </a:t>
            </a:r>
            <a:r>
              <a:rPr lang="el-GR" sz="2900">
                <a:latin typeface="Times New Roman"/>
                <a:ea typeface="Calibri"/>
                <a:cs typeface="Times New Roman"/>
              </a:rPr>
              <a:t>λ</a:t>
            </a:r>
            <a:r>
              <a:rPr lang="el-GR" sz="2500" baseline="-25000">
                <a:latin typeface="Times New Roman"/>
                <a:ea typeface="Calibri"/>
                <a:cs typeface="Times New Roman"/>
              </a:rPr>
              <a:t>0</a:t>
            </a:r>
            <a:r>
              <a:rPr lang="en-IN" sz="2900">
                <a:latin typeface="Times New Roman"/>
                <a:ea typeface="Calibri"/>
                <a:cs typeface="Calibri"/>
              </a:rPr>
              <a:t>.</a:t>
            </a:r>
            <a:endParaRPr lang="en-IN" sz="2900">
              <a:ea typeface="Calibri" panose="020F0502020204030204"/>
              <a:cs typeface="Calibri" panose="020F0502020204030204"/>
            </a:endParaRPr>
          </a:p>
          <a:p>
            <a:pPr marL="0" indent="0">
              <a:buNone/>
            </a:pPr>
            <a:endParaRPr lang="en-IN" sz="2400">
              <a:latin typeface="Times New Roman"/>
              <a:ea typeface="Calibri"/>
              <a:cs typeface="Calibri"/>
            </a:endParaRPr>
          </a:p>
          <a:p>
            <a:endParaRPr lang="en-IN" sz="2400">
              <a:latin typeface="Times New Roman"/>
              <a:ea typeface="Calibri"/>
              <a:cs typeface="Calibri"/>
            </a:endParaRPr>
          </a:p>
          <a:p>
            <a:endParaRPr lang="en-IN" sz="2400">
              <a:latin typeface="Times New Roman"/>
              <a:ea typeface="Calibri"/>
              <a:cs typeface="Calibri"/>
            </a:endParaRPr>
          </a:p>
          <a:p>
            <a:endParaRPr lang="en-IN" sz="2400">
              <a:latin typeface="Times New Roman"/>
              <a:ea typeface="Calibri"/>
              <a:cs typeface="Calibri"/>
            </a:endParaRPr>
          </a:p>
          <a:p>
            <a:endParaRPr lang="en-IN" sz="2400">
              <a:latin typeface="Times New Roman"/>
              <a:ea typeface="Calibri"/>
              <a:cs typeface="Calibri"/>
            </a:endParaRPr>
          </a:p>
          <a:p>
            <a:endParaRPr lang="en-IN" sz="2400">
              <a:latin typeface="Times New Roman"/>
              <a:ea typeface="Calibri"/>
              <a:cs typeface="Calibri"/>
            </a:endParaRPr>
          </a:p>
          <a:p>
            <a:endParaRPr lang="en-IN" sz="2400">
              <a:latin typeface="Times New Roman"/>
              <a:ea typeface="Calibri"/>
              <a:cs typeface="Calibri"/>
            </a:endParaRPr>
          </a:p>
          <a:p>
            <a:endParaRPr lang="en-IN" sz="2400">
              <a:latin typeface="Times New Roman"/>
              <a:ea typeface="Calibri"/>
              <a:cs typeface="Calibri"/>
            </a:endParaRPr>
          </a:p>
          <a:p>
            <a:endParaRPr lang="en-IN" sz="2400">
              <a:latin typeface="Times New Roman"/>
              <a:ea typeface="Calibri"/>
              <a:cs typeface="Calibri"/>
            </a:endParaRPr>
          </a:p>
          <a:p>
            <a:pPr marL="0" indent="0">
              <a:buNone/>
            </a:pPr>
            <a:endParaRPr lang="en-IN" sz="2400">
              <a:latin typeface="Times New Roman"/>
              <a:ea typeface="Calibri"/>
              <a:cs typeface="Calibri"/>
            </a:endParaRPr>
          </a:p>
          <a:p>
            <a:pPr marL="0" indent="0">
              <a:buNone/>
            </a:pPr>
            <a:endParaRPr lang="en-IN" sz="2400">
              <a:latin typeface="Times New Roman"/>
              <a:ea typeface="Calibri"/>
              <a:cs typeface="Calibri"/>
            </a:endParaRPr>
          </a:p>
          <a:p>
            <a:pPr marL="0" indent="0">
              <a:buNone/>
            </a:pPr>
            <a:r>
              <a:rPr lang="en-IN" sz="2400">
                <a:latin typeface="Times New Roman"/>
                <a:ea typeface="Calibri"/>
                <a:cs typeface="Calibri"/>
              </a:rPr>
              <a:t>   </a:t>
            </a:r>
            <a:endParaRPr lang="en-IN" sz="2900">
              <a:latin typeface="Times New Roman"/>
              <a:ea typeface="Calibri"/>
              <a:cs typeface="Calibri"/>
            </a:endParaRPr>
          </a:p>
          <a:p>
            <a:pPr marL="0" indent="0">
              <a:buNone/>
            </a:pPr>
            <a:r>
              <a:rPr lang="en-IN" sz="2300">
                <a:latin typeface="Times New Roman"/>
                <a:ea typeface="Calibri"/>
                <a:cs typeface="Calibri"/>
              </a:rPr>
              <a:t>    </a:t>
            </a:r>
          </a:p>
          <a:p>
            <a:pPr marL="0" indent="0">
              <a:buNone/>
            </a:pPr>
            <a:r>
              <a:rPr lang="en-IN" sz="2300">
                <a:latin typeface="Times New Roman"/>
                <a:ea typeface="Calibri"/>
                <a:cs typeface="Calibri"/>
              </a:rPr>
              <a:t>     </a:t>
            </a:r>
            <a:r>
              <a:rPr lang="en-IN" sz="2900">
                <a:latin typeface="Times New Roman"/>
                <a:ea typeface="Calibri"/>
                <a:cs typeface="Calibri"/>
              </a:rPr>
              <a:t>Figure 6.  Simulated S</a:t>
            </a:r>
            <a:r>
              <a:rPr lang="en-IN" sz="2900" baseline="-25000">
                <a:latin typeface="Times New Roman"/>
                <a:ea typeface="Calibri"/>
                <a:cs typeface="Calibri"/>
              </a:rPr>
              <a:t>11</a:t>
            </a:r>
            <a:r>
              <a:rPr lang="en-IN" sz="2900">
                <a:latin typeface="Times New Roman"/>
                <a:ea typeface="Calibri"/>
                <a:cs typeface="Calibri"/>
              </a:rPr>
              <a:t> of  </a:t>
            </a:r>
            <a:r>
              <a:rPr lang="en-GB" sz="2900">
                <a:latin typeface="Times New Roman"/>
                <a:ea typeface="Calibri"/>
                <a:cs typeface="Times New Roman"/>
              </a:rPr>
              <a:t>1×2 Patch antenna Array </a:t>
            </a:r>
            <a:endParaRPr lang="en-IN" sz="2900">
              <a:latin typeface="Times New Roman"/>
              <a:ea typeface="Calibri"/>
              <a:cs typeface="Calibri"/>
            </a:endParaRPr>
          </a:p>
          <a:p>
            <a:pPr marL="0" indent="0">
              <a:buNone/>
            </a:pPr>
            <a:endParaRPr lang="en-IN" sz="2400">
              <a:latin typeface="Times New Roman"/>
              <a:ea typeface="Calibri"/>
              <a:cs typeface="Calibri"/>
            </a:endParaRPr>
          </a:p>
          <a:p>
            <a:pPr marL="0" indent="0">
              <a:buNone/>
            </a:pPr>
            <a:endParaRPr lang="en-IN" sz="2400">
              <a:latin typeface="Times New Roman"/>
              <a:ea typeface="Calibri"/>
              <a:cs typeface="Calibri"/>
            </a:endParaRPr>
          </a:p>
          <a:p>
            <a:endParaRPr lang="en-IN">
              <a:latin typeface="Times New Roman"/>
              <a:ea typeface="Calibri"/>
              <a:cs typeface="Calibri"/>
            </a:endParaRPr>
          </a:p>
          <a:p>
            <a:endParaRPr lang="en-IN">
              <a:latin typeface="Times New Roman"/>
              <a:ea typeface="Calibri"/>
              <a:cs typeface="Calibri"/>
            </a:endParaRPr>
          </a:p>
          <a:p>
            <a:pPr marL="0" indent="0">
              <a:buNone/>
            </a:pPr>
            <a:endParaRPr lang="en-IN">
              <a:latin typeface="Times New Roman"/>
              <a:ea typeface="Calibri"/>
              <a:cs typeface="Calibri"/>
            </a:endParaRPr>
          </a:p>
          <a:p>
            <a:endParaRPr lang="en-IN">
              <a:latin typeface="Times New Roman"/>
              <a:ea typeface="Calibri"/>
              <a:cs typeface="Calibri"/>
            </a:endParaRPr>
          </a:p>
          <a:p>
            <a:endParaRPr lang="en-IN">
              <a:latin typeface="Times New Roman"/>
              <a:ea typeface="Calibri"/>
              <a:cs typeface="Calibri"/>
            </a:endParaRPr>
          </a:p>
          <a:p>
            <a:endParaRPr lang="en-IN">
              <a:latin typeface="Times New Roman"/>
              <a:ea typeface="Calibri"/>
              <a:cs typeface="Calibri"/>
            </a:endParaRPr>
          </a:p>
          <a:p>
            <a:endParaRPr lang="en-IN">
              <a:latin typeface="Times New Roman"/>
              <a:ea typeface="Calibri"/>
              <a:cs typeface="Calibri"/>
            </a:endParaRPr>
          </a:p>
          <a:p>
            <a:pPr marL="0" indent="0">
              <a:buNone/>
            </a:pPr>
            <a:endParaRPr lang="en-IN" sz="2000">
              <a:latin typeface="Times New Roman"/>
              <a:ea typeface="Calibri"/>
              <a:cs typeface="Calibri"/>
            </a:endParaRPr>
          </a:p>
        </p:txBody>
      </p:sp>
      <p:sp>
        <p:nvSpPr>
          <p:cNvPr id="4" name="Date Placeholder 3">
            <a:extLst>
              <a:ext uri="{FF2B5EF4-FFF2-40B4-BE49-F238E27FC236}">
                <a16:creationId xmlns:a16="http://schemas.microsoft.com/office/drawing/2014/main" id="{FB955AAB-C3A6-C977-1D28-A0DE1F8AF87C}"/>
              </a:ext>
            </a:extLst>
          </p:cNvPr>
          <p:cNvSpPr>
            <a:spLocks noGrp="1"/>
          </p:cNvSpPr>
          <p:nvPr>
            <p:ph type="dt" sz="half" idx="10"/>
          </p:nvPr>
        </p:nvSpPr>
        <p:spPr/>
        <p:txBody>
          <a:bodyPr/>
          <a:lstStyle/>
          <a:p>
            <a:fld id="{C0883387-8E05-44FA-9CA1-FD7515E30DCB}" type="datetime1">
              <a:rPr lang="en-IN" smtClean="0"/>
              <a:t>09-02-2026</a:t>
            </a:fld>
            <a:endParaRPr lang="en-IN"/>
          </a:p>
        </p:txBody>
      </p:sp>
      <p:sp>
        <p:nvSpPr>
          <p:cNvPr id="5" name="Footer Placeholder 4">
            <a:extLst>
              <a:ext uri="{FF2B5EF4-FFF2-40B4-BE49-F238E27FC236}">
                <a16:creationId xmlns:a16="http://schemas.microsoft.com/office/drawing/2014/main" id="{11985DA2-5324-4E05-FCBE-0E015FC4760F}"/>
              </a:ext>
            </a:extLst>
          </p:cNvPr>
          <p:cNvSpPr>
            <a:spLocks noGrp="1"/>
          </p:cNvSpPr>
          <p:nvPr>
            <p:ph type="ftr" sz="quarter" idx="11"/>
          </p:nvPr>
        </p:nvSpPr>
        <p:spPr/>
        <p:txBody>
          <a:bodyPr/>
          <a:lstStyle/>
          <a:p>
            <a:r>
              <a:rPr lang="en-IN"/>
              <a:t>Review 2.2</a:t>
            </a:r>
          </a:p>
        </p:txBody>
      </p:sp>
      <p:sp>
        <p:nvSpPr>
          <p:cNvPr id="6" name="Slide Number Placeholder 5">
            <a:extLst>
              <a:ext uri="{FF2B5EF4-FFF2-40B4-BE49-F238E27FC236}">
                <a16:creationId xmlns:a16="http://schemas.microsoft.com/office/drawing/2014/main" id="{1840854F-BE60-966E-6BE5-6528822EDD73}"/>
              </a:ext>
            </a:extLst>
          </p:cNvPr>
          <p:cNvSpPr>
            <a:spLocks noGrp="1"/>
          </p:cNvSpPr>
          <p:nvPr>
            <p:ph type="sldNum" sz="quarter" idx="12"/>
          </p:nvPr>
        </p:nvSpPr>
        <p:spPr/>
        <p:txBody>
          <a:bodyPr/>
          <a:lstStyle/>
          <a:p>
            <a:fld id="{1CCCFFBF-4DCD-46DE-85E1-69841FB49368}" type="slidenum">
              <a:rPr lang="en-IN" smtClean="0"/>
              <a:t>12</a:t>
            </a:fld>
            <a:endParaRPr lang="en-IN"/>
          </a:p>
        </p:txBody>
      </p:sp>
      <p:pic>
        <p:nvPicPr>
          <p:cNvPr id="8" name="Picture 7" descr="A pink and black logo&#10;&#10;AI-generated content may be incorrect.">
            <a:extLst>
              <a:ext uri="{FF2B5EF4-FFF2-40B4-BE49-F238E27FC236}">
                <a16:creationId xmlns:a16="http://schemas.microsoft.com/office/drawing/2014/main" id="{4DA3811D-6E64-2F13-535C-9B6FB695948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92871" y="-31376"/>
            <a:ext cx="1999129" cy="591742"/>
          </a:xfrm>
          <a:prstGeom prst="rect">
            <a:avLst/>
          </a:prstGeom>
        </p:spPr>
      </p:pic>
      <p:pic>
        <p:nvPicPr>
          <p:cNvPr id="7" name="Picture 6" descr="A graph of a function&#10;&#10;AI-generated content may be incorrect.">
            <a:extLst>
              <a:ext uri="{FF2B5EF4-FFF2-40B4-BE49-F238E27FC236}">
                <a16:creationId xmlns:a16="http://schemas.microsoft.com/office/drawing/2014/main" id="{B9DBB18E-9225-0250-FE72-2EF230DBC154}"/>
              </a:ext>
            </a:extLst>
          </p:cNvPr>
          <p:cNvPicPr>
            <a:picLocks noChangeAspect="1"/>
          </p:cNvPicPr>
          <p:nvPr/>
        </p:nvPicPr>
        <p:blipFill>
          <a:blip r:embed="rId3"/>
          <a:stretch>
            <a:fillRect/>
          </a:stretch>
        </p:blipFill>
        <p:spPr>
          <a:xfrm>
            <a:off x="344466" y="1399249"/>
            <a:ext cx="6179508" cy="3224433"/>
          </a:xfrm>
          <a:prstGeom prst="rect">
            <a:avLst/>
          </a:prstGeom>
        </p:spPr>
      </p:pic>
      <p:sp>
        <p:nvSpPr>
          <p:cNvPr id="11" name="TextBox 10">
            <a:extLst>
              <a:ext uri="{FF2B5EF4-FFF2-40B4-BE49-F238E27FC236}">
                <a16:creationId xmlns:a16="http://schemas.microsoft.com/office/drawing/2014/main" id="{C9C16F32-9E62-B906-75BE-D7AA61A815F3}"/>
              </a:ext>
            </a:extLst>
          </p:cNvPr>
          <p:cNvSpPr txBox="1"/>
          <p:nvPr/>
        </p:nvSpPr>
        <p:spPr>
          <a:xfrm>
            <a:off x="6734735" y="4628029"/>
            <a:ext cx="4818530"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a:latin typeface="Times New Roman"/>
              </a:rPr>
              <a:t>Figure 7.</a:t>
            </a:r>
            <a:r>
              <a:rPr lang="en-GB">
                <a:latin typeface="Times New Roman"/>
              </a:rPr>
              <a:t>1×2 Patch antenna Array</a:t>
            </a:r>
            <a:r>
              <a:rPr lang="en-GB" sz="1600">
                <a:latin typeface="Times New Roman"/>
              </a:rPr>
              <a:t> </a:t>
            </a:r>
            <a:r>
              <a:rPr lang="en-IN">
                <a:latin typeface="Times New Roman"/>
              </a:rPr>
              <a:t>with centre to centre spacing of </a:t>
            </a:r>
            <a:r>
              <a:rPr lang="el-GR">
                <a:latin typeface="Times New Roman"/>
              </a:rPr>
              <a:t>0.5</a:t>
            </a:r>
            <a:r>
              <a:rPr lang="el-GR" b="1">
                <a:latin typeface="Times New Roman"/>
              </a:rPr>
              <a:t> </a:t>
            </a:r>
            <a:r>
              <a:rPr lang="el-GR">
                <a:latin typeface="Times New Roman"/>
              </a:rPr>
              <a:t>λ</a:t>
            </a:r>
            <a:r>
              <a:rPr lang="el-GR" baseline="-25000">
                <a:latin typeface="Times New Roman"/>
              </a:rPr>
              <a:t>0</a:t>
            </a:r>
            <a:r>
              <a:rPr lang="en-IN">
                <a:latin typeface="Times New Roman"/>
              </a:rPr>
              <a:t>.</a:t>
            </a:r>
            <a:endParaRPr lang="en-GB">
              <a:latin typeface="Times New Roman"/>
              <a:cs typeface="Times New Roman"/>
            </a:endParaRPr>
          </a:p>
          <a:p>
            <a:endParaRPr lang="en-GB">
              <a:ea typeface="Calibri"/>
              <a:cs typeface="Calibri"/>
            </a:endParaRPr>
          </a:p>
        </p:txBody>
      </p:sp>
      <p:pic>
        <p:nvPicPr>
          <p:cNvPr id="9" name="Picture 8" descr="A diagram of a diagram&#10;&#10;AI-generated content may be incorrect.">
            <a:extLst>
              <a:ext uri="{FF2B5EF4-FFF2-40B4-BE49-F238E27FC236}">
                <a16:creationId xmlns:a16="http://schemas.microsoft.com/office/drawing/2014/main" id="{72813817-BB3F-06F0-8733-2BB8D4501457}"/>
              </a:ext>
            </a:extLst>
          </p:cNvPr>
          <p:cNvPicPr>
            <a:picLocks noChangeAspect="1"/>
          </p:cNvPicPr>
          <p:nvPr/>
        </p:nvPicPr>
        <p:blipFill>
          <a:blip r:embed="rId4"/>
          <a:stretch>
            <a:fillRect/>
          </a:stretch>
        </p:blipFill>
        <p:spPr>
          <a:xfrm>
            <a:off x="6736915" y="1170204"/>
            <a:ext cx="4313130" cy="3452880"/>
          </a:xfrm>
          <a:prstGeom prst="rect">
            <a:avLst/>
          </a:prstGeom>
        </p:spPr>
      </p:pic>
    </p:spTree>
    <p:extLst>
      <p:ext uri="{BB962C8B-B14F-4D97-AF65-F5344CB8AC3E}">
        <p14:creationId xmlns:p14="http://schemas.microsoft.com/office/powerpoint/2010/main" val="21950536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AE6BA7-4D16-D6D3-B107-920D71285B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9C16C4-9748-0473-7FE4-DC9DF7A0261A}"/>
              </a:ext>
            </a:extLst>
          </p:cNvPr>
          <p:cNvSpPr>
            <a:spLocks noGrp="1"/>
          </p:cNvSpPr>
          <p:nvPr>
            <p:ph type="title"/>
          </p:nvPr>
        </p:nvSpPr>
        <p:spPr>
          <a:xfrm>
            <a:off x="24008" y="104166"/>
            <a:ext cx="1622122" cy="615755"/>
          </a:xfrm>
        </p:spPr>
        <p:txBody>
          <a:bodyPr>
            <a:normAutofit/>
          </a:bodyPr>
          <a:lstStyle/>
          <a:p>
            <a:r>
              <a:rPr lang="en-IN" sz="3200" b="1" u="sng">
                <a:latin typeface="Times New Roman"/>
                <a:cs typeface="Times New Roman"/>
              </a:rPr>
              <a:t>Results</a:t>
            </a:r>
            <a:r>
              <a:rPr lang="en-IN" sz="3200" b="1">
                <a:latin typeface="Times New Roman"/>
                <a:cs typeface="Times New Roman"/>
              </a:rPr>
              <a:t>:</a:t>
            </a:r>
          </a:p>
        </p:txBody>
      </p:sp>
      <p:sp>
        <p:nvSpPr>
          <p:cNvPr id="3" name="Content Placeholder 2">
            <a:extLst>
              <a:ext uri="{FF2B5EF4-FFF2-40B4-BE49-F238E27FC236}">
                <a16:creationId xmlns:a16="http://schemas.microsoft.com/office/drawing/2014/main" id="{58B166B3-F0DA-F52A-9241-72967F5AC830}"/>
              </a:ext>
            </a:extLst>
          </p:cNvPr>
          <p:cNvSpPr>
            <a:spLocks noGrp="1"/>
          </p:cNvSpPr>
          <p:nvPr>
            <p:ph idx="1"/>
          </p:nvPr>
        </p:nvSpPr>
        <p:spPr>
          <a:xfrm>
            <a:off x="24008" y="875735"/>
            <a:ext cx="10515600" cy="4351338"/>
          </a:xfrm>
        </p:spPr>
        <p:txBody>
          <a:bodyPr vert="horz" lIns="91440" tIns="45720" rIns="91440" bIns="45720" rtlCol="0" anchor="t">
            <a:normAutofit fontScale="55000" lnSpcReduction="20000"/>
          </a:bodyPr>
          <a:lstStyle/>
          <a:p>
            <a:r>
              <a:rPr lang="en-IN" sz="3300">
                <a:latin typeface="Times New Roman"/>
                <a:ea typeface="Calibri"/>
                <a:cs typeface="Calibri"/>
              </a:rPr>
              <a:t>Analysis of the S-parameter plot for </a:t>
            </a:r>
            <a:r>
              <a:rPr lang="en-GB" sz="2900">
                <a:latin typeface="Times New Roman"/>
                <a:ea typeface="Calibri"/>
                <a:cs typeface="Times New Roman"/>
              </a:rPr>
              <a:t>1×2 Patch antenna Array without a Decoupling Structure with </a:t>
            </a:r>
            <a:r>
              <a:rPr lang="en-IN" sz="2900">
                <a:latin typeface="Times New Roman"/>
                <a:ea typeface="Calibri"/>
                <a:cs typeface="Calibri"/>
              </a:rPr>
              <a:t>HFSS  with centre to centre spacing as </a:t>
            </a:r>
            <a:r>
              <a:rPr lang="el-GR" sz="2900">
                <a:latin typeface="Times New Roman"/>
                <a:ea typeface="Calibri"/>
                <a:cs typeface="Times New Roman"/>
              </a:rPr>
              <a:t>0.5</a:t>
            </a:r>
            <a:r>
              <a:rPr lang="el-GR" sz="2900" b="1">
                <a:latin typeface="Times New Roman"/>
                <a:ea typeface="Calibri"/>
                <a:cs typeface="Times New Roman"/>
              </a:rPr>
              <a:t> </a:t>
            </a:r>
            <a:r>
              <a:rPr lang="el-GR" sz="2900">
                <a:latin typeface="Times New Roman"/>
                <a:ea typeface="Calibri"/>
                <a:cs typeface="Times New Roman"/>
              </a:rPr>
              <a:t>λ</a:t>
            </a:r>
            <a:r>
              <a:rPr lang="el-GR" sz="2500" baseline="-25000">
                <a:latin typeface="Times New Roman"/>
                <a:ea typeface="Calibri"/>
                <a:cs typeface="Times New Roman"/>
              </a:rPr>
              <a:t>0</a:t>
            </a:r>
            <a:r>
              <a:rPr lang="en-IN" sz="2900">
                <a:latin typeface="Times New Roman"/>
                <a:ea typeface="Calibri"/>
                <a:cs typeface="Calibri"/>
              </a:rPr>
              <a:t>.</a:t>
            </a:r>
            <a:endParaRPr lang="en-IN" sz="2900">
              <a:ea typeface="Calibri" panose="020F0502020204030204"/>
              <a:cs typeface="Calibri" panose="020F0502020204030204"/>
            </a:endParaRPr>
          </a:p>
          <a:p>
            <a:pPr marL="0" indent="0">
              <a:buNone/>
            </a:pPr>
            <a:endParaRPr lang="en-IN" sz="2400">
              <a:latin typeface="Times New Roman"/>
              <a:ea typeface="Calibri"/>
              <a:cs typeface="Calibri"/>
            </a:endParaRPr>
          </a:p>
          <a:p>
            <a:endParaRPr lang="en-IN" sz="2400">
              <a:latin typeface="Times New Roman"/>
              <a:ea typeface="Calibri"/>
              <a:cs typeface="Calibri"/>
            </a:endParaRPr>
          </a:p>
          <a:p>
            <a:endParaRPr lang="en-IN" sz="2400">
              <a:latin typeface="Times New Roman"/>
              <a:ea typeface="Calibri"/>
              <a:cs typeface="Calibri"/>
            </a:endParaRPr>
          </a:p>
          <a:p>
            <a:endParaRPr lang="en-IN" sz="2400">
              <a:latin typeface="Times New Roman"/>
              <a:ea typeface="Calibri"/>
              <a:cs typeface="Calibri"/>
            </a:endParaRPr>
          </a:p>
          <a:p>
            <a:endParaRPr lang="en-IN" sz="2400">
              <a:latin typeface="Times New Roman"/>
              <a:ea typeface="Calibri"/>
              <a:cs typeface="Calibri"/>
            </a:endParaRPr>
          </a:p>
          <a:p>
            <a:endParaRPr lang="en-IN" sz="2400">
              <a:latin typeface="Times New Roman"/>
              <a:ea typeface="Calibri"/>
              <a:cs typeface="Calibri"/>
            </a:endParaRPr>
          </a:p>
          <a:p>
            <a:endParaRPr lang="en-IN" sz="2400">
              <a:latin typeface="Times New Roman"/>
              <a:ea typeface="Calibri"/>
              <a:cs typeface="Calibri"/>
            </a:endParaRPr>
          </a:p>
          <a:p>
            <a:endParaRPr lang="en-IN" sz="2400">
              <a:latin typeface="Times New Roman"/>
              <a:ea typeface="Calibri"/>
              <a:cs typeface="Calibri"/>
            </a:endParaRPr>
          </a:p>
          <a:p>
            <a:endParaRPr lang="en-IN" sz="2400">
              <a:latin typeface="Times New Roman"/>
              <a:ea typeface="Calibri"/>
              <a:cs typeface="Calibri"/>
            </a:endParaRPr>
          </a:p>
          <a:p>
            <a:pPr marL="0" indent="0">
              <a:buNone/>
            </a:pPr>
            <a:endParaRPr lang="en-IN" sz="2400">
              <a:latin typeface="Times New Roman"/>
              <a:ea typeface="Calibri"/>
              <a:cs typeface="Calibri"/>
            </a:endParaRPr>
          </a:p>
          <a:p>
            <a:pPr marL="0" indent="0">
              <a:buNone/>
            </a:pPr>
            <a:endParaRPr lang="en-IN" sz="2400">
              <a:latin typeface="Times New Roman"/>
              <a:ea typeface="Calibri"/>
              <a:cs typeface="Calibri"/>
            </a:endParaRPr>
          </a:p>
          <a:p>
            <a:pPr marL="0" indent="0">
              <a:buNone/>
            </a:pPr>
            <a:r>
              <a:rPr lang="en-IN" sz="2400">
                <a:latin typeface="Times New Roman"/>
                <a:ea typeface="Calibri"/>
                <a:cs typeface="Calibri"/>
              </a:rPr>
              <a:t>   </a:t>
            </a:r>
            <a:endParaRPr lang="en-IN" sz="2900">
              <a:latin typeface="Times New Roman"/>
              <a:ea typeface="Calibri"/>
              <a:cs typeface="Calibri"/>
            </a:endParaRPr>
          </a:p>
          <a:p>
            <a:pPr marL="0" indent="0">
              <a:buNone/>
            </a:pPr>
            <a:r>
              <a:rPr lang="en-IN" sz="2300">
                <a:latin typeface="Times New Roman"/>
                <a:ea typeface="Calibri"/>
                <a:cs typeface="Calibri"/>
              </a:rPr>
              <a:t>    </a:t>
            </a:r>
          </a:p>
          <a:p>
            <a:pPr marL="0" indent="0">
              <a:buNone/>
            </a:pPr>
            <a:r>
              <a:rPr lang="en-IN" sz="2300">
                <a:latin typeface="Times New Roman"/>
                <a:ea typeface="Calibri"/>
                <a:cs typeface="Calibri"/>
              </a:rPr>
              <a:t>     </a:t>
            </a:r>
            <a:r>
              <a:rPr lang="en-IN" sz="2900">
                <a:latin typeface="Times New Roman"/>
                <a:ea typeface="Calibri"/>
                <a:cs typeface="Calibri"/>
              </a:rPr>
              <a:t>Figure 8.  Simulated S</a:t>
            </a:r>
            <a:r>
              <a:rPr lang="en-IN" sz="2900" baseline="-25000">
                <a:latin typeface="Times New Roman"/>
                <a:ea typeface="Calibri"/>
                <a:cs typeface="Calibri"/>
              </a:rPr>
              <a:t>21</a:t>
            </a:r>
            <a:r>
              <a:rPr lang="en-IN" sz="2900">
                <a:latin typeface="Times New Roman"/>
                <a:ea typeface="Calibri"/>
                <a:cs typeface="Calibri"/>
              </a:rPr>
              <a:t> of  </a:t>
            </a:r>
            <a:r>
              <a:rPr lang="en-GB" sz="2900">
                <a:latin typeface="Times New Roman"/>
                <a:ea typeface="Calibri"/>
                <a:cs typeface="Times New Roman"/>
              </a:rPr>
              <a:t>1×2 Patch antenna Array </a:t>
            </a:r>
            <a:endParaRPr lang="en-IN" sz="2900">
              <a:latin typeface="Times New Roman"/>
              <a:ea typeface="Calibri"/>
              <a:cs typeface="Calibri"/>
            </a:endParaRPr>
          </a:p>
          <a:p>
            <a:pPr marL="0" indent="0">
              <a:buNone/>
            </a:pPr>
            <a:endParaRPr lang="en-IN" sz="2400">
              <a:latin typeface="Times New Roman"/>
              <a:ea typeface="Calibri"/>
              <a:cs typeface="Calibri"/>
            </a:endParaRPr>
          </a:p>
          <a:p>
            <a:pPr marL="0" indent="0">
              <a:buNone/>
            </a:pPr>
            <a:endParaRPr lang="en-IN" sz="2400">
              <a:latin typeface="Times New Roman"/>
              <a:ea typeface="Calibri"/>
              <a:cs typeface="Calibri"/>
            </a:endParaRPr>
          </a:p>
          <a:p>
            <a:endParaRPr lang="en-IN">
              <a:latin typeface="Times New Roman"/>
              <a:ea typeface="Calibri"/>
              <a:cs typeface="Calibri"/>
            </a:endParaRPr>
          </a:p>
          <a:p>
            <a:endParaRPr lang="en-IN">
              <a:latin typeface="Times New Roman"/>
              <a:ea typeface="Calibri"/>
              <a:cs typeface="Calibri"/>
            </a:endParaRPr>
          </a:p>
          <a:p>
            <a:pPr marL="0" indent="0">
              <a:buNone/>
            </a:pPr>
            <a:endParaRPr lang="en-IN">
              <a:latin typeface="Times New Roman"/>
              <a:ea typeface="Calibri"/>
              <a:cs typeface="Calibri"/>
            </a:endParaRPr>
          </a:p>
          <a:p>
            <a:endParaRPr lang="en-IN">
              <a:latin typeface="Times New Roman"/>
              <a:ea typeface="Calibri"/>
              <a:cs typeface="Calibri"/>
            </a:endParaRPr>
          </a:p>
          <a:p>
            <a:endParaRPr lang="en-IN">
              <a:latin typeface="Times New Roman"/>
              <a:ea typeface="Calibri"/>
              <a:cs typeface="Calibri"/>
            </a:endParaRPr>
          </a:p>
          <a:p>
            <a:endParaRPr lang="en-IN">
              <a:latin typeface="Times New Roman"/>
              <a:ea typeface="Calibri"/>
              <a:cs typeface="Calibri"/>
            </a:endParaRPr>
          </a:p>
          <a:p>
            <a:endParaRPr lang="en-IN">
              <a:latin typeface="Times New Roman"/>
              <a:ea typeface="Calibri"/>
              <a:cs typeface="Calibri"/>
            </a:endParaRPr>
          </a:p>
          <a:p>
            <a:pPr marL="0" indent="0">
              <a:buNone/>
            </a:pPr>
            <a:endParaRPr lang="en-IN" sz="2000">
              <a:latin typeface="Times New Roman"/>
              <a:ea typeface="Calibri"/>
              <a:cs typeface="Calibri"/>
            </a:endParaRPr>
          </a:p>
        </p:txBody>
      </p:sp>
      <p:sp>
        <p:nvSpPr>
          <p:cNvPr id="4" name="Date Placeholder 3">
            <a:extLst>
              <a:ext uri="{FF2B5EF4-FFF2-40B4-BE49-F238E27FC236}">
                <a16:creationId xmlns:a16="http://schemas.microsoft.com/office/drawing/2014/main" id="{7FDCD7C9-E9EF-4E1B-702B-3DB4B1DDC170}"/>
              </a:ext>
            </a:extLst>
          </p:cNvPr>
          <p:cNvSpPr>
            <a:spLocks noGrp="1"/>
          </p:cNvSpPr>
          <p:nvPr>
            <p:ph type="dt" sz="half" idx="10"/>
          </p:nvPr>
        </p:nvSpPr>
        <p:spPr/>
        <p:txBody>
          <a:bodyPr/>
          <a:lstStyle/>
          <a:p>
            <a:fld id="{C0883387-8E05-44FA-9CA1-FD7515E30DCB}" type="datetime1">
              <a:rPr lang="en-IN" smtClean="0"/>
              <a:t>09-02-2026</a:t>
            </a:fld>
            <a:endParaRPr lang="en-IN"/>
          </a:p>
        </p:txBody>
      </p:sp>
      <p:sp>
        <p:nvSpPr>
          <p:cNvPr id="5" name="Footer Placeholder 4">
            <a:extLst>
              <a:ext uri="{FF2B5EF4-FFF2-40B4-BE49-F238E27FC236}">
                <a16:creationId xmlns:a16="http://schemas.microsoft.com/office/drawing/2014/main" id="{A9D18984-5EAD-509F-A2EE-D2B00CD3E8E5}"/>
              </a:ext>
            </a:extLst>
          </p:cNvPr>
          <p:cNvSpPr>
            <a:spLocks noGrp="1"/>
          </p:cNvSpPr>
          <p:nvPr>
            <p:ph type="ftr" sz="quarter" idx="11"/>
          </p:nvPr>
        </p:nvSpPr>
        <p:spPr/>
        <p:txBody>
          <a:bodyPr/>
          <a:lstStyle/>
          <a:p>
            <a:r>
              <a:rPr lang="en-IN"/>
              <a:t>Review 2.2</a:t>
            </a:r>
          </a:p>
        </p:txBody>
      </p:sp>
      <p:sp>
        <p:nvSpPr>
          <p:cNvPr id="6" name="Slide Number Placeholder 5">
            <a:extLst>
              <a:ext uri="{FF2B5EF4-FFF2-40B4-BE49-F238E27FC236}">
                <a16:creationId xmlns:a16="http://schemas.microsoft.com/office/drawing/2014/main" id="{49E3A6BA-412C-8F47-0DB5-A02A0CAA9A72}"/>
              </a:ext>
            </a:extLst>
          </p:cNvPr>
          <p:cNvSpPr>
            <a:spLocks noGrp="1"/>
          </p:cNvSpPr>
          <p:nvPr>
            <p:ph type="sldNum" sz="quarter" idx="12"/>
          </p:nvPr>
        </p:nvSpPr>
        <p:spPr/>
        <p:txBody>
          <a:bodyPr/>
          <a:lstStyle/>
          <a:p>
            <a:fld id="{1CCCFFBF-4DCD-46DE-85E1-69841FB49368}" type="slidenum">
              <a:rPr lang="en-IN" smtClean="0"/>
              <a:t>13</a:t>
            </a:fld>
            <a:endParaRPr lang="en-IN"/>
          </a:p>
        </p:txBody>
      </p:sp>
      <p:pic>
        <p:nvPicPr>
          <p:cNvPr id="8" name="Picture 7" descr="A pink and black logo&#10;&#10;AI-generated content may be incorrect.">
            <a:extLst>
              <a:ext uri="{FF2B5EF4-FFF2-40B4-BE49-F238E27FC236}">
                <a16:creationId xmlns:a16="http://schemas.microsoft.com/office/drawing/2014/main" id="{77E62284-B734-3245-77EB-C07DC4DA88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92871" y="-31376"/>
            <a:ext cx="1999129" cy="591742"/>
          </a:xfrm>
          <a:prstGeom prst="rect">
            <a:avLst/>
          </a:prstGeom>
        </p:spPr>
      </p:pic>
      <p:pic>
        <p:nvPicPr>
          <p:cNvPr id="9" name="Picture 8" descr="A graph with blue lines and yellow text&#10;&#10;AI-generated content may be incorrect.">
            <a:extLst>
              <a:ext uri="{FF2B5EF4-FFF2-40B4-BE49-F238E27FC236}">
                <a16:creationId xmlns:a16="http://schemas.microsoft.com/office/drawing/2014/main" id="{142DACD5-F17B-A199-D082-61973307F778}"/>
              </a:ext>
            </a:extLst>
          </p:cNvPr>
          <p:cNvPicPr>
            <a:picLocks noChangeAspect="1"/>
          </p:cNvPicPr>
          <p:nvPr/>
        </p:nvPicPr>
        <p:blipFill>
          <a:blip r:embed="rId3"/>
          <a:stretch>
            <a:fillRect/>
          </a:stretch>
        </p:blipFill>
        <p:spPr>
          <a:xfrm>
            <a:off x="302712" y="1464540"/>
            <a:ext cx="5480140" cy="3110123"/>
          </a:xfrm>
          <a:prstGeom prst="rect">
            <a:avLst/>
          </a:prstGeom>
        </p:spPr>
      </p:pic>
      <p:graphicFrame>
        <p:nvGraphicFramePr>
          <p:cNvPr id="10" name="Table 9">
            <a:extLst>
              <a:ext uri="{FF2B5EF4-FFF2-40B4-BE49-F238E27FC236}">
                <a16:creationId xmlns:a16="http://schemas.microsoft.com/office/drawing/2014/main" id="{CA4B4EEC-FB35-5EA3-D5D7-4BF1851CFF12}"/>
              </a:ext>
            </a:extLst>
          </p:cNvPr>
          <p:cNvGraphicFramePr>
            <a:graphicFrameLocks noGrp="1"/>
          </p:cNvGraphicFramePr>
          <p:nvPr>
            <p:extLst>
              <p:ext uri="{D42A27DB-BD31-4B8C-83A1-F6EECF244321}">
                <p14:modId xmlns:p14="http://schemas.microsoft.com/office/powerpoint/2010/main" val="2883486573"/>
              </p:ext>
            </p:extLst>
          </p:nvPr>
        </p:nvGraphicFramePr>
        <p:xfrm>
          <a:off x="6208058" y="1467970"/>
          <a:ext cx="5542022" cy="1645920"/>
        </p:xfrm>
        <a:graphic>
          <a:graphicData uri="http://schemas.openxmlformats.org/drawingml/2006/table">
            <a:tbl>
              <a:tblPr firstRow="1" firstCol="1" bandRow="1">
                <a:tableStyleId>{5C22544A-7EE6-4342-B048-85BDC9FD1C3A}</a:tableStyleId>
              </a:tblPr>
              <a:tblGrid>
                <a:gridCol w="1860698">
                  <a:extLst>
                    <a:ext uri="{9D8B030D-6E8A-4147-A177-3AD203B41FA5}">
                      <a16:colId xmlns:a16="http://schemas.microsoft.com/office/drawing/2014/main" val="3512262732"/>
                    </a:ext>
                  </a:extLst>
                </a:gridCol>
                <a:gridCol w="1833773">
                  <a:extLst>
                    <a:ext uri="{9D8B030D-6E8A-4147-A177-3AD203B41FA5}">
                      <a16:colId xmlns:a16="http://schemas.microsoft.com/office/drawing/2014/main" val="1301493863"/>
                    </a:ext>
                  </a:extLst>
                </a:gridCol>
                <a:gridCol w="1847551">
                  <a:extLst>
                    <a:ext uri="{9D8B030D-6E8A-4147-A177-3AD203B41FA5}">
                      <a16:colId xmlns:a16="http://schemas.microsoft.com/office/drawing/2014/main" val="1464065069"/>
                    </a:ext>
                  </a:extLst>
                </a:gridCol>
              </a:tblGrid>
              <a:tr h="350220">
                <a:tc>
                  <a:txBody>
                    <a:bodyPr/>
                    <a:lstStyle/>
                    <a:p>
                      <a:pPr algn="l">
                        <a:buNone/>
                      </a:pPr>
                      <a:r>
                        <a:rPr lang="en-US" b="1">
                          <a:solidFill>
                            <a:schemeClr val="tx1"/>
                          </a:solidFill>
                          <a:effectLst/>
                          <a:latin typeface="Times New Roman"/>
                        </a:rPr>
                        <a:t>           Variable</a:t>
                      </a:r>
                      <a:endParaRPr lang="en-US">
                        <a:solidFill>
                          <a:schemeClr val="tx1"/>
                        </a:solidFill>
                        <a:effectLst/>
                        <a:latin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buNone/>
                      </a:pPr>
                      <a:r>
                        <a:rPr lang="en-US" b="1">
                          <a:solidFill>
                            <a:schemeClr val="tx1"/>
                          </a:solidFill>
                          <a:effectLst/>
                          <a:latin typeface="Times New Roman"/>
                        </a:rPr>
                        <a:t>             Value</a:t>
                      </a:r>
                      <a:endParaRPr lang="en-US">
                        <a:solidFill>
                          <a:schemeClr val="tx1"/>
                        </a:solidFill>
                        <a:effectLst/>
                        <a:latin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buNone/>
                      </a:pPr>
                      <a:r>
                        <a:rPr lang="en-US">
                          <a:solidFill>
                            <a:schemeClr val="tx1"/>
                          </a:solidFill>
                          <a:effectLst/>
                          <a:latin typeface="Times New Roman"/>
                        </a:rPr>
                        <a:t> </a:t>
                      </a:r>
                      <a:r>
                        <a:rPr lang="en-US" b="1">
                          <a:solidFill>
                            <a:schemeClr val="tx1"/>
                          </a:solidFill>
                          <a:effectLst/>
                          <a:latin typeface="Times New Roman"/>
                        </a:rPr>
                        <a:t>Value In terms of </a:t>
                      </a:r>
                      <a:r>
                        <a:rPr lang="el-GR" b="1">
                          <a:solidFill>
                            <a:schemeClr val="tx1"/>
                          </a:solidFill>
                          <a:effectLst/>
                          <a:latin typeface="Times New Roman"/>
                        </a:rPr>
                        <a:t>λ</a:t>
                      </a:r>
                      <a:r>
                        <a:rPr lang="el-GR" b="1" baseline="-25000">
                          <a:solidFill>
                            <a:schemeClr val="tx1"/>
                          </a:solidFill>
                          <a:effectLst/>
                          <a:latin typeface="Times New Roman"/>
                        </a:rPr>
                        <a:t>0</a:t>
                      </a:r>
                      <a:endParaRPr lang="el-GR">
                        <a:solidFill>
                          <a:schemeClr val="tx1"/>
                        </a:solidFill>
                        <a:effectLst/>
                        <a:latin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16525318"/>
                  </a:ext>
                </a:extLst>
              </a:tr>
              <a:tr h="350220">
                <a:tc>
                  <a:txBody>
                    <a:bodyPr/>
                    <a:lstStyle/>
                    <a:p>
                      <a:pPr algn="l">
                        <a:buNone/>
                      </a:pPr>
                      <a:r>
                        <a:rPr lang="en-US">
                          <a:solidFill>
                            <a:schemeClr val="tx1"/>
                          </a:solidFill>
                          <a:effectLst/>
                          <a:latin typeface="Times New Roman"/>
                        </a:rPr>
                        <a:t>           D(edge to edge)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buNone/>
                      </a:pPr>
                      <a:r>
                        <a:rPr lang="en-US">
                          <a:solidFill>
                            <a:schemeClr val="tx1"/>
                          </a:solidFill>
                          <a:effectLst/>
                          <a:latin typeface="Times New Roman"/>
                        </a:rPr>
                        <a:t>             17.5 mm</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buNone/>
                      </a:pPr>
                      <a:r>
                        <a:rPr lang="el-GR">
                          <a:solidFill>
                            <a:schemeClr val="tx1"/>
                          </a:solidFill>
                          <a:effectLst/>
                          <a:latin typeface="Times New Roman"/>
                        </a:rPr>
                        <a:t>                 0.14</a:t>
                      </a:r>
                      <a:r>
                        <a:rPr lang="el-GR" b="1">
                          <a:solidFill>
                            <a:schemeClr val="tx1"/>
                          </a:solidFill>
                          <a:effectLst/>
                          <a:latin typeface="Times New Roman"/>
                        </a:rPr>
                        <a:t> </a:t>
                      </a:r>
                      <a:r>
                        <a:rPr lang="el-GR">
                          <a:solidFill>
                            <a:schemeClr val="tx1"/>
                          </a:solidFill>
                          <a:effectLst/>
                          <a:latin typeface="Times New Roman"/>
                        </a:rPr>
                        <a:t>λ</a:t>
                      </a:r>
                      <a:r>
                        <a:rPr lang="el-GR" baseline="-25000">
                          <a:solidFill>
                            <a:schemeClr val="tx1"/>
                          </a:solidFill>
                          <a:effectLst/>
                          <a:latin typeface="Times New Roman"/>
                        </a:rPr>
                        <a:t>0</a:t>
                      </a:r>
                      <a:endParaRPr lang="el-GR">
                        <a:solidFill>
                          <a:schemeClr val="tx1"/>
                        </a:solidFill>
                        <a:effectLst/>
                        <a:latin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96093700"/>
                  </a:ext>
                </a:extLst>
              </a:tr>
              <a:tr h="350220">
                <a:tc>
                  <a:txBody>
                    <a:bodyPr/>
                    <a:lstStyle/>
                    <a:p>
                      <a:pPr algn="l">
                        <a:buNone/>
                      </a:pPr>
                      <a:r>
                        <a:rPr lang="en-US">
                          <a:solidFill>
                            <a:schemeClr val="tx1"/>
                          </a:solidFill>
                          <a:effectLst/>
                          <a:latin typeface="Times New Roman"/>
                        </a:rPr>
                        <a:t>           S(</a:t>
                      </a:r>
                      <a:r>
                        <a:rPr lang="en-US" err="1">
                          <a:solidFill>
                            <a:schemeClr val="tx1"/>
                          </a:solidFill>
                          <a:effectLst/>
                          <a:latin typeface="Times New Roman"/>
                        </a:rPr>
                        <a:t>centre</a:t>
                      </a:r>
                      <a:r>
                        <a:rPr lang="en-US">
                          <a:solidFill>
                            <a:schemeClr val="tx1"/>
                          </a:solidFill>
                          <a:effectLst/>
                          <a:latin typeface="Times New Roman"/>
                        </a:rPr>
                        <a:t> to </a:t>
                      </a:r>
                      <a:r>
                        <a:rPr lang="en-US" err="1">
                          <a:solidFill>
                            <a:schemeClr val="tx1"/>
                          </a:solidFill>
                          <a:effectLst/>
                          <a:latin typeface="Times New Roman"/>
                        </a:rPr>
                        <a:t>centre</a:t>
                      </a:r>
                      <a:r>
                        <a:rPr lang="en-US">
                          <a:solidFill>
                            <a:schemeClr val="tx1"/>
                          </a:solidFill>
                          <a:effectLst/>
                          <a:latin typeface="Times New Roman"/>
                        </a:rPr>
                        <a:t>)</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buNone/>
                      </a:pPr>
                      <a:r>
                        <a:rPr lang="en-US">
                          <a:solidFill>
                            <a:schemeClr val="tx1"/>
                          </a:solidFill>
                          <a:effectLst/>
                          <a:latin typeface="Times New Roman"/>
                        </a:rPr>
                        <a:t>             62.5 mm</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buNone/>
                      </a:pPr>
                      <a:r>
                        <a:rPr lang="el-GR">
                          <a:solidFill>
                            <a:schemeClr val="tx1"/>
                          </a:solidFill>
                          <a:effectLst/>
                          <a:latin typeface="Times New Roman"/>
                        </a:rPr>
                        <a:t>               0.5</a:t>
                      </a:r>
                      <a:r>
                        <a:rPr lang="el-GR" b="1">
                          <a:solidFill>
                            <a:schemeClr val="tx1"/>
                          </a:solidFill>
                          <a:effectLst/>
                          <a:latin typeface="Times New Roman"/>
                        </a:rPr>
                        <a:t> </a:t>
                      </a:r>
                      <a:r>
                        <a:rPr lang="el-GR">
                          <a:solidFill>
                            <a:schemeClr val="tx1"/>
                          </a:solidFill>
                          <a:effectLst/>
                          <a:latin typeface="Times New Roman"/>
                        </a:rPr>
                        <a:t>λ</a:t>
                      </a:r>
                      <a:r>
                        <a:rPr lang="el-GR" baseline="-25000">
                          <a:solidFill>
                            <a:schemeClr val="tx1"/>
                          </a:solidFill>
                          <a:effectLst/>
                          <a:latin typeface="Times New Roman"/>
                        </a:rPr>
                        <a:t>0</a:t>
                      </a:r>
                      <a:endParaRPr lang="el-GR">
                        <a:solidFill>
                          <a:schemeClr val="tx1"/>
                        </a:solidFill>
                        <a:effectLst/>
                        <a:latin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69524360"/>
                  </a:ext>
                </a:extLst>
              </a:tr>
            </a:tbl>
          </a:graphicData>
        </a:graphic>
      </p:graphicFrame>
      <p:sp>
        <p:nvSpPr>
          <p:cNvPr id="11" name="TextBox 10">
            <a:extLst>
              <a:ext uri="{FF2B5EF4-FFF2-40B4-BE49-F238E27FC236}">
                <a16:creationId xmlns:a16="http://schemas.microsoft.com/office/drawing/2014/main" id="{DD6CCC87-3226-E4DD-67CF-F23CF78FFB40}"/>
              </a:ext>
            </a:extLst>
          </p:cNvPr>
          <p:cNvSpPr txBox="1"/>
          <p:nvPr/>
        </p:nvSpPr>
        <p:spPr>
          <a:xfrm>
            <a:off x="6208059" y="3249706"/>
            <a:ext cx="60960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a:latin typeface="Times New Roman"/>
                <a:cs typeface="Times New Roman"/>
              </a:rPr>
              <a:t>Table 2 : </a:t>
            </a:r>
            <a:r>
              <a:rPr lang="en-US">
                <a:latin typeface="Times New Roman"/>
                <a:cs typeface="Times New Roman"/>
              </a:rPr>
              <a:t>Spacing between the antennas</a:t>
            </a:r>
            <a:endParaRPr lang="en-GB">
              <a:latin typeface="Calibri"/>
              <a:ea typeface="Calibri"/>
              <a:cs typeface="Calibri"/>
            </a:endParaRPr>
          </a:p>
        </p:txBody>
      </p:sp>
    </p:spTree>
    <p:extLst>
      <p:ext uri="{BB962C8B-B14F-4D97-AF65-F5344CB8AC3E}">
        <p14:creationId xmlns:p14="http://schemas.microsoft.com/office/powerpoint/2010/main" val="28834274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B71AA4-9E98-A2EC-DEF8-B43463C691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A73C23-3999-1961-59E9-60AC554313B3}"/>
              </a:ext>
            </a:extLst>
          </p:cNvPr>
          <p:cNvSpPr>
            <a:spLocks noGrp="1"/>
          </p:cNvSpPr>
          <p:nvPr>
            <p:ph type="title"/>
          </p:nvPr>
        </p:nvSpPr>
        <p:spPr>
          <a:xfrm>
            <a:off x="24008" y="104166"/>
            <a:ext cx="1622122" cy="615755"/>
          </a:xfrm>
        </p:spPr>
        <p:txBody>
          <a:bodyPr>
            <a:normAutofit/>
          </a:bodyPr>
          <a:lstStyle/>
          <a:p>
            <a:r>
              <a:rPr lang="en-IN" sz="3200" b="1" u="sng">
                <a:latin typeface="Times New Roman"/>
                <a:cs typeface="Times New Roman"/>
              </a:rPr>
              <a:t>Results</a:t>
            </a:r>
            <a:r>
              <a:rPr lang="en-IN" sz="3200" b="1">
                <a:latin typeface="Times New Roman"/>
                <a:cs typeface="Times New Roman"/>
              </a:rPr>
              <a:t>:</a:t>
            </a:r>
          </a:p>
        </p:txBody>
      </p:sp>
      <p:sp>
        <p:nvSpPr>
          <p:cNvPr id="3" name="Content Placeholder 2">
            <a:extLst>
              <a:ext uri="{FF2B5EF4-FFF2-40B4-BE49-F238E27FC236}">
                <a16:creationId xmlns:a16="http://schemas.microsoft.com/office/drawing/2014/main" id="{ED792540-F469-90D9-D07F-40A30CB5C563}"/>
              </a:ext>
            </a:extLst>
          </p:cNvPr>
          <p:cNvSpPr>
            <a:spLocks noGrp="1"/>
          </p:cNvSpPr>
          <p:nvPr>
            <p:ph idx="1"/>
          </p:nvPr>
        </p:nvSpPr>
        <p:spPr>
          <a:xfrm>
            <a:off x="24008" y="875735"/>
            <a:ext cx="10515600" cy="4351338"/>
          </a:xfrm>
        </p:spPr>
        <p:txBody>
          <a:bodyPr vert="horz" lIns="91440" tIns="45720" rIns="91440" bIns="45720" rtlCol="0" anchor="t">
            <a:normAutofit fontScale="55000" lnSpcReduction="20000"/>
          </a:bodyPr>
          <a:lstStyle/>
          <a:p>
            <a:r>
              <a:rPr lang="en-IN" sz="3300">
                <a:latin typeface="Times New Roman"/>
                <a:ea typeface="Calibri"/>
                <a:cs typeface="Calibri"/>
              </a:rPr>
              <a:t>Analysis of the S-parameter plot for </a:t>
            </a:r>
            <a:r>
              <a:rPr lang="en-GB" sz="2900">
                <a:latin typeface="Times New Roman"/>
                <a:ea typeface="Calibri"/>
                <a:cs typeface="Times New Roman"/>
              </a:rPr>
              <a:t>1×2 Patch antenna Array without a Decoupling Structure with </a:t>
            </a:r>
            <a:r>
              <a:rPr lang="en-IN" sz="2900">
                <a:latin typeface="Times New Roman"/>
                <a:ea typeface="Calibri"/>
                <a:cs typeface="Calibri"/>
              </a:rPr>
              <a:t>HFSS  with centre to centre spacing as </a:t>
            </a:r>
            <a:r>
              <a:rPr lang="el-GR" sz="2900">
                <a:latin typeface="Times New Roman"/>
                <a:ea typeface="Calibri"/>
                <a:cs typeface="Times New Roman"/>
              </a:rPr>
              <a:t>0.45</a:t>
            </a:r>
            <a:r>
              <a:rPr lang="el-GR" sz="2900" b="1">
                <a:latin typeface="Times New Roman"/>
                <a:ea typeface="Calibri"/>
                <a:cs typeface="Times New Roman"/>
              </a:rPr>
              <a:t> </a:t>
            </a:r>
            <a:r>
              <a:rPr lang="el-GR" sz="2900">
                <a:latin typeface="Times New Roman"/>
                <a:ea typeface="Calibri"/>
                <a:cs typeface="Times New Roman"/>
              </a:rPr>
              <a:t>λ</a:t>
            </a:r>
            <a:r>
              <a:rPr lang="el-GR" sz="2500" baseline="-25000">
                <a:latin typeface="Times New Roman"/>
                <a:ea typeface="Calibri"/>
                <a:cs typeface="Times New Roman"/>
              </a:rPr>
              <a:t>0</a:t>
            </a:r>
            <a:r>
              <a:rPr lang="en-IN" sz="2900">
                <a:latin typeface="Times New Roman"/>
                <a:ea typeface="Calibri"/>
                <a:cs typeface="Calibri"/>
              </a:rPr>
              <a:t>.</a:t>
            </a:r>
            <a:endParaRPr lang="en-IN" sz="2900">
              <a:ea typeface="Calibri" panose="020F0502020204030204"/>
              <a:cs typeface="Calibri" panose="020F0502020204030204"/>
            </a:endParaRPr>
          </a:p>
          <a:p>
            <a:pPr marL="0" indent="0">
              <a:buNone/>
            </a:pPr>
            <a:endParaRPr lang="en-IN" sz="2400">
              <a:latin typeface="Times New Roman"/>
              <a:ea typeface="Calibri"/>
              <a:cs typeface="Calibri"/>
            </a:endParaRPr>
          </a:p>
          <a:p>
            <a:endParaRPr lang="en-IN" sz="2400">
              <a:latin typeface="Times New Roman"/>
              <a:ea typeface="Calibri"/>
              <a:cs typeface="Calibri"/>
            </a:endParaRPr>
          </a:p>
          <a:p>
            <a:endParaRPr lang="en-IN" sz="2400">
              <a:latin typeface="Times New Roman"/>
              <a:ea typeface="Calibri"/>
              <a:cs typeface="Calibri"/>
            </a:endParaRPr>
          </a:p>
          <a:p>
            <a:endParaRPr lang="en-IN" sz="2400">
              <a:latin typeface="Times New Roman"/>
              <a:ea typeface="Calibri"/>
              <a:cs typeface="Calibri"/>
            </a:endParaRPr>
          </a:p>
          <a:p>
            <a:endParaRPr lang="en-IN" sz="2400">
              <a:latin typeface="Times New Roman"/>
              <a:ea typeface="Calibri"/>
              <a:cs typeface="Calibri"/>
            </a:endParaRPr>
          </a:p>
          <a:p>
            <a:endParaRPr lang="en-IN" sz="2400">
              <a:latin typeface="Times New Roman"/>
              <a:ea typeface="Calibri"/>
              <a:cs typeface="Calibri"/>
            </a:endParaRPr>
          </a:p>
          <a:p>
            <a:endParaRPr lang="en-IN" sz="2400">
              <a:latin typeface="Times New Roman"/>
              <a:ea typeface="Calibri"/>
              <a:cs typeface="Calibri"/>
            </a:endParaRPr>
          </a:p>
          <a:p>
            <a:endParaRPr lang="en-IN" sz="2400">
              <a:latin typeface="Times New Roman"/>
              <a:ea typeface="Calibri"/>
              <a:cs typeface="Calibri"/>
            </a:endParaRPr>
          </a:p>
          <a:p>
            <a:endParaRPr lang="en-IN" sz="2400">
              <a:latin typeface="Times New Roman"/>
              <a:ea typeface="Calibri"/>
              <a:cs typeface="Calibri"/>
            </a:endParaRPr>
          </a:p>
          <a:p>
            <a:pPr marL="0" indent="0">
              <a:buNone/>
            </a:pPr>
            <a:endParaRPr lang="en-IN" sz="2400">
              <a:latin typeface="Times New Roman"/>
              <a:ea typeface="Calibri"/>
              <a:cs typeface="Calibri"/>
            </a:endParaRPr>
          </a:p>
          <a:p>
            <a:pPr marL="0" indent="0">
              <a:buNone/>
            </a:pPr>
            <a:endParaRPr lang="en-IN" sz="2400">
              <a:latin typeface="Times New Roman"/>
              <a:ea typeface="Calibri"/>
              <a:cs typeface="Calibri"/>
            </a:endParaRPr>
          </a:p>
          <a:p>
            <a:pPr marL="0" indent="0">
              <a:buNone/>
            </a:pPr>
            <a:r>
              <a:rPr lang="en-IN" sz="2400">
                <a:latin typeface="Times New Roman"/>
                <a:ea typeface="Calibri"/>
                <a:cs typeface="Calibri"/>
              </a:rPr>
              <a:t>   </a:t>
            </a:r>
            <a:endParaRPr lang="en-IN" sz="2900">
              <a:latin typeface="Times New Roman"/>
              <a:ea typeface="Calibri"/>
              <a:cs typeface="Calibri"/>
            </a:endParaRPr>
          </a:p>
          <a:p>
            <a:pPr marL="0" indent="0">
              <a:buNone/>
            </a:pPr>
            <a:r>
              <a:rPr lang="en-IN" sz="2300">
                <a:latin typeface="Times New Roman"/>
                <a:ea typeface="Calibri"/>
                <a:cs typeface="Calibri"/>
              </a:rPr>
              <a:t>    </a:t>
            </a:r>
          </a:p>
          <a:p>
            <a:pPr marL="0" indent="0">
              <a:buNone/>
            </a:pPr>
            <a:r>
              <a:rPr lang="en-IN" sz="2300">
                <a:latin typeface="Times New Roman"/>
                <a:ea typeface="Calibri"/>
                <a:cs typeface="Calibri"/>
              </a:rPr>
              <a:t>     </a:t>
            </a:r>
            <a:r>
              <a:rPr lang="en-IN" sz="2900">
                <a:latin typeface="Times New Roman"/>
                <a:ea typeface="Calibri"/>
                <a:cs typeface="Calibri"/>
              </a:rPr>
              <a:t>Figure 8.  Simulated S</a:t>
            </a:r>
            <a:r>
              <a:rPr lang="en-IN" sz="2900" baseline="-25000">
                <a:latin typeface="Times New Roman"/>
                <a:ea typeface="Calibri"/>
                <a:cs typeface="Calibri"/>
              </a:rPr>
              <a:t>11 </a:t>
            </a:r>
            <a:r>
              <a:rPr lang="en-IN" sz="2900">
                <a:latin typeface="Times New Roman"/>
                <a:ea typeface="Calibri"/>
                <a:cs typeface="Calibri"/>
              </a:rPr>
              <a:t>of  </a:t>
            </a:r>
            <a:r>
              <a:rPr lang="en-GB" sz="2900">
                <a:latin typeface="Times New Roman"/>
                <a:ea typeface="Calibri"/>
                <a:cs typeface="Times New Roman"/>
              </a:rPr>
              <a:t>1×2 Patch antenna Array </a:t>
            </a:r>
            <a:endParaRPr lang="en-IN" sz="2900">
              <a:latin typeface="Times New Roman"/>
              <a:ea typeface="Calibri"/>
              <a:cs typeface="Calibri"/>
            </a:endParaRPr>
          </a:p>
          <a:p>
            <a:pPr marL="0" indent="0">
              <a:buNone/>
            </a:pPr>
            <a:endParaRPr lang="en-IN" sz="2400">
              <a:latin typeface="Times New Roman"/>
              <a:ea typeface="Calibri"/>
              <a:cs typeface="Calibri"/>
            </a:endParaRPr>
          </a:p>
          <a:p>
            <a:pPr marL="0" indent="0">
              <a:buNone/>
            </a:pPr>
            <a:endParaRPr lang="en-IN" sz="2400">
              <a:latin typeface="Times New Roman"/>
              <a:ea typeface="Calibri"/>
              <a:cs typeface="Calibri"/>
            </a:endParaRPr>
          </a:p>
          <a:p>
            <a:endParaRPr lang="en-IN">
              <a:latin typeface="Times New Roman"/>
              <a:ea typeface="Calibri"/>
              <a:cs typeface="Calibri"/>
            </a:endParaRPr>
          </a:p>
          <a:p>
            <a:pPr marL="0" indent="0">
              <a:buNone/>
            </a:pPr>
            <a:endParaRPr lang="en-IN">
              <a:latin typeface="Times New Roman"/>
              <a:ea typeface="Calibri"/>
              <a:cs typeface="Calibri"/>
            </a:endParaRPr>
          </a:p>
          <a:p>
            <a:pPr marL="0" indent="0">
              <a:buNone/>
            </a:pPr>
            <a:endParaRPr lang="en-IN">
              <a:latin typeface="Times New Roman"/>
              <a:ea typeface="Calibri"/>
              <a:cs typeface="Calibri"/>
            </a:endParaRPr>
          </a:p>
          <a:p>
            <a:endParaRPr lang="en-IN">
              <a:latin typeface="Times New Roman"/>
              <a:ea typeface="Calibri"/>
              <a:cs typeface="Calibri"/>
            </a:endParaRPr>
          </a:p>
          <a:p>
            <a:endParaRPr lang="en-IN">
              <a:latin typeface="Times New Roman"/>
              <a:ea typeface="Calibri"/>
              <a:cs typeface="Calibri"/>
            </a:endParaRPr>
          </a:p>
          <a:p>
            <a:endParaRPr lang="en-IN">
              <a:latin typeface="Times New Roman"/>
              <a:ea typeface="Calibri"/>
              <a:cs typeface="Calibri"/>
            </a:endParaRPr>
          </a:p>
          <a:p>
            <a:endParaRPr lang="en-IN">
              <a:latin typeface="Times New Roman"/>
              <a:ea typeface="Calibri"/>
              <a:cs typeface="Calibri"/>
            </a:endParaRPr>
          </a:p>
          <a:p>
            <a:pPr marL="0" indent="0">
              <a:buNone/>
            </a:pPr>
            <a:endParaRPr lang="en-IN" sz="2000">
              <a:latin typeface="Times New Roman"/>
              <a:ea typeface="Calibri"/>
              <a:cs typeface="Calibri"/>
            </a:endParaRPr>
          </a:p>
        </p:txBody>
      </p:sp>
      <p:sp>
        <p:nvSpPr>
          <p:cNvPr id="4" name="Date Placeholder 3">
            <a:extLst>
              <a:ext uri="{FF2B5EF4-FFF2-40B4-BE49-F238E27FC236}">
                <a16:creationId xmlns:a16="http://schemas.microsoft.com/office/drawing/2014/main" id="{E17513A7-C0C1-BEBD-B6A6-79B67C99ABF6}"/>
              </a:ext>
            </a:extLst>
          </p:cNvPr>
          <p:cNvSpPr>
            <a:spLocks noGrp="1"/>
          </p:cNvSpPr>
          <p:nvPr>
            <p:ph type="dt" sz="half" idx="10"/>
          </p:nvPr>
        </p:nvSpPr>
        <p:spPr/>
        <p:txBody>
          <a:bodyPr/>
          <a:lstStyle/>
          <a:p>
            <a:fld id="{C0883387-8E05-44FA-9CA1-FD7515E30DCB}" type="datetime1">
              <a:rPr lang="en-IN" smtClean="0"/>
              <a:t>09-02-2026</a:t>
            </a:fld>
            <a:endParaRPr lang="en-IN"/>
          </a:p>
        </p:txBody>
      </p:sp>
      <p:sp>
        <p:nvSpPr>
          <p:cNvPr id="5" name="Footer Placeholder 4">
            <a:extLst>
              <a:ext uri="{FF2B5EF4-FFF2-40B4-BE49-F238E27FC236}">
                <a16:creationId xmlns:a16="http://schemas.microsoft.com/office/drawing/2014/main" id="{B2ACA60A-095B-9D77-6421-642D3030EBF9}"/>
              </a:ext>
            </a:extLst>
          </p:cNvPr>
          <p:cNvSpPr>
            <a:spLocks noGrp="1"/>
          </p:cNvSpPr>
          <p:nvPr>
            <p:ph type="ftr" sz="quarter" idx="11"/>
          </p:nvPr>
        </p:nvSpPr>
        <p:spPr/>
        <p:txBody>
          <a:bodyPr/>
          <a:lstStyle/>
          <a:p>
            <a:r>
              <a:rPr lang="en-IN"/>
              <a:t>Review 2.2</a:t>
            </a:r>
          </a:p>
        </p:txBody>
      </p:sp>
      <p:sp>
        <p:nvSpPr>
          <p:cNvPr id="6" name="Slide Number Placeholder 5">
            <a:extLst>
              <a:ext uri="{FF2B5EF4-FFF2-40B4-BE49-F238E27FC236}">
                <a16:creationId xmlns:a16="http://schemas.microsoft.com/office/drawing/2014/main" id="{016682C3-F37D-A6E6-3920-064814E3D0C0}"/>
              </a:ext>
            </a:extLst>
          </p:cNvPr>
          <p:cNvSpPr>
            <a:spLocks noGrp="1"/>
          </p:cNvSpPr>
          <p:nvPr>
            <p:ph type="sldNum" sz="quarter" idx="12"/>
          </p:nvPr>
        </p:nvSpPr>
        <p:spPr/>
        <p:txBody>
          <a:bodyPr/>
          <a:lstStyle/>
          <a:p>
            <a:fld id="{1CCCFFBF-4DCD-46DE-85E1-69841FB49368}" type="slidenum">
              <a:rPr lang="en-IN" smtClean="0"/>
              <a:t>14</a:t>
            </a:fld>
            <a:endParaRPr lang="en-IN"/>
          </a:p>
        </p:txBody>
      </p:sp>
      <p:pic>
        <p:nvPicPr>
          <p:cNvPr id="8" name="Picture 7" descr="A pink and black logo&#10;&#10;AI-generated content may be incorrect.">
            <a:extLst>
              <a:ext uri="{FF2B5EF4-FFF2-40B4-BE49-F238E27FC236}">
                <a16:creationId xmlns:a16="http://schemas.microsoft.com/office/drawing/2014/main" id="{4B1553A0-1911-6A01-FFB6-A774059CFCF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92871" y="-31376"/>
            <a:ext cx="1999129" cy="591742"/>
          </a:xfrm>
          <a:prstGeom prst="rect">
            <a:avLst/>
          </a:prstGeom>
        </p:spPr>
      </p:pic>
      <p:pic>
        <p:nvPicPr>
          <p:cNvPr id="7" name="Picture 6" descr="A graph of a function&#10;&#10;AI-generated content may be incorrect.">
            <a:extLst>
              <a:ext uri="{FF2B5EF4-FFF2-40B4-BE49-F238E27FC236}">
                <a16:creationId xmlns:a16="http://schemas.microsoft.com/office/drawing/2014/main" id="{511D355B-A54B-1775-7240-B7AFD1C8C144}"/>
              </a:ext>
            </a:extLst>
          </p:cNvPr>
          <p:cNvPicPr>
            <a:picLocks noChangeAspect="1"/>
          </p:cNvPicPr>
          <p:nvPr/>
        </p:nvPicPr>
        <p:blipFill>
          <a:blip r:embed="rId3"/>
          <a:stretch>
            <a:fillRect/>
          </a:stretch>
        </p:blipFill>
        <p:spPr>
          <a:xfrm>
            <a:off x="343697" y="1697111"/>
            <a:ext cx="5067211" cy="2576980"/>
          </a:xfrm>
          <a:prstGeom prst="rect">
            <a:avLst/>
          </a:prstGeom>
        </p:spPr>
      </p:pic>
      <p:pic>
        <p:nvPicPr>
          <p:cNvPr id="10" name="Picture 9" descr="A diagram of a diagram&#10;&#10;AI-generated content may be incorrect.">
            <a:extLst>
              <a:ext uri="{FF2B5EF4-FFF2-40B4-BE49-F238E27FC236}">
                <a16:creationId xmlns:a16="http://schemas.microsoft.com/office/drawing/2014/main" id="{41E30460-CC31-78AD-D65C-F445F96DADA6}"/>
              </a:ext>
            </a:extLst>
          </p:cNvPr>
          <p:cNvPicPr>
            <a:picLocks noChangeAspect="1"/>
          </p:cNvPicPr>
          <p:nvPr/>
        </p:nvPicPr>
        <p:blipFill>
          <a:blip r:embed="rId4"/>
          <a:stretch>
            <a:fillRect/>
          </a:stretch>
        </p:blipFill>
        <p:spPr>
          <a:xfrm>
            <a:off x="6863043" y="1162610"/>
            <a:ext cx="4494680" cy="3468222"/>
          </a:xfrm>
          <a:prstGeom prst="rect">
            <a:avLst/>
          </a:prstGeom>
        </p:spPr>
      </p:pic>
      <p:sp>
        <p:nvSpPr>
          <p:cNvPr id="11" name="TextBox 10">
            <a:extLst>
              <a:ext uri="{FF2B5EF4-FFF2-40B4-BE49-F238E27FC236}">
                <a16:creationId xmlns:a16="http://schemas.microsoft.com/office/drawing/2014/main" id="{2D26A333-7E04-71E4-18A6-5599C9D56ED4}"/>
              </a:ext>
            </a:extLst>
          </p:cNvPr>
          <p:cNvSpPr txBox="1"/>
          <p:nvPr/>
        </p:nvSpPr>
        <p:spPr>
          <a:xfrm>
            <a:off x="6858000" y="4628030"/>
            <a:ext cx="4964207"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a:latin typeface="Times New Roman"/>
              </a:rPr>
              <a:t>Figure 9.</a:t>
            </a:r>
            <a:r>
              <a:rPr lang="en-GB">
                <a:latin typeface="Times New Roman"/>
              </a:rPr>
              <a:t>1×2 Patch antenna Array</a:t>
            </a:r>
            <a:r>
              <a:rPr lang="en-GB" sz="1600">
                <a:latin typeface="Times New Roman"/>
              </a:rPr>
              <a:t> </a:t>
            </a:r>
            <a:r>
              <a:rPr lang="en-IN">
                <a:latin typeface="Times New Roman"/>
              </a:rPr>
              <a:t>with centre to centre spacing of </a:t>
            </a:r>
            <a:r>
              <a:rPr lang="el-GR">
                <a:latin typeface="Times New Roman"/>
              </a:rPr>
              <a:t>0.45</a:t>
            </a:r>
            <a:r>
              <a:rPr lang="el-GR" b="1">
                <a:latin typeface="Times New Roman"/>
              </a:rPr>
              <a:t> </a:t>
            </a:r>
            <a:r>
              <a:rPr lang="el-GR">
                <a:latin typeface="Times New Roman"/>
              </a:rPr>
              <a:t>λ</a:t>
            </a:r>
            <a:r>
              <a:rPr lang="el-GR" sz="1200" baseline="-25000">
                <a:latin typeface="Times New Roman"/>
              </a:rPr>
              <a:t>0</a:t>
            </a:r>
            <a:r>
              <a:rPr lang="en-IN">
                <a:latin typeface="Times New Roman"/>
              </a:rPr>
              <a:t>.</a:t>
            </a:r>
            <a:endParaRPr lang="en-GB"/>
          </a:p>
        </p:txBody>
      </p:sp>
    </p:spTree>
    <p:extLst>
      <p:ext uri="{BB962C8B-B14F-4D97-AF65-F5344CB8AC3E}">
        <p14:creationId xmlns:p14="http://schemas.microsoft.com/office/powerpoint/2010/main" val="38404292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7E11B4-0F51-5A8F-C1C9-C9D99B5456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B853BF-83B7-A11E-8051-AA928D88F403}"/>
              </a:ext>
            </a:extLst>
          </p:cNvPr>
          <p:cNvSpPr>
            <a:spLocks noGrp="1"/>
          </p:cNvSpPr>
          <p:nvPr>
            <p:ph type="title"/>
          </p:nvPr>
        </p:nvSpPr>
        <p:spPr>
          <a:xfrm>
            <a:off x="24008" y="104166"/>
            <a:ext cx="1622122" cy="615755"/>
          </a:xfrm>
        </p:spPr>
        <p:txBody>
          <a:bodyPr>
            <a:normAutofit/>
          </a:bodyPr>
          <a:lstStyle/>
          <a:p>
            <a:r>
              <a:rPr lang="en-IN" sz="3200" b="1" u="sng">
                <a:latin typeface="Times New Roman"/>
                <a:cs typeface="Times New Roman"/>
              </a:rPr>
              <a:t>Results</a:t>
            </a:r>
            <a:r>
              <a:rPr lang="en-IN" sz="3200" b="1">
                <a:latin typeface="Times New Roman"/>
                <a:cs typeface="Times New Roman"/>
              </a:rPr>
              <a:t>:</a:t>
            </a:r>
          </a:p>
        </p:txBody>
      </p:sp>
      <p:sp>
        <p:nvSpPr>
          <p:cNvPr id="3" name="Content Placeholder 2">
            <a:extLst>
              <a:ext uri="{FF2B5EF4-FFF2-40B4-BE49-F238E27FC236}">
                <a16:creationId xmlns:a16="http://schemas.microsoft.com/office/drawing/2014/main" id="{365D3C43-7AFD-B621-7ACD-77A02E945DB6}"/>
              </a:ext>
            </a:extLst>
          </p:cNvPr>
          <p:cNvSpPr>
            <a:spLocks noGrp="1"/>
          </p:cNvSpPr>
          <p:nvPr>
            <p:ph idx="1"/>
          </p:nvPr>
        </p:nvSpPr>
        <p:spPr>
          <a:xfrm>
            <a:off x="24008" y="875735"/>
            <a:ext cx="10515600" cy="4351338"/>
          </a:xfrm>
        </p:spPr>
        <p:txBody>
          <a:bodyPr vert="horz" lIns="91440" tIns="45720" rIns="91440" bIns="45720" rtlCol="0" anchor="t">
            <a:normAutofit fontScale="55000" lnSpcReduction="20000"/>
          </a:bodyPr>
          <a:lstStyle/>
          <a:p>
            <a:r>
              <a:rPr lang="en-IN" sz="3300">
                <a:latin typeface="Times New Roman"/>
                <a:ea typeface="Calibri"/>
                <a:cs typeface="Calibri"/>
              </a:rPr>
              <a:t>Analysis of the S-parameter plot for </a:t>
            </a:r>
            <a:r>
              <a:rPr lang="en-GB" sz="2900">
                <a:latin typeface="Times New Roman"/>
                <a:ea typeface="Calibri"/>
                <a:cs typeface="Times New Roman"/>
              </a:rPr>
              <a:t>1×2 Patch antenna Array without a Decoupling Structure with </a:t>
            </a:r>
            <a:r>
              <a:rPr lang="en-IN" sz="2900">
                <a:latin typeface="Times New Roman"/>
                <a:ea typeface="Calibri"/>
                <a:cs typeface="Calibri"/>
              </a:rPr>
              <a:t>HFSS  with centre to centre spacing as </a:t>
            </a:r>
            <a:r>
              <a:rPr lang="el-GR" sz="2900">
                <a:latin typeface="Times New Roman"/>
                <a:ea typeface="Calibri"/>
                <a:cs typeface="Times New Roman"/>
              </a:rPr>
              <a:t>0.45</a:t>
            </a:r>
            <a:r>
              <a:rPr lang="el-GR" sz="2900" b="1">
                <a:latin typeface="Times New Roman"/>
                <a:ea typeface="Calibri"/>
                <a:cs typeface="Times New Roman"/>
              </a:rPr>
              <a:t> </a:t>
            </a:r>
            <a:r>
              <a:rPr lang="el-GR" sz="2900">
                <a:latin typeface="Times New Roman"/>
                <a:ea typeface="Calibri"/>
                <a:cs typeface="Times New Roman"/>
              </a:rPr>
              <a:t>λ</a:t>
            </a:r>
            <a:r>
              <a:rPr lang="el-GR" sz="2500" baseline="-25000">
                <a:latin typeface="Times New Roman"/>
                <a:ea typeface="Calibri"/>
                <a:cs typeface="Times New Roman"/>
              </a:rPr>
              <a:t>0</a:t>
            </a:r>
            <a:r>
              <a:rPr lang="en-IN" sz="2900">
                <a:latin typeface="Times New Roman"/>
                <a:ea typeface="Calibri"/>
                <a:cs typeface="Calibri"/>
              </a:rPr>
              <a:t>.</a:t>
            </a:r>
            <a:endParaRPr lang="en-IN" sz="2900">
              <a:ea typeface="Calibri" panose="020F0502020204030204"/>
              <a:cs typeface="Calibri" panose="020F0502020204030204"/>
            </a:endParaRPr>
          </a:p>
          <a:p>
            <a:pPr marL="0" indent="0">
              <a:buNone/>
            </a:pPr>
            <a:endParaRPr lang="en-IN" sz="2400">
              <a:latin typeface="Times New Roman"/>
              <a:ea typeface="Calibri"/>
              <a:cs typeface="Calibri"/>
            </a:endParaRPr>
          </a:p>
          <a:p>
            <a:endParaRPr lang="en-IN" sz="2400">
              <a:latin typeface="Times New Roman"/>
              <a:ea typeface="Calibri"/>
              <a:cs typeface="Calibri"/>
            </a:endParaRPr>
          </a:p>
          <a:p>
            <a:endParaRPr lang="en-IN" sz="2400">
              <a:latin typeface="Times New Roman"/>
              <a:ea typeface="Calibri"/>
              <a:cs typeface="Calibri"/>
            </a:endParaRPr>
          </a:p>
          <a:p>
            <a:endParaRPr lang="en-IN" sz="2400">
              <a:latin typeface="Times New Roman"/>
              <a:ea typeface="Calibri"/>
              <a:cs typeface="Calibri"/>
            </a:endParaRPr>
          </a:p>
          <a:p>
            <a:endParaRPr lang="en-IN" sz="2400">
              <a:latin typeface="Times New Roman"/>
              <a:ea typeface="Calibri"/>
              <a:cs typeface="Calibri"/>
            </a:endParaRPr>
          </a:p>
          <a:p>
            <a:endParaRPr lang="en-IN" sz="2400">
              <a:latin typeface="Times New Roman"/>
              <a:ea typeface="Calibri"/>
              <a:cs typeface="Calibri"/>
            </a:endParaRPr>
          </a:p>
          <a:p>
            <a:endParaRPr lang="en-IN" sz="2400">
              <a:latin typeface="Times New Roman"/>
              <a:ea typeface="Calibri"/>
              <a:cs typeface="Calibri"/>
            </a:endParaRPr>
          </a:p>
          <a:p>
            <a:endParaRPr lang="en-IN" sz="2400">
              <a:latin typeface="Times New Roman"/>
              <a:ea typeface="Calibri"/>
              <a:cs typeface="Calibri"/>
            </a:endParaRPr>
          </a:p>
          <a:p>
            <a:endParaRPr lang="en-IN" sz="2400">
              <a:latin typeface="Times New Roman"/>
              <a:ea typeface="Calibri"/>
              <a:cs typeface="Calibri"/>
            </a:endParaRPr>
          </a:p>
          <a:p>
            <a:pPr marL="0" indent="0">
              <a:buNone/>
            </a:pPr>
            <a:endParaRPr lang="en-IN" sz="2400">
              <a:latin typeface="Times New Roman"/>
              <a:ea typeface="Calibri"/>
              <a:cs typeface="Calibri"/>
            </a:endParaRPr>
          </a:p>
          <a:p>
            <a:pPr marL="0" indent="0">
              <a:buNone/>
            </a:pPr>
            <a:endParaRPr lang="en-IN" sz="2400">
              <a:latin typeface="Times New Roman"/>
              <a:ea typeface="Calibri"/>
              <a:cs typeface="Calibri"/>
            </a:endParaRPr>
          </a:p>
          <a:p>
            <a:pPr marL="0" indent="0">
              <a:buNone/>
            </a:pPr>
            <a:r>
              <a:rPr lang="en-IN" sz="2400">
                <a:latin typeface="Times New Roman"/>
                <a:ea typeface="Calibri"/>
                <a:cs typeface="Calibri"/>
              </a:rPr>
              <a:t>   </a:t>
            </a:r>
            <a:endParaRPr lang="en-IN" sz="2900">
              <a:latin typeface="Times New Roman"/>
              <a:ea typeface="Calibri"/>
              <a:cs typeface="Calibri"/>
            </a:endParaRPr>
          </a:p>
          <a:p>
            <a:pPr marL="0" indent="0">
              <a:buNone/>
            </a:pPr>
            <a:r>
              <a:rPr lang="en-IN" sz="2300">
                <a:latin typeface="Times New Roman"/>
                <a:ea typeface="Calibri"/>
                <a:cs typeface="Calibri"/>
              </a:rPr>
              <a:t>    </a:t>
            </a:r>
          </a:p>
          <a:p>
            <a:pPr marL="0" indent="0">
              <a:buNone/>
            </a:pPr>
            <a:r>
              <a:rPr lang="en-IN" sz="2300">
                <a:latin typeface="Times New Roman"/>
                <a:ea typeface="Calibri"/>
                <a:cs typeface="Calibri"/>
              </a:rPr>
              <a:t>     </a:t>
            </a:r>
            <a:r>
              <a:rPr lang="en-IN" sz="2900">
                <a:latin typeface="Times New Roman"/>
                <a:ea typeface="Calibri"/>
                <a:cs typeface="Calibri"/>
              </a:rPr>
              <a:t>Figure 10.  Simulated S</a:t>
            </a:r>
            <a:r>
              <a:rPr lang="en-IN" sz="2900" baseline="-25000">
                <a:latin typeface="Times New Roman"/>
                <a:ea typeface="Calibri"/>
                <a:cs typeface="Calibri"/>
              </a:rPr>
              <a:t>21</a:t>
            </a:r>
            <a:r>
              <a:rPr lang="en-IN" sz="2900">
                <a:latin typeface="Times New Roman"/>
                <a:ea typeface="Calibri"/>
                <a:cs typeface="Calibri"/>
              </a:rPr>
              <a:t> of  </a:t>
            </a:r>
            <a:r>
              <a:rPr lang="en-GB" sz="2900">
                <a:latin typeface="Times New Roman"/>
                <a:ea typeface="Calibri"/>
                <a:cs typeface="Times New Roman"/>
              </a:rPr>
              <a:t>1×2 Patch antenna Array </a:t>
            </a:r>
            <a:endParaRPr lang="en-IN" sz="2900">
              <a:latin typeface="Times New Roman"/>
              <a:ea typeface="Calibri"/>
              <a:cs typeface="Calibri"/>
            </a:endParaRPr>
          </a:p>
          <a:p>
            <a:pPr marL="0" indent="0">
              <a:buNone/>
            </a:pPr>
            <a:endParaRPr lang="en-IN" sz="2400">
              <a:latin typeface="Times New Roman"/>
              <a:ea typeface="Calibri"/>
              <a:cs typeface="Calibri"/>
            </a:endParaRPr>
          </a:p>
          <a:p>
            <a:pPr marL="0" indent="0">
              <a:buNone/>
            </a:pPr>
            <a:endParaRPr lang="en-IN" sz="2400">
              <a:latin typeface="Times New Roman"/>
              <a:ea typeface="Calibri"/>
              <a:cs typeface="Calibri"/>
            </a:endParaRPr>
          </a:p>
          <a:p>
            <a:endParaRPr lang="en-IN">
              <a:latin typeface="Times New Roman"/>
              <a:ea typeface="Calibri"/>
              <a:cs typeface="Calibri"/>
            </a:endParaRPr>
          </a:p>
          <a:p>
            <a:pPr marL="0" indent="0">
              <a:buNone/>
            </a:pPr>
            <a:endParaRPr lang="en-IN">
              <a:latin typeface="Times New Roman"/>
              <a:ea typeface="Calibri"/>
              <a:cs typeface="Calibri"/>
            </a:endParaRPr>
          </a:p>
          <a:p>
            <a:pPr marL="0" indent="0">
              <a:buNone/>
            </a:pPr>
            <a:endParaRPr lang="en-IN">
              <a:latin typeface="Times New Roman"/>
              <a:ea typeface="Calibri"/>
              <a:cs typeface="Calibri"/>
            </a:endParaRPr>
          </a:p>
          <a:p>
            <a:endParaRPr lang="en-IN">
              <a:latin typeface="Times New Roman"/>
              <a:ea typeface="Calibri"/>
              <a:cs typeface="Calibri"/>
            </a:endParaRPr>
          </a:p>
          <a:p>
            <a:endParaRPr lang="en-IN">
              <a:latin typeface="Times New Roman"/>
              <a:ea typeface="Calibri"/>
              <a:cs typeface="Calibri"/>
            </a:endParaRPr>
          </a:p>
          <a:p>
            <a:endParaRPr lang="en-IN">
              <a:latin typeface="Times New Roman"/>
              <a:ea typeface="Calibri"/>
              <a:cs typeface="Calibri"/>
            </a:endParaRPr>
          </a:p>
          <a:p>
            <a:endParaRPr lang="en-IN">
              <a:latin typeface="Times New Roman"/>
              <a:ea typeface="Calibri"/>
              <a:cs typeface="Calibri"/>
            </a:endParaRPr>
          </a:p>
          <a:p>
            <a:pPr marL="0" indent="0">
              <a:buNone/>
            </a:pPr>
            <a:endParaRPr lang="en-IN" sz="2000">
              <a:latin typeface="Times New Roman"/>
              <a:ea typeface="Calibri"/>
              <a:cs typeface="Calibri"/>
            </a:endParaRPr>
          </a:p>
        </p:txBody>
      </p:sp>
      <p:sp>
        <p:nvSpPr>
          <p:cNvPr id="4" name="Date Placeholder 3">
            <a:extLst>
              <a:ext uri="{FF2B5EF4-FFF2-40B4-BE49-F238E27FC236}">
                <a16:creationId xmlns:a16="http://schemas.microsoft.com/office/drawing/2014/main" id="{C95B246F-6986-BA4A-F4AF-7F40B68B3E3E}"/>
              </a:ext>
            </a:extLst>
          </p:cNvPr>
          <p:cNvSpPr>
            <a:spLocks noGrp="1"/>
          </p:cNvSpPr>
          <p:nvPr>
            <p:ph type="dt" sz="half" idx="10"/>
          </p:nvPr>
        </p:nvSpPr>
        <p:spPr/>
        <p:txBody>
          <a:bodyPr/>
          <a:lstStyle/>
          <a:p>
            <a:fld id="{C0883387-8E05-44FA-9CA1-FD7515E30DCB}" type="datetime1">
              <a:rPr lang="en-IN" smtClean="0"/>
              <a:t>09-02-2026</a:t>
            </a:fld>
            <a:endParaRPr lang="en-IN"/>
          </a:p>
        </p:txBody>
      </p:sp>
      <p:sp>
        <p:nvSpPr>
          <p:cNvPr id="5" name="Footer Placeholder 4">
            <a:extLst>
              <a:ext uri="{FF2B5EF4-FFF2-40B4-BE49-F238E27FC236}">
                <a16:creationId xmlns:a16="http://schemas.microsoft.com/office/drawing/2014/main" id="{61BBB60E-57F9-5850-82A9-DFCA0CE9230C}"/>
              </a:ext>
            </a:extLst>
          </p:cNvPr>
          <p:cNvSpPr>
            <a:spLocks noGrp="1"/>
          </p:cNvSpPr>
          <p:nvPr>
            <p:ph type="ftr" sz="quarter" idx="11"/>
          </p:nvPr>
        </p:nvSpPr>
        <p:spPr/>
        <p:txBody>
          <a:bodyPr/>
          <a:lstStyle/>
          <a:p>
            <a:r>
              <a:rPr lang="en-IN"/>
              <a:t>Review 2.2</a:t>
            </a:r>
          </a:p>
        </p:txBody>
      </p:sp>
      <p:sp>
        <p:nvSpPr>
          <p:cNvPr id="6" name="Slide Number Placeholder 5">
            <a:extLst>
              <a:ext uri="{FF2B5EF4-FFF2-40B4-BE49-F238E27FC236}">
                <a16:creationId xmlns:a16="http://schemas.microsoft.com/office/drawing/2014/main" id="{C09E7131-B3FB-B7A1-4011-265A1A95ADCF}"/>
              </a:ext>
            </a:extLst>
          </p:cNvPr>
          <p:cNvSpPr>
            <a:spLocks noGrp="1"/>
          </p:cNvSpPr>
          <p:nvPr>
            <p:ph type="sldNum" sz="quarter" idx="12"/>
          </p:nvPr>
        </p:nvSpPr>
        <p:spPr/>
        <p:txBody>
          <a:bodyPr/>
          <a:lstStyle/>
          <a:p>
            <a:fld id="{1CCCFFBF-4DCD-46DE-85E1-69841FB49368}" type="slidenum">
              <a:rPr lang="en-IN" smtClean="0"/>
              <a:t>15</a:t>
            </a:fld>
            <a:endParaRPr lang="en-IN"/>
          </a:p>
        </p:txBody>
      </p:sp>
      <p:pic>
        <p:nvPicPr>
          <p:cNvPr id="8" name="Picture 7" descr="A pink and black logo&#10;&#10;AI-generated content may be incorrect.">
            <a:extLst>
              <a:ext uri="{FF2B5EF4-FFF2-40B4-BE49-F238E27FC236}">
                <a16:creationId xmlns:a16="http://schemas.microsoft.com/office/drawing/2014/main" id="{4DDDC1A5-3183-732C-3CCF-C1CAC09636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92871" y="-31376"/>
            <a:ext cx="1999129" cy="591742"/>
          </a:xfrm>
          <a:prstGeom prst="rect">
            <a:avLst/>
          </a:prstGeom>
        </p:spPr>
      </p:pic>
      <p:pic>
        <p:nvPicPr>
          <p:cNvPr id="9" name="Picture 8" descr="A graph with blue lines and yellow text&#10;&#10;AI-generated content may be incorrect.">
            <a:extLst>
              <a:ext uri="{FF2B5EF4-FFF2-40B4-BE49-F238E27FC236}">
                <a16:creationId xmlns:a16="http://schemas.microsoft.com/office/drawing/2014/main" id="{F98592D9-8043-A359-AB7A-A1BD9CE8C9F8}"/>
              </a:ext>
            </a:extLst>
          </p:cNvPr>
          <p:cNvPicPr>
            <a:picLocks noChangeAspect="1"/>
          </p:cNvPicPr>
          <p:nvPr/>
        </p:nvPicPr>
        <p:blipFill>
          <a:blip r:embed="rId3"/>
          <a:stretch>
            <a:fillRect/>
          </a:stretch>
        </p:blipFill>
        <p:spPr>
          <a:xfrm>
            <a:off x="312382" y="1467057"/>
            <a:ext cx="5787916" cy="3093883"/>
          </a:xfrm>
          <a:prstGeom prst="rect">
            <a:avLst/>
          </a:prstGeom>
        </p:spPr>
      </p:pic>
      <p:graphicFrame>
        <p:nvGraphicFramePr>
          <p:cNvPr id="10" name="Table 9">
            <a:extLst>
              <a:ext uri="{FF2B5EF4-FFF2-40B4-BE49-F238E27FC236}">
                <a16:creationId xmlns:a16="http://schemas.microsoft.com/office/drawing/2014/main" id="{A0FD633F-469E-1D0B-0400-8FDA45B3F9A8}"/>
              </a:ext>
            </a:extLst>
          </p:cNvPr>
          <p:cNvGraphicFramePr>
            <a:graphicFrameLocks noGrp="1"/>
          </p:cNvGraphicFramePr>
          <p:nvPr>
            <p:extLst>
              <p:ext uri="{D42A27DB-BD31-4B8C-83A1-F6EECF244321}">
                <p14:modId xmlns:p14="http://schemas.microsoft.com/office/powerpoint/2010/main" val="658259030"/>
              </p:ext>
            </p:extLst>
          </p:nvPr>
        </p:nvGraphicFramePr>
        <p:xfrm>
          <a:off x="6208058" y="1467970"/>
          <a:ext cx="5542022" cy="1645920"/>
        </p:xfrm>
        <a:graphic>
          <a:graphicData uri="http://schemas.openxmlformats.org/drawingml/2006/table">
            <a:tbl>
              <a:tblPr firstRow="1" firstCol="1" bandRow="1">
                <a:tableStyleId>{5C22544A-7EE6-4342-B048-85BDC9FD1C3A}</a:tableStyleId>
              </a:tblPr>
              <a:tblGrid>
                <a:gridCol w="1860698">
                  <a:extLst>
                    <a:ext uri="{9D8B030D-6E8A-4147-A177-3AD203B41FA5}">
                      <a16:colId xmlns:a16="http://schemas.microsoft.com/office/drawing/2014/main" val="3512262732"/>
                    </a:ext>
                  </a:extLst>
                </a:gridCol>
                <a:gridCol w="1833773">
                  <a:extLst>
                    <a:ext uri="{9D8B030D-6E8A-4147-A177-3AD203B41FA5}">
                      <a16:colId xmlns:a16="http://schemas.microsoft.com/office/drawing/2014/main" val="1301493863"/>
                    </a:ext>
                  </a:extLst>
                </a:gridCol>
                <a:gridCol w="1847551">
                  <a:extLst>
                    <a:ext uri="{9D8B030D-6E8A-4147-A177-3AD203B41FA5}">
                      <a16:colId xmlns:a16="http://schemas.microsoft.com/office/drawing/2014/main" val="1464065069"/>
                    </a:ext>
                  </a:extLst>
                </a:gridCol>
              </a:tblGrid>
              <a:tr h="350220">
                <a:tc>
                  <a:txBody>
                    <a:bodyPr/>
                    <a:lstStyle/>
                    <a:p>
                      <a:pPr algn="l">
                        <a:buNone/>
                      </a:pPr>
                      <a:r>
                        <a:rPr lang="en-US" b="1">
                          <a:solidFill>
                            <a:schemeClr val="tx1"/>
                          </a:solidFill>
                          <a:effectLst/>
                          <a:latin typeface="Times New Roman"/>
                        </a:rPr>
                        <a:t>           Variable</a:t>
                      </a:r>
                      <a:endParaRPr lang="en-US">
                        <a:solidFill>
                          <a:schemeClr val="tx1"/>
                        </a:solidFill>
                        <a:effectLst/>
                        <a:latin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buNone/>
                      </a:pPr>
                      <a:r>
                        <a:rPr lang="en-US" b="1">
                          <a:solidFill>
                            <a:schemeClr val="tx1"/>
                          </a:solidFill>
                          <a:effectLst/>
                          <a:latin typeface="Times New Roman"/>
                        </a:rPr>
                        <a:t>             Value</a:t>
                      </a:r>
                      <a:endParaRPr lang="en-US">
                        <a:solidFill>
                          <a:schemeClr val="tx1"/>
                        </a:solidFill>
                        <a:effectLst/>
                        <a:latin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buNone/>
                      </a:pPr>
                      <a:r>
                        <a:rPr lang="en-US">
                          <a:solidFill>
                            <a:schemeClr val="tx1"/>
                          </a:solidFill>
                          <a:effectLst/>
                          <a:latin typeface="Times New Roman"/>
                        </a:rPr>
                        <a:t> </a:t>
                      </a:r>
                      <a:r>
                        <a:rPr lang="en-US" b="1">
                          <a:solidFill>
                            <a:schemeClr val="tx1"/>
                          </a:solidFill>
                          <a:effectLst/>
                          <a:latin typeface="Times New Roman"/>
                        </a:rPr>
                        <a:t>Value In terms of </a:t>
                      </a:r>
                      <a:r>
                        <a:rPr lang="el-GR" b="1">
                          <a:solidFill>
                            <a:schemeClr val="tx1"/>
                          </a:solidFill>
                          <a:effectLst/>
                          <a:latin typeface="Times New Roman"/>
                        </a:rPr>
                        <a:t>λ</a:t>
                      </a:r>
                      <a:r>
                        <a:rPr lang="el-GR" b="1" baseline="-25000">
                          <a:solidFill>
                            <a:schemeClr val="tx1"/>
                          </a:solidFill>
                          <a:effectLst/>
                          <a:latin typeface="Times New Roman"/>
                        </a:rPr>
                        <a:t>0</a:t>
                      </a:r>
                      <a:endParaRPr lang="el-GR">
                        <a:solidFill>
                          <a:schemeClr val="tx1"/>
                        </a:solidFill>
                        <a:effectLst/>
                        <a:latin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16525318"/>
                  </a:ext>
                </a:extLst>
              </a:tr>
              <a:tr h="350220">
                <a:tc>
                  <a:txBody>
                    <a:bodyPr/>
                    <a:lstStyle/>
                    <a:p>
                      <a:pPr algn="l">
                        <a:buNone/>
                      </a:pPr>
                      <a:r>
                        <a:rPr lang="en-US">
                          <a:solidFill>
                            <a:schemeClr val="tx1"/>
                          </a:solidFill>
                          <a:effectLst/>
                          <a:latin typeface="Times New Roman"/>
                        </a:rPr>
                        <a:t>           D(edge to edge)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buNone/>
                      </a:pPr>
                      <a:r>
                        <a:rPr lang="en-US">
                          <a:solidFill>
                            <a:schemeClr val="tx1"/>
                          </a:solidFill>
                          <a:effectLst/>
                          <a:latin typeface="Times New Roman"/>
                        </a:rPr>
                        <a:t>            11.25 mm</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buNone/>
                      </a:pPr>
                      <a:r>
                        <a:rPr lang="el-GR">
                          <a:solidFill>
                            <a:schemeClr val="tx1"/>
                          </a:solidFill>
                          <a:effectLst/>
                          <a:latin typeface="Times New Roman"/>
                        </a:rPr>
                        <a:t>                 0.09</a:t>
                      </a:r>
                      <a:r>
                        <a:rPr lang="el-GR" b="1">
                          <a:solidFill>
                            <a:schemeClr val="tx1"/>
                          </a:solidFill>
                          <a:effectLst/>
                          <a:latin typeface="Times New Roman"/>
                        </a:rPr>
                        <a:t> </a:t>
                      </a:r>
                      <a:r>
                        <a:rPr lang="el-GR">
                          <a:solidFill>
                            <a:schemeClr val="tx1"/>
                          </a:solidFill>
                          <a:effectLst/>
                          <a:latin typeface="Times New Roman"/>
                        </a:rPr>
                        <a:t>λ</a:t>
                      </a:r>
                      <a:r>
                        <a:rPr lang="el-GR" baseline="-25000">
                          <a:solidFill>
                            <a:schemeClr val="tx1"/>
                          </a:solidFill>
                          <a:effectLst/>
                          <a:latin typeface="Times New Roman"/>
                        </a:rPr>
                        <a:t>0</a:t>
                      </a:r>
                      <a:endParaRPr lang="el-GR">
                        <a:solidFill>
                          <a:schemeClr val="tx1"/>
                        </a:solidFill>
                        <a:effectLst/>
                        <a:latin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96093700"/>
                  </a:ext>
                </a:extLst>
              </a:tr>
              <a:tr h="350220">
                <a:tc>
                  <a:txBody>
                    <a:bodyPr/>
                    <a:lstStyle/>
                    <a:p>
                      <a:pPr algn="l">
                        <a:buNone/>
                      </a:pPr>
                      <a:r>
                        <a:rPr lang="en-US">
                          <a:solidFill>
                            <a:schemeClr val="tx1"/>
                          </a:solidFill>
                          <a:effectLst/>
                          <a:latin typeface="Times New Roman"/>
                        </a:rPr>
                        <a:t>           S(</a:t>
                      </a:r>
                      <a:r>
                        <a:rPr lang="en-US" err="1">
                          <a:solidFill>
                            <a:schemeClr val="tx1"/>
                          </a:solidFill>
                          <a:effectLst/>
                          <a:latin typeface="Times New Roman"/>
                        </a:rPr>
                        <a:t>centre</a:t>
                      </a:r>
                      <a:r>
                        <a:rPr lang="en-US">
                          <a:solidFill>
                            <a:schemeClr val="tx1"/>
                          </a:solidFill>
                          <a:effectLst/>
                          <a:latin typeface="Times New Roman"/>
                        </a:rPr>
                        <a:t> to </a:t>
                      </a:r>
                      <a:r>
                        <a:rPr lang="en-US" err="1">
                          <a:solidFill>
                            <a:schemeClr val="tx1"/>
                          </a:solidFill>
                          <a:effectLst/>
                          <a:latin typeface="Times New Roman"/>
                        </a:rPr>
                        <a:t>centre</a:t>
                      </a:r>
                      <a:r>
                        <a:rPr lang="en-US">
                          <a:solidFill>
                            <a:schemeClr val="tx1"/>
                          </a:solidFill>
                          <a:effectLst/>
                          <a:latin typeface="Times New Roman"/>
                        </a:rPr>
                        <a:t>)</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buNone/>
                      </a:pPr>
                      <a:r>
                        <a:rPr lang="en-US">
                          <a:solidFill>
                            <a:schemeClr val="tx1"/>
                          </a:solidFill>
                          <a:effectLst/>
                          <a:latin typeface="Times New Roman"/>
                        </a:rPr>
                        <a:t>             56.25 mm</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buNone/>
                      </a:pPr>
                      <a:r>
                        <a:rPr lang="el-GR">
                          <a:solidFill>
                            <a:schemeClr val="tx1"/>
                          </a:solidFill>
                          <a:effectLst/>
                          <a:latin typeface="Times New Roman"/>
                        </a:rPr>
                        <a:t>               0.45</a:t>
                      </a:r>
                      <a:r>
                        <a:rPr lang="el-GR" b="1">
                          <a:solidFill>
                            <a:schemeClr val="tx1"/>
                          </a:solidFill>
                          <a:effectLst/>
                          <a:latin typeface="Times New Roman"/>
                        </a:rPr>
                        <a:t> </a:t>
                      </a:r>
                      <a:r>
                        <a:rPr lang="el-GR">
                          <a:solidFill>
                            <a:schemeClr val="tx1"/>
                          </a:solidFill>
                          <a:effectLst/>
                          <a:latin typeface="Times New Roman"/>
                        </a:rPr>
                        <a:t>λ</a:t>
                      </a:r>
                      <a:r>
                        <a:rPr lang="el-GR" baseline="-25000">
                          <a:solidFill>
                            <a:schemeClr val="tx1"/>
                          </a:solidFill>
                          <a:effectLst/>
                          <a:latin typeface="Times New Roman"/>
                        </a:rPr>
                        <a:t>0</a:t>
                      </a:r>
                      <a:endParaRPr lang="el-GR">
                        <a:solidFill>
                          <a:schemeClr val="tx1"/>
                        </a:solidFill>
                        <a:effectLst/>
                        <a:latin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69524360"/>
                  </a:ext>
                </a:extLst>
              </a:tr>
            </a:tbl>
          </a:graphicData>
        </a:graphic>
      </p:graphicFrame>
      <p:sp>
        <p:nvSpPr>
          <p:cNvPr id="11" name="TextBox 10">
            <a:extLst>
              <a:ext uri="{FF2B5EF4-FFF2-40B4-BE49-F238E27FC236}">
                <a16:creationId xmlns:a16="http://schemas.microsoft.com/office/drawing/2014/main" id="{9E70AD33-883A-74FE-695A-78D6DDFD2A7F}"/>
              </a:ext>
            </a:extLst>
          </p:cNvPr>
          <p:cNvSpPr txBox="1"/>
          <p:nvPr/>
        </p:nvSpPr>
        <p:spPr>
          <a:xfrm>
            <a:off x="6208059" y="3249706"/>
            <a:ext cx="60960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a:latin typeface="Times New Roman"/>
              </a:rPr>
              <a:t>Table 3 : </a:t>
            </a:r>
            <a:r>
              <a:rPr lang="en-US">
                <a:latin typeface="Times New Roman"/>
              </a:rPr>
              <a:t>Spacing between the antennas</a:t>
            </a:r>
            <a:endParaRPr lang="en-GB"/>
          </a:p>
        </p:txBody>
      </p:sp>
    </p:spTree>
    <p:extLst>
      <p:ext uri="{BB962C8B-B14F-4D97-AF65-F5344CB8AC3E}">
        <p14:creationId xmlns:p14="http://schemas.microsoft.com/office/powerpoint/2010/main" val="31952686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F441A1-8E2F-F17A-527D-B59B8052F1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72B5C7-93D9-FD94-A148-98B2211C0E46}"/>
              </a:ext>
            </a:extLst>
          </p:cNvPr>
          <p:cNvSpPr>
            <a:spLocks noGrp="1"/>
          </p:cNvSpPr>
          <p:nvPr>
            <p:ph type="title"/>
          </p:nvPr>
        </p:nvSpPr>
        <p:spPr>
          <a:xfrm>
            <a:off x="24008" y="104166"/>
            <a:ext cx="1622122" cy="615755"/>
          </a:xfrm>
        </p:spPr>
        <p:txBody>
          <a:bodyPr>
            <a:normAutofit/>
          </a:bodyPr>
          <a:lstStyle/>
          <a:p>
            <a:r>
              <a:rPr lang="en-IN" sz="3200" b="1" u="sng">
                <a:latin typeface="Times New Roman"/>
                <a:cs typeface="Times New Roman"/>
              </a:rPr>
              <a:t>Results</a:t>
            </a:r>
            <a:r>
              <a:rPr lang="en-IN" sz="3200" b="1">
                <a:latin typeface="Times New Roman"/>
                <a:cs typeface="Times New Roman"/>
              </a:rPr>
              <a:t>:</a:t>
            </a:r>
          </a:p>
        </p:txBody>
      </p:sp>
      <p:sp>
        <p:nvSpPr>
          <p:cNvPr id="3" name="Content Placeholder 2">
            <a:extLst>
              <a:ext uri="{FF2B5EF4-FFF2-40B4-BE49-F238E27FC236}">
                <a16:creationId xmlns:a16="http://schemas.microsoft.com/office/drawing/2014/main" id="{3613BB8C-E130-7F89-513F-6C0E3A3B90C8}"/>
              </a:ext>
            </a:extLst>
          </p:cNvPr>
          <p:cNvSpPr>
            <a:spLocks noGrp="1"/>
          </p:cNvSpPr>
          <p:nvPr>
            <p:ph idx="1"/>
          </p:nvPr>
        </p:nvSpPr>
        <p:spPr>
          <a:xfrm>
            <a:off x="24008" y="875735"/>
            <a:ext cx="10515600" cy="4351338"/>
          </a:xfrm>
        </p:spPr>
        <p:txBody>
          <a:bodyPr vert="horz" lIns="91440" tIns="45720" rIns="91440" bIns="45720" rtlCol="0" anchor="t">
            <a:normAutofit fontScale="55000" lnSpcReduction="20000"/>
          </a:bodyPr>
          <a:lstStyle/>
          <a:p>
            <a:r>
              <a:rPr lang="en-IN" sz="3300">
                <a:latin typeface="Times New Roman"/>
                <a:ea typeface="Calibri"/>
                <a:cs typeface="Calibri"/>
              </a:rPr>
              <a:t>Analysis of the S-parameter plot for </a:t>
            </a:r>
            <a:r>
              <a:rPr lang="en-GB" sz="2900">
                <a:latin typeface="Times New Roman"/>
                <a:ea typeface="Calibri"/>
                <a:cs typeface="Times New Roman"/>
              </a:rPr>
              <a:t>1×2 Patch antenna Array without a Decoupling Structure with </a:t>
            </a:r>
            <a:r>
              <a:rPr lang="en-IN" sz="2900">
                <a:latin typeface="Times New Roman"/>
                <a:ea typeface="Calibri"/>
                <a:cs typeface="Calibri"/>
              </a:rPr>
              <a:t>HFSS  with centre to centre spacing as </a:t>
            </a:r>
            <a:r>
              <a:rPr lang="el-GR" sz="2900">
                <a:latin typeface="Times New Roman"/>
                <a:ea typeface="Calibri"/>
                <a:cs typeface="Times New Roman"/>
              </a:rPr>
              <a:t>0.4</a:t>
            </a:r>
            <a:r>
              <a:rPr lang="el-GR" sz="2900" b="1">
                <a:latin typeface="Times New Roman"/>
                <a:ea typeface="Calibri"/>
                <a:cs typeface="Times New Roman"/>
              </a:rPr>
              <a:t> </a:t>
            </a:r>
            <a:r>
              <a:rPr lang="el-GR" sz="2900">
                <a:latin typeface="Times New Roman"/>
                <a:ea typeface="Calibri"/>
                <a:cs typeface="Times New Roman"/>
              </a:rPr>
              <a:t>λ</a:t>
            </a:r>
            <a:r>
              <a:rPr lang="el-GR" sz="2500" baseline="-25000">
                <a:latin typeface="Times New Roman"/>
                <a:ea typeface="Calibri"/>
                <a:cs typeface="Times New Roman"/>
              </a:rPr>
              <a:t>0</a:t>
            </a:r>
            <a:r>
              <a:rPr lang="en-IN" sz="2900">
                <a:latin typeface="Times New Roman"/>
                <a:ea typeface="Calibri"/>
                <a:cs typeface="Calibri"/>
              </a:rPr>
              <a:t>.</a:t>
            </a:r>
            <a:endParaRPr lang="en-IN" sz="2900">
              <a:ea typeface="Calibri" panose="020F0502020204030204"/>
              <a:cs typeface="Calibri" panose="020F0502020204030204"/>
            </a:endParaRPr>
          </a:p>
          <a:p>
            <a:pPr marL="0" indent="0">
              <a:buNone/>
            </a:pPr>
            <a:endParaRPr lang="en-IN" sz="2400">
              <a:latin typeface="Times New Roman"/>
              <a:ea typeface="Calibri"/>
              <a:cs typeface="Calibri"/>
            </a:endParaRPr>
          </a:p>
          <a:p>
            <a:endParaRPr lang="en-IN" sz="2400">
              <a:latin typeface="Times New Roman"/>
              <a:ea typeface="Calibri"/>
              <a:cs typeface="Calibri"/>
            </a:endParaRPr>
          </a:p>
          <a:p>
            <a:endParaRPr lang="en-IN" sz="2400">
              <a:latin typeface="Times New Roman"/>
              <a:ea typeface="Calibri"/>
              <a:cs typeface="Calibri"/>
            </a:endParaRPr>
          </a:p>
          <a:p>
            <a:endParaRPr lang="en-IN" sz="2400">
              <a:latin typeface="Times New Roman"/>
              <a:ea typeface="Calibri"/>
              <a:cs typeface="Calibri"/>
            </a:endParaRPr>
          </a:p>
          <a:p>
            <a:endParaRPr lang="en-IN" sz="2400">
              <a:latin typeface="Times New Roman"/>
              <a:ea typeface="Calibri"/>
              <a:cs typeface="Calibri"/>
            </a:endParaRPr>
          </a:p>
          <a:p>
            <a:endParaRPr lang="en-IN" sz="2400">
              <a:latin typeface="Times New Roman"/>
              <a:ea typeface="Calibri"/>
              <a:cs typeface="Calibri"/>
            </a:endParaRPr>
          </a:p>
          <a:p>
            <a:endParaRPr lang="en-IN" sz="2400">
              <a:latin typeface="Times New Roman"/>
              <a:ea typeface="Calibri"/>
              <a:cs typeface="Calibri"/>
            </a:endParaRPr>
          </a:p>
          <a:p>
            <a:endParaRPr lang="en-IN" sz="2400">
              <a:latin typeface="Times New Roman"/>
              <a:ea typeface="Calibri"/>
              <a:cs typeface="Calibri"/>
            </a:endParaRPr>
          </a:p>
          <a:p>
            <a:endParaRPr lang="en-IN" sz="2400">
              <a:latin typeface="Times New Roman"/>
              <a:ea typeface="Calibri"/>
              <a:cs typeface="Calibri"/>
            </a:endParaRPr>
          </a:p>
          <a:p>
            <a:pPr marL="0" indent="0">
              <a:buNone/>
            </a:pPr>
            <a:endParaRPr lang="en-IN" sz="2400">
              <a:latin typeface="Times New Roman"/>
              <a:ea typeface="Calibri"/>
              <a:cs typeface="Calibri"/>
            </a:endParaRPr>
          </a:p>
          <a:p>
            <a:pPr marL="0" indent="0">
              <a:buNone/>
            </a:pPr>
            <a:endParaRPr lang="en-IN" sz="2400">
              <a:latin typeface="Times New Roman"/>
              <a:ea typeface="Calibri"/>
              <a:cs typeface="Calibri"/>
            </a:endParaRPr>
          </a:p>
          <a:p>
            <a:pPr marL="0" indent="0">
              <a:buNone/>
            </a:pPr>
            <a:r>
              <a:rPr lang="en-IN" sz="2400">
                <a:latin typeface="Times New Roman"/>
                <a:ea typeface="Calibri"/>
                <a:cs typeface="Calibri"/>
              </a:rPr>
              <a:t>   </a:t>
            </a:r>
            <a:endParaRPr lang="en-IN" sz="2900">
              <a:latin typeface="Times New Roman"/>
              <a:ea typeface="Calibri"/>
              <a:cs typeface="Calibri"/>
            </a:endParaRPr>
          </a:p>
          <a:p>
            <a:pPr marL="0" indent="0">
              <a:buNone/>
            </a:pPr>
            <a:r>
              <a:rPr lang="en-IN" sz="2300">
                <a:latin typeface="Times New Roman"/>
                <a:ea typeface="Calibri"/>
                <a:cs typeface="Calibri"/>
              </a:rPr>
              <a:t>    </a:t>
            </a:r>
          </a:p>
          <a:p>
            <a:pPr marL="0" indent="0">
              <a:buNone/>
            </a:pPr>
            <a:r>
              <a:rPr lang="en-IN" sz="2300">
                <a:latin typeface="Times New Roman"/>
                <a:ea typeface="Calibri"/>
                <a:cs typeface="Calibri"/>
              </a:rPr>
              <a:t>     </a:t>
            </a:r>
            <a:r>
              <a:rPr lang="en-IN" sz="2900">
                <a:latin typeface="Times New Roman"/>
                <a:ea typeface="Calibri"/>
                <a:cs typeface="Calibri"/>
              </a:rPr>
              <a:t>Figure 11.  Simulated S</a:t>
            </a:r>
            <a:r>
              <a:rPr lang="en-IN" sz="2900" baseline="-25000">
                <a:latin typeface="Times New Roman"/>
                <a:ea typeface="Calibri"/>
                <a:cs typeface="Calibri"/>
              </a:rPr>
              <a:t>11</a:t>
            </a:r>
            <a:r>
              <a:rPr lang="en-IN" sz="2900">
                <a:latin typeface="Times New Roman"/>
                <a:ea typeface="Calibri"/>
                <a:cs typeface="Calibri"/>
              </a:rPr>
              <a:t> of  </a:t>
            </a:r>
            <a:r>
              <a:rPr lang="en-GB" sz="2900">
                <a:latin typeface="Times New Roman"/>
                <a:ea typeface="Calibri"/>
                <a:cs typeface="Times New Roman"/>
              </a:rPr>
              <a:t>1×2 Patch antenna Array </a:t>
            </a:r>
            <a:endParaRPr lang="en-IN" sz="2900">
              <a:latin typeface="Times New Roman"/>
              <a:ea typeface="Calibri"/>
              <a:cs typeface="Calibri"/>
            </a:endParaRPr>
          </a:p>
          <a:p>
            <a:pPr marL="0" indent="0">
              <a:buNone/>
            </a:pPr>
            <a:endParaRPr lang="en-IN" sz="2400">
              <a:latin typeface="Times New Roman"/>
              <a:ea typeface="Calibri"/>
              <a:cs typeface="Calibri"/>
            </a:endParaRPr>
          </a:p>
          <a:p>
            <a:pPr marL="0" indent="0">
              <a:buNone/>
            </a:pPr>
            <a:endParaRPr lang="en-IN" sz="2400">
              <a:latin typeface="Times New Roman"/>
              <a:ea typeface="Calibri"/>
              <a:cs typeface="Calibri"/>
            </a:endParaRPr>
          </a:p>
          <a:p>
            <a:endParaRPr lang="en-IN">
              <a:latin typeface="Times New Roman"/>
              <a:ea typeface="Calibri"/>
              <a:cs typeface="Calibri"/>
            </a:endParaRPr>
          </a:p>
          <a:p>
            <a:endParaRPr lang="en-IN">
              <a:latin typeface="Times New Roman"/>
              <a:ea typeface="Calibri"/>
              <a:cs typeface="Calibri"/>
            </a:endParaRPr>
          </a:p>
          <a:p>
            <a:pPr marL="0" indent="0">
              <a:buNone/>
            </a:pPr>
            <a:endParaRPr lang="en-IN">
              <a:latin typeface="Times New Roman"/>
              <a:ea typeface="Calibri"/>
              <a:cs typeface="Calibri"/>
            </a:endParaRPr>
          </a:p>
          <a:p>
            <a:endParaRPr lang="en-IN">
              <a:latin typeface="Times New Roman"/>
              <a:ea typeface="Calibri"/>
              <a:cs typeface="Calibri"/>
            </a:endParaRPr>
          </a:p>
          <a:p>
            <a:endParaRPr lang="en-IN">
              <a:latin typeface="Times New Roman"/>
              <a:ea typeface="Calibri"/>
              <a:cs typeface="Calibri"/>
            </a:endParaRPr>
          </a:p>
          <a:p>
            <a:endParaRPr lang="en-IN">
              <a:latin typeface="Times New Roman"/>
              <a:ea typeface="Calibri"/>
              <a:cs typeface="Calibri"/>
            </a:endParaRPr>
          </a:p>
          <a:p>
            <a:endParaRPr lang="en-IN">
              <a:latin typeface="Times New Roman"/>
              <a:ea typeface="Calibri"/>
              <a:cs typeface="Calibri"/>
            </a:endParaRPr>
          </a:p>
          <a:p>
            <a:pPr marL="0" indent="0">
              <a:buNone/>
            </a:pPr>
            <a:endParaRPr lang="en-IN" sz="2000">
              <a:latin typeface="Times New Roman"/>
              <a:ea typeface="Calibri"/>
              <a:cs typeface="Calibri"/>
            </a:endParaRPr>
          </a:p>
        </p:txBody>
      </p:sp>
      <p:sp>
        <p:nvSpPr>
          <p:cNvPr id="4" name="Date Placeholder 3">
            <a:extLst>
              <a:ext uri="{FF2B5EF4-FFF2-40B4-BE49-F238E27FC236}">
                <a16:creationId xmlns:a16="http://schemas.microsoft.com/office/drawing/2014/main" id="{99E698C7-017C-ECD1-547B-E15E009BA5B4}"/>
              </a:ext>
            </a:extLst>
          </p:cNvPr>
          <p:cNvSpPr>
            <a:spLocks noGrp="1"/>
          </p:cNvSpPr>
          <p:nvPr>
            <p:ph type="dt" sz="half" idx="10"/>
          </p:nvPr>
        </p:nvSpPr>
        <p:spPr/>
        <p:txBody>
          <a:bodyPr/>
          <a:lstStyle/>
          <a:p>
            <a:fld id="{C0883387-8E05-44FA-9CA1-FD7515E30DCB}" type="datetime1">
              <a:rPr lang="en-IN" smtClean="0"/>
              <a:t>09-02-2026</a:t>
            </a:fld>
            <a:endParaRPr lang="en-IN"/>
          </a:p>
        </p:txBody>
      </p:sp>
      <p:sp>
        <p:nvSpPr>
          <p:cNvPr id="5" name="Footer Placeholder 4">
            <a:extLst>
              <a:ext uri="{FF2B5EF4-FFF2-40B4-BE49-F238E27FC236}">
                <a16:creationId xmlns:a16="http://schemas.microsoft.com/office/drawing/2014/main" id="{E8213398-1A51-CA05-6F0C-EA45B9508981}"/>
              </a:ext>
            </a:extLst>
          </p:cNvPr>
          <p:cNvSpPr>
            <a:spLocks noGrp="1"/>
          </p:cNvSpPr>
          <p:nvPr>
            <p:ph type="ftr" sz="quarter" idx="11"/>
          </p:nvPr>
        </p:nvSpPr>
        <p:spPr/>
        <p:txBody>
          <a:bodyPr/>
          <a:lstStyle/>
          <a:p>
            <a:r>
              <a:rPr lang="en-IN"/>
              <a:t>Review 2.2</a:t>
            </a:r>
          </a:p>
        </p:txBody>
      </p:sp>
      <p:sp>
        <p:nvSpPr>
          <p:cNvPr id="6" name="Slide Number Placeholder 5">
            <a:extLst>
              <a:ext uri="{FF2B5EF4-FFF2-40B4-BE49-F238E27FC236}">
                <a16:creationId xmlns:a16="http://schemas.microsoft.com/office/drawing/2014/main" id="{EE83B619-ABB8-A93A-8778-5005B97B5BB5}"/>
              </a:ext>
            </a:extLst>
          </p:cNvPr>
          <p:cNvSpPr>
            <a:spLocks noGrp="1"/>
          </p:cNvSpPr>
          <p:nvPr>
            <p:ph type="sldNum" sz="quarter" idx="12"/>
          </p:nvPr>
        </p:nvSpPr>
        <p:spPr/>
        <p:txBody>
          <a:bodyPr/>
          <a:lstStyle/>
          <a:p>
            <a:fld id="{1CCCFFBF-4DCD-46DE-85E1-69841FB49368}" type="slidenum">
              <a:rPr lang="en-IN" smtClean="0"/>
              <a:t>16</a:t>
            </a:fld>
            <a:endParaRPr lang="en-IN"/>
          </a:p>
        </p:txBody>
      </p:sp>
      <p:pic>
        <p:nvPicPr>
          <p:cNvPr id="8" name="Picture 7" descr="A pink and black logo&#10;&#10;AI-generated content may be incorrect.">
            <a:extLst>
              <a:ext uri="{FF2B5EF4-FFF2-40B4-BE49-F238E27FC236}">
                <a16:creationId xmlns:a16="http://schemas.microsoft.com/office/drawing/2014/main" id="{C9CA61C6-D99D-BBF3-93A7-9CF14B36A58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92871" y="-31376"/>
            <a:ext cx="1999129" cy="591742"/>
          </a:xfrm>
          <a:prstGeom prst="rect">
            <a:avLst/>
          </a:prstGeom>
        </p:spPr>
      </p:pic>
      <p:pic>
        <p:nvPicPr>
          <p:cNvPr id="7" name="Picture 6" descr="A graph with green lines and yellow labels&#10;&#10;AI-generated content may be incorrect.">
            <a:extLst>
              <a:ext uri="{FF2B5EF4-FFF2-40B4-BE49-F238E27FC236}">
                <a16:creationId xmlns:a16="http://schemas.microsoft.com/office/drawing/2014/main" id="{8B517C64-26FB-5665-C6BE-FC0C9F83F55E}"/>
              </a:ext>
            </a:extLst>
          </p:cNvPr>
          <p:cNvPicPr>
            <a:picLocks noChangeAspect="1"/>
          </p:cNvPicPr>
          <p:nvPr/>
        </p:nvPicPr>
        <p:blipFill>
          <a:blip r:embed="rId3"/>
          <a:stretch>
            <a:fillRect/>
          </a:stretch>
        </p:blipFill>
        <p:spPr>
          <a:xfrm>
            <a:off x="334027" y="1362025"/>
            <a:ext cx="5396172" cy="3103009"/>
          </a:xfrm>
          <a:prstGeom prst="rect">
            <a:avLst/>
          </a:prstGeom>
        </p:spPr>
      </p:pic>
      <p:pic>
        <p:nvPicPr>
          <p:cNvPr id="9" name="Picture 8" descr="A diagram of a rectangular object&#10;&#10;AI-generated content may be incorrect.">
            <a:extLst>
              <a:ext uri="{FF2B5EF4-FFF2-40B4-BE49-F238E27FC236}">
                <a16:creationId xmlns:a16="http://schemas.microsoft.com/office/drawing/2014/main" id="{CDD4538A-DC9E-2ACF-B4AD-A7C19AC70B0C}"/>
              </a:ext>
            </a:extLst>
          </p:cNvPr>
          <p:cNvPicPr>
            <a:picLocks noChangeAspect="1"/>
          </p:cNvPicPr>
          <p:nvPr/>
        </p:nvPicPr>
        <p:blipFill>
          <a:blip r:embed="rId4"/>
          <a:stretch>
            <a:fillRect/>
          </a:stretch>
        </p:blipFill>
        <p:spPr>
          <a:xfrm>
            <a:off x="6202455" y="1165972"/>
            <a:ext cx="4605619" cy="3483909"/>
          </a:xfrm>
          <a:prstGeom prst="rect">
            <a:avLst/>
          </a:prstGeom>
        </p:spPr>
      </p:pic>
      <p:sp>
        <p:nvSpPr>
          <p:cNvPr id="11" name="TextBox 10">
            <a:extLst>
              <a:ext uri="{FF2B5EF4-FFF2-40B4-BE49-F238E27FC236}">
                <a16:creationId xmlns:a16="http://schemas.microsoft.com/office/drawing/2014/main" id="{A08DE9A7-8460-C50F-813E-351C0B9213DE}"/>
              </a:ext>
            </a:extLst>
          </p:cNvPr>
          <p:cNvSpPr txBox="1"/>
          <p:nvPr/>
        </p:nvSpPr>
        <p:spPr>
          <a:xfrm>
            <a:off x="6468422" y="4830316"/>
            <a:ext cx="5278345"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a:latin typeface="Times New Roman"/>
                <a:cs typeface="Times New Roman"/>
              </a:rPr>
              <a:t>Figure 11.</a:t>
            </a:r>
            <a:r>
              <a:rPr lang="en-GB">
                <a:latin typeface="Times New Roman"/>
                <a:cs typeface="Times New Roman"/>
              </a:rPr>
              <a:t>1×2 Patch antenna Array</a:t>
            </a:r>
            <a:r>
              <a:rPr lang="en-GB" sz="1600">
                <a:latin typeface="Times New Roman"/>
                <a:cs typeface="Times New Roman"/>
              </a:rPr>
              <a:t> </a:t>
            </a:r>
            <a:r>
              <a:rPr lang="en-IN">
                <a:latin typeface="Times New Roman"/>
                <a:cs typeface="Times New Roman"/>
              </a:rPr>
              <a:t>with centre-to-centre spacing as </a:t>
            </a:r>
            <a:r>
              <a:rPr lang="el-GR">
                <a:latin typeface="Times New Roman"/>
                <a:cs typeface="Times New Roman"/>
              </a:rPr>
              <a:t>0.4</a:t>
            </a:r>
            <a:r>
              <a:rPr lang="el-GR" b="1">
                <a:latin typeface="Times New Roman"/>
                <a:cs typeface="Times New Roman"/>
              </a:rPr>
              <a:t> </a:t>
            </a:r>
            <a:r>
              <a:rPr lang="el-GR">
                <a:latin typeface="Times New Roman"/>
                <a:cs typeface="Times New Roman"/>
              </a:rPr>
              <a:t>λ</a:t>
            </a:r>
            <a:r>
              <a:rPr lang="el-GR" sz="800" baseline="-25000">
                <a:latin typeface="Times New Roman"/>
                <a:cs typeface="Times New Roman"/>
              </a:rPr>
              <a:t>0</a:t>
            </a:r>
            <a:r>
              <a:rPr lang="en-IN">
                <a:latin typeface="Times New Roman"/>
                <a:cs typeface="Times New Roman"/>
              </a:rPr>
              <a:t>.</a:t>
            </a:r>
            <a:endParaRPr lang="en-US"/>
          </a:p>
        </p:txBody>
      </p:sp>
    </p:spTree>
    <p:extLst>
      <p:ext uri="{BB962C8B-B14F-4D97-AF65-F5344CB8AC3E}">
        <p14:creationId xmlns:p14="http://schemas.microsoft.com/office/powerpoint/2010/main" val="22601429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D9AEF0-9CA5-296C-6BBA-C4452FD7EC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614076-F573-19E0-0099-891637B28B52}"/>
              </a:ext>
            </a:extLst>
          </p:cNvPr>
          <p:cNvSpPr>
            <a:spLocks noGrp="1"/>
          </p:cNvSpPr>
          <p:nvPr>
            <p:ph type="title"/>
          </p:nvPr>
        </p:nvSpPr>
        <p:spPr>
          <a:xfrm>
            <a:off x="24008" y="104166"/>
            <a:ext cx="1622122" cy="615755"/>
          </a:xfrm>
        </p:spPr>
        <p:txBody>
          <a:bodyPr>
            <a:normAutofit/>
          </a:bodyPr>
          <a:lstStyle/>
          <a:p>
            <a:r>
              <a:rPr lang="en-IN" sz="3200" b="1" u="sng">
                <a:latin typeface="Times New Roman"/>
                <a:cs typeface="Times New Roman"/>
              </a:rPr>
              <a:t>Results</a:t>
            </a:r>
            <a:r>
              <a:rPr lang="en-IN" sz="3200" b="1">
                <a:latin typeface="Times New Roman"/>
                <a:cs typeface="Times New Roman"/>
              </a:rPr>
              <a:t>:</a:t>
            </a:r>
          </a:p>
        </p:txBody>
      </p:sp>
      <p:sp>
        <p:nvSpPr>
          <p:cNvPr id="3" name="Content Placeholder 2">
            <a:extLst>
              <a:ext uri="{FF2B5EF4-FFF2-40B4-BE49-F238E27FC236}">
                <a16:creationId xmlns:a16="http://schemas.microsoft.com/office/drawing/2014/main" id="{0C24D5BE-58DC-7329-48BF-F0F94850B310}"/>
              </a:ext>
            </a:extLst>
          </p:cNvPr>
          <p:cNvSpPr>
            <a:spLocks noGrp="1"/>
          </p:cNvSpPr>
          <p:nvPr>
            <p:ph idx="1"/>
          </p:nvPr>
        </p:nvSpPr>
        <p:spPr>
          <a:xfrm>
            <a:off x="24008" y="875735"/>
            <a:ext cx="10515600" cy="4351338"/>
          </a:xfrm>
        </p:spPr>
        <p:txBody>
          <a:bodyPr vert="horz" lIns="91440" tIns="45720" rIns="91440" bIns="45720" rtlCol="0" anchor="t">
            <a:normAutofit fontScale="55000" lnSpcReduction="20000"/>
          </a:bodyPr>
          <a:lstStyle/>
          <a:p>
            <a:r>
              <a:rPr lang="en-IN" sz="3300">
                <a:latin typeface="Times New Roman"/>
                <a:ea typeface="Calibri"/>
                <a:cs typeface="Calibri"/>
              </a:rPr>
              <a:t>Analysis of the S-parameter plot for </a:t>
            </a:r>
            <a:r>
              <a:rPr lang="en-GB" sz="2900">
                <a:latin typeface="Times New Roman"/>
                <a:ea typeface="Calibri"/>
                <a:cs typeface="Times New Roman"/>
              </a:rPr>
              <a:t>1×2 Patch antenna Array without a Decoupling Structure with </a:t>
            </a:r>
            <a:r>
              <a:rPr lang="en-IN" sz="2900">
                <a:latin typeface="Times New Roman"/>
                <a:ea typeface="Calibri"/>
                <a:cs typeface="Calibri"/>
              </a:rPr>
              <a:t>HFSS  with centre to centre spacing as </a:t>
            </a:r>
            <a:r>
              <a:rPr lang="el-GR" sz="2900">
                <a:latin typeface="Times New Roman"/>
                <a:ea typeface="Calibri"/>
                <a:cs typeface="Times New Roman"/>
              </a:rPr>
              <a:t>0.4</a:t>
            </a:r>
            <a:r>
              <a:rPr lang="el-GR" sz="2900" b="1">
                <a:latin typeface="Times New Roman"/>
                <a:ea typeface="Calibri"/>
                <a:cs typeface="Times New Roman"/>
              </a:rPr>
              <a:t> </a:t>
            </a:r>
            <a:r>
              <a:rPr lang="el-GR" sz="2900">
                <a:latin typeface="Times New Roman"/>
                <a:ea typeface="Calibri"/>
                <a:cs typeface="Times New Roman"/>
              </a:rPr>
              <a:t>λ</a:t>
            </a:r>
            <a:r>
              <a:rPr lang="el-GR" sz="2500" baseline="-25000">
                <a:latin typeface="Times New Roman"/>
                <a:ea typeface="Calibri"/>
                <a:cs typeface="Times New Roman"/>
              </a:rPr>
              <a:t>0</a:t>
            </a:r>
            <a:r>
              <a:rPr lang="en-IN" sz="2900">
                <a:latin typeface="Times New Roman"/>
                <a:ea typeface="Calibri"/>
                <a:cs typeface="Calibri"/>
              </a:rPr>
              <a:t>.</a:t>
            </a:r>
            <a:endParaRPr lang="en-IN" sz="2900">
              <a:ea typeface="Calibri" panose="020F0502020204030204"/>
              <a:cs typeface="Calibri" panose="020F0502020204030204"/>
            </a:endParaRPr>
          </a:p>
          <a:p>
            <a:pPr marL="0" indent="0">
              <a:buNone/>
            </a:pPr>
            <a:endParaRPr lang="en-IN" sz="2400">
              <a:latin typeface="Times New Roman"/>
              <a:ea typeface="Calibri"/>
              <a:cs typeface="Calibri"/>
            </a:endParaRPr>
          </a:p>
          <a:p>
            <a:endParaRPr lang="en-IN" sz="2400">
              <a:latin typeface="Times New Roman"/>
              <a:ea typeface="Calibri"/>
              <a:cs typeface="Calibri"/>
            </a:endParaRPr>
          </a:p>
          <a:p>
            <a:endParaRPr lang="en-IN" sz="2400">
              <a:latin typeface="Times New Roman"/>
              <a:ea typeface="Calibri"/>
              <a:cs typeface="Calibri"/>
            </a:endParaRPr>
          </a:p>
          <a:p>
            <a:endParaRPr lang="en-IN" sz="2400">
              <a:latin typeface="Times New Roman"/>
              <a:ea typeface="Calibri"/>
              <a:cs typeface="Calibri"/>
            </a:endParaRPr>
          </a:p>
          <a:p>
            <a:endParaRPr lang="en-IN" sz="2400">
              <a:latin typeface="Times New Roman"/>
              <a:ea typeface="Calibri"/>
              <a:cs typeface="Calibri"/>
            </a:endParaRPr>
          </a:p>
          <a:p>
            <a:endParaRPr lang="en-IN" sz="2400">
              <a:latin typeface="Times New Roman"/>
              <a:ea typeface="Calibri"/>
              <a:cs typeface="Calibri"/>
            </a:endParaRPr>
          </a:p>
          <a:p>
            <a:endParaRPr lang="en-IN" sz="2400">
              <a:latin typeface="Times New Roman"/>
              <a:ea typeface="Calibri"/>
              <a:cs typeface="Calibri"/>
            </a:endParaRPr>
          </a:p>
          <a:p>
            <a:endParaRPr lang="en-IN" sz="2400">
              <a:latin typeface="Times New Roman"/>
              <a:ea typeface="Calibri"/>
              <a:cs typeface="Calibri"/>
            </a:endParaRPr>
          </a:p>
          <a:p>
            <a:endParaRPr lang="en-IN" sz="2400">
              <a:latin typeface="Times New Roman"/>
              <a:ea typeface="Calibri"/>
              <a:cs typeface="Calibri"/>
            </a:endParaRPr>
          </a:p>
          <a:p>
            <a:pPr marL="0" indent="0">
              <a:buNone/>
            </a:pPr>
            <a:endParaRPr lang="en-IN" sz="2400">
              <a:latin typeface="Times New Roman"/>
              <a:ea typeface="Calibri"/>
              <a:cs typeface="Calibri"/>
            </a:endParaRPr>
          </a:p>
          <a:p>
            <a:pPr marL="0" indent="0">
              <a:buNone/>
            </a:pPr>
            <a:endParaRPr lang="en-IN" sz="2400">
              <a:latin typeface="Times New Roman"/>
              <a:ea typeface="Calibri"/>
              <a:cs typeface="Calibri"/>
            </a:endParaRPr>
          </a:p>
          <a:p>
            <a:pPr marL="0" indent="0">
              <a:buNone/>
            </a:pPr>
            <a:r>
              <a:rPr lang="en-IN" sz="2400">
                <a:latin typeface="Times New Roman"/>
                <a:ea typeface="Calibri"/>
                <a:cs typeface="Calibri"/>
              </a:rPr>
              <a:t>   </a:t>
            </a:r>
            <a:endParaRPr lang="en-IN" sz="2900">
              <a:latin typeface="Times New Roman"/>
              <a:ea typeface="Calibri"/>
              <a:cs typeface="Calibri"/>
            </a:endParaRPr>
          </a:p>
          <a:p>
            <a:pPr marL="0" indent="0">
              <a:buNone/>
            </a:pPr>
            <a:r>
              <a:rPr lang="en-IN" sz="2300">
                <a:latin typeface="Times New Roman"/>
                <a:ea typeface="Calibri"/>
                <a:cs typeface="Calibri"/>
              </a:rPr>
              <a:t>    </a:t>
            </a:r>
          </a:p>
          <a:p>
            <a:pPr marL="0" indent="0">
              <a:buNone/>
            </a:pPr>
            <a:r>
              <a:rPr lang="en-IN" sz="2300">
                <a:latin typeface="Times New Roman"/>
                <a:ea typeface="Calibri"/>
                <a:cs typeface="Calibri"/>
              </a:rPr>
              <a:t>     </a:t>
            </a:r>
            <a:r>
              <a:rPr lang="en-IN" sz="2900">
                <a:latin typeface="Times New Roman"/>
                <a:ea typeface="Calibri"/>
                <a:cs typeface="Calibri"/>
              </a:rPr>
              <a:t>Figure 12.  Simulated S</a:t>
            </a:r>
            <a:r>
              <a:rPr lang="en-IN" sz="2900" baseline="-25000">
                <a:latin typeface="Times New Roman"/>
                <a:ea typeface="Calibri"/>
                <a:cs typeface="Calibri"/>
              </a:rPr>
              <a:t>21</a:t>
            </a:r>
            <a:r>
              <a:rPr lang="en-IN" sz="2900">
                <a:latin typeface="Times New Roman"/>
                <a:ea typeface="Calibri"/>
                <a:cs typeface="Calibri"/>
              </a:rPr>
              <a:t> of  </a:t>
            </a:r>
            <a:r>
              <a:rPr lang="en-GB" sz="2900">
                <a:latin typeface="Times New Roman"/>
                <a:ea typeface="Calibri"/>
                <a:cs typeface="Times New Roman"/>
              </a:rPr>
              <a:t>1×2 Patch antenna Array </a:t>
            </a:r>
            <a:endParaRPr lang="en-IN" sz="2900">
              <a:latin typeface="Times New Roman"/>
              <a:ea typeface="Calibri"/>
              <a:cs typeface="Calibri"/>
            </a:endParaRPr>
          </a:p>
          <a:p>
            <a:pPr marL="0" indent="0">
              <a:buNone/>
            </a:pPr>
            <a:endParaRPr lang="en-IN" sz="2400">
              <a:latin typeface="Times New Roman"/>
              <a:ea typeface="Calibri"/>
              <a:cs typeface="Calibri"/>
            </a:endParaRPr>
          </a:p>
          <a:p>
            <a:pPr marL="0" indent="0">
              <a:buNone/>
            </a:pPr>
            <a:endParaRPr lang="en-IN" sz="2400">
              <a:latin typeface="Times New Roman"/>
              <a:ea typeface="Calibri"/>
              <a:cs typeface="Calibri"/>
            </a:endParaRPr>
          </a:p>
          <a:p>
            <a:endParaRPr lang="en-IN">
              <a:latin typeface="Times New Roman"/>
              <a:ea typeface="Calibri"/>
              <a:cs typeface="Calibri"/>
            </a:endParaRPr>
          </a:p>
          <a:p>
            <a:endParaRPr lang="en-IN">
              <a:latin typeface="Times New Roman"/>
              <a:ea typeface="Calibri"/>
              <a:cs typeface="Calibri"/>
            </a:endParaRPr>
          </a:p>
          <a:p>
            <a:pPr marL="0" indent="0">
              <a:buNone/>
            </a:pPr>
            <a:endParaRPr lang="en-IN">
              <a:latin typeface="Times New Roman"/>
              <a:ea typeface="Calibri"/>
              <a:cs typeface="Calibri"/>
            </a:endParaRPr>
          </a:p>
          <a:p>
            <a:endParaRPr lang="en-IN">
              <a:latin typeface="Times New Roman"/>
              <a:ea typeface="Calibri"/>
              <a:cs typeface="Calibri"/>
            </a:endParaRPr>
          </a:p>
          <a:p>
            <a:endParaRPr lang="en-IN">
              <a:latin typeface="Times New Roman"/>
              <a:ea typeface="Calibri"/>
              <a:cs typeface="Calibri"/>
            </a:endParaRPr>
          </a:p>
          <a:p>
            <a:endParaRPr lang="en-IN">
              <a:latin typeface="Times New Roman"/>
              <a:ea typeface="Calibri"/>
              <a:cs typeface="Calibri"/>
            </a:endParaRPr>
          </a:p>
          <a:p>
            <a:endParaRPr lang="en-IN">
              <a:latin typeface="Times New Roman"/>
              <a:ea typeface="Calibri"/>
              <a:cs typeface="Calibri"/>
            </a:endParaRPr>
          </a:p>
          <a:p>
            <a:pPr marL="0" indent="0">
              <a:buNone/>
            </a:pPr>
            <a:endParaRPr lang="en-IN" sz="2000">
              <a:latin typeface="Times New Roman"/>
              <a:ea typeface="Calibri"/>
              <a:cs typeface="Calibri"/>
            </a:endParaRPr>
          </a:p>
        </p:txBody>
      </p:sp>
      <p:sp>
        <p:nvSpPr>
          <p:cNvPr id="4" name="Date Placeholder 3">
            <a:extLst>
              <a:ext uri="{FF2B5EF4-FFF2-40B4-BE49-F238E27FC236}">
                <a16:creationId xmlns:a16="http://schemas.microsoft.com/office/drawing/2014/main" id="{186CF377-25B9-5965-3A04-2876FFAEB8E8}"/>
              </a:ext>
            </a:extLst>
          </p:cNvPr>
          <p:cNvSpPr>
            <a:spLocks noGrp="1"/>
          </p:cNvSpPr>
          <p:nvPr>
            <p:ph type="dt" sz="half" idx="10"/>
          </p:nvPr>
        </p:nvSpPr>
        <p:spPr/>
        <p:txBody>
          <a:bodyPr/>
          <a:lstStyle/>
          <a:p>
            <a:fld id="{C0883387-8E05-44FA-9CA1-FD7515E30DCB}" type="datetime1">
              <a:rPr lang="en-IN" smtClean="0"/>
              <a:t>09-02-2026</a:t>
            </a:fld>
            <a:endParaRPr lang="en-IN"/>
          </a:p>
        </p:txBody>
      </p:sp>
      <p:sp>
        <p:nvSpPr>
          <p:cNvPr id="5" name="Footer Placeholder 4">
            <a:extLst>
              <a:ext uri="{FF2B5EF4-FFF2-40B4-BE49-F238E27FC236}">
                <a16:creationId xmlns:a16="http://schemas.microsoft.com/office/drawing/2014/main" id="{31DC5A23-2FAB-1A1C-A524-16CC72A064EB}"/>
              </a:ext>
            </a:extLst>
          </p:cNvPr>
          <p:cNvSpPr>
            <a:spLocks noGrp="1"/>
          </p:cNvSpPr>
          <p:nvPr>
            <p:ph type="ftr" sz="quarter" idx="11"/>
          </p:nvPr>
        </p:nvSpPr>
        <p:spPr/>
        <p:txBody>
          <a:bodyPr/>
          <a:lstStyle/>
          <a:p>
            <a:r>
              <a:rPr lang="en-IN"/>
              <a:t>Review 2.2</a:t>
            </a:r>
          </a:p>
        </p:txBody>
      </p:sp>
      <p:sp>
        <p:nvSpPr>
          <p:cNvPr id="6" name="Slide Number Placeholder 5">
            <a:extLst>
              <a:ext uri="{FF2B5EF4-FFF2-40B4-BE49-F238E27FC236}">
                <a16:creationId xmlns:a16="http://schemas.microsoft.com/office/drawing/2014/main" id="{2B2B6BF5-BF88-67D9-82EE-FB1EB08668DA}"/>
              </a:ext>
            </a:extLst>
          </p:cNvPr>
          <p:cNvSpPr>
            <a:spLocks noGrp="1"/>
          </p:cNvSpPr>
          <p:nvPr>
            <p:ph type="sldNum" sz="quarter" idx="12"/>
          </p:nvPr>
        </p:nvSpPr>
        <p:spPr/>
        <p:txBody>
          <a:bodyPr/>
          <a:lstStyle/>
          <a:p>
            <a:fld id="{1CCCFFBF-4DCD-46DE-85E1-69841FB49368}" type="slidenum">
              <a:rPr lang="en-IN" smtClean="0"/>
              <a:t>17</a:t>
            </a:fld>
            <a:endParaRPr lang="en-IN"/>
          </a:p>
        </p:txBody>
      </p:sp>
      <p:pic>
        <p:nvPicPr>
          <p:cNvPr id="8" name="Picture 7" descr="A pink and black logo&#10;&#10;AI-generated content may be incorrect.">
            <a:extLst>
              <a:ext uri="{FF2B5EF4-FFF2-40B4-BE49-F238E27FC236}">
                <a16:creationId xmlns:a16="http://schemas.microsoft.com/office/drawing/2014/main" id="{9E5B9A08-57F2-E63A-FA43-2BD46395E3E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92871" y="-31376"/>
            <a:ext cx="1999129" cy="591742"/>
          </a:xfrm>
          <a:prstGeom prst="rect">
            <a:avLst/>
          </a:prstGeom>
        </p:spPr>
      </p:pic>
      <p:pic>
        <p:nvPicPr>
          <p:cNvPr id="9" name="Picture 8" descr="A graph with blue lines and yellow labels&#10;&#10;AI-generated content may be incorrect.">
            <a:extLst>
              <a:ext uri="{FF2B5EF4-FFF2-40B4-BE49-F238E27FC236}">
                <a16:creationId xmlns:a16="http://schemas.microsoft.com/office/drawing/2014/main" id="{97DEA2E6-500A-0D64-4B7C-E97DFFA3D1CC}"/>
              </a:ext>
            </a:extLst>
          </p:cNvPr>
          <p:cNvPicPr>
            <a:picLocks noChangeAspect="1"/>
          </p:cNvPicPr>
          <p:nvPr/>
        </p:nvPicPr>
        <p:blipFill>
          <a:blip r:embed="rId3"/>
          <a:stretch>
            <a:fillRect/>
          </a:stretch>
        </p:blipFill>
        <p:spPr>
          <a:xfrm>
            <a:off x="336330" y="1435375"/>
            <a:ext cx="4949318" cy="2580992"/>
          </a:xfrm>
          <a:prstGeom prst="rect">
            <a:avLst/>
          </a:prstGeom>
        </p:spPr>
      </p:pic>
      <p:graphicFrame>
        <p:nvGraphicFramePr>
          <p:cNvPr id="10" name="Table 9">
            <a:extLst>
              <a:ext uri="{FF2B5EF4-FFF2-40B4-BE49-F238E27FC236}">
                <a16:creationId xmlns:a16="http://schemas.microsoft.com/office/drawing/2014/main" id="{8887292E-3BC3-60D3-33D8-CA6B5BFA6529}"/>
              </a:ext>
            </a:extLst>
          </p:cNvPr>
          <p:cNvGraphicFramePr>
            <a:graphicFrameLocks noGrp="1"/>
          </p:cNvGraphicFramePr>
          <p:nvPr>
            <p:extLst>
              <p:ext uri="{D42A27DB-BD31-4B8C-83A1-F6EECF244321}">
                <p14:modId xmlns:p14="http://schemas.microsoft.com/office/powerpoint/2010/main" val="2318868457"/>
              </p:ext>
            </p:extLst>
          </p:nvPr>
        </p:nvGraphicFramePr>
        <p:xfrm>
          <a:off x="6208058" y="1467970"/>
          <a:ext cx="5542022" cy="1645920"/>
        </p:xfrm>
        <a:graphic>
          <a:graphicData uri="http://schemas.openxmlformats.org/drawingml/2006/table">
            <a:tbl>
              <a:tblPr firstRow="1" firstCol="1" bandRow="1">
                <a:tableStyleId>{5C22544A-7EE6-4342-B048-85BDC9FD1C3A}</a:tableStyleId>
              </a:tblPr>
              <a:tblGrid>
                <a:gridCol w="1860698">
                  <a:extLst>
                    <a:ext uri="{9D8B030D-6E8A-4147-A177-3AD203B41FA5}">
                      <a16:colId xmlns:a16="http://schemas.microsoft.com/office/drawing/2014/main" val="3512262732"/>
                    </a:ext>
                  </a:extLst>
                </a:gridCol>
                <a:gridCol w="1833773">
                  <a:extLst>
                    <a:ext uri="{9D8B030D-6E8A-4147-A177-3AD203B41FA5}">
                      <a16:colId xmlns:a16="http://schemas.microsoft.com/office/drawing/2014/main" val="1301493863"/>
                    </a:ext>
                  </a:extLst>
                </a:gridCol>
                <a:gridCol w="1847551">
                  <a:extLst>
                    <a:ext uri="{9D8B030D-6E8A-4147-A177-3AD203B41FA5}">
                      <a16:colId xmlns:a16="http://schemas.microsoft.com/office/drawing/2014/main" val="1464065069"/>
                    </a:ext>
                  </a:extLst>
                </a:gridCol>
              </a:tblGrid>
              <a:tr h="350220">
                <a:tc>
                  <a:txBody>
                    <a:bodyPr/>
                    <a:lstStyle/>
                    <a:p>
                      <a:pPr algn="l">
                        <a:buNone/>
                      </a:pPr>
                      <a:r>
                        <a:rPr lang="en-US" b="1">
                          <a:solidFill>
                            <a:schemeClr val="tx1"/>
                          </a:solidFill>
                          <a:effectLst/>
                          <a:latin typeface="Times New Roman"/>
                        </a:rPr>
                        <a:t>           Variable</a:t>
                      </a:r>
                      <a:endParaRPr lang="en-US">
                        <a:solidFill>
                          <a:schemeClr val="tx1"/>
                        </a:solidFill>
                        <a:effectLst/>
                        <a:latin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buNone/>
                      </a:pPr>
                      <a:r>
                        <a:rPr lang="en-US" b="1">
                          <a:solidFill>
                            <a:schemeClr val="tx1"/>
                          </a:solidFill>
                          <a:effectLst/>
                          <a:latin typeface="Times New Roman"/>
                        </a:rPr>
                        <a:t>             Value</a:t>
                      </a:r>
                      <a:endParaRPr lang="en-US">
                        <a:solidFill>
                          <a:schemeClr val="tx1"/>
                        </a:solidFill>
                        <a:effectLst/>
                        <a:latin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buNone/>
                      </a:pPr>
                      <a:r>
                        <a:rPr lang="en-US">
                          <a:solidFill>
                            <a:schemeClr val="tx1"/>
                          </a:solidFill>
                          <a:effectLst/>
                          <a:latin typeface="Times New Roman"/>
                        </a:rPr>
                        <a:t> </a:t>
                      </a:r>
                      <a:r>
                        <a:rPr lang="en-US" b="1">
                          <a:solidFill>
                            <a:schemeClr val="tx1"/>
                          </a:solidFill>
                          <a:effectLst/>
                          <a:latin typeface="Times New Roman"/>
                        </a:rPr>
                        <a:t>Value In terms of </a:t>
                      </a:r>
                      <a:r>
                        <a:rPr lang="el-GR" b="1">
                          <a:solidFill>
                            <a:schemeClr val="tx1"/>
                          </a:solidFill>
                          <a:effectLst/>
                          <a:latin typeface="Times New Roman"/>
                        </a:rPr>
                        <a:t>λ</a:t>
                      </a:r>
                      <a:r>
                        <a:rPr lang="el-GR" b="1" baseline="-25000">
                          <a:solidFill>
                            <a:schemeClr val="tx1"/>
                          </a:solidFill>
                          <a:effectLst/>
                          <a:latin typeface="Times New Roman"/>
                        </a:rPr>
                        <a:t>0</a:t>
                      </a:r>
                      <a:endParaRPr lang="el-GR">
                        <a:solidFill>
                          <a:schemeClr val="tx1"/>
                        </a:solidFill>
                        <a:effectLst/>
                        <a:latin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16525318"/>
                  </a:ext>
                </a:extLst>
              </a:tr>
              <a:tr h="350220">
                <a:tc>
                  <a:txBody>
                    <a:bodyPr/>
                    <a:lstStyle/>
                    <a:p>
                      <a:pPr algn="l">
                        <a:buNone/>
                      </a:pPr>
                      <a:r>
                        <a:rPr lang="en-US">
                          <a:solidFill>
                            <a:schemeClr val="tx1"/>
                          </a:solidFill>
                          <a:effectLst/>
                          <a:latin typeface="Times New Roman"/>
                        </a:rPr>
                        <a:t>           D(edge to edge)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buNone/>
                      </a:pPr>
                      <a:r>
                        <a:rPr lang="en-US">
                          <a:solidFill>
                            <a:schemeClr val="tx1"/>
                          </a:solidFill>
                          <a:effectLst/>
                          <a:latin typeface="Times New Roman"/>
                        </a:rPr>
                        <a:t>            9.4 mm</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buNone/>
                      </a:pPr>
                      <a:r>
                        <a:rPr lang="el-GR">
                          <a:solidFill>
                            <a:schemeClr val="tx1"/>
                          </a:solidFill>
                          <a:effectLst/>
                          <a:latin typeface="Times New Roman"/>
                        </a:rPr>
                        <a:t>                 0.04</a:t>
                      </a:r>
                      <a:r>
                        <a:rPr lang="el-GR" b="1">
                          <a:solidFill>
                            <a:schemeClr val="tx1"/>
                          </a:solidFill>
                          <a:effectLst/>
                          <a:latin typeface="Times New Roman"/>
                        </a:rPr>
                        <a:t> </a:t>
                      </a:r>
                      <a:r>
                        <a:rPr lang="el-GR">
                          <a:solidFill>
                            <a:schemeClr val="tx1"/>
                          </a:solidFill>
                          <a:effectLst/>
                          <a:latin typeface="Times New Roman"/>
                        </a:rPr>
                        <a:t>λ</a:t>
                      </a:r>
                      <a:r>
                        <a:rPr lang="el-GR" baseline="-25000">
                          <a:solidFill>
                            <a:schemeClr val="tx1"/>
                          </a:solidFill>
                          <a:effectLst/>
                          <a:latin typeface="Times New Roman"/>
                        </a:rPr>
                        <a:t>0</a:t>
                      </a:r>
                      <a:endParaRPr lang="el-GR">
                        <a:solidFill>
                          <a:schemeClr val="tx1"/>
                        </a:solidFill>
                        <a:effectLst/>
                        <a:latin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96093700"/>
                  </a:ext>
                </a:extLst>
              </a:tr>
              <a:tr h="350220">
                <a:tc>
                  <a:txBody>
                    <a:bodyPr/>
                    <a:lstStyle/>
                    <a:p>
                      <a:pPr algn="l">
                        <a:buNone/>
                      </a:pPr>
                      <a:r>
                        <a:rPr lang="en-US">
                          <a:solidFill>
                            <a:schemeClr val="tx1"/>
                          </a:solidFill>
                          <a:effectLst/>
                          <a:latin typeface="Times New Roman"/>
                        </a:rPr>
                        <a:t>           S(</a:t>
                      </a:r>
                      <a:r>
                        <a:rPr lang="en-US" err="1">
                          <a:solidFill>
                            <a:schemeClr val="tx1"/>
                          </a:solidFill>
                          <a:effectLst/>
                          <a:latin typeface="Times New Roman"/>
                        </a:rPr>
                        <a:t>centre</a:t>
                      </a:r>
                      <a:r>
                        <a:rPr lang="en-US">
                          <a:solidFill>
                            <a:schemeClr val="tx1"/>
                          </a:solidFill>
                          <a:effectLst/>
                          <a:latin typeface="Times New Roman"/>
                        </a:rPr>
                        <a:t> to </a:t>
                      </a:r>
                      <a:r>
                        <a:rPr lang="en-US" err="1">
                          <a:solidFill>
                            <a:schemeClr val="tx1"/>
                          </a:solidFill>
                          <a:effectLst/>
                          <a:latin typeface="Times New Roman"/>
                        </a:rPr>
                        <a:t>centre</a:t>
                      </a:r>
                      <a:r>
                        <a:rPr lang="en-US">
                          <a:solidFill>
                            <a:schemeClr val="tx1"/>
                          </a:solidFill>
                          <a:effectLst/>
                          <a:latin typeface="Times New Roman"/>
                        </a:rPr>
                        <a:t>)</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buNone/>
                      </a:pPr>
                      <a:r>
                        <a:rPr lang="en-US">
                          <a:solidFill>
                            <a:schemeClr val="tx1"/>
                          </a:solidFill>
                          <a:effectLst/>
                          <a:latin typeface="Times New Roman"/>
                        </a:rPr>
                        <a:t>             50 mm</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buNone/>
                      </a:pPr>
                      <a:r>
                        <a:rPr lang="el-GR">
                          <a:solidFill>
                            <a:schemeClr val="tx1"/>
                          </a:solidFill>
                          <a:effectLst/>
                          <a:latin typeface="Times New Roman"/>
                        </a:rPr>
                        <a:t>               0.4</a:t>
                      </a:r>
                      <a:r>
                        <a:rPr lang="el-GR" b="1">
                          <a:solidFill>
                            <a:schemeClr val="tx1"/>
                          </a:solidFill>
                          <a:effectLst/>
                          <a:latin typeface="Times New Roman"/>
                        </a:rPr>
                        <a:t> </a:t>
                      </a:r>
                      <a:r>
                        <a:rPr lang="el-GR">
                          <a:solidFill>
                            <a:schemeClr val="tx1"/>
                          </a:solidFill>
                          <a:effectLst/>
                          <a:latin typeface="Times New Roman"/>
                        </a:rPr>
                        <a:t>λ</a:t>
                      </a:r>
                      <a:r>
                        <a:rPr lang="el-GR" baseline="-25000">
                          <a:solidFill>
                            <a:schemeClr val="tx1"/>
                          </a:solidFill>
                          <a:effectLst/>
                          <a:latin typeface="Times New Roman"/>
                        </a:rPr>
                        <a:t>0</a:t>
                      </a:r>
                      <a:endParaRPr lang="el-GR">
                        <a:solidFill>
                          <a:schemeClr val="tx1"/>
                        </a:solidFill>
                        <a:effectLst/>
                        <a:latin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69524360"/>
                  </a:ext>
                </a:extLst>
              </a:tr>
            </a:tbl>
          </a:graphicData>
        </a:graphic>
      </p:graphicFrame>
      <p:sp>
        <p:nvSpPr>
          <p:cNvPr id="11" name="TextBox 10">
            <a:extLst>
              <a:ext uri="{FF2B5EF4-FFF2-40B4-BE49-F238E27FC236}">
                <a16:creationId xmlns:a16="http://schemas.microsoft.com/office/drawing/2014/main" id="{01135BB7-5687-D052-1DB8-7ADD23C30027}"/>
              </a:ext>
            </a:extLst>
          </p:cNvPr>
          <p:cNvSpPr txBox="1"/>
          <p:nvPr/>
        </p:nvSpPr>
        <p:spPr>
          <a:xfrm>
            <a:off x="6096000" y="3249706"/>
            <a:ext cx="60960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a:latin typeface="Times New Roman"/>
              </a:rPr>
              <a:t>Table 4 : </a:t>
            </a:r>
            <a:r>
              <a:rPr lang="en-US">
                <a:latin typeface="Times New Roman"/>
              </a:rPr>
              <a:t>Spacing between the antennas</a:t>
            </a:r>
            <a:endParaRPr lang="en-GB"/>
          </a:p>
        </p:txBody>
      </p:sp>
    </p:spTree>
    <p:extLst>
      <p:ext uri="{BB962C8B-B14F-4D97-AF65-F5344CB8AC3E}">
        <p14:creationId xmlns:p14="http://schemas.microsoft.com/office/powerpoint/2010/main" val="16587556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5CE05B-35DB-5CA0-C9F1-CD83FCD68F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506151-CE08-BA48-D2EB-D76F68F012A3}"/>
              </a:ext>
            </a:extLst>
          </p:cNvPr>
          <p:cNvSpPr>
            <a:spLocks noGrp="1"/>
          </p:cNvSpPr>
          <p:nvPr>
            <p:ph type="title"/>
          </p:nvPr>
        </p:nvSpPr>
        <p:spPr>
          <a:xfrm>
            <a:off x="24008" y="104166"/>
            <a:ext cx="1622122" cy="615755"/>
          </a:xfrm>
        </p:spPr>
        <p:txBody>
          <a:bodyPr>
            <a:normAutofit/>
          </a:bodyPr>
          <a:lstStyle/>
          <a:p>
            <a:r>
              <a:rPr lang="en-IN" sz="3200" b="1" u="sng">
                <a:latin typeface="Times New Roman"/>
                <a:cs typeface="Times New Roman"/>
              </a:rPr>
              <a:t>Results</a:t>
            </a:r>
            <a:r>
              <a:rPr lang="en-IN" sz="3200" b="1">
                <a:latin typeface="Times New Roman"/>
                <a:cs typeface="Times New Roman"/>
              </a:rPr>
              <a:t>:</a:t>
            </a:r>
          </a:p>
        </p:txBody>
      </p:sp>
      <p:sp>
        <p:nvSpPr>
          <p:cNvPr id="3" name="Content Placeholder 2">
            <a:extLst>
              <a:ext uri="{FF2B5EF4-FFF2-40B4-BE49-F238E27FC236}">
                <a16:creationId xmlns:a16="http://schemas.microsoft.com/office/drawing/2014/main" id="{D5D49A57-D5E7-E667-51F7-06E5B5FE2F59}"/>
              </a:ext>
            </a:extLst>
          </p:cNvPr>
          <p:cNvSpPr>
            <a:spLocks noGrp="1"/>
          </p:cNvSpPr>
          <p:nvPr>
            <p:ph idx="1"/>
          </p:nvPr>
        </p:nvSpPr>
        <p:spPr>
          <a:xfrm>
            <a:off x="24008" y="875735"/>
            <a:ext cx="10515600" cy="4351338"/>
          </a:xfrm>
        </p:spPr>
        <p:txBody>
          <a:bodyPr vert="horz" lIns="91440" tIns="45720" rIns="91440" bIns="45720" rtlCol="0" anchor="t">
            <a:normAutofit fontScale="62500" lnSpcReduction="20000"/>
          </a:bodyPr>
          <a:lstStyle/>
          <a:p>
            <a:endParaRPr lang="en-IN" sz="2900">
              <a:latin typeface="Times New Roman"/>
              <a:ea typeface="Calibri"/>
              <a:cs typeface="Calibri"/>
            </a:endParaRPr>
          </a:p>
          <a:p>
            <a:pPr marL="0" indent="0">
              <a:buNone/>
            </a:pPr>
            <a:endParaRPr lang="en-IN" sz="2400">
              <a:latin typeface="Times New Roman"/>
              <a:ea typeface="Calibri"/>
              <a:cs typeface="Calibri"/>
            </a:endParaRPr>
          </a:p>
          <a:p>
            <a:endParaRPr lang="en-IN" sz="2400">
              <a:latin typeface="Times New Roman"/>
              <a:ea typeface="Calibri"/>
              <a:cs typeface="Calibri"/>
            </a:endParaRPr>
          </a:p>
          <a:p>
            <a:endParaRPr lang="en-IN" sz="2400">
              <a:latin typeface="Times New Roman"/>
              <a:ea typeface="Calibri"/>
              <a:cs typeface="Calibri"/>
            </a:endParaRPr>
          </a:p>
          <a:p>
            <a:endParaRPr lang="en-IN" sz="2400">
              <a:latin typeface="Times New Roman"/>
              <a:ea typeface="Calibri"/>
              <a:cs typeface="Calibri"/>
            </a:endParaRPr>
          </a:p>
          <a:p>
            <a:endParaRPr lang="en-IN" sz="2400">
              <a:latin typeface="Times New Roman"/>
              <a:ea typeface="Calibri"/>
              <a:cs typeface="Calibri"/>
            </a:endParaRPr>
          </a:p>
          <a:p>
            <a:endParaRPr lang="en-IN" sz="2400">
              <a:latin typeface="Times New Roman"/>
              <a:ea typeface="Calibri"/>
              <a:cs typeface="Calibri"/>
            </a:endParaRPr>
          </a:p>
          <a:p>
            <a:endParaRPr lang="en-IN" sz="2400">
              <a:latin typeface="Times New Roman"/>
              <a:ea typeface="Calibri"/>
              <a:cs typeface="Calibri"/>
            </a:endParaRPr>
          </a:p>
          <a:p>
            <a:endParaRPr lang="en-IN" sz="2400">
              <a:latin typeface="Times New Roman"/>
              <a:ea typeface="Calibri"/>
              <a:cs typeface="Calibri"/>
            </a:endParaRPr>
          </a:p>
          <a:p>
            <a:endParaRPr lang="en-IN" sz="2400">
              <a:latin typeface="Times New Roman"/>
              <a:ea typeface="Calibri"/>
              <a:cs typeface="Calibri"/>
            </a:endParaRPr>
          </a:p>
          <a:p>
            <a:pPr marL="0" indent="0">
              <a:buNone/>
            </a:pPr>
            <a:endParaRPr lang="en-IN" sz="2400">
              <a:latin typeface="Times New Roman"/>
              <a:ea typeface="Calibri"/>
              <a:cs typeface="Calibri"/>
            </a:endParaRPr>
          </a:p>
          <a:p>
            <a:pPr marL="0" indent="0">
              <a:buNone/>
            </a:pPr>
            <a:endParaRPr lang="en-IN" sz="2400">
              <a:latin typeface="Times New Roman"/>
              <a:ea typeface="Calibri"/>
              <a:cs typeface="Calibri"/>
            </a:endParaRPr>
          </a:p>
          <a:p>
            <a:pPr marL="0" indent="0">
              <a:buNone/>
            </a:pPr>
            <a:r>
              <a:rPr lang="en-IN" sz="2400">
                <a:latin typeface="Times New Roman"/>
                <a:ea typeface="Calibri"/>
                <a:cs typeface="Calibri"/>
              </a:rPr>
              <a:t>   </a:t>
            </a:r>
            <a:endParaRPr lang="en-IN" sz="2900">
              <a:latin typeface="Times New Roman"/>
              <a:ea typeface="Calibri"/>
              <a:cs typeface="Calibri"/>
            </a:endParaRPr>
          </a:p>
          <a:p>
            <a:pPr marL="0" indent="0">
              <a:buNone/>
            </a:pPr>
            <a:r>
              <a:rPr lang="en-IN" sz="2300">
                <a:latin typeface="Times New Roman"/>
                <a:ea typeface="Calibri"/>
                <a:cs typeface="Calibri"/>
              </a:rPr>
              <a:t>    </a:t>
            </a:r>
          </a:p>
          <a:p>
            <a:pPr marL="0" indent="0">
              <a:buNone/>
            </a:pPr>
            <a:r>
              <a:rPr lang="en-IN" sz="2300">
                <a:latin typeface="Times New Roman"/>
                <a:ea typeface="Calibri"/>
                <a:cs typeface="Calibri"/>
              </a:rPr>
              <a:t> </a:t>
            </a:r>
            <a:endParaRPr lang="en-GB" sz="2900">
              <a:latin typeface="Times New Roman"/>
              <a:ea typeface="Calibri"/>
              <a:cs typeface="Times New Roman"/>
            </a:endParaRPr>
          </a:p>
          <a:p>
            <a:pPr marL="0" indent="0">
              <a:buNone/>
            </a:pPr>
            <a:endParaRPr lang="en-IN" sz="2400">
              <a:latin typeface="Times New Roman"/>
              <a:ea typeface="Calibri"/>
              <a:cs typeface="Calibri"/>
            </a:endParaRPr>
          </a:p>
          <a:p>
            <a:pPr marL="0" indent="0">
              <a:buNone/>
            </a:pPr>
            <a:endParaRPr lang="en-IN" sz="2400">
              <a:latin typeface="Times New Roman"/>
              <a:ea typeface="Calibri"/>
              <a:cs typeface="Calibri"/>
            </a:endParaRPr>
          </a:p>
          <a:p>
            <a:endParaRPr lang="en-IN">
              <a:latin typeface="Times New Roman"/>
              <a:ea typeface="Calibri"/>
              <a:cs typeface="Calibri"/>
            </a:endParaRPr>
          </a:p>
          <a:p>
            <a:endParaRPr lang="en-IN">
              <a:latin typeface="Times New Roman"/>
              <a:ea typeface="Calibri"/>
              <a:cs typeface="Calibri"/>
            </a:endParaRPr>
          </a:p>
          <a:p>
            <a:pPr marL="0" indent="0">
              <a:buNone/>
            </a:pPr>
            <a:endParaRPr lang="en-IN">
              <a:latin typeface="Times New Roman"/>
              <a:ea typeface="Calibri"/>
              <a:cs typeface="Calibri"/>
            </a:endParaRPr>
          </a:p>
          <a:p>
            <a:endParaRPr lang="en-IN">
              <a:latin typeface="Times New Roman"/>
              <a:ea typeface="Calibri"/>
              <a:cs typeface="Calibri"/>
            </a:endParaRPr>
          </a:p>
          <a:p>
            <a:endParaRPr lang="en-IN">
              <a:latin typeface="Times New Roman"/>
              <a:ea typeface="Calibri"/>
              <a:cs typeface="Calibri"/>
            </a:endParaRPr>
          </a:p>
          <a:p>
            <a:endParaRPr lang="en-IN">
              <a:latin typeface="Times New Roman"/>
              <a:ea typeface="Calibri"/>
              <a:cs typeface="Calibri"/>
            </a:endParaRPr>
          </a:p>
          <a:p>
            <a:endParaRPr lang="en-IN">
              <a:latin typeface="Times New Roman"/>
              <a:ea typeface="Calibri"/>
              <a:cs typeface="Calibri"/>
            </a:endParaRPr>
          </a:p>
          <a:p>
            <a:pPr marL="0" indent="0">
              <a:buNone/>
            </a:pPr>
            <a:endParaRPr lang="en-IN" sz="2000">
              <a:latin typeface="Times New Roman"/>
              <a:ea typeface="Calibri"/>
              <a:cs typeface="Calibri"/>
            </a:endParaRPr>
          </a:p>
        </p:txBody>
      </p:sp>
      <p:sp>
        <p:nvSpPr>
          <p:cNvPr id="4" name="Date Placeholder 3">
            <a:extLst>
              <a:ext uri="{FF2B5EF4-FFF2-40B4-BE49-F238E27FC236}">
                <a16:creationId xmlns:a16="http://schemas.microsoft.com/office/drawing/2014/main" id="{83BA7404-FD46-6E70-953D-FEF62AA0815B}"/>
              </a:ext>
            </a:extLst>
          </p:cNvPr>
          <p:cNvSpPr>
            <a:spLocks noGrp="1"/>
          </p:cNvSpPr>
          <p:nvPr>
            <p:ph type="dt" sz="half" idx="10"/>
          </p:nvPr>
        </p:nvSpPr>
        <p:spPr/>
        <p:txBody>
          <a:bodyPr/>
          <a:lstStyle/>
          <a:p>
            <a:fld id="{C0883387-8E05-44FA-9CA1-FD7515E30DCB}" type="datetime1">
              <a:rPr lang="en-IN" smtClean="0"/>
              <a:t>09-02-2026</a:t>
            </a:fld>
            <a:endParaRPr lang="en-IN"/>
          </a:p>
        </p:txBody>
      </p:sp>
      <p:sp>
        <p:nvSpPr>
          <p:cNvPr id="5" name="Footer Placeholder 4">
            <a:extLst>
              <a:ext uri="{FF2B5EF4-FFF2-40B4-BE49-F238E27FC236}">
                <a16:creationId xmlns:a16="http://schemas.microsoft.com/office/drawing/2014/main" id="{EA0CFAF2-DB3B-80DB-C30F-546CEE5C24F4}"/>
              </a:ext>
            </a:extLst>
          </p:cNvPr>
          <p:cNvSpPr>
            <a:spLocks noGrp="1"/>
          </p:cNvSpPr>
          <p:nvPr>
            <p:ph type="ftr" sz="quarter" idx="11"/>
          </p:nvPr>
        </p:nvSpPr>
        <p:spPr/>
        <p:txBody>
          <a:bodyPr/>
          <a:lstStyle/>
          <a:p>
            <a:r>
              <a:rPr lang="en-IN"/>
              <a:t>Review 2.2</a:t>
            </a:r>
          </a:p>
        </p:txBody>
      </p:sp>
      <p:sp>
        <p:nvSpPr>
          <p:cNvPr id="6" name="Slide Number Placeholder 5">
            <a:extLst>
              <a:ext uri="{FF2B5EF4-FFF2-40B4-BE49-F238E27FC236}">
                <a16:creationId xmlns:a16="http://schemas.microsoft.com/office/drawing/2014/main" id="{BB7FD216-BCAF-0568-B26F-522C59F2FA66}"/>
              </a:ext>
            </a:extLst>
          </p:cNvPr>
          <p:cNvSpPr>
            <a:spLocks noGrp="1"/>
          </p:cNvSpPr>
          <p:nvPr>
            <p:ph type="sldNum" sz="quarter" idx="12"/>
          </p:nvPr>
        </p:nvSpPr>
        <p:spPr/>
        <p:txBody>
          <a:bodyPr/>
          <a:lstStyle/>
          <a:p>
            <a:fld id="{1CCCFFBF-4DCD-46DE-85E1-69841FB49368}" type="slidenum">
              <a:rPr lang="en-IN" smtClean="0"/>
              <a:t>18</a:t>
            </a:fld>
            <a:endParaRPr lang="en-IN"/>
          </a:p>
        </p:txBody>
      </p:sp>
      <p:pic>
        <p:nvPicPr>
          <p:cNvPr id="8" name="Picture 7" descr="A pink and black logo&#10;&#10;AI-generated content may be incorrect.">
            <a:extLst>
              <a:ext uri="{FF2B5EF4-FFF2-40B4-BE49-F238E27FC236}">
                <a16:creationId xmlns:a16="http://schemas.microsoft.com/office/drawing/2014/main" id="{2E5E4ABB-BA71-E767-F8F6-E818FC8B4D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92871" y="-31376"/>
            <a:ext cx="1999129" cy="591742"/>
          </a:xfrm>
          <a:prstGeom prst="rect">
            <a:avLst/>
          </a:prstGeom>
        </p:spPr>
      </p:pic>
      <p:graphicFrame>
        <p:nvGraphicFramePr>
          <p:cNvPr id="7" name="Table 6">
            <a:extLst>
              <a:ext uri="{FF2B5EF4-FFF2-40B4-BE49-F238E27FC236}">
                <a16:creationId xmlns:a16="http://schemas.microsoft.com/office/drawing/2014/main" id="{A343A0A8-DAB3-8145-1424-3CEDAA6CCC32}"/>
              </a:ext>
            </a:extLst>
          </p:cNvPr>
          <p:cNvGraphicFramePr>
            <a:graphicFrameLocks noGrp="1"/>
          </p:cNvGraphicFramePr>
          <p:nvPr>
            <p:extLst>
              <p:ext uri="{D42A27DB-BD31-4B8C-83A1-F6EECF244321}">
                <p14:modId xmlns:p14="http://schemas.microsoft.com/office/powerpoint/2010/main" val="3545447503"/>
              </p:ext>
            </p:extLst>
          </p:nvPr>
        </p:nvGraphicFramePr>
        <p:xfrm>
          <a:off x="2011680" y="722376"/>
          <a:ext cx="6126480" cy="4005693"/>
        </p:xfrm>
        <a:graphic>
          <a:graphicData uri="http://schemas.openxmlformats.org/drawingml/2006/table">
            <a:tbl>
              <a:tblPr firstRow="1" bandRow="1">
                <a:tableStyleId>{5940675A-B579-460E-94D1-54222C63F5DA}</a:tableStyleId>
              </a:tblPr>
              <a:tblGrid>
                <a:gridCol w="2042160">
                  <a:extLst>
                    <a:ext uri="{9D8B030D-6E8A-4147-A177-3AD203B41FA5}">
                      <a16:colId xmlns:a16="http://schemas.microsoft.com/office/drawing/2014/main" val="105436788"/>
                    </a:ext>
                  </a:extLst>
                </a:gridCol>
                <a:gridCol w="2042160">
                  <a:extLst>
                    <a:ext uri="{9D8B030D-6E8A-4147-A177-3AD203B41FA5}">
                      <a16:colId xmlns:a16="http://schemas.microsoft.com/office/drawing/2014/main" val="3604688218"/>
                    </a:ext>
                  </a:extLst>
                </a:gridCol>
                <a:gridCol w="2042160">
                  <a:extLst>
                    <a:ext uri="{9D8B030D-6E8A-4147-A177-3AD203B41FA5}">
                      <a16:colId xmlns:a16="http://schemas.microsoft.com/office/drawing/2014/main" val="3681946457"/>
                    </a:ext>
                  </a:extLst>
                </a:gridCol>
              </a:tblGrid>
              <a:tr h="938492">
                <a:tc>
                  <a:txBody>
                    <a:bodyPr/>
                    <a:lstStyle/>
                    <a:p>
                      <a:r>
                        <a:rPr lang="en-GB" b="1">
                          <a:latin typeface="Times New Roman"/>
                        </a:rPr>
                        <a:t>Value</a:t>
                      </a:r>
                    </a:p>
                    <a:p>
                      <a:pPr lvl="0" algn="l">
                        <a:lnSpc>
                          <a:spcPct val="100000"/>
                        </a:lnSpc>
                        <a:spcBef>
                          <a:spcPts val="0"/>
                        </a:spcBef>
                        <a:spcAft>
                          <a:spcPts val="0"/>
                        </a:spcAft>
                        <a:buNone/>
                      </a:pPr>
                      <a:r>
                        <a:rPr lang="en-US" sz="1800" b="1" i="0" u="none" strike="noStrike" noProof="0">
                          <a:solidFill>
                            <a:schemeClr val="tx1"/>
                          </a:solidFill>
                          <a:latin typeface="Times New Roman"/>
                        </a:rPr>
                        <a:t>(centre to centre spacing between antennas)(in mm)</a:t>
                      </a:r>
                      <a:endParaRPr lang="en-GB" sz="1800" b="0" i="0" u="none" strike="noStrike" noProof="0">
                        <a:solidFill>
                          <a:srgbClr val="000000"/>
                        </a:solidFill>
                        <a:latin typeface="Times New Roman"/>
                      </a:endParaRPr>
                    </a:p>
                    <a:p>
                      <a:pPr lvl="0">
                        <a:buNone/>
                      </a:pPr>
                      <a:endParaRPr lang="en-GB" b="1">
                        <a:latin typeface="Times New Roman"/>
                      </a:endParaRPr>
                    </a:p>
                  </a:txBody>
                  <a:tcPr/>
                </a:tc>
                <a:tc>
                  <a:txBody>
                    <a:bodyPr/>
                    <a:lstStyle/>
                    <a:p>
                      <a:pPr lvl="0" algn="l">
                        <a:lnSpc>
                          <a:spcPct val="100000"/>
                        </a:lnSpc>
                        <a:spcBef>
                          <a:spcPts val="0"/>
                        </a:spcBef>
                        <a:spcAft>
                          <a:spcPts val="0"/>
                        </a:spcAft>
                        <a:buNone/>
                      </a:pPr>
                      <a:r>
                        <a:rPr lang="en-US" sz="1800" b="1" i="0" u="none" strike="noStrike" noProof="0">
                          <a:solidFill>
                            <a:schemeClr val="tx1"/>
                          </a:solidFill>
                          <a:latin typeface="Times New Roman"/>
                        </a:rPr>
                        <a:t>Value In terms of </a:t>
                      </a:r>
                      <a:r>
                        <a:rPr lang="el-GR" sz="1800" b="1" i="0" u="none" strike="noStrike" noProof="0">
                          <a:solidFill>
                            <a:schemeClr val="tx1"/>
                          </a:solidFill>
                          <a:latin typeface="Times New Roman"/>
                        </a:rPr>
                        <a:t>λ</a:t>
                      </a:r>
                      <a:r>
                        <a:rPr lang="el-GR" sz="1800" b="1" i="0" u="none" strike="noStrike" baseline="-25000" noProof="0">
                          <a:solidFill>
                            <a:schemeClr val="tx1"/>
                          </a:solidFill>
                          <a:latin typeface="Times New Roman"/>
                        </a:rPr>
                        <a:t>0</a:t>
                      </a:r>
                      <a:endParaRPr lang="el-GR" sz="1200" b="1" i="0" u="none" strike="noStrike" baseline="-25000" noProof="0">
                        <a:solidFill>
                          <a:schemeClr val="tx1"/>
                        </a:solidFill>
                        <a:latin typeface="Times New Roman"/>
                      </a:endParaRPr>
                    </a:p>
                    <a:p>
                      <a:pPr lvl="0" algn="l">
                        <a:lnSpc>
                          <a:spcPct val="100000"/>
                        </a:lnSpc>
                        <a:spcBef>
                          <a:spcPts val="0"/>
                        </a:spcBef>
                        <a:spcAft>
                          <a:spcPts val="0"/>
                        </a:spcAft>
                        <a:buNone/>
                      </a:pPr>
                      <a:r>
                        <a:rPr lang="en-US" sz="1800" b="1" i="0" u="none" strike="noStrike" noProof="0">
                          <a:solidFill>
                            <a:schemeClr val="tx1"/>
                          </a:solidFill>
                          <a:latin typeface="Times New Roman"/>
                        </a:rPr>
                        <a:t>(centre to centre spacing between antennas)</a:t>
                      </a:r>
                      <a:endParaRPr lang="el-GR"/>
                    </a:p>
                    <a:p>
                      <a:pPr lvl="0">
                        <a:buNone/>
                      </a:pPr>
                      <a:endParaRPr lang="en-GB"/>
                    </a:p>
                  </a:txBody>
                  <a:tcPr/>
                </a:tc>
                <a:tc>
                  <a:txBody>
                    <a:bodyPr/>
                    <a:lstStyle/>
                    <a:p>
                      <a:r>
                        <a:rPr lang="en-GB" b="1">
                          <a:latin typeface="Times New Roman"/>
                        </a:rPr>
                        <a:t>Corresponding S</a:t>
                      </a:r>
                      <a:r>
                        <a:rPr lang="en-GB" b="1" baseline="-25000">
                          <a:latin typeface="Times New Roman"/>
                        </a:rPr>
                        <a:t>21</a:t>
                      </a:r>
                      <a:r>
                        <a:rPr lang="en-GB" b="1">
                          <a:latin typeface="Times New Roman"/>
                        </a:rPr>
                        <a:t>(in dB)</a:t>
                      </a:r>
                    </a:p>
                  </a:txBody>
                  <a:tcPr/>
                </a:tc>
                <a:extLst>
                  <a:ext uri="{0D108BD9-81ED-4DB2-BD59-A6C34878D82A}">
                    <a16:rowId xmlns:a16="http://schemas.microsoft.com/office/drawing/2014/main" val="377565246"/>
                  </a:ext>
                </a:extLst>
              </a:tr>
              <a:tr h="567084">
                <a:tc>
                  <a:txBody>
                    <a:bodyPr/>
                    <a:lstStyle/>
                    <a:p>
                      <a:pPr lvl="0">
                        <a:buNone/>
                      </a:pPr>
                      <a:r>
                        <a:rPr lang="en-US" sz="1800" b="0" i="0" u="none" strike="noStrike" noProof="0">
                          <a:solidFill>
                            <a:schemeClr val="tx1"/>
                          </a:solidFill>
                          <a:latin typeface="Times New Roman"/>
                        </a:rPr>
                        <a:t>71.4</a:t>
                      </a:r>
                      <a:endParaRPr lang="en-US"/>
                    </a:p>
                  </a:txBody>
                  <a:tcPr/>
                </a:tc>
                <a:tc>
                  <a:txBody>
                    <a:bodyPr/>
                    <a:lstStyle/>
                    <a:p>
                      <a:r>
                        <a:rPr lang="en-GB"/>
                        <a:t>0.56</a:t>
                      </a:r>
                      <a:endParaRPr lang="el-GR" sz="1200" b="1" i="0" u="none" strike="noStrike" baseline="-25000" noProof="0">
                        <a:solidFill>
                          <a:schemeClr val="tx1"/>
                        </a:solidFill>
                        <a:latin typeface="Times New Roman"/>
                      </a:endParaRPr>
                    </a:p>
                  </a:txBody>
                  <a:tcPr/>
                </a:tc>
                <a:tc>
                  <a:txBody>
                    <a:bodyPr/>
                    <a:lstStyle/>
                    <a:p>
                      <a:r>
                        <a:rPr lang="en-GB"/>
                        <a:t>17.76</a:t>
                      </a:r>
                    </a:p>
                  </a:txBody>
                  <a:tcPr/>
                </a:tc>
                <a:extLst>
                  <a:ext uri="{0D108BD9-81ED-4DB2-BD59-A6C34878D82A}">
                    <a16:rowId xmlns:a16="http://schemas.microsoft.com/office/drawing/2014/main" val="437032462"/>
                  </a:ext>
                </a:extLst>
              </a:tr>
              <a:tr h="567084">
                <a:tc>
                  <a:txBody>
                    <a:bodyPr/>
                    <a:lstStyle/>
                    <a:p>
                      <a:r>
                        <a:rPr lang="en-GB"/>
                        <a:t>62.5</a:t>
                      </a:r>
                    </a:p>
                  </a:txBody>
                  <a:tcPr/>
                </a:tc>
                <a:tc>
                  <a:txBody>
                    <a:bodyPr/>
                    <a:lstStyle/>
                    <a:p>
                      <a:r>
                        <a:rPr lang="en-GB"/>
                        <a:t>0.5</a:t>
                      </a:r>
                    </a:p>
                  </a:txBody>
                  <a:tcPr/>
                </a:tc>
                <a:tc>
                  <a:txBody>
                    <a:bodyPr/>
                    <a:lstStyle/>
                    <a:p>
                      <a:pPr lvl="0">
                        <a:buNone/>
                      </a:pPr>
                      <a:r>
                        <a:rPr lang="en-GB"/>
                        <a:t>13.34</a:t>
                      </a:r>
                      <a:endParaRPr lang="en-US"/>
                    </a:p>
                  </a:txBody>
                  <a:tcPr/>
                </a:tc>
                <a:extLst>
                  <a:ext uri="{0D108BD9-81ED-4DB2-BD59-A6C34878D82A}">
                    <a16:rowId xmlns:a16="http://schemas.microsoft.com/office/drawing/2014/main" val="2569574548"/>
                  </a:ext>
                </a:extLst>
              </a:tr>
              <a:tr h="567083">
                <a:tc>
                  <a:txBody>
                    <a:bodyPr/>
                    <a:lstStyle/>
                    <a:p>
                      <a:pPr lvl="0">
                        <a:buNone/>
                      </a:pPr>
                      <a:r>
                        <a:rPr lang="en-GB"/>
                        <a:t>56.25</a:t>
                      </a:r>
                    </a:p>
                  </a:txBody>
                  <a:tcPr/>
                </a:tc>
                <a:tc>
                  <a:txBody>
                    <a:bodyPr/>
                    <a:lstStyle/>
                    <a:p>
                      <a:pPr lvl="0">
                        <a:buNone/>
                      </a:pPr>
                      <a:r>
                        <a:rPr lang="en-GB"/>
                        <a:t>0.45</a:t>
                      </a:r>
                    </a:p>
                  </a:txBody>
                  <a:tcPr/>
                </a:tc>
                <a:tc>
                  <a:txBody>
                    <a:bodyPr/>
                    <a:lstStyle/>
                    <a:p>
                      <a:pPr lvl="0">
                        <a:buNone/>
                      </a:pPr>
                      <a:r>
                        <a:rPr lang="en-GB"/>
                        <a:t>10.24</a:t>
                      </a:r>
                    </a:p>
                  </a:txBody>
                  <a:tcPr/>
                </a:tc>
                <a:extLst>
                  <a:ext uri="{0D108BD9-81ED-4DB2-BD59-A6C34878D82A}">
                    <a16:rowId xmlns:a16="http://schemas.microsoft.com/office/drawing/2014/main" val="1294139757"/>
                  </a:ext>
                </a:extLst>
              </a:tr>
              <a:tr h="567082">
                <a:tc>
                  <a:txBody>
                    <a:bodyPr/>
                    <a:lstStyle/>
                    <a:p>
                      <a:pPr lvl="0">
                        <a:buNone/>
                      </a:pPr>
                      <a:r>
                        <a:rPr lang="en-GB"/>
                        <a:t>50</a:t>
                      </a:r>
                    </a:p>
                  </a:txBody>
                  <a:tcPr/>
                </a:tc>
                <a:tc>
                  <a:txBody>
                    <a:bodyPr/>
                    <a:lstStyle/>
                    <a:p>
                      <a:pPr lvl="0">
                        <a:buNone/>
                      </a:pPr>
                      <a:r>
                        <a:rPr lang="en-GB"/>
                        <a:t>0.4</a:t>
                      </a:r>
                    </a:p>
                  </a:txBody>
                  <a:tcPr/>
                </a:tc>
                <a:tc>
                  <a:txBody>
                    <a:bodyPr/>
                    <a:lstStyle/>
                    <a:p>
                      <a:pPr lvl="0">
                        <a:buNone/>
                      </a:pPr>
                      <a:r>
                        <a:rPr lang="en-GB"/>
                        <a:t>6.6</a:t>
                      </a:r>
                    </a:p>
                  </a:txBody>
                  <a:tcPr/>
                </a:tc>
                <a:extLst>
                  <a:ext uri="{0D108BD9-81ED-4DB2-BD59-A6C34878D82A}">
                    <a16:rowId xmlns:a16="http://schemas.microsoft.com/office/drawing/2014/main" val="3184108183"/>
                  </a:ext>
                </a:extLst>
              </a:tr>
            </a:tbl>
          </a:graphicData>
        </a:graphic>
      </p:graphicFrame>
      <p:sp>
        <p:nvSpPr>
          <p:cNvPr id="10" name="TextBox 9">
            <a:extLst>
              <a:ext uri="{FF2B5EF4-FFF2-40B4-BE49-F238E27FC236}">
                <a16:creationId xmlns:a16="http://schemas.microsoft.com/office/drawing/2014/main" id="{BFAEF82E-9417-CF23-8A46-091613336A22}"/>
              </a:ext>
            </a:extLst>
          </p:cNvPr>
          <p:cNvSpPr txBox="1"/>
          <p:nvPr/>
        </p:nvSpPr>
        <p:spPr>
          <a:xfrm>
            <a:off x="1932126" y="5096333"/>
            <a:ext cx="6272410" cy="4620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GB"/>
          </a:p>
        </p:txBody>
      </p:sp>
      <p:sp>
        <p:nvSpPr>
          <p:cNvPr id="11" name="TextBox 10">
            <a:extLst>
              <a:ext uri="{FF2B5EF4-FFF2-40B4-BE49-F238E27FC236}">
                <a16:creationId xmlns:a16="http://schemas.microsoft.com/office/drawing/2014/main" id="{C03BD456-BCD9-23DE-BD33-6BF6B2D3BA00}"/>
              </a:ext>
            </a:extLst>
          </p:cNvPr>
          <p:cNvSpPr txBox="1"/>
          <p:nvPr/>
        </p:nvSpPr>
        <p:spPr>
          <a:xfrm>
            <a:off x="1988130" y="4914321"/>
            <a:ext cx="61324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a:latin typeface="Times New Roman"/>
                <a:ea typeface="Calibri"/>
                <a:cs typeface="Calibri"/>
              </a:rPr>
              <a:t>Table 5. S</a:t>
            </a:r>
            <a:r>
              <a:rPr lang="en-GB" baseline="-25000">
                <a:latin typeface="Times New Roman"/>
                <a:ea typeface="Calibri"/>
                <a:cs typeface="Calibri"/>
              </a:rPr>
              <a:t>21</a:t>
            </a:r>
            <a:r>
              <a:rPr lang="en-GB">
                <a:latin typeface="Times New Roman"/>
                <a:ea typeface="Calibri"/>
                <a:cs typeface="Calibri"/>
              </a:rPr>
              <a:t> for different antenna spacing</a:t>
            </a:r>
            <a:endParaRPr lang="en-GB">
              <a:latin typeface="Times New Roman"/>
            </a:endParaRPr>
          </a:p>
        </p:txBody>
      </p:sp>
    </p:spTree>
    <p:extLst>
      <p:ext uri="{BB962C8B-B14F-4D97-AF65-F5344CB8AC3E}">
        <p14:creationId xmlns:p14="http://schemas.microsoft.com/office/powerpoint/2010/main" val="19472879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1016BF-10FB-CCBC-E1F3-541893816316}"/>
              </a:ext>
            </a:extLst>
          </p:cNvPr>
          <p:cNvSpPr>
            <a:spLocks noGrp="1"/>
          </p:cNvSpPr>
          <p:nvPr>
            <p:ph type="title"/>
          </p:nvPr>
        </p:nvSpPr>
        <p:spPr/>
        <p:txBody>
          <a:bodyPr>
            <a:normAutofit/>
          </a:bodyPr>
          <a:lstStyle/>
          <a:p>
            <a:r>
              <a:rPr lang="en-GB" sz="3600">
                <a:latin typeface="Times New Roman"/>
                <a:ea typeface="Calibri Light"/>
                <a:cs typeface="Times New Roman"/>
              </a:rPr>
              <a:t>Method for Mutual Coupling Reduction :</a:t>
            </a:r>
          </a:p>
        </p:txBody>
      </p:sp>
      <p:sp>
        <p:nvSpPr>
          <p:cNvPr id="3" name="Content Placeholder 2">
            <a:extLst>
              <a:ext uri="{FF2B5EF4-FFF2-40B4-BE49-F238E27FC236}">
                <a16:creationId xmlns:a16="http://schemas.microsoft.com/office/drawing/2014/main" id="{3916EE94-1113-552C-405D-CFCF595C5BCE}"/>
              </a:ext>
            </a:extLst>
          </p:cNvPr>
          <p:cNvSpPr>
            <a:spLocks noGrp="1"/>
          </p:cNvSpPr>
          <p:nvPr>
            <p:ph idx="1"/>
          </p:nvPr>
        </p:nvSpPr>
        <p:spPr/>
        <p:txBody>
          <a:bodyPr vert="horz" lIns="91440" tIns="45720" rIns="91440" bIns="45720" rtlCol="0" anchor="t">
            <a:normAutofit/>
          </a:bodyPr>
          <a:lstStyle/>
          <a:p>
            <a:r>
              <a:rPr lang="en-GB">
                <a:latin typeface="Times New Roman"/>
                <a:ea typeface="Calibri Light"/>
                <a:cs typeface="Calibri Light"/>
              </a:rPr>
              <a:t>Neutralisation line:</a:t>
            </a:r>
          </a:p>
          <a:p>
            <a:pPr marL="0" indent="0">
              <a:buNone/>
            </a:pPr>
            <a:r>
              <a:rPr lang="en-GB" sz="2000">
                <a:latin typeface="Times New Roman"/>
                <a:ea typeface="+mn-lt"/>
                <a:cs typeface="+mn-lt"/>
              </a:rPr>
              <a:t>A neutralisation line is a </a:t>
            </a:r>
            <a:r>
              <a:rPr lang="en-GB" sz="2000" b="1">
                <a:latin typeface="Times New Roman"/>
                <a:ea typeface="+mn-lt"/>
                <a:cs typeface="+mn-lt"/>
              </a:rPr>
              <a:t>metallic microstrip conductor or strip</a:t>
            </a:r>
            <a:r>
              <a:rPr lang="en-GB" sz="2000">
                <a:latin typeface="Times New Roman"/>
                <a:ea typeface="+mn-lt"/>
                <a:cs typeface="+mn-lt"/>
              </a:rPr>
              <a:t> introduced between two antenna elements’ feed lines or radiators. It creates an artificial coupling path engineered to carry a current that is </a:t>
            </a:r>
            <a:r>
              <a:rPr lang="en-GB" sz="2000" b="1">
                <a:latin typeface="Times New Roman"/>
                <a:ea typeface="+mn-lt"/>
                <a:cs typeface="+mn-lt"/>
              </a:rPr>
              <a:t>equal in magnitude but opposite in phase</a:t>
            </a:r>
            <a:r>
              <a:rPr lang="en-GB" sz="2000">
                <a:latin typeface="Times New Roman"/>
                <a:ea typeface="+mn-lt"/>
                <a:cs typeface="+mn-lt"/>
              </a:rPr>
              <a:t> to the unwanted mutual coupling current between the elements. This leads to </a:t>
            </a:r>
            <a:r>
              <a:rPr lang="en-GB" sz="2000" b="1">
                <a:latin typeface="Times New Roman"/>
                <a:ea typeface="+mn-lt"/>
                <a:cs typeface="+mn-lt"/>
              </a:rPr>
              <a:t>destructive interference</a:t>
            </a:r>
            <a:r>
              <a:rPr lang="en-GB" sz="2000">
                <a:latin typeface="Times New Roman"/>
                <a:ea typeface="+mn-lt"/>
                <a:cs typeface="+mn-lt"/>
              </a:rPr>
              <a:t>, reducing the net coupled energy and improving isolation between ports.</a:t>
            </a:r>
          </a:p>
          <a:p>
            <a:pPr marL="0" indent="0">
              <a:buNone/>
            </a:pPr>
            <a:endParaRPr lang="en-GB" sz="2000">
              <a:latin typeface="Times New Roman"/>
              <a:ea typeface="Calibri"/>
              <a:cs typeface="Calibri"/>
            </a:endParaRPr>
          </a:p>
          <a:p>
            <a:pPr marL="342900" indent="-342900"/>
            <a:r>
              <a:rPr lang="en-GB" sz="2000">
                <a:latin typeface="Times New Roman"/>
                <a:ea typeface="Calibri"/>
                <a:cs typeface="Calibri"/>
              </a:rPr>
              <a:t>Working:</a:t>
            </a:r>
            <a:r>
              <a:rPr lang="en-GB" sz="2000">
                <a:latin typeface="Times New Roman"/>
                <a:ea typeface="+mn-lt"/>
                <a:cs typeface="+mn-lt"/>
              </a:rPr>
              <a:t> When two antennas are excited, their near fields and surface currents interact and induce a coupling current. The induced current in the NL has </a:t>
            </a:r>
            <a:r>
              <a:rPr lang="en-GB" sz="2000" b="1">
                <a:latin typeface="Times New Roman"/>
                <a:ea typeface="+mn-lt"/>
                <a:cs typeface="+mn-lt"/>
              </a:rPr>
              <a:t>opposite phase</a:t>
            </a:r>
            <a:r>
              <a:rPr lang="en-GB" sz="2000">
                <a:latin typeface="Times New Roman"/>
                <a:ea typeface="+mn-lt"/>
                <a:cs typeface="+mn-lt"/>
              </a:rPr>
              <a:t> to the naturally coupled current, thus cancelling it at the receiving port.</a:t>
            </a:r>
            <a:endParaRPr lang="en-GB" sz="2000">
              <a:latin typeface="Times New Roman"/>
              <a:ea typeface="Calibri"/>
              <a:cs typeface="Calibri"/>
            </a:endParaRPr>
          </a:p>
        </p:txBody>
      </p:sp>
      <p:sp>
        <p:nvSpPr>
          <p:cNvPr id="4" name="Date Placeholder 3">
            <a:extLst>
              <a:ext uri="{FF2B5EF4-FFF2-40B4-BE49-F238E27FC236}">
                <a16:creationId xmlns:a16="http://schemas.microsoft.com/office/drawing/2014/main" id="{7022BEA6-FAFD-348D-D1DC-1497109777F9}"/>
              </a:ext>
            </a:extLst>
          </p:cNvPr>
          <p:cNvSpPr>
            <a:spLocks noGrp="1"/>
          </p:cNvSpPr>
          <p:nvPr>
            <p:ph type="dt" sz="half" idx="10"/>
          </p:nvPr>
        </p:nvSpPr>
        <p:spPr/>
        <p:txBody>
          <a:bodyPr/>
          <a:lstStyle/>
          <a:p>
            <a:fld id="{BDA09FE3-B6C6-47B1-AD17-7C726B7EDAD1}" type="datetime1">
              <a:rPr lang="en-IN" smtClean="0"/>
              <a:t>09-02-2026</a:t>
            </a:fld>
            <a:endParaRPr lang="en-IN"/>
          </a:p>
        </p:txBody>
      </p:sp>
      <p:sp>
        <p:nvSpPr>
          <p:cNvPr id="5" name="Footer Placeholder 4">
            <a:extLst>
              <a:ext uri="{FF2B5EF4-FFF2-40B4-BE49-F238E27FC236}">
                <a16:creationId xmlns:a16="http://schemas.microsoft.com/office/drawing/2014/main" id="{7AE3FD1F-3A07-8337-5D31-B0397413BF4E}"/>
              </a:ext>
            </a:extLst>
          </p:cNvPr>
          <p:cNvSpPr>
            <a:spLocks noGrp="1"/>
          </p:cNvSpPr>
          <p:nvPr>
            <p:ph type="ftr" sz="quarter" idx="11"/>
          </p:nvPr>
        </p:nvSpPr>
        <p:spPr/>
        <p:txBody>
          <a:bodyPr/>
          <a:lstStyle/>
          <a:p>
            <a:r>
              <a:rPr lang="en-IN"/>
              <a:t>Review 2.2</a:t>
            </a:r>
          </a:p>
        </p:txBody>
      </p:sp>
      <p:sp>
        <p:nvSpPr>
          <p:cNvPr id="6" name="Slide Number Placeholder 5">
            <a:extLst>
              <a:ext uri="{FF2B5EF4-FFF2-40B4-BE49-F238E27FC236}">
                <a16:creationId xmlns:a16="http://schemas.microsoft.com/office/drawing/2014/main" id="{CFD4F082-C613-4EA4-6FA1-41027E134311}"/>
              </a:ext>
            </a:extLst>
          </p:cNvPr>
          <p:cNvSpPr>
            <a:spLocks noGrp="1"/>
          </p:cNvSpPr>
          <p:nvPr>
            <p:ph type="sldNum" sz="quarter" idx="12"/>
          </p:nvPr>
        </p:nvSpPr>
        <p:spPr/>
        <p:txBody>
          <a:bodyPr/>
          <a:lstStyle/>
          <a:p>
            <a:fld id="{1CCCFFBF-4DCD-46DE-85E1-69841FB49368}" type="slidenum">
              <a:rPr lang="en-IN" smtClean="0"/>
              <a:t>19</a:t>
            </a:fld>
            <a:endParaRPr lang="en-IN"/>
          </a:p>
        </p:txBody>
      </p:sp>
    </p:spTree>
    <p:extLst>
      <p:ext uri="{BB962C8B-B14F-4D97-AF65-F5344CB8AC3E}">
        <p14:creationId xmlns:p14="http://schemas.microsoft.com/office/powerpoint/2010/main" val="33044931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066392-26C0-2DEF-73D6-3AAED520C4C9}"/>
              </a:ext>
            </a:extLst>
          </p:cNvPr>
          <p:cNvSpPr>
            <a:spLocks noGrp="1"/>
          </p:cNvSpPr>
          <p:nvPr>
            <p:ph type="title"/>
          </p:nvPr>
        </p:nvSpPr>
        <p:spPr/>
        <p:txBody>
          <a:bodyPr>
            <a:normAutofit/>
          </a:bodyPr>
          <a:lstStyle/>
          <a:p>
            <a:r>
              <a:rPr lang="en-GB" sz="4000">
                <a:latin typeface="Times New Roman"/>
                <a:ea typeface="Calibri Light"/>
                <a:cs typeface="Calibri Light"/>
              </a:rPr>
              <a:t>Design :</a:t>
            </a:r>
            <a:endParaRPr lang="en-GB" sz="4000">
              <a:latin typeface="Times New Roman"/>
            </a:endParaRPr>
          </a:p>
        </p:txBody>
      </p:sp>
      <p:sp>
        <p:nvSpPr>
          <p:cNvPr id="3" name="Content Placeholder 2">
            <a:extLst>
              <a:ext uri="{FF2B5EF4-FFF2-40B4-BE49-F238E27FC236}">
                <a16:creationId xmlns:a16="http://schemas.microsoft.com/office/drawing/2014/main" id="{3D8441CC-BFFA-ABCD-0A00-F975D0E8410F}"/>
              </a:ext>
            </a:extLst>
          </p:cNvPr>
          <p:cNvSpPr>
            <a:spLocks noGrp="1"/>
          </p:cNvSpPr>
          <p:nvPr>
            <p:ph idx="1"/>
          </p:nvPr>
        </p:nvSpPr>
        <p:spPr/>
        <p:txBody>
          <a:bodyPr vert="horz" lIns="91440" tIns="45720" rIns="91440" bIns="45720" rtlCol="0" anchor="t">
            <a:normAutofit/>
          </a:bodyPr>
          <a:lstStyle/>
          <a:p>
            <a:r>
              <a:rPr lang="en-GB" b="1">
                <a:latin typeface="Times New Roman"/>
                <a:cs typeface="Times New Roman"/>
              </a:rPr>
              <a:t>Length</a:t>
            </a:r>
            <a:r>
              <a:rPr lang="en-GB" b="1"/>
              <a:t>:</a:t>
            </a:r>
            <a:endParaRPr lang="en-GB">
              <a:ea typeface="Calibri" panose="020F0502020204030204"/>
              <a:cs typeface="Calibri" panose="020F0502020204030204"/>
            </a:endParaRPr>
          </a:p>
          <a:p>
            <a:pPr marL="0" indent="0">
              <a:buNone/>
            </a:pPr>
            <a:r>
              <a:rPr lang="en-GB" sz="2400">
                <a:latin typeface="Times New Roman"/>
                <a:ea typeface="+mn-lt"/>
                <a:cs typeface="+mn-lt"/>
              </a:rPr>
              <a:t>To produce a cancellation current with  a suitable phase, the NL is usually designed to be near a </a:t>
            </a:r>
            <a:r>
              <a:rPr lang="en-GB" sz="2400" b="1">
                <a:latin typeface="Times New Roman"/>
                <a:ea typeface="+mn-lt"/>
                <a:cs typeface="+mn-lt"/>
              </a:rPr>
              <a:t>half of</a:t>
            </a:r>
            <a:r>
              <a:rPr lang="en-GB" sz="2400">
                <a:latin typeface="Times New Roman"/>
                <a:ea typeface="+mn-lt"/>
                <a:cs typeface="+mn-lt"/>
              </a:rPr>
              <a:t> </a:t>
            </a:r>
            <a:r>
              <a:rPr lang="en-GB" sz="2400" b="1">
                <a:latin typeface="Times New Roman"/>
                <a:ea typeface="+mn-lt"/>
                <a:cs typeface="+mn-lt"/>
              </a:rPr>
              <a:t>wavelength </a:t>
            </a:r>
            <a:r>
              <a:rPr lang="en-GB" sz="2400">
                <a:latin typeface="Times New Roman"/>
                <a:ea typeface="+mn-lt"/>
                <a:cs typeface="+mn-lt"/>
              </a:rPr>
              <a:t>at the operating frequency. This ensures that the current on the NL arrives at the adjacent port in roughly </a:t>
            </a:r>
            <a:r>
              <a:rPr lang="en-GB" sz="2400" b="1">
                <a:latin typeface="Times New Roman"/>
                <a:ea typeface="+mn-lt"/>
                <a:cs typeface="+mn-lt"/>
              </a:rPr>
              <a:t>180° phase difference</a:t>
            </a:r>
            <a:r>
              <a:rPr lang="en-GB" sz="2400">
                <a:latin typeface="Times New Roman"/>
                <a:ea typeface="+mn-lt"/>
                <a:cs typeface="+mn-lt"/>
              </a:rPr>
              <a:t> relative to the directly coupled current.</a:t>
            </a:r>
            <a:endParaRPr lang="en-GB" sz="2400">
              <a:latin typeface="Times New Roman"/>
              <a:ea typeface="Calibri"/>
              <a:cs typeface="Calibri"/>
            </a:endParaRPr>
          </a:p>
          <a:p>
            <a:r>
              <a:rPr lang="en-GB" sz="2400" b="1">
                <a:latin typeface="Times New Roman"/>
                <a:ea typeface="+mn-lt"/>
                <a:cs typeface="+mn-lt"/>
              </a:rPr>
              <a:t>Width :</a:t>
            </a:r>
            <a:endParaRPr lang="en-GB" b="1">
              <a:latin typeface="Times New Roman"/>
              <a:cs typeface="Times New Roman"/>
            </a:endParaRPr>
          </a:p>
          <a:p>
            <a:pPr marL="0" indent="0">
              <a:buNone/>
            </a:pPr>
            <a:r>
              <a:rPr lang="en-GB" sz="2400" b="1">
                <a:latin typeface="Times New Roman"/>
                <a:ea typeface="Calibri"/>
                <a:cs typeface="Calibri"/>
              </a:rPr>
              <a:t> </a:t>
            </a:r>
            <a:r>
              <a:rPr lang="en-GB" sz="2400" b="1">
                <a:latin typeface="Times New Roman"/>
                <a:ea typeface="+mn-lt"/>
                <a:cs typeface="+mn-lt"/>
              </a:rPr>
              <a:t>Width</a:t>
            </a:r>
            <a:r>
              <a:rPr lang="en-GB" sz="2400">
                <a:latin typeface="Times New Roman"/>
                <a:ea typeface="+mn-lt"/>
                <a:cs typeface="+mn-lt"/>
              </a:rPr>
              <a:t> affects the coupling strength — wider lines increase coupling but may disturb matching.</a:t>
            </a:r>
            <a:endParaRPr lang="en-GB" sz="2400" b="1">
              <a:latin typeface="Times New Roman"/>
              <a:ea typeface="Calibri"/>
              <a:cs typeface="Calibri"/>
            </a:endParaRPr>
          </a:p>
          <a:p>
            <a:endParaRPr lang="en-GB">
              <a:ea typeface="Calibri"/>
              <a:cs typeface="Calibri"/>
            </a:endParaRPr>
          </a:p>
        </p:txBody>
      </p:sp>
      <p:sp>
        <p:nvSpPr>
          <p:cNvPr id="4" name="Date Placeholder 3">
            <a:extLst>
              <a:ext uri="{FF2B5EF4-FFF2-40B4-BE49-F238E27FC236}">
                <a16:creationId xmlns:a16="http://schemas.microsoft.com/office/drawing/2014/main" id="{5A9070C8-75E8-AFC0-E8A2-6C6FDBD6F1DB}"/>
              </a:ext>
            </a:extLst>
          </p:cNvPr>
          <p:cNvSpPr>
            <a:spLocks noGrp="1"/>
          </p:cNvSpPr>
          <p:nvPr>
            <p:ph type="dt" sz="half" idx="10"/>
          </p:nvPr>
        </p:nvSpPr>
        <p:spPr/>
        <p:txBody>
          <a:bodyPr/>
          <a:lstStyle/>
          <a:p>
            <a:fld id="{BDA09FE3-B6C6-47B1-AD17-7C726B7EDAD1}" type="datetime1">
              <a:rPr lang="en-IN" smtClean="0"/>
              <a:t>09-02-2026</a:t>
            </a:fld>
            <a:endParaRPr lang="en-IN"/>
          </a:p>
        </p:txBody>
      </p:sp>
      <p:sp>
        <p:nvSpPr>
          <p:cNvPr id="5" name="Footer Placeholder 4">
            <a:extLst>
              <a:ext uri="{FF2B5EF4-FFF2-40B4-BE49-F238E27FC236}">
                <a16:creationId xmlns:a16="http://schemas.microsoft.com/office/drawing/2014/main" id="{05C7FC1B-56EE-7CAF-7E16-9F3177F6D280}"/>
              </a:ext>
            </a:extLst>
          </p:cNvPr>
          <p:cNvSpPr>
            <a:spLocks noGrp="1"/>
          </p:cNvSpPr>
          <p:nvPr>
            <p:ph type="ftr" sz="quarter" idx="11"/>
          </p:nvPr>
        </p:nvSpPr>
        <p:spPr/>
        <p:txBody>
          <a:bodyPr/>
          <a:lstStyle/>
          <a:p>
            <a:r>
              <a:rPr lang="en-IN"/>
              <a:t>Review 2.2</a:t>
            </a:r>
          </a:p>
        </p:txBody>
      </p:sp>
      <p:sp>
        <p:nvSpPr>
          <p:cNvPr id="6" name="Slide Number Placeholder 5">
            <a:extLst>
              <a:ext uri="{FF2B5EF4-FFF2-40B4-BE49-F238E27FC236}">
                <a16:creationId xmlns:a16="http://schemas.microsoft.com/office/drawing/2014/main" id="{0E782BC5-E4E5-D260-E0B7-90A0DD8D3314}"/>
              </a:ext>
            </a:extLst>
          </p:cNvPr>
          <p:cNvSpPr>
            <a:spLocks noGrp="1"/>
          </p:cNvSpPr>
          <p:nvPr>
            <p:ph type="sldNum" sz="quarter" idx="12"/>
          </p:nvPr>
        </p:nvSpPr>
        <p:spPr/>
        <p:txBody>
          <a:bodyPr/>
          <a:lstStyle/>
          <a:p>
            <a:fld id="{1CCCFFBF-4DCD-46DE-85E1-69841FB49368}" type="slidenum">
              <a:rPr lang="en-IN" smtClean="0"/>
              <a:t>20</a:t>
            </a:fld>
            <a:endParaRPr lang="en-IN"/>
          </a:p>
        </p:txBody>
      </p:sp>
      <mc:AlternateContent xmlns:mc="http://schemas.openxmlformats.org/markup-compatibility/2006">
        <mc:Choice xmlns:p14="http://schemas.microsoft.com/office/powerpoint/2010/main" Requires="p14">
          <p:contentPart p14:bwMode="auto" r:id="rId2">
            <p14:nvContentPartPr>
              <p14:cNvPr id="7" name="Ink 6">
                <a:extLst>
                  <a:ext uri="{FF2B5EF4-FFF2-40B4-BE49-F238E27FC236}">
                    <a16:creationId xmlns:a16="http://schemas.microsoft.com/office/drawing/2014/main" id="{9A68ED39-DE5D-4690-90EC-05C44757DDD9}"/>
                  </a:ext>
                </a:extLst>
              </p14:cNvPr>
              <p14:cNvContentPartPr/>
              <p14:nvPr/>
            </p14:nvContentPartPr>
            <p14:xfrm>
              <a:off x="12998686" y="2474900"/>
              <a:ext cx="13146" cy="17311"/>
            </p14:xfrm>
          </p:contentPart>
        </mc:Choice>
        <mc:Fallback>
          <p:pic>
            <p:nvPicPr>
              <p:cNvPr id="7" name="Ink 6">
                <a:extLst>
                  <a:ext uri="{FF2B5EF4-FFF2-40B4-BE49-F238E27FC236}">
                    <a16:creationId xmlns:a16="http://schemas.microsoft.com/office/drawing/2014/main" id="{9A68ED39-DE5D-4690-90EC-05C44757DDD9}"/>
                  </a:ext>
                </a:extLst>
              </p:cNvPr>
              <p:cNvPicPr/>
              <p:nvPr/>
            </p:nvPicPr>
            <p:blipFill>
              <a:blip r:embed="rId3"/>
              <a:stretch>
                <a:fillRect/>
              </a:stretch>
            </p:blipFill>
            <p:spPr>
              <a:xfrm>
                <a:off x="12981389" y="2457236"/>
                <a:ext cx="47395" cy="52286"/>
              </a:xfrm>
              <a:prstGeom prst="rect">
                <a:avLst/>
              </a:prstGeom>
            </p:spPr>
          </p:pic>
        </mc:Fallback>
      </mc:AlternateContent>
    </p:spTree>
    <p:extLst>
      <p:ext uri="{BB962C8B-B14F-4D97-AF65-F5344CB8AC3E}">
        <p14:creationId xmlns:p14="http://schemas.microsoft.com/office/powerpoint/2010/main" val="13657680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83688B-FBFD-227D-6B23-937DC3E1B86C}"/>
              </a:ext>
            </a:extLst>
          </p:cNvPr>
          <p:cNvSpPr>
            <a:spLocks noGrp="1"/>
          </p:cNvSpPr>
          <p:nvPr>
            <p:ph type="title"/>
          </p:nvPr>
        </p:nvSpPr>
        <p:spPr/>
        <p:txBody>
          <a:bodyPr>
            <a:normAutofit/>
          </a:bodyPr>
          <a:lstStyle/>
          <a:p>
            <a:r>
              <a:rPr lang="en-GB" sz="3600">
                <a:latin typeface="Times New Roman"/>
                <a:ea typeface="Calibri Light"/>
                <a:cs typeface="Calibri Light"/>
              </a:rPr>
              <a:t>Design:</a:t>
            </a:r>
            <a:endParaRPr lang="en-GB" sz="3600">
              <a:latin typeface="Times New Roman"/>
            </a:endParaRPr>
          </a:p>
        </p:txBody>
      </p:sp>
      <p:sp>
        <p:nvSpPr>
          <p:cNvPr id="4" name="Date Placeholder 3">
            <a:extLst>
              <a:ext uri="{FF2B5EF4-FFF2-40B4-BE49-F238E27FC236}">
                <a16:creationId xmlns:a16="http://schemas.microsoft.com/office/drawing/2014/main" id="{E18E95E3-66DF-E748-DB86-1CEDD28F080C}"/>
              </a:ext>
            </a:extLst>
          </p:cNvPr>
          <p:cNvSpPr>
            <a:spLocks noGrp="1"/>
          </p:cNvSpPr>
          <p:nvPr>
            <p:ph type="dt" sz="half" idx="10"/>
          </p:nvPr>
        </p:nvSpPr>
        <p:spPr/>
        <p:txBody>
          <a:bodyPr/>
          <a:lstStyle/>
          <a:p>
            <a:fld id="{BDA09FE3-B6C6-47B1-AD17-7C726B7EDAD1}" type="datetime1">
              <a:rPr lang="en-IN" smtClean="0"/>
              <a:t>09-02-2026</a:t>
            </a:fld>
            <a:endParaRPr lang="en-IN"/>
          </a:p>
        </p:txBody>
      </p:sp>
      <p:sp>
        <p:nvSpPr>
          <p:cNvPr id="5" name="Footer Placeholder 4">
            <a:extLst>
              <a:ext uri="{FF2B5EF4-FFF2-40B4-BE49-F238E27FC236}">
                <a16:creationId xmlns:a16="http://schemas.microsoft.com/office/drawing/2014/main" id="{096F69F6-ABE4-38FF-3AA9-3023D5351734}"/>
              </a:ext>
            </a:extLst>
          </p:cNvPr>
          <p:cNvSpPr>
            <a:spLocks noGrp="1"/>
          </p:cNvSpPr>
          <p:nvPr>
            <p:ph type="ftr" sz="quarter" idx="11"/>
          </p:nvPr>
        </p:nvSpPr>
        <p:spPr/>
        <p:txBody>
          <a:bodyPr/>
          <a:lstStyle/>
          <a:p>
            <a:r>
              <a:rPr lang="en-IN"/>
              <a:t>Review 2.2</a:t>
            </a:r>
          </a:p>
        </p:txBody>
      </p:sp>
      <p:sp>
        <p:nvSpPr>
          <p:cNvPr id="6" name="Slide Number Placeholder 5">
            <a:extLst>
              <a:ext uri="{FF2B5EF4-FFF2-40B4-BE49-F238E27FC236}">
                <a16:creationId xmlns:a16="http://schemas.microsoft.com/office/drawing/2014/main" id="{0929F431-8434-EA72-44DD-4D1DD66D1B1D}"/>
              </a:ext>
            </a:extLst>
          </p:cNvPr>
          <p:cNvSpPr>
            <a:spLocks noGrp="1"/>
          </p:cNvSpPr>
          <p:nvPr>
            <p:ph type="sldNum" sz="quarter" idx="12"/>
          </p:nvPr>
        </p:nvSpPr>
        <p:spPr/>
        <p:txBody>
          <a:bodyPr/>
          <a:lstStyle/>
          <a:p>
            <a:fld id="{1CCCFFBF-4DCD-46DE-85E1-69841FB49368}" type="slidenum">
              <a:rPr lang="en-IN" smtClean="0"/>
              <a:t>21</a:t>
            </a:fld>
            <a:endParaRPr lang="en-IN"/>
          </a:p>
        </p:txBody>
      </p:sp>
      <p:sp>
        <p:nvSpPr>
          <p:cNvPr id="8" name="TextBox 7">
            <a:extLst>
              <a:ext uri="{FF2B5EF4-FFF2-40B4-BE49-F238E27FC236}">
                <a16:creationId xmlns:a16="http://schemas.microsoft.com/office/drawing/2014/main" id="{5F2AC41D-FDFE-18D2-0851-B47824E5D12E}"/>
              </a:ext>
            </a:extLst>
          </p:cNvPr>
          <p:cNvSpPr txBox="1"/>
          <p:nvPr/>
        </p:nvSpPr>
        <p:spPr>
          <a:xfrm>
            <a:off x="835068" y="5600178"/>
            <a:ext cx="6096000" cy="61555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IN" sz="1600" baseline="0">
                <a:latin typeface="Times New Roman"/>
              </a:rPr>
              <a:t>Figure </a:t>
            </a:r>
            <a:r>
              <a:rPr lang="en-IN" sz="1600">
                <a:latin typeface="Times New Roman"/>
              </a:rPr>
              <a:t>13</a:t>
            </a:r>
            <a:r>
              <a:rPr lang="en-IN" sz="1600" baseline="0">
                <a:latin typeface="Times New Roman"/>
              </a:rPr>
              <a:t>.  </a:t>
            </a:r>
            <a:r>
              <a:rPr lang="en-IN" sz="1600">
                <a:latin typeface="Times New Roman"/>
              </a:rPr>
              <a:t>Design </a:t>
            </a:r>
            <a:r>
              <a:rPr lang="en-IN" sz="1600" baseline="0">
                <a:latin typeface="Times New Roman"/>
              </a:rPr>
              <a:t>of  </a:t>
            </a:r>
            <a:r>
              <a:rPr lang="en-GB" sz="1600" baseline="0">
                <a:latin typeface="Times New Roman"/>
              </a:rPr>
              <a:t>1×2 Patch antenna Array</a:t>
            </a:r>
            <a:endParaRPr lang="en-GB"/>
          </a:p>
          <a:p>
            <a:pPr algn="ctr"/>
            <a:endParaRPr lang="en-GB"/>
          </a:p>
        </p:txBody>
      </p:sp>
      <p:pic>
        <p:nvPicPr>
          <p:cNvPr id="10" name="Content Placeholder 9" descr="A screenshot of a computer screen&#10;&#10;AI-generated content may be incorrect.">
            <a:extLst>
              <a:ext uri="{FF2B5EF4-FFF2-40B4-BE49-F238E27FC236}">
                <a16:creationId xmlns:a16="http://schemas.microsoft.com/office/drawing/2014/main" id="{90D116CB-E055-1256-BA2F-DAEB3B36BC53}"/>
              </a:ext>
            </a:extLst>
          </p:cNvPr>
          <p:cNvPicPr>
            <a:picLocks noGrp="1" noChangeAspect="1"/>
          </p:cNvPicPr>
          <p:nvPr>
            <p:ph idx="1"/>
          </p:nvPr>
        </p:nvPicPr>
        <p:blipFill>
          <a:blip r:embed="rId2"/>
          <a:stretch>
            <a:fillRect/>
          </a:stretch>
        </p:blipFill>
        <p:spPr>
          <a:xfrm>
            <a:off x="600683" y="1230638"/>
            <a:ext cx="6877921" cy="4351338"/>
          </a:xfrm>
          <a:prstGeom prst="rect">
            <a:avLst/>
          </a:prstGeom>
        </p:spPr>
      </p:pic>
    </p:spTree>
    <p:extLst>
      <p:ext uri="{BB962C8B-B14F-4D97-AF65-F5344CB8AC3E}">
        <p14:creationId xmlns:p14="http://schemas.microsoft.com/office/powerpoint/2010/main" val="10025590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314994-51E3-191F-1B25-FB53E964344D}"/>
              </a:ext>
            </a:extLst>
          </p:cNvPr>
          <p:cNvSpPr>
            <a:spLocks noGrp="1"/>
          </p:cNvSpPr>
          <p:nvPr>
            <p:ph type="title"/>
          </p:nvPr>
        </p:nvSpPr>
        <p:spPr/>
        <p:txBody>
          <a:bodyPr>
            <a:normAutofit fontScale="90000"/>
          </a:bodyPr>
          <a:lstStyle/>
          <a:p>
            <a:r>
              <a:rPr lang="en-GB" sz="3600">
                <a:latin typeface="Times New Roman"/>
                <a:ea typeface="Calibri Light"/>
                <a:cs typeface="Calibri Light"/>
              </a:rPr>
              <a:t>Results:</a:t>
            </a:r>
            <a:br>
              <a:rPr lang="en-GB" sz="3600">
                <a:latin typeface="Times New Roman"/>
                <a:ea typeface="Calibri Light"/>
                <a:cs typeface="Calibri Light"/>
              </a:rPr>
            </a:br>
            <a:br>
              <a:rPr lang="en-GB" sz="3600">
                <a:latin typeface="Times New Roman"/>
                <a:ea typeface="Calibri Light"/>
                <a:cs typeface="Calibri Light"/>
              </a:rPr>
            </a:br>
            <a:r>
              <a:rPr lang="en-IN" sz="2000">
                <a:latin typeface="Times New Roman"/>
                <a:ea typeface="Calibri Light"/>
                <a:cs typeface="Times New Roman"/>
              </a:rPr>
              <a:t>Analysis of the S-parameter plot for </a:t>
            </a:r>
            <a:r>
              <a:rPr lang="en-GB" sz="1800">
                <a:latin typeface="Times New Roman"/>
                <a:ea typeface="Calibri Light"/>
                <a:cs typeface="Times New Roman"/>
              </a:rPr>
              <a:t>1×2 Patch antenna Array without a Decoupling Structure with </a:t>
            </a:r>
            <a:r>
              <a:rPr lang="en-IN" sz="1800">
                <a:latin typeface="Times New Roman"/>
                <a:ea typeface="Calibri Light"/>
                <a:cs typeface="Times New Roman"/>
              </a:rPr>
              <a:t>HFSS  with centre to centre spacing as </a:t>
            </a:r>
            <a:r>
              <a:rPr lang="el-GR" sz="1800">
                <a:latin typeface="Times New Roman"/>
                <a:ea typeface="Calibri Light"/>
                <a:cs typeface="Times New Roman"/>
              </a:rPr>
              <a:t>0.4</a:t>
            </a:r>
            <a:r>
              <a:rPr lang="el-GR" sz="1800" b="1">
                <a:latin typeface="Times New Roman"/>
                <a:ea typeface="Calibri Light"/>
                <a:cs typeface="Times New Roman"/>
              </a:rPr>
              <a:t> </a:t>
            </a:r>
            <a:r>
              <a:rPr lang="el-GR" sz="1800">
                <a:latin typeface="Times New Roman"/>
                <a:ea typeface="Calibri Light"/>
                <a:cs typeface="Times New Roman"/>
              </a:rPr>
              <a:t>λ</a:t>
            </a:r>
            <a:r>
              <a:rPr lang="el-GR" sz="1000" baseline="-25000">
                <a:latin typeface="Times New Roman"/>
                <a:ea typeface="Calibri Light"/>
                <a:cs typeface="Times New Roman"/>
              </a:rPr>
              <a:t>0  .</a:t>
            </a:r>
          </a:p>
        </p:txBody>
      </p:sp>
      <p:sp>
        <p:nvSpPr>
          <p:cNvPr id="4" name="Date Placeholder 3">
            <a:extLst>
              <a:ext uri="{FF2B5EF4-FFF2-40B4-BE49-F238E27FC236}">
                <a16:creationId xmlns:a16="http://schemas.microsoft.com/office/drawing/2014/main" id="{B1136E58-ACFA-F761-A8C9-33DEF8811649}"/>
              </a:ext>
            </a:extLst>
          </p:cNvPr>
          <p:cNvSpPr>
            <a:spLocks noGrp="1"/>
          </p:cNvSpPr>
          <p:nvPr>
            <p:ph type="dt" sz="half" idx="10"/>
          </p:nvPr>
        </p:nvSpPr>
        <p:spPr/>
        <p:txBody>
          <a:bodyPr/>
          <a:lstStyle/>
          <a:p>
            <a:fld id="{BDA09FE3-B6C6-47B1-AD17-7C726B7EDAD1}" type="datetime1">
              <a:rPr lang="en-IN" smtClean="0"/>
              <a:t>09-02-2026</a:t>
            </a:fld>
            <a:endParaRPr lang="en-IN"/>
          </a:p>
        </p:txBody>
      </p:sp>
      <p:sp>
        <p:nvSpPr>
          <p:cNvPr id="5" name="Footer Placeholder 4">
            <a:extLst>
              <a:ext uri="{FF2B5EF4-FFF2-40B4-BE49-F238E27FC236}">
                <a16:creationId xmlns:a16="http://schemas.microsoft.com/office/drawing/2014/main" id="{A7456039-DF94-B26E-6B4A-A65E9B92F90C}"/>
              </a:ext>
            </a:extLst>
          </p:cNvPr>
          <p:cNvSpPr>
            <a:spLocks noGrp="1"/>
          </p:cNvSpPr>
          <p:nvPr>
            <p:ph type="ftr" sz="quarter" idx="11"/>
          </p:nvPr>
        </p:nvSpPr>
        <p:spPr/>
        <p:txBody>
          <a:bodyPr/>
          <a:lstStyle/>
          <a:p>
            <a:r>
              <a:rPr lang="en-IN"/>
              <a:t>Review 1.3</a:t>
            </a:r>
          </a:p>
        </p:txBody>
      </p:sp>
      <p:sp>
        <p:nvSpPr>
          <p:cNvPr id="6" name="Slide Number Placeholder 5">
            <a:extLst>
              <a:ext uri="{FF2B5EF4-FFF2-40B4-BE49-F238E27FC236}">
                <a16:creationId xmlns:a16="http://schemas.microsoft.com/office/drawing/2014/main" id="{5F60226F-0444-7477-B6AA-C58FF985B4E8}"/>
              </a:ext>
            </a:extLst>
          </p:cNvPr>
          <p:cNvSpPr>
            <a:spLocks noGrp="1"/>
          </p:cNvSpPr>
          <p:nvPr>
            <p:ph type="sldNum" sz="quarter" idx="12"/>
          </p:nvPr>
        </p:nvSpPr>
        <p:spPr/>
        <p:txBody>
          <a:bodyPr/>
          <a:lstStyle/>
          <a:p>
            <a:fld id="{1CCCFFBF-4DCD-46DE-85E1-69841FB49368}" type="slidenum">
              <a:rPr lang="en-IN" smtClean="0"/>
              <a:t>22</a:t>
            </a:fld>
            <a:endParaRPr lang="en-IN"/>
          </a:p>
        </p:txBody>
      </p:sp>
      <p:sp>
        <p:nvSpPr>
          <p:cNvPr id="8" name="TextBox 7">
            <a:extLst>
              <a:ext uri="{FF2B5EF4-FFF2-40B4-BE49-F238E27FC236}">
                <a16:creationId xmlns:a16="http://schemas.microsoft.com/office/drawing/2014/main" id="{B74FE4F6-7E08-92EF-F799-42BE9323C4D6}"/>
              </a:ext>
            </a:extLst>
          </p:cNvPr>
          <p:cNvSpPr txBox="1"/>
          <p:nvPr/>
        </p:nvSpPr>
        <p:spPr>
          <a:xfrm>
            <a:off x="835068" y="5735877"/>
            <a:ext cx="6096000" cy="61555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IN" sz="1600" baseline="0">
                <a:latin typeface="Times New Roman"/>
              </a:rPr>
              <a:t>Figure </a:t>
            </a:r>
            <a:r>
              <a:rPr lang="en-IN" sz="1600">
                <a:latin typeface="Times New Roman"/>
              </a:rPr>
              <a:t>14</a:t>
            </a:r>
            <a:r>
              <a:rPr lang="en-IN" sz="1600" baseline="0">
                <a:latin typeface="Times New Roman"/>
              </a:rPr>
              <a:t>.  Simulated </a:t>
            </a:r>
            <a:r>
              <a:rPr lang="en-IN" sz="1600">
                <a:latin typeface="Times New Roman"/>
              </a:rPr>
              <a:t>S parameter</a:t>
            </a:r>
            <a:r>
              <a:rPr lang="en-IN" sz="1600" baseline="0">
                <a:latin typeface="Times New Roman"/>
              </a:rPr>
              <a:t> of  </a:t>
            </a:r>
            <a:r>
              <a:rPr lang="en-GB" sz="1600" baseline="0">
                <a:latin typeface="Times New Roman"/>
              </a:rPr>
              <a:t>1×2 Patch antenna Array </a:t>
            </a:r>
            <a:endParaRPr lang="en-GB"/>
          </a:p>
          <a:p>
            <a:pPr algn="ctr"/>
            <a:endParaRPr lang="en-GB"/>
          </a:p>
        </p:txBody>
      </p:sp>
      <p:pic>
        <p:nvPicPr>
          <p:cNvPr id="9" name="Content Placeholder 8" descr="A graph with blue and green lines&#10;&#10;AI-generated content may be incorrect.">
            <a:extLst>
              <a:ext uri="{FF2B5EF4-FFF2-40B4-BE49-F238E27FC236}">
                <a16:creationId xmlns:a16="http://schemas.microsoft.com/office/drawing/2014/main" id="{BEBF72F6-0F85-7754-EFE7-E07C3BFD06C4}"/>
              </a:ext>
            </a:extLst>
          </p:cNvPr>
          <p:cNvPicPr>
            <a:picLocks noGrp="1" noChangeAspect="1"/>
          </p:cNvPicPr>
          <p:nvPr>
            <p:ph idx="1"/>
          </p:nvPr>
        </p:nvPicPr>
        <p:blipFill>
          <a:blip r:embed="rId2"/>
          <a:stretch>
            <a:fillRect/>
          </a:stretch>
        </p:blipFill>
        <p:spPr>
          <a:xfrm>
            <a:off x="838200" y="1908903"/>
            <a:ext cx="10515600" cy="3829878"/>
          </a:xfrm>
          <a:prstGeom prst="rect">
            <a:avLst/>
          </a:prstGeom>
        </p:spPr>
      </p:pic>
    </p:spTree>
    <p:extLst>
      <p:ext uri="{BB962C8B-B14F-4D97-AF65-F5344CB8AC3E}">
        <p14:creationId xmlns:p14="http://schemas.microsoft.com/office/powerpoint/2010/main" val="19767082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C2439-95F5-102D-8BD8-3B5C9999C2DE}"/>
              </a:ext>
            </a:extLst>
          </p:cNvPr>
          <p:cNvSpPr>
            <a:spLocks noGrp="1"/>
          </p:cNvSpPr>
          <p:nvPr>
            <p:ph type="title"/>
          </p:nvPr>
        </p:nvSpPr>
        <p:spPr>
          <a:xfrm>
            <a:off x="712940" y="845289"/>
            <a:ext cx="10515600" cy="1325563"/>
          </a:xfrm>
        </p:spPr>
        <p:txBody>
          <a:bodyPr>
            <a:normAutofit fontScale="90000"/>
          </a:bodyPr>
          <a:lstStyle/>
          <a:p>
            <a:r>
              <a:rPr lang="en-GB" sz="3600">
                <a:latin typeface="Times New Roman"/>
                <a:ea typeface="Calibri Light"/>
                <a:cs typeface="Calibri Light"/>
              </a:rPr>
              <a:t>Results:</a:t>
            </a:r>
            <a:br>
              <a:rPr lang="en-GB" sz="3600">
                <a:latin typeface="Times New Roman"/>
                <a:ea typeface="Calibri Light"/>
                <a:cs typeface="Calibri Light"/>
              </a:rPr>
            </a:br>
            <a:br>
              <a:rPr lang="en-GB" sz="3600">
                <a:latin typeface="Times New Roman"/>
                <a:ea typeface="Calibri Light"/>
                <a:cs typeface="Calibri Light"/>
              </a:rPr>
            </a:br>
            <a:br>
              <a:rPr lang="en-GB" sz="3600">
                <a:latin typeface="Times New Roman"/>
                <a:ea typeface="Calibri Light"/>
                <a:cs typeface="Calibri Light"/>
              </a:rPr>
            </a:br>
            <a:r>
              <a:rPr lang="en-IN" sz="2000">
                <a:latin typeface="Times New Roman"/>
                <a:ea typeface="Calibri Light"/>
                <a:cs typeface="Times New Roman"/>
              </a:rPr>
              <a:t>Analysis of the Gain plot for </a:t>
            </a:r>
            <a:r>
              <a:rPr lang="en-GB" sz="1800">
                <a:latin typeface="Times New Roman"/>
                <a:ea typeface="Calibri Light"/>
                <a:cs typeface="Times New Roman"/>
              </a:rPr>
              <a:t>1×2 Patch antenna Array without a Decoupling Structure with </a:t>
            </a:r>
            <a:r>
              <a:rPr lang="en-IN" sz="1800">
                <a:latin typeface="Times New Roman"/>
                <a:ea typeface="Calibri Light"/>
                <a:cs typeface="Times New Roman"/>
              </a:rPr>
              <a:t>HFSS  with centre to centre spacing as </a:t>
            </a:r>
            <a:r>
              <a:rPr lang="el-GR" sz="1800">
                <a:latin typeface="Times New Roman"/>
                <a:ea typeface="Calibri Light"/>
                <a:cs typeface="Times New Roman"/>
              </a:rPr>
              <a:t>0.4</a:t>
            </a:r>
            <a:r>
              <a:rPr lang="el-GR" sz="1800" b="1">
                <a:latin typeface="Times New Roman"/>
                <a:ea typeface="Calibri Light"/>
                <a:cs typeface="Times New Roman"/>
              </a:rPr>
              <a:t> </a:t>
            </a:r>
            <a:r>
              <a:rPr lang="el-GR" sz="1800">
                <a:latin typeface="Times New Roman"/>
                <a:ea typeface="Calibri Light"/>
                <a:cs typeface="Times New Roman"/>
              </a:rPr>
              <a:t>λ</a:t>
            </a:r>
            <a:r>
              <a:rPr lang="el-GR" sz="700" baseline="-25000">
                <a:latin typeface="Times New Roman"/>
                <a:ea typeface="Calibri Light"/>
                <a:cs typeface="Times New Roman"/>
              </a:rPr>
              <a:t>0 .</a:t>
            </a:r>
            <a:br>
              <a:rPr lang="en-GB" sz="3600">
                <a:latin typeface="Times New Roman"/>
                <a:ea typeface="Calibri Light"/>
                <a:cs typeface="Calibri Light"/>
              </a:rPr>
            </a:br>
            <a:endParaRPr lang="en-GB" sz="3600">
              <a:latin typeface="Times New Roman"/>
              <a:ea typeface="Calibri Light"/>
              <a:cs typeface="Calibri Light"/>
            </a:endParaRPr>
          </a:p>
        </p:txBody>
      </p:sp>
      <p:pic>
        <p:nvPicPr>
          <p:cNvPr id="7" name="Content Placeholder 6" descr="A red and yellow sphere with black lines and numbers&#10;&#10;AI-generated content may be incorrect.">
            <a:extLst>
              <a:ext uri="{FF2B5EF4-FFF2-40B4-BE49-F238E27FC236}">
                <a16:creationId xmlns:a16="http://schemas.microsoft.com/office/drawing/2014/main" id="{AEF6B533-1BC7-98BD-5375-0D57DD050154}"/>
              </a:ext>
            </a:extLst>
          </p:cNvPr>
          <p:cNvPicPr>
            <a:picLocks noGrp="1" noChangeAspect="1"/>
          </p:cNvPicPr>
          <p:nvPr>
            <p:ph idx="1"/>
          </p:nvPr>
        </p:nvPicPr>
        <p:blipFill>
          <a:blip r:embed="rId2"/>
          <a:stretch>
            <a:fillRect/>
          </a:stretch>
        </p:blipFill>
        <p:spPr>
          <a:xfrm>
            <a:off x="838200" y="2529110"/>
            <a:ext cx="10515600" cy="2944368"/>
          </a:xfrm>
          <a:prstGeom prst="rect">
            <a:avLst/>
          </a:prstGeom>
        </p:spPr>
      </p:pic>
      <p:sp>
        <p:nvSpPr>
          <p:cNvPr id="4" name="Date Placeholder 3">
            <a:extLst>
              <a:ext uri="{FF2B5EF4-FFF2-40B4-BE49-F238E27FC236}">
                <a16:creationId xmlns:a16="http://schemas.microsoft.com/office/drawing/2014/main" id="{B39651D9-36B0-C9A0-8304-371D03C83DA2}"/>
              </a:ext>
            </a:extLst>
          </p:cNvPr>
          <p:cNvSpPr>
            <a:spLocks noGrp="1"/>
          </p:cNvSpPr>
          <p:nvPr>
            <p:ph type="dt" sz="half" idx="10"/>
          </p:nvPr>
        </p:nvSpPr>
        <p:spPr/>
        <p:txBody>
          <a:bodyPr/>
          <a:lstStyle/>
          <a:p>
            <a:fld id="{BDA09FE3-B6C6-47B1-AD17-7C726B7EDAD1}" type="datetime1">
              <a:rPr lang="en-IN" smtClean="0"/>
              <a:t>09-02-2026</a:t>
            </a:fld>
            <a:endParaRPr lang="en-IN"/>
          </a:p>
        </p:txBody>
      </p:sp>
      <p:sp>
        <p:nvSpPr>
          <p:cNvPr id="5" name="Footer Placeholder 4">
            <a:extLst>
              <a:ext uri="{FF2B5EF4-FFF2-40B4-BE49-F238E27FC236}">
                <a16:creationId xmlns:a16="http://schemas.microsoft.com/office/drawing/2014/main" id="{16C6487F-ADB6-3DBD-83BF-6721D4135C43}"/>
              </a:ext>
            </a:extLst>
          </p:cNvPr>
          <p:cNvSpPr>
            <a:spLocks noGrp="1"/>
          </p:cNvSpPr>
          <p:nvPr>
            <p:ph type="ftr" sz="quarter" idx="11"/>
          </p:nvPr>
        </p:nvSpPr>
        <p:spPr/>
        <p:txBody>
          <a:bodyPr/>
          <a:lstStyle/>
          <a:p>
            <a:r>
              <a:rPr lang="en-IN"/>
              <a:t>Review 2.2</a:t>
            </a:r>
          </a:p>
        </p:txBody>
      </p:sp>
      <p:sp>
        <p:nvSpPr>
          <p:cNvPr id="6" name="Slide Number Placeholder 5">
            <a:extLst>
              <a:ext uri="{FF2B5EF4-FFF2-40B4-BE49-F238E27FC236}">
                <a16:creationId xmlns:a16="http://schemas.microsoft.com/office/drawing/2014/main" id="{535E67FC-6B44-A5BF-A622-3984C90F6959}"/>
              </a:ext>
            </a:extLst>
          </p:cNvPr>
          <p:cNvSpPr>
            <a:spLocks noGrp="1"/>
          </p:cNvSpPr>
          <p:nvPr>
            <p:ph type="sldNum" sz="quarter" idx="12"/>
          </p:nvPr>
        </p:nvSpPr>
        <p:spPr/>
        <p:txBody>
          <a:bodyPr/>
          <a:lstStyle/>
          <a:p>
            <a:fld id="{1CCCFFBF-4DCD-46DE-85E1-69841FB49368}" type="slidenum">
              <a:rPr lang="en-IN" smtClean="0"/>
              <a:t>23</a:t>
            </a:fld>
            <a:endParaRPr lang="en-IN"/>
          </a:p>
        </p:txBody>
      </p:sp>
      <p:sp>
        <p:nvSpPr>
          <p:cNvPr id="8" name="TextBox 7">
            <a:extLst>
              <a:ext uri="{FF2B5EF4-FFF2-40B4-BE49-F238E27FC236}">
                <a16:creationId xmlns:a16="http://schemas.microsoft.com/office/drawing/2014/main" id="{9CF14D52-815B-7344-5353-780CD34F2028}"/>
              </a:ext>
            </a:extLst>
          </p:cNvPr>
          <p:cNvSpPr txBox="1"/>
          <p:nvPr/>
        </p:nvSpPr>
        <p:spPr>
          <a:xfrm>
            <a:off x="835068" y="5610617"/>
            <a:ext cx="6096000" cy="61555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IN" sz="1600" b="0" i="0" u="none" strike="noStrike" baseline="0">
                <a:solidFill>
                  <a:srgbClr val="000000"/>
                </a:solidFill>
                <a:latin typeface="Times New Roman"/>
              </a:rPr>
              <a:t>Figure </a:t>
            </a:r>
            <a:r>
              <a:rPr lang="en-IN" sz="1600">
                <a:solidFill>
                  <a:srgbClr val="000000"/>
                </a:solidFill>
                <a:latin typeface="Times New Roman"/>
              </a:rPr>
              <a:t>15</a:t>
            </a:r>
            <a:r>
              <a:rPr lang="en-IN" sz="1600" b="0" i="0" u="none" strike="noStrike" baseline="0">
                <a:solidFill>
                  <a:srgbClr val="000000"/>
                </a:solidFill>
                <a:latin typeface="Times New Roman"/>
              </a:rPr>
              <a:t>.  Simulated </a:t>
            </a:r>
            <a:r>
              <a:rPr lang="en-IN" sz="1600">
                <a:solidFill>
                  <a:srgbClr val="000000"/>
                </a:solidFill>
                <a:latin typeface="Times New Roman"/>
              </a:rPr>
              <a:t>Gain </a:t>
            </a:r>
            <a:r>
              <a:rPr lang="en-IN" sz="1600" b="0" i="0" u="none" strike="noStrike" baseline="0">
                <a:solidFill>
                  <a:srgbClr val="000000"/>
                </a:solidFill>
                <a:latin typeface="Times New Roman"/>
              </a:rPr>
              <a:t>of  </a:t>
            </a:r>
            <a:r>
              <a:rPr lang="en-GB" sz="1600" b="0" i="0" u="none" strike="noStrike" baseline="0">
                <a:solidFill>
                  <a:srgbClr val="000000"/>
                </a:solidFill>
                <a:latin typeface="Times New Roman"/>
              </a:rPr>
              <a:t>1×2 Patch antenna Array </a:t>
            </a:r>
            <a:endParaRPr lang="en-GB"/>
          </a:p>
          <a:p>
            <a:pPr algn="ctr"/>
            <a:endParaRPr lang="en-GB"/>
          </a:p>
        </p:txBody>
      </p:sp>
    </p:spTree>
    <p:extLst>
      <p:ext uri="{BB962C8B-B14F-4D97-AF65-F5344CB8AC3E}">
        <p14:creationId xmlns:p14="http://schemas.microsoft.com/office/powerpoint/2010/main" val="19120581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4D2D2C-5605-BE34-B342-4DFFB6029E00}"/>
              </a:ext>
            </a:extLst>
          </p:cNvPr>
          <p:cNvSpPr>
            <a:spLocks noGrp="1"/>
          </p:cNvSpPr>
          <p:nvPr>
            <p:ph type="title"/>
          </p:nvPr>
        </p:nvSpPr>
        <p:spPr/>
        <p:txBody>
          <a:bodyPr/>
          <a:lstStyle/>
          <a:p>
            <a:r>
              <a:rPr lang="en-GB" sz="3600">
                <a:latin typeface="Times New Roman"/>
                <a:cs typeface="Times New Roman"/>
              </a:rPr>
              <a:t>Method for Mutual Coupling Reduction :</a:t>
            </a:r>
            <a:endParaRPr lang="en-US"/>
          </a:p>
        </p:txBody>
      </p:sp>
      <p:sp>
        <p:nvSpPr>
          <p:cNvPr id="3" name="Content Placeholder 2">
            <a:extLst>
              <a:ext uri="{FF2B5EF4-FFF2-40B4-BE49-F238E27FC236}">
                <a16:creationId xmlns:a16="http://schemas.microsoft.com/office/drawing/2014/main" id="{C99EEC06-3DFC-CD7E-92E1-68C9F78B90FA}"/>
              </a:ext>
            </a:extLst>
          </p:cNvPr>
          <p:cNvSpPr>
            <a:spLocks noGrp="1"/>
          </p:cNvSpPr>
          <p:nvPr>
            <p:ph idx="1"/>
          </p:nvPr>
        </p:nvSpPr>
        <p:spPr/>
        <p:txBody>
          <a:bodyPr vert="horz" lIns="91440" tIns="45720" rIns="91440" bIns="45720" rtlCol="0" anchor="t">
            <a:normAutofit/>
          </a:bodyPr>
          <a:lstStyle/>
          <a:p>
            <a:pPr marL="0" indent="0">
              <a:buNone/>
            </a:pPr>
            <a:r>
              <a:rPr lang="en-US" sz="3200" b="1">
                <a:latin typeface="Times New Roman"/>
                <a:cs typeface="Times New Roman"/>
              </a:rPr>
              <a:t>Parasitic Elements:</a:t>
            </a:r>
            <a:endParaRPr lang="en-US" sz="3200" b="1"/>
          </a:p>
          <a:p>
            <a:r>
              <a:rPr lang="en-US" b="1">
                <a:latin typeface="Times New Roman"/>
                <a:ea typeface="+mn-lt"/>
                <a:cs typeface="+mn-lt"/>
              </a:rPr>
              <a:t>Coupling Cancellation Path:</a:t>
            </a:r>
            <a:r>
              <a:rPr lang="en-US">
                <a:latin typeface="Times New Roman"/>
                <a:ea typeface="+mn-lt"/>
                <a:cs typeface="+mn-lt"/>
              </a:rPr>
              <a:t> The length creates a specific electrical path that generates </a:t>
            </a:r>
            <a:r>
              <a:rPr lang="en-US" b="1">
                <a:latin typeface="Times New Roman"/>
                <a:ea typeface="+mn-lt"/>
                <a:cs typeface="+mn-lt"/>
              </a:rPr>
              <a:t>out-of-phase currents</a:t>
            </a:r>
            <a:r>
              <a:rPr lang="en-US">
                <a:latin typeface="Times New Roman"/>
                <a:ea typeface="+mn-lt"/>
                <a:cs typeface="+mn-lt"/>
              </a:rPr>
              <a:t> relative to the coupling currents between patches. This cancellation effect maximizes isolation at the design frequency.</a:t>
            </a:r>
            <a:endParaRPr lang="en-US">
              <a:latin typeface="Times New Roman"/>
              <a:cs typeface="Times New Roman"/>
            </a:endParaRPr>
          </a:p>
        </p:txBody>
      </p:sp>
      <p:sp>
        <p:nvSpPr>
          <p:cNvPr id="4" name="Date Placeholder 3">
            <a:extLst>
              <a:ext uri="{FF2B5EF4-FFF2-40B4-BE49-F238E27FC236}">
                <a16:creationId xmlns:a16="http://schemas.microsoft.com/office/drawing/2014/main" id="{0C4021DF-30A5-BC0D-C9D0-0B1FE1C7F936}"/>
              </a:ext>
            </a:extLst>
          </p:cNvPr>
          <p:cNvSpPr>
            <a:spLocks noGrp="1"/>
          </p:cNvSpPr>
          <p:nvPr>
            <p:ph type="dt" sz="half" idx="10"/>
          </p:nvPr>
        </p:nvSpPr>
        <p:spPr/>
        <p:txBody>
          <a:bodyPr/>
          <a:lstStyle/>
          <a:p>
            <a:fld id="{BDA09FE3-B6C6-47B1-AD17-7C726B7EDAD1}" type="datetime1">
              <a:rPr lang="en-IN" smtClean="0"/>
              <a:t>09-02-2026</a:t>
            </a:fld>
            <a:endParaRPr lang="en-IN"/>
          </a:p>
        </p:txBody>
      </p:sp>
      <p:sp>
        <p:nvSpPr>
          <p:cNvPr id="5" name="Footer Placeholder 4">
            <a:extLst>
              <a:ext uri="{FF2B5EF4-FFF2-40B4-BE49-F238E27FC236}">
                <a16:creationId xmlns:a16="http://schemas.microsoft.com/office/drawing/2014/main" id="{F6A35CB6-EC8A-963A-E964-05A03508D11E}"/>
              </a:ext>
            </a:extLst>
          </p:cNvPr>
          <p:cNvSpPr>
            <a:spLocks noGrp="1"/>
          </p:cNvSpPr>
          <p:nvPr>
            <p:ph type="ftr" sz="quarter" idx="11"/>
          </p:nvPr>
        </p:nvSpPr>
        <p:spPr/>
        <p:txBody>
          <a:bodyPr/>
          <a:lstStyle/>
          <a:p>
            <a:r>
              <a:rPr lang="en-IN"/>
              <a:t>Review 2.2</a:t>
            </a:r>
          </a:p>
        </p:txBody>
      </p:sp>
      <p:sp>
        <p:nvSpPr>
          <p:cNvPr id="6" name="Slide Number Placeholder 5">
            <a:extLst>
              <a:ext uri="{FF2B5EF4-FFF2-40B4-BE49-F238E27FC236}">
                <a16:creationId xmlns:a16="http://schemas.microsoft.com/office/drawing/2014/main" id="{3A589F48-77E5-F8AE-FA95-2F20B5D9AF6C}"/>
              </a:ext>
            </a:extLst>
          </p:cNvPr>
          <p:cNvSpPr>
            <a:spLocks noGrp="1"/>
          </p:cNvSpPr>
          <p:nvPr>
            <p:ph type="sldNum" sz="quarter" idx="12"/>
          </p:nvPr>
        </p:nvSpPr>
        <p:spPr/>
        <p:txBody>
          <a:bodyPr/>
          <a:lstStyle/>
          <a:p>
            <a:fld id="{1CCCFFBF-4DCD-46DE-85E1-69841FB49368}" type="slidenum">
              <a:rPr lang="en-IN" smtClean="0"/>
              <a:t>24</a:t>
            </a:fld>
            <a:endParaRPr lang="en-IN"/>
          </a:p>
        </p:txBody>
      </p:sp>
      <p:sp>
        <p:nvSpPr>
          <p:cNvPr id="7" name="TextBox 6">
            <a:extLst>
              <a:ext uri="{FF2B5EF4-FFF2-40B4-BE49-F238E27FC236}">
                <a16:creationId xmlns:a16="http://schemas.microsoft.com/office/drawing/2014/main" id="{97365469-D21A-6934-BD4B-72724FAF9A39}"/>
              </a:ext>
            </a:extLst>
          </p:cNvPr>
          <p:cNvSpPr txBox="1"/>
          <p:nvPr/>
        </p:nvSpPr>
        <p:spPr>
          <a:xfrm>
            <a:off x="835069" y="4253630"/>
            <a:ext cx="10219151" cy="209288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2800" b="1" dirty="0">
                <a:latin typeface="Times New Roman"/>
                <a:cs typeface="Times New Roman"/>
              </a:rPr>
              <a:t>Improved Isolation (S12/S21 Parameters)</a:t>
            </a:r>
            <a:r>
              <a:rPr lang="en-US" sz="2800" dirty="0">
                <a:latin typeface="Times New Roman"/>
                <a:cs typeface="Times New Roman"/>
              </a:rPr>
              <a:t> By strategically placing the parasitic element between the patches, better port-to-port isolation can be achieved, typically improving S12 parameters by 10-20 </a:t>
            </a:r>
            <a:r>
              <a:rPr lang="en-US" sz="2800" err="1">
                <a:latin typeface="Times New Roman"/>
                <a:cs typeface="Times New Roman"/>
              </a:rPr>
              <a:t>dB.</a:t>
            </a:r>
            <a:r>
              <a:rPr lang="en-US" sz="2800" dirty="0">
                <a:latin typeface="Times New Roman"/>
                <a:cs typeface="Times New Roman"/>
              </a:rPr>
              <a:t> This prevents signal interference between the two ports.</a:t>
            </a:r>
            <a:endParaRPr lang="en-US" sz="2800">
              <a:ea typeface="Calibri"/>
              <a:cs typeface="Calibri"/>
            </a:endParaRPr>
          </a:p>
          <a:p>
            <a:pPr algn="ctr"/>
            <a:endParaRPr lang="en-GB"/>
          </a:p>
        </p:txBody>
      </p:sp>
    </p:spTree>
    <p:extLst>
      <p:ext uri="{BB962C8B-B14F-4D97-AF65-F5344CB8AC3E}">
        <p14:creationId xmlns:p14="http://schemas.microsoft.com/office/powerpoint/2010/main" val="16977784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12F999-432F-4128-5006-6AE5D6A08734}"/>
              </a:ext>
            </a:extLst>
          </p:cNvPr>
          <p:cNvSpPr>
            <a:spLocks noGrp="1"/>
          </p:cNvSpPr>
          <p:nvPr>
            <p:ph type="title"/>
          </p:nvPr>
        </p:nvSpPr>
        <p:spPr/>
        <p:txBody>
          <a:bodyPr/>
          <a:lstStyle/>
          <a:p>
            <a:r>
              <a:rPr lang="en-GB">
                <a:latin typeface="Times New Roman"/>
                <a:ea typeface="Calibri Light"/>
                <a:cs typeface="Calibri Light"/>
              </a:rPr>
              <a:t>Design :</a:t>
            </a:r>
            <a:endParaRPr lang="en-GB">
              <a:latin typeface="Times New Roman"/>
            </a:endParaRPr>
          </a:p>
        </p:txBody>
      </p:sp>
      <p:sp>
        <p:nvSpPr>
          <p:cNvPr id="3" name="Content Placeholder 2">
            <a:extLst>
              <a:ext uri="{FF2B5EF4-FFF2-40B4-BE49-F238E27FC236}">
                <a16:creationId xmlns:a16="http://schemas.microsoft.com/office/drawing/2014/main" id="{7C8E0D54-747E-A340-E854-2B5CB37C24C9}"/>
              </a:ext>
            </a:extLst>
          </p:cNvPr>
          <p:cNvSpPr>
            <a:spLocks noGrp="1"/>
          </p:cNvSpPr>
          <p:nvPr>
            <p:ph idx="1"/>
          </p:nvPr>
        </p:nvSpPr>
        <p:spPr/>
        <p:txBody>
          <a:bodyPr vert="horz" lIns="91440" tIns="45720" rIns="91440" bIns="45720" rtlCol="0" anchor="t">
            <a:normAutofit/>
          </a:bodyPr>
          <a:lstStyle/>
          <a:p>
            <a:pPr marL="0" indent="0">
              <a:buNone/>
            </a:pPr>
            <a:r>
              <a:rPr lang="en-GB" b="1">
                <a:latin typeface="Times New Roman"/>
                <a:cs typeface="Times New Roman"/>
              </a:rPr>
              <a:t>Parameters :</a:t>
            </a:r>
            <a:endParaRPr lang="en-GB" b="1">
              <a:latin typeface="Times New Roman"/>
              <a:ea typeface="Calibri"/>
              <a:cs typeface="Times New Roman"/>
            </a:endParaRPr>
          </a:p>
          <a:p>
            <a:pPr marL="0" indent="0">
              <a:buNone/>
            </a:pPr>
            <a:r>
              <a:rPr lang="en-GB" sz="2400">
                <a:latin typeface="Times New Roman"/>
                <a:ea typeface="+mn-lt"/>
                <a:cs typeface="+mn-lt"/>
              </a:rPr>
              <a:t>Free space wavelength: </a:t>
            </a:r>
            <a:r>
              <a:rPr lang="en-GB" sz="2400" b="1">
                <a:latin typeface="Times New Roman"/>
                <a:ea typeface="+mn-lt"/>
                <a:cs typeface="+mn-lt"/>
              </a:rPr>
              <a:t>λ₀</a:t>
            </a:r>
            <a:r>
              <a:rPr lang="en-GB" sz="2400">
                <a:latin typeface="Times New Roman"/>
                <a:ea typeface="+mn-lt"/>
                <a:cs typeface="+mn-lt"/>
              </a:rPr>
              <a:t> =125mm</a:t>
            </a:r>
            <a:endParaRPr lang="en-GB" sz="2400">
              <a:latin typeface="Times New Roman"/>
              <a:ea typeface="Calibri"/>
              <a:cs typeface="Calibri"/>
            </a:endParaRPr>
          </a:p>
          <a:p>
            <a:pPr marL="0" indent="0">
              <a:buNone/>
            </a:pPr>
            <a:r>
              <a:rPr lang="en-GB" sz="2400">
                <a:latin typeface="Times New Roman"/>
                <a:ea typeface="Calibri"/>
                <a:cs typeface="Calibri"/>
              </a:rPr>
              <a:t>Length of the parasitic element = </a:t>
            </a:r>
            <a:r>
              <a:rPr lang="en-GB" sz="2400">
                <a:latin typeface="Times New Roman"/>
                <a:ea typeface="+mn-lt"/>
                <a:cs typeface="+mn-lt"/>
              </a:rPr>
              <a:t>47.5 mm =</a:t>
            </a:r>
            <a:r>
              <a:rPr lang="en-GB" sz="2400" b="1">
                <a:latin typeface="Times New Roman"/>
                <a:ea typeface="+mn-lt"/>
                <a:cs typeface="+mn-lt"/>
              </a:rPr>
              <a:t>0.38λ₀</a:t>
            </a:r>
          </a:p>
          <a:p>
            <a:pPr>
              <a:buNone/>
            </a:pPr>
            <a:r>
              <a:rPr lang="en-GB" sz="2400">
                <a:latin typeface="Times New Roman"/>
                <a:ea typeface="Calibri"/>
                <a:cs typeface="Calibri"/>
              </a:rPr>
              <a:t>Width = 1.5mm</a:t>
            </a:r>
          </a:p>
          <a:p>
            <a:pPr marL="0" indent="0">
              <a:buNone/>
            </a:pPr>
            <a:r>
              <a:rPr lang="en-GB" sz="2400">
                <a:ea typeface="+mn-lt"/>
                <a:cs typeface="+mn-lt"/>
              </a:rPr>
              <a:t>Reflector Mode Operation:</a:t>
            </a:r>
            <a:endParaRPr lang="en-GB">
              <a:ea typeface="Calibri" panose="020F0502020204030204"/>
              <a:cs typeface="Calibri" panose="020F0502020204030204"/>
            </a:endParaRPr>
          </a:p>
          <a:p>
            <a:pPr>
              <a:buFont typeface="Arial"/>
              <a:buChar char="•"/>
            </a:pPr>
            <a:r>
              <a:rPr lang="en-GB" sz="2400">
                <a:ea typeface="+mn-lt"/>
                <a:cs typeface="+mn-lt"/>
              </a:rPr>
              <a:t>Creates isolation barrier between patch elements.</a:t>
            </a:r>
            <a:endParaRPr lang="en-GB" sz="2400">
              <a:ea typeface="Calibri"/>
              <a:cs typeface="Calibri"/>
            </a:endParaRPr>
          </a:p>
          <a:p>
            <a:pPr>
              <a:buFont typeface="Arial"/>
              <a:buChar char="•"/>
            </a:pPr>
            <a:r>
              <a:rPr lang="en-GB" sz="2400">
                <a:ea typeface="+mn-lt"/>
                <a:cs typeface="+mn-lt"/>
              </a:rPr>
              <a:t>Width &lt;&lt; Length Maintains patch antenna impedance stability.</a:t>
            </a:r>
            <a:endParaRPr lang="en-GB" sz="2400">
              <a:ea typeface="Calibri"/>
              <a:cs typeface="Calibri"/>
            </a:endParaRPr>
          </a:p>
          <a:p>
            <a:pPr marL="0" indent="0">
              <a:buNone/>
            </a:pPr>
            <a:endParaRPr lang="en-GB" sz="2400" b="1">
              <a:ea typeface="Calibri"/>
              <a:cs typeface="Calibri"/>
            </a:endParaRPr>
          </a:p>
          <a:p>
            <a:pPr marL="0" indent="0">
              <a:buNone/>
            </a:pPr>
            <a:endParaRPr lang="en-GB" sz="2400">
              <a:latin typeface="Calibri"/>
              <a:ea typeface="Calibri"/>
              <a:cs typeface="Calibri"/>
            </a:endParaRPr>
          </a:p>
          <a:p>
            <a:pPr marL="0" indent="0">
              <a:buNone/>
            </a:pPr>
            <a:endParaRPr lang="en-GB" sz="2400" b="1">
              <a:latin typeface="Times New Roman"/>
              <a:ea typeface="Calibri"/>
              <a:cs typeface="Calibri"/>
            </a:endParaRPr>
          </a:p>
          <a:p>
            <a:endParaRPr lang="en-GB">
              <a:ea typeface="Calibri"/>
              <a:cs typeface="Calibri"/>
            </a:endParaRPr>
          </a:p>
        </p:txBody>
      </p:sp>
      <p:sp>
        <p:nvSpPr>
          <p:cNvPr id="4" name="Date Placeholder 3">
            <a:extLst>
              <a:ext uri="{FF2B5EF4-FFF2-40B4-BE49-F238E27FC236}">
                <a16:creationId xmlns:a16="http://schemas.microsoft.com/office/drawing/2014/main" id="{618A2A38-70FC-8223-E906-2BE81F7DF8C4}"/>
              </a:ext>
            </a:extLst>
          </p:cNvPr>
          <p:cNvSpPr>
            <a:spLocks noGrp="1"/>
          </p:cNvSpPr>
          <p:nvPr>
            <p:ph type="dt" sz="half" idx="10"/>
          </p:nvPr>
        </p:nvSpPr>
        <p:spPr/>
        <p:txBody>
          <a:bodyPr/>
          <a:lstStyle/>
          <a:p>
            <a:fld id="{BDA09FE3-B6C6-47B1-AD17-7C726B7EDAD1}" type="datetime1">
              <a:rPr lang="en-IN" smtClean="0"/>
              <a:t>09-02-2026</a:t>
            </a:fld>
            <a:endParaRPr lang="en-IN"/>
          </a:p>
        </p:txBody>
      </p:sp>
      <p:sp>
        <p:nvSpPr>
          <p:cNvPr id="5" name="Footer Placeholder 4">
            <a:extLst>
              <a:ext uri="{FF2B5EF4-FFF2-40B4-BE49-F238E27FC236}">
                <a16:creationId xmlns:a16="http://schemas.microsoft.com/office/drawing/2014/main" id="{5A6F9EEB-439C-9A7D-EB7C-4BA136FB19B9}"/>
              </a:ext>
            </a:extLst>
          </p:cNvPr>
          <p:cNvSpPr>
            <a:spLocks noGrp="1"/>
          </p:cNvSpPr>
          <p:nvPr>
            <p:ph type="ftr" sz="quarter" idx="11"/>
          </p:nvPr>
        </p:nvSpPr>
        <p:spPr/>
        <p:txBody>
          <a:bodyPr/>
          <a:lstStyle/>
          <a:p>
            <a:r>
              <a:rPr lang="en-IN"/>
              <a:t>Review 2.2</a:t>
            </a:r>
          </a:p>
        </p:txBody>
      </p:sp>
      <p:sp>
        <p:nvSpPr>
          <p:cNvPr id="6" name="Slide Number Placeholder 5">
            <a:extLst>
              <a:ext uri="{FF2B5EF4-FFF2-40B4-BE49-F238E27FC236}">
                <a16:creationId xmlns:a16="http://schemas.microsoft.com/office/drawing/2014/main" id="{43FD39D0-F826-F3BD-5793-1B91A5B11CD5}"/>
              </a:ext>
            </a:extLst>
          </p:cNvPr>
          <p:cNvSpPr>
            <a:spLocks noGrp="1"/>
          </p:cNvSpPr>
          <p:nvPr>
            <p:ph type="sldNum" sz="quarter" idx="12"/>
          </p:nvPr>
        </p:nvSpPr>
        <p:spPr/>
        <p:txBody>
          <a:bodyPr/>
          <a:lstStyle/>
          <a:p>
            <a:fld id="{1CCCFFBF-4DCD-46DE-85E1-69841FB49368}" type="slidenum">
              <a:rPr lang="en-IN" smtClean="0"/>
              <a:t>25</a:t>
            </a:fld>
            <a:endParaRPr lang="en-IN"/>
          </a:p>
        </p:txBody>
      </p:sp>
    </p:spTree>
    <p:extLst>
      <p:ext uri="{BB962C8B-B14F-4D97-AF65-F5344CB8AC3E}">
        <p14:creationId xmlns:p14="http://schemas.microsoft.com/office/powerpoint/2010/main" val="20726042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82DBB0-087C-41A9-392A-58A1E14BF683}"/>
              </a:ext>
            </a:extLst>
          </p:cNvPr>
          <p:cNvSpPr>
            <a:spLocks noGrp="1"/>
          </p:cNvSpPr>
          <p:nvPr>
            <p:ph type="title"/>
          </p:nvPr>
        </p:nvSpPr>
        <p:spPr/>
        <p:txBody>
          <a:bodyPr/>
          <a:lstStyle/>
          <a:p>
            <a:r>
              <a:rPr lang="en-GB">
                <a:latin typeface="Times New Roman"/>
                <a:ea typeface="Calibri Light"/>
                <a:cs typeface="Calibri Light"/>
              </a:rPr>
              <a:t>Design:</a:t>
            </a:r>
            <a:endParaRPr lang="en-GB">
              <a:latin typeface="Times New Roman"/>
            </a:endParaRPr>
          </a:p>
        </p:txBody>
      </p:sp>
      <p:sp>
        <p:nvSpPr>
          <p:cNvPr id="4" name="Date Placeholder 3">
            <a:extLst>
              <a:ext uri="{FF2B5EF4-FFF2-40B4-BE49-F238E27FC236}">
                <a16:creationId xmlns:a16="http://schemas.microsoft.com/office/drawing/2014/main" id="{F3A45789-AEAB-C665-2CCD-89B9BCBDF766}"/>
              </a:ext>
            </a:extLst>
          </p:cNvPr>
          <p:cNvSpPr>
            <a:spLocks noGrp="1"/>
          </p:cNvSpPr>
          <p:nvPr>
            <p:ph type="dt" sz="half" idx="10"/>
          </p:nvPr>
        </p:nvSpPr>
        <p:spPr/>
        <p:txBody>
          <a:bodyPr/>
          <a:lstStyle/>
          <a:p>
            <a:fld id="{BDA09FE3-B6C6-47B1-AD17-7C726B7EDAD1}" type="datetime1">
              <a:rPr lang="en-IN" smtClean="0"/>
              <a:t>09-02-2026</a:t>
            </a:fld>
            <a:endParaRPr lang="en-IN"/>
          </a:p>
        </p:txBody>
      </p:sp>
      <p:sp>
        <p:nvSpPr>
          <p:cNvPr id="5" name="Footer Placeholder 4">
            <a:extLst>
              <a:ext uri="{FF2B5EF4-FFF2-40B4-BE49-F238E27FC236}">
                <a16:creationId xmlns:a16="http://schemas.microsoft.com/office/drawing/2014/main" id="{AE79E6FC-4965-05AC-5778-2589613CEEE3}"/>
              </a:ext>
            </a:extLst>
          </p:cNvPr>
          <p:cNvSpPr>
            <a:spLocks noGrp="1"/>
          </p:cNvSpPr>
          <p:nvPr>
            <p:ph type="ftr" sz="quarter" idx="11"/>
          </p:nvPr>
        </p:nvSpPr>
        <p:spPr/>
        <p:txBody>
          <a:bodyPr/>
          <a:lstStyle/>
          <a:p>
            <a:r>
              <a:rPr lang="en-IN"/>
              <a:t>Review 1.3</a:t>
            </a:r>
          </a:p>
        </p:txBody>
      </p:sp>
      <p:sp>
        <p:nvSpPr>
          <p:cNvPr id="6" name="Slide Number Placeholder 5">
            <a:extLst>
              <a:ext uri="{FF2B5EF4-FFF2-40B4-BE49-F238E27FC236}">
                <a16:creationId xmlns:a16="http://schemas.microsoft.com/office/drawing/2014/main" id="{C98E805E-506F-F594-B81D-F6A78303C3A9}"/>
              </a:ext>
            </a:extLst>
          </p:cNvPr>
          <p:cNvSpPr>
            <a:spLocks noGrp="1"/>
          </p:cNvSpPr>
          <p:nvPr>
            <p:ph type="sldNum" sz="quarter" idx="12"/>
          </p:nvPr>
        </p:nvSpPr>
        <p:spPr/>
        <p:txBody>
          <a:bodyPr/>
          <a:lstStyle/>
          <a:p>
            <a:fld id="{1CCCFFBF-4DCD-46DE-85E1-69841FB49368}" type="slidenum">
              <a:rPr lang="en-IN" smtClean="0"/>
              <a:t>26</a:t>
            </a:fld>
            <a:endParaRPr lang="en-IN"/>
          </a:p>
        </p:txBody>
      </p:sp>
      <p:pic>
        <p:nvPicPr>
          <p:cNvPr id="10" name="Content Placeholder 9">
            <a:extLst>
              <a:ext uri="{FF2B5EF4-FFF2-40B4-BE49-F238E27FC236}">
                <a16:creationId xmlns:a16="http://schemas.microsoft.com/office/drawing/2014/main" id="{9E20D072-80EB-B205-469C-5E29663A6D71}"/>
              </a:ext>
            </a:extLst>
          </p:cNvPr>
          <p:cNvPicPr>
            <a:picLocks noGrp="1" noChangeAspect="1"/>
          </p:cNvPicPr>
          <p:nvPr>
            <p:ph idx="1"/>
          </p:nvPr>
        </p:nvPicPr>
        <p:blipFill>
          <a:blip r:embed="rId2"/>
          <a:stretch>
            <a:fillRect/>
          </a:stretch>
        </p:blipFill>
        <p:spPr>
          <a:xfrm>
            <a:off x="838253" y="1428967"/>
            <a:ext cx="7029084" cy="4351338"/>
          </a:xfrm>
          <a:prstGeom prst="rect">
            <a:avLst/>
          </a:prstGeom>
        </p:spPr>
      </p:pic>
      <p:sp>
        <p:nvSpPr>
          <p:cNvPr id="11" name="TextBox 10">
            <a:extLst>
              <a:ext uri="{FF2B5EF4-FFF2-40B4-BE49-F238E27FC236}">
                <a16:creationId xmlns:a16="http://schemas.microsoft.com/office/drawing/2014/main" id="{08A88C19-39CD-50E9-4C1D-B47088AF28B2}"/>
              </a:ext>
            </a:extLst>
          </p:cNvPr>
          <p:cNvSpPr txBox="1"/>
          <p:nvPr/>
        </p:nvSpPr>
        <p:spPr>
          <a:xfrm>
            <a:off x="840054" y="5978390"/>
            <a:ext cx="6761966"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a:ea typeface="Calibri"/>
                <a:cs typeface="Calibri"/>
              </a:rPr>
              <a:t>Figure 16. </a:t>
            </a:r>
            <a:r>
              <a:rPr lang="en-IN" sz="1600">
                <a:latin typeface="Times New Roman"/>
                <a:ea typeface="Calibri"/>
                <a:cs typeface="Times New Roman"/>
              </a:rPr>
              <a:t>Design of  </a:t>
            </a:r>
            <a:r>
              <a:rPr lang="en-GB" sz="1600">
                <a:latin typeface="Times New Roman"/>
                <a:ea typeface="Calibri"/>
                <a:cs typeface="Times New Roman"/>
              </a:rPr>
              <a:t>1×2 Patch antenna Array with parasitic element</a:t>
            </a:r>
          </a:p>
          <a:p>
            <a:endParaRPr lang="en-GB">
              <a:ea typeface="Calibri"/>
              <a:cs typeface="Calibri"/>
            </a:endParaRPr>
          </a:p>
        </p:txBody>
      </p:sp>
    </p:spTree>
    <p:extLst>
      <p:ext uri="{BB962C8B-B14F-4D97-AF65-F5344CB8AC3E}">
        <p14:creationId xmlns:p14="http://schemas.microsoft.com/office/powerpoint/2010/main" val="7746794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9F5ABC-022E-F8D0-64D5-4C29AA02FAB4}"/>
              </a:ext>
            </a:extLst>
          </p:cNvPr>
          <p:cNvSpPr>
            <a:spLocks noGrp="1"/>
          </p:cNvSpPr>
          <p:nvPr>
            <p:ph type="title"/>
          </p:nvPr>
        </p:nvSpPr>
        <p:spPr/>
        <p:txBody>
          <a:bodyPr/>
          <a:lstStyle/>
          <a:p>
            <a:r>
              <a:rPr lang="en-GB">
                <a:latin typeface="Times New Roman"/>
                <a:ea typeface="Calibri Light"/>
                <a:cs typeface="Calibri Light"/>
              </a:rPr>
              <a:t>Results:</a:t>
            </a:r>
            <a:endParaRPr lang="en-GB">
              <a:latin typeface="Times New Roman"/>
            </a:endParaRPr>
          </a:p>
        </p:txBody>
      </p:sp>
      <p:pic>
        <p:nvPicPr>
          <p:cNvPr id="7" name="Content Placeholder 6" descr="A graph with lines and numbers&#10;&#10;AI-generated content may be incorrect.">
            <a:extLst>
              <a:ext uri="{FF2B5EF4-FFF2-40B4-BE49-F238E27FC236}">
                <a16:creationId xmlns:a16="http://schemas.microsoft.com/office/drawing/2014/main" id="{F099727A-F039-1B5D-9B7F-8C12D1832549}"/>
              </a:ext>
            </a:extLst>
          </p:cNvPr>
          <p:cNvPicPr>
            <a:picLocks noGrp="1" noChangeAspect="1"/>
          </p:cNvPicPr>
          <p:nvPr>
            <p:ph idx="1"/>
          </p:nvPr>
        </p:nvPicPr>
        <p:blipFill>
          <a:blip r:embed="rId2"/>
          <a:stretch>
            <a:fillRect/>
          </a:stretch>
        </p:blipFill>
        <p:spPr>
          <a:xfrm>
            <a:off x="838200" y="1397423"/>
            <a:ext cx="10515600" cy="3829878"/>
          </a:xfrm>
          <a:prstGeom prst="rect">
            <a:avLst/>
          </a:prstGeom>
        </p:spPr>
      </p:pic>
      <p:sp>
        <p:nvSpPr>
          <p:cNvPr id="4" name="Date Placeholder 3">
            <a:extLst>
              <a:ext uri="{FF2B5EF4-FFF2-40B4-BE49-F238E27FC236}">
                <a16:creationId xmlns:a16="http://schemas.microsoft.com/office/drawing/2014/main" id="{850F1C20-B5ED-1B11-7201-53622352BDCB}"/>
              </a:ext>
            </a:extLst>
          </p:cNvPr>
          <p:cNvSpPr>
            <a:spLocks noGrp="1"/>
          </p:cNvSpPr>
          <p:nvPr>
            <p:ph type="dt" sz="half" idx="10"/>
          </p:nvPr>
        </p:nvSpPr>
        <p:spPr/>
        <p:txBody>
          <a:bodyPr/>
          <a:lstStyle/>
          <a:p>
            <a:fld id="{BDA09FE3-B6C6-47B1-AD17-7C726B7EDAD1}" type="datetime1">
              <a:rPr lang="en-IN" smtClean="0"/>
              <a:t>09-02-2026</a:t>
            </a:fld>
            <a:endParaRPr lang="en-IN"/>
          </a:p>
        </p:txBody>
      </p:sp>
      <p:sp>
        <p:nvSpPr>
          <p:cNvPr id="5" name="Footer Placeholder 4">
            <a:extLst>
              <a:ext uri="{FF2B5EF4-FFF2-40B4-BE49-F238E27FC236}">
                <a16:creationId xmlns:a16="http://schemas.microsoft.com/office/drawing/2014/main" id="{17B15910-1573-ECA9-72D3-3F425C63CBDA}"/>
              </a:ext>
            </a:extLst>
          </p:cNvPr>
          <p:cNvSpPr>
            <a:spLocks noGrp="1"/>
          </p:cNvSpPr>
          <p:nvPr>
            <p:ph type="ftr" sz="quarter" idx="11"/>
          </p:nvPr>
        </p:nvSpPr>
        <p:spPr/>
        <p:txBody>
          <a:bodyPr/>
          <a:lstStyle/>
          <a:p>
            <a:r>
              <a:rPr lang="en-IN"/>
              <a:t>Review 2.2</a:t>
            </a:r>
          </a:p>
        </p:txBody>
      </p:sp>
      <p:sp>
        <p:nvSpPr>
          <p:cNvPr id="6" name="Slide Number Placeholder 5">
            <a:extLst>
              <a:ext uri="{FF2B5EF4-FFF2-40B4-BE49-F238E27FC236}">
                <a16:creationId xmlns:a16="http://schemas.microsoft.com/office/drawing/2014/main" id="{EB645328-8AE1-FEF5-7269-E7CFBB0CBF8A}"/>
              </a:ext>
            </a:extLst>
          </p:cNvPr>
          <p:cNvSpPr>
            <a:spLocks noGrp="1"/>
          </p:cNvSpPr>
          <p:nvPr>
            <p:ph type="sldNum" sz="quarter" idx="12"/>
          </p:nvPr>
        </p:nvSpPr>
        <p:spPr/>
        <p:txBody>
          <a:bodyPr/>
          <a:lstStyle/>
          <a:p>
            <a:fld id="{1CCCFFBF-4DCD-46DE-85E1-69841FB49368}" type="slidenum">
              <a:rPr lang="en-IN" smtClean="0"/>
              <a:t>27</a:t>
            </a:fld>
            <a:endParaRPr lang="en-IN"/>
          </a:p>
        </p:txBody>
      </p:sp>
      <p:sp>
        <p:nvSpPr>
          <p:cNvPr id="8" name="TextBox 7">
            <a:extLst>
              <a:ext uri="{FF2B5EF4-FFF2-40B4-BE49-F238E27FC236}">
                <a16:creationId xmlns:a16="http://schemas.microsoft.com/office/drawing/2014/main" id="{256B5B8E-C967-6D22-9E94-752636F150CA}"/>
              </a:ext>
            </a:extLst>
          </p:cNvPr>
          <p:cNvSpPr txBox="1"/>
          <p:nvPr/>
        </p:nvSpPr>
        <p:spPr>
          <a:xfrm>
            <a:off x="812053" y="5446356"/>
            <a:ext cx="771450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a:ea typeface="Calibri"/>
                <a:cs typeface="Calibri"/>
              </a:rPr>
              <a:t>Figure 17 . </a:t>
            </a:r>
            <a:r>
              <a:rPr lang="en-IN" sz="1600">
                <a:latin typeface="Times New Roman"/>
                <a:ea typeface="Calibri"/>
                <a:cs typeface="Times New Roman"/>
              </a:rPr>
              <a:t>Simulated S parameter of  </a:t>
            </a:r>
            <a:r>
              <a:rPr lang="en-GB" sz="1600">
                <a:latin typeface="Times New Roman"/>
                <a:ea typeface="Calibri"/>
                <a:cs typeface="Times New Roman"/>
              </a:rPr>
              <a:t>1×2 Patch antenna Array without parasitic element</a:t>
            </a:r>
            <a:endParaRPr lang="en-GB"/>
          </a:p>
        </p:txBody>
      </p:sp>
    </p:spTree>
    <p:extLst>
      <p:ext uri="{BB962C8B-B14F-4D97-AF65-F5344CB8AC3E}">
        <p14:creationId xmlns:p14="http://schemas.microsoft.com/office/powerpoint/2010/main" val="291542565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4308F5-7F3B-8C74-9F25-29E4371FAC31}"/>
              </a:ext>
            </a:extLst>
          </p:cNvPr>
          <p:cNvSpPr>
            <a:spLocks noGrp="1"/>
          </p:cNvSpPr>
          <p:nvPr>
            <p:ph type="title"/>
          </p:nvPr>
        </p:nvSpPr>
        <p:spPr/>
        <p:txBody>
          <a:bodyPr/>
          <a:lstStyle/>
          <a:p>
            <a:r>
              <a:rPr lang="en-GB">
                <a:latin typeface="Times New Roman"/>
                <a:ea typeface="Calibri Light"/>
                <a:cs typeface="Calibri Light"/>
              </a:rPr>
              <a:t>Results:</a:t>
            </a:r>
            <a:endParaRPr lang="en-GB">
              <a:latin typeface="Times New Roman"/>
            </a:endParaRPr>
          </a:p>
        </p:txBody>
      </p:sp>
      <p:sp>
        <p:nvSpPr>
          <p:cNvPr id="4" name="Date Placeholder 3">
            <a:extLst>
              <a:ext uri="{FF2B5EF4-FFF2-40B4-BE49-F238E27FC236}">
                <a16:creationId xmlns:a16="http://schemas.microsoft.com/office/drawing/2014/main" id="{A1F3F1DF-4DBE-E8E3-5626-92373FBC16B9}"/>
              </a:ext>
            </a:extLst>
          </p:cNvPr>
          <p:cNvSpPr>
            <a:spLocks noGrp="1"/>
          </p:cNvSpPr>
          <p:nvPr>
            <p:ph type="dt" sz="half" idx="10"/>
          </p:nvPr>
        </p:nvSpPr>
        <p:spPr/>
        <p:txBody>
          <a:bodyPr/>
          <a:lstStyle/>
          <a:p>
            <a:fld id="{BDA09FE3-B6C6-47B1-AD17-7C726B7EDAD1}" type="datetime1">
              <a:rPr lang="en-IN" smtClean="0"/>
              <a:t>09-02-2026</a:t>
            </a:fld>
            <a:endParaRPr lang="en-IN"/>
          </a:p>
        </p:txBody>
      </p:sp>
      <p:sp>
        <p:nvSpPr>
          <p:cNvPr id="5" name="Footer Placeholder 4">
            <a:extLst>
              <a:ext uri="{FF2B5EF4-FFF2-40B4-BE49-F238E27FC236}">
                <a16:creationId xmlns:a16="http://schemas.microsoft.com/office/drawing/2014/main" id="{00B13953-75F7-D71F-9040-136E2154C099}"/>
              </a:ext>
            </a:extLst>
          </p:cNvPr>
          <p:cNvSpPr>
            <a:spLocks noGrp="1"/>
          </p:cNvSpPr>
          <p:nvPr>
            <p:ph type="ftr" sz="quarter" idx="11"/>
          </p:nvPr>
        </p:nvSpPr>
        <p:spPr/>
        <p:txBody>
          <a:bodyPr/>
          <a:lstStyle/>
          <a:p>
            <a:r>
              <a:rPr lang="en-IN"/>
              <a:t>Review 2.2</a:t>
            </a:r>
          </a:p>
        </p:txBody>
      </p:sp>
      <p:sp>
        <p:nvSpPr>
          <p:cNvPr id="6" name="Slide Number Placeholder 5">
            <a:extLst>
              <a:ext uri="{FF2B5EF4-FFF2-40B4-BE49-F238E27FC236}">
                <a16:creationId xmlns:a16="http://schemas.microsoft.com/office/drawing/2014/main" id="{74A5FF58-6F5F-9E75-1C44-C4982FD3639A}"/>
              </a:ext>
            </a:extLst>
          </p:cNvPr>
          <p:cNvSpPr>
            <a:spLocks noGrp="1"/>
          </p:cNvSpPr>
          <p:nvPr>
            <p:ph type="sldNum" sz="quarter" idx="12"/>
          </p:nvPr>
        </p:nvSpPr>
        <p:spPr/>
        <p:txBody>
          <a:bodyPr/>
          <a:lstStyle/>
          <a:p>
            <a:fld id="{1CCCFFBF-4DCD-46DE-85E1-69841FB49368}" type="slidenum">
              <a:rPr lang="en-IN" smtClean="0"/>
              <a:t>28</a:t>
            </a:fld>
            <a:endParaRPr lang="en-IN"/>
          </a:p>
        </p:txBody>
      </p:sp>
      <p:sp>
        <p:nvSpPr>
          <p:cNvPr id="8" name="TextBox 7">
            <a:extLst>
              <a:ext uri="{FF2B5EF4-FFF2-40B4-BE49-F238E27FC236}">
                <a16:creationId xmlns:a16="http://schemas.microsoft.com/office/drawing/2014/main" id="{A61B7C7E-1791-46CB-CBDA-A28F1CA3BE41}"/>
              </a:ext>
            </a:extLst>
          </p:cNvPr>
          <p:cNvSpPr txBox="1"/>
          <p:nvPr/>
        </p:nvSpPr>
        <p:spPr>
          <a:xfrm>
            <a:off x="826054" y="5488358"/>
            <a:ext cx="1073870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a:ea typeface="Calibri"/>
                <a:cs typeface="Calibri"/>
              </a:rPr>
              <a:t>Figure 18 . </a:t>
            </a:r>
            <a:r>
              <a:rPr lang="en-IN" sz="1600">
                <a:latin typeface="Times New Roman"/>
                <a:ea typeface="Calibri"/>
                <a:cs typeface="Times New Roman"/>
              </a:rPr>
              <a:t>Simulated S parameter of  </a:t>
            </a:r>
            <a:r>
              <a:rPr lang="en-GB" sz="1600">
                <a:latin typeface="Times New Roman"/>
                <a:ea typeface="Calibri"/>
                <a:cs typeface="Times New Roman"/>
              </a:rPr>
              <a:t>1×2 Patch antenna Array with parasitic element</a:t>
            </a:r>
            <a:endParaRPr lang="en-GB"/>
          </a:p>
        </p:txBody>
      </p:sp>
      <p:pic>
        <p:nvPicPr>
          <p:cNvPr id="10" name="Content Placeholder 9" descr="A graph with lines and numbers&#10;&#10;AI-generated content may be incorrect.">
            <a:extLst>
              <a:ext uri="{FF2B5EF4-FFF2-40B4-BE49-F238E27FC236}">
                <a16:creationId xmlns:a16="http://schemas.microsoft.com/office/drawing/2014/main" id="{553F90C2-F474-D466-F5BB-50584284AE8B}"/>
              </a:ext>
            </a:extLst>
          </p:cNvPr>
          <p:cNvPicPr>
            <a:picLocks noGrp="1" noChangeAspect="1"/>
          </p:cNvPicPr>
          <p:nvPr>
            <p:ph idx="1"/>
          </p:nvPr>
        </p:nvPicPr>
        <p:blipFill>
          <a:blip r:embed="rId2"/>
          <a:stretch>
            <a:fillRect/>
          </a:stretch>
        </p:blipFill>
        <p:spPr>
          <a:xfrm>
            <a:off x="932145" y="1383672"/>
            <a:ext cx="10515600" cy="3836504"/>
          </a:xfrm>
          <a:prstGeom prst="rect">
            <a:avLst/>
          </a:prstGeom>
        </p:spPr>
      </p:pic>
    </p:spTree>
    <p:extLst>
      <p:ext uri="{BB962C8B-B14F-4D97-AF65-F5344CB8AC3E}">
        <p14:creationId xmlns:p14="http://schemas.microsoft.com/office/powerpoint/2010/main" val="136691626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AADC48-BEA9-9BC5-5E47-F43EAEF69704}"/>
              </a:ext>
            </a:extLst>
          </p:cNvPr>
          <p:cNvSpPr>
            <a:spLocks noGrp="1"/>
          </p:cNvSpPr>
          <p:nvPr>
            <p:ph type="title"/>
          </p:nvPr>
        </p:nvSpPr>
        <p:spPr/>
        <p:txBody>
          <a:bodyPr/>
          <a:lstStyle/>
          <a:p>
            <a:r>
              <a:rPr lang="en-GB">
                <a:latin typeface="Times New Roman"/>
                <a:ea typeface="Calibri Light"/>
                <a:cs typeface="Calibri Light"/>
              </a:rPr>
              <a:t>Results:</a:t>
            </a:r>
          </a:p>
        </p:txBody>
      </p:sp>
      <p:sp>
        <p:nvSpPr>
          <p:cNvPr id="4" name="Date Placeholder 3">
            <a:extLst>
              <a:ext uri="{FF2B5EF4-FFF2-40B4-BE49-F238E27FC236}">
                <a16:creationId xmlns:a16="http://schemas.microsoft.com/office/drawing/2014/main" id="{471F6F31-A7C3-EACE-3E8F-7420BE2570AA}"/>
              </a:ext>
            </a:extLst>
          </p:cNvPr>
          <p:cNvSpPr>
            <a:spLocks noGrp="1"/>
          </p:cNvSpPr>
          <p:nvPr>
            <p:ph type="dt" sz="half" idx="10"/>
          </p:nvPr>
        </p:nvSpPr>
        <p:spPr/>
        <p:txBody>
          <a:bodyPr/>
          <a:lstStyle/>
          <a:p>
            <a:fld id="{BDA09FE3-B6C6-47B1-AD17-7C726B7EDAD1}" type="datetime1">
              <a:rPr lang="en-IN" smtClean="0"/>
              <a:t>09-02-2026</a:t>
            </a:fld>
            <a:endParaRPr lang="en-IN"/>
          </a:p>
        </p:txBody>
      </p:sp>
      <p:sp>
        <p:nvSpPr>
          <p:cNvPr id="5" name="Footer Placeholder 4">
            <a:extLst>
              <a:ext uri="{FF2B5EF4-FFF2-40B4-BE49-F238E27FC236}">
                <a16:creationId xmlns:a16="http://schemas.microsoft.com/office/drawing/2014/main" id="{B4FE2BF7-C813-0E60-68C5-28116AC7F60B}"/>
              </a:ext>
            </a:extLst>
          </p:cNvPr>
          <p:cNvSpPr>
            <a:spLocks noGrp="1"/>
          </p:cNvSpPr>
          <p:nvPr>
            <p:ph type="ftr" sz="quarter" idx="11"/>
          </p:nvPr>
        </p:nvSpPr>
        <p:spPr/>
        <p:txBody>
          <a:bodyPr/>
          <a:lstStyle/>
          <a:p>
            <a:r>
              <a:rPr lang="en-IN"/>
              <a:t>Review 2.2</a:t>
            </a:r>
          </a:p>
        </p:txBody>
      </p:sp>
      <p:sp>
        <p:nvSpPr>
          <p:cNvPr id="6" name="Slide Number Placeholder 5">
            <a:extLst>
              <a:ext uri="{FF2B5EF4-FFF2-40B4-BE49-F238E27FC236}">
                <a16:creationId xmlns:a16="http://schemas.microsoft.com/office/drawing/2014/main" id="{8E036FCF-B15C-9521-9C1F-A4D6C5E6B835}"/>
              </a:ext>
            </a:extLst>
          </p:cNvPr>
          <p:cNvSpPr>
            <a:spLocks noGrp="1"/>
          </p:cNvSpPr>
          <p:nvPr>
            <p:ph type="sldNum" sz="quarter" idx="12"/>
          </p:nvPr>
        </p:nvSpPr>
        <p:spPr/>
        <p:txBody>
          <a:bodyPr/>
          <a:lstStyle/>
          <a:p>
            <a:fld id="{1CCCFFBF-4DCD-46DE-85E1-69841FB49368}" type="slidenum">
              <a:rPr lang="en-IN" smtClean="0"/>
              <a:t>29</a:t>
            </a:fld>
            <a:endParaRPr lang="en-IN"/>
          </a:p>
        </p:txBody>
      </p:sp>
      <p:sp>
        <p:nvSpPr>
          <p:cNvPr id="8" name="TextBox 7">
            <a:extLst>
              <a:ext uri="{FF2B5EF4-FFF2-40B4-BE49-F238E27FC236}">
                <a16:creationId xmlns:a16="http://schemas.microsoft.com/office/drawing/2014/main" id="{9390BC12-AAC4-16A3-3898-25340669A56A}"/>
              </a:ext>
            </a:extLst>
          </p:cNvPr>
          <p:cNvSpPr txBox="1"/>
          <p:nvPr/>
        </p:nvSpPr>
        <p:spPr>
          <a:xfrm>
            <a:off x="952062" y="5698372"/>
            <a:ext cx="7588496" cy="3360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GB"/>
          </a:p>
        </p:txBody>
      </p:sp>
      <p:sp>
        <p:nvSpPr>
          <p:cNvPr id="9" name="TextBox 8">
            <a:extLst>
              <a:ext uri="{FF2B5EF4-FFF2-40B4-BE49-F238E27FC236}">
                <a16:creationId xmlns:a16="http://schemas.microsoft.com/office/drawing/2014/main" id="{74953230-C043-EECA-E28A-DC860131A01E}"/>
              </a:ext>
            </a:extLst>
          </p:cNvPr>
          <p:cNvSpPr txBox="1"/>
          <p:nvPr/>
        </p:nvSpPr>
        <p:spPr>
          <a:xfrm>
            <a:off x="896058" y="5698372"/>
            <a:ext cx="785451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a:ea typeface="Calibri"/>
                <a:cs typeface="Calibri"/>
              </a:rPr>
              <a:t>Figure 19. Surface current when port 1 is excited </a:t>
            </a:r>
            <a:endParaRPr lang="en-GB"/>
          </a:p>
        </p:txBody>
      </p:sp>
      <p:pic>
        <p:nvPicPr>
          <p:cNvPr id="11" name="Content Placeholder 10">
            <a:extLst>
              <a:ext uri="{FF2B5EF4-FFF2-40B4-BE49-F238E27FC236}">
                <a16:creationId xmlns:a16="http://schemas.microsoft.com/office/drawing/2014/main" id="{4B959AF3-8265-E24C-3C71-F94CC2DC2594}"/>
              </a:ext>
            </a:extLst>
          </p:cNvPr>
          <p:cNvPicPr>
            <a:picLocks noGrp="1" noChangeAspect="1"/>
          </p:cNvPicPr>
          <p:nvPr>
            <p:ph idx="1"/>
          </p:nvPr>
        </p:nvPicPr>
        <p:blipFill>
          <a:blip r:embed="rId2"/>
          <a:stretch>
            <a:fillRect/>
          </a:stretch>
        </p:blipFill>
        <p:spPr>
          <a:xfrm>
            <a:off x="953463" y="1345461"/>
            <a:ext cx="6986554" cy="4351338"/>
          </a:xfrm>
          <a:prstGeom prst="rect">
            <a:avLst/>
          </a:prstGeom>
        </p:spPr>
      </p:pic>
    </p:spTree>
    <p:extLst>
      <p:ext uri="{BB962C8B-B14F-4D97-AF65-F5344CB8AC3E}">
        <p14:creationId xmlns:p14="http://schemas.microsoft.com/office/powerpoint/2010/main" val="286718078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C5F0B9-52D8-1D70-3DBE-EC89DF4D3941}"/>
              </a:ext>
            </a:extLst>
          </p:cNvPr>
          <p:cNvSpPr>
            <a:spLocks noGrp="1"/>
          </p:cNvSpPr>
          <p:nvPr>
            <p:ph type="title"/>
          </p:nvPr>
        </p:nvSpPr>
        <p:spPr/>
        <p:txBody>
          <a:bodyPr/>
          <a:lstStyle/>
          <a:p>
            <a:r>
              <a:rPr lang="en-GB">
                <a:latin typeface="Times New Roman"/>
                <a:ea typeface="Calibri Light"/>
                <a:cs typeface="Calibri Light"/>
              </a:rPr>
              <a:t>Results:</a:t>
            </a:r>
            <a:endParaRPr lang="en-GB">
              <a:latin typeface="Times New Roman"/>
            </a:endParaRPr>
          </a:p>
        </p:txBody>
      </p:sp>
      <p:sp>
        <p:nvSpPr>
          <p:cNvPr id="4" name="Date Placeholder 3">
            <a:extLst>
              <a:ext uri="{FF2B5EF4-FFF2-40B4-BE49-F238E27FC236}">
                <a16:creationId xmlns:a16="http://schemas.microsoft.com/office/drawing/2014/main" id="{ED79470B-182D-0492-7985-8355ABFFC03F}"/>
              </a:ext>
            </a:extLst>
          </p:cNvPr>
          <p:cNvSpPr>
            <a:spLocks noGrp="1"/>
          </p:cNvSpPr>
          <p:nvPr>
            <p:ph type="dt" sz="half" idx="10"/>
          </p:nvPr>
        </p:nvSpPr>
        <p:spPr/>
        <p:txBody>
          <a:bodyPr/>
          <a:lstStyle/>
          <a:p>
            <a:fld id="{BDA09FE3-B6C6-47B1-AD17-7C726B7EDAD1}" type="datetime1">
              <a:rPr lang="en-IN" smtClean="0"/>
              <a:t>09-02-2026</a:t>
            </a:fld>
            <a:endParaRPr lang="en-IN"/>
          </a:p>
        </p:txBody>
      </p:sp>
      <p:sp>
        <p:nvSpPr>
          <p:cNvPr id="5" name="Footer Placeholder 4">
            <a:extLst>
              <a:ext uri="{FF2B5EF4-FFF2-40B4-BE49-F238E27FC236}">
                <a16:creationId xmlns:a16="http://schemas.microsoft.com/office/drawing/2014/main" id="{4375A1A4-5FA0-0516-0765-D77CC86EC7E6}"/>
              </a:ext>
            </a:extLst>
          </p:cNvPr>
          <p:cNvSpPr>
            <a:spLocks noGrp="1"/>
          </p:cNvSpPr>
          <p:nvPr>
            <p:ph type="ftr" sz="quarter" idx="11"/>
          </p:nvPr>
        </p:nvSpPr>
        <p:spPr/>
        <p:txBody>
          <a:bodyPr/>
          <a:lstStyle/>
          <a:p>
            <a:r>
              <a:rPr lang="en-IN"/>
              <a:t>Review 2.2</a:t>
            </a:r>
          </a:p>
        </p:txBody>
      </p:sp>
      <p:sp>
        <p:nvSpPr>
          <p:cNvPr id="6" name="Slide Number Placeholder 5">
            <a:extLst>
              <a:ext uri="{FF2B5EF4-FFF2-40B4-BE49-F238E27FC236}">
                <a16:creationId xmlns:a16="http://schemas.microsoft.com/office/drawing/2014/main" id="{383EA38F-7427-5C50-7AE0-67EA4F2107DE}"/>
              </a:ext>
            </a:extLst>
          </p:cNvPr>
          <p:cNvSpPr>
            <a:spLocks noGrp="1"/>
          </p:cNvSpPr>
          <p:nvPr>
            <p:ph type="sldNum" sz="quarter" idx="12"/>
          </p:nvPr>
        </p:nvSpPr>
        <p:spPr/>
        <p:txBody>
          <a:bodyPr/>
          <a:lstStyle/>
          <a:p>
            <a:fld id="{1CCCFFBF-4DCD-46DE-85E1-69841FB49368}" type="slidenum">
              <a:rPr lang="en-IN" smtClean="0"/>
              <a:t>30</a:t>
            </a:fld>
            <a:endParaRPr lang="en-IN"/>
          </a:p>
        </p:txBody>
      </p:sp>
      <p:sp>
        <p:nvSpPr>
          <p:cNvPr id="8" name="TextBox 7">
            <a:extLst>
              <a:ext uri="{FF2B5EF4-FFF2-40B4-BE49-F238E27FC236}">
                <a16:creationId xmlns:a16="http://schemas.microsoft.com/office/drawing/2014/main" id="{7267884E-746D-6764-1751-CBBAC4A9F52E}"/>
              </a:ext>
            </a:extLst>
          </p:cNvPr>
          <p:cNvSpPr txBox="1"/>
          <p:nvPr/>
        </p:nvSpPr>
        <p:spPr>
          <a:xfrm>
            <a:off x="991644" y="5704562"/>
            <a:ext cx="60960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800" b="0" i="0" u="none" strike="noStrike" baseline="0">
                <a:solidFill>
                  <a:srgbClr val="000000"/>
                </a:solidFill>
                <a:latin typeface="Calibri"/>
              </a:rPr>
              <a:t>Figure </a:t>
            </a:r>
            <a:r>
              <a:rPr lang="en-GB">
                <a:solidFill>
                  <a:srgbClr val="000000"/>
                </a:solidFill>
                <a:latin typeface="Calibri"/>
              </a:rPr>
              <a:t>20</a:t>
            </a:r>
            <a:r>
              <a:rPr lang="en-GB" sz="1800" b="0" i="0" u="none" strike="noStrike" baseline="0">
                <a:solidFill>
                  <a:srgbClr val="000000"/>
                </a:solidFill>
                <a:latin typeface="Calibri"/>
              </a:rPr>
              <a:t>. Surface current when port </a:t>
            </a:r>
            <a:r>
              <a:rPr lang="en-GB">
                <a:solidFill>
                  <a:srgbClr val="000000"/>
                </a:solidFill>
                <a:latin typeface="Calibri"/>
              </a:rPr>
              <a:t>2 </a:t>
            </a:r>
            <a:r>
              <a:rPr lang="en-GB" sz="1800" b="0" i="0" u="none" strike="noStrike" baseline="0">
                <a:solidFill>
                  <a:srgbClr val="000000"/>
                </a:solidFill>
                <a:latin typeface="Calibri"/>
              </a:rPr>
              <a:t>is excited </a:t>
            </a:r>
            <a:endParaRPr lang="en-GB"/>
          </a:p>
          <a:p>
            <a:pPr algn="ctr"/>
            <a:endParaRPr lang="en-GB"/>
          </a:p>
        </p:txBody>
      </p:sp>
      <p:pic>
        <p:nvPicPr>
          <p:cNvPr id="10" name="Content Placeholder 9">
            <a:extLst>
              <a:ext uri="{FF2B5EF4-FFF2-40B4-BE49-F238E27FC236}">
                <a16:creationId xmlns:a16="http://schemas.microsoft.com/office/drawing/2014/main" id="{7BF23C0F-DAC0-FFA1-F0B7-4C0A6D75DC95}"/>
              </a:ext>
            </a:extLst>
          </p:cNvPr>
          <p:cNvPicPr>
            <a:picLocks noGrp="1" noChangeAspect="1"/>
          </p:cNvPicPr>
          <p:nvPr>
            <p:ph idx="1"/>
          </p:nvPr>
        </p:nvPicPr>
        <p:blipFill>
          <a:blip r:embed="rId2"/>
          <a:stretch>
            <a:fillRect/>
          </a:stretch>
        </p:blipFill>
        <p:spPr>
          <a:xfrm>
            <a:off x="836848" y="1251515"/>
            <a:ext cx="7449428" cy="4351338"/>
          </a:xfrm>
          <a:prstGeom prst="rect">
            <a:avLst/>
          </a:prstGeom>
        </p:spPr>
      </p:pic>
    </p:spTree>
    <p:extLst>
      <p:ext uri="{BB962C8B-B14F-4D97-AF65-F5344CB8AC3E}">
        <p14:creationId xmlns:p14="http://schemas.microsoft.com/office/powerpoint/2010/main" val="370739485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BA4CB9-A178-601B-BFDC-AC158A132309}"/>
              </a:ext>
            </a:extLst>
          </p:cNvPr>
          <p:cNvSpPr>
            <a:spLocks noGrp="1"/>
          </p:cNvSpPr>
          <p:nvPr>
            <p:ph type="title"/>
          </p:nvPr>
        </p:nvSpPr>
        <p:spPr/>
        <p:txBody>
          <a:bodyPr/>
          <a:lstStyle/>
          <a:p>
            <a:r>
              <a:rPr lang="en-GB">
                <a:latin typeface="Times New Roman"/>
                <a:ea typeface="Calibri Light"/>
                <a:cs typeface="Calibri Light"/>
              </a:rPr>
              <a:t>Results:</a:t>
            </a:r>
          </a:p>
        </p:txBody>
      </p:sp>
      <p:pic>
        <p:nvPicPr>
          <p:cNvPr id="7" name="Content Placeholder 6" descr="A red and yellow sphere with white text&#10;&#10;AI-generated content may be incorrect.">
            <a:extLst>
              <a:ext uri="{FF2B5EF4-FFF2-40B4-BE49-F238E27FC236}">
                <a16:creationId xmlns:a16="http://schemas.microsoft.com/office/drawing/2014/main" id="{CF874221-D896-F054-92DB-EBD55D7DEF6A}"/>
              </a:ext>
            </a:extLst>
          </p:cNvPr>
          <p:cNvPicPr>
            <a:picLocks noGrp="1" noChangeAspect="1"/>
          </p:cNvPicPr>
          <p:nvPr>
            <p:ph idx="1"/>
          </p:nvPr>
        </p:nvPicPr>
        <p:blipFill>
          <a:blip r:embed="rId2"/>
          <a:stretch>
            <a:fillRect/>
          </a:stretch>
        </p:blipFill>
        <p:spPr>
          <a:xfrm>
            <a:off x="838200" y="1489403"/>
            <a:ext cx="10515600" cy="3875561"/>
          </a:xfrm>
          <a:prstGeom prst="rect">
            <a:avLst/>
          </a:prstGeom>
        </p:spPr>
      </p:pic>
      <p:sp>
        <p:nvSpPr>
          <p:cNvPr id="4" name="Date Placeholder 3">
            <a:extLst>
              <a:ext uri="{FF2B5EF4-FFF2-40B4-BE49-F238E27FC236}">
                <a16:creationId xmlns:a16="http://schemas.microsoft.com/office/drawing/2014/main" id="{386E3FC0-BE94-6F8E-C01C-4D2ED215A242}"/>
              </a:ext>
            </a:extLst>
          </p:cNvPr>
          <p:cNvSpPr>
            <a:spLocks noGrp="1"/>
          </p:cNvSpPr>
          <p:nvPr>
            <p:ph type="dt" sz="half" idx="10"/>
          </p:nvPr>
        </p:nvSpPr>
        <p:spPr/>
        <p:txBody>
          <a:bodyPr/>
          <a:lstStyle/>
          <a:p>
            <a:fld id="{BDA09FE3-B6C6-47B1-AD17-7C726B7EDAD1}" type="datetime1">
              <a:rPr lang="en-IN" smtClean="0"/>
              <a:t>09-02-2026</a:t>
            </a:fld>
            <a:endParaRPr lang="en-IN"/>
          </a:p>
        </p:txBody>
      </p:sp>
      <p:sp>
        <p:nvSpPr>
          <p:cNvPr id="5" name="Footer Placeholder 4">
            <a:extLst>
              <a:ext uri="{FF2B5EF4-FFF2-40B4-BE49-F238E27FC236}">
                <a16:creationId xmlns:a16="http://schemas.microsoft.com/office/drawing/2014/main" id="{AC379F49-308E-FBAB-5391-88AD1FE16600}"/>
              </a:ext>
            </a:extLst>
          </p:cNvPr>
          <p:cNvSpPr>
            <a:spLocks noGrp="1"/>
          </p:cNvSpPr>
          <p:nvPr>
            <p:ph type="ftr" sz="quarter" idx="11"/>
          </p:nvPr>
        </p:nvSpPr>
        <p:spPr/>
        <p:txBody>
          <a:bodyPr/>
          <a:lstStyle/>
          <a:p>
            <a:r>
              <a:rPr lang="en-IN"/>
              <a:t>Review 2.2</a:t>
            </a:r>
          </a:p>
        </p:txBody>
      </p:sp>
      <p:sp>
        <p:nvSpPr>
          <p:cNvPr id="6" name="Slide Number Placeholder 5">
            <a:extLst>
              <a:ext uri="{FF2B5EF4-FFF2-40B4-BE49-F238E27FC236}">
                <a16:creationId xmlns:a16="http://schemas.microsoft.com/office/drawing/2014/main" id="{84EB1CDF-3FA5-6C51-E7FA-0B9087D0E8AF}"/>
              </a:ext>
            </a:extLst>
          </p:cNvPr>
          <p:cNvSpPr>
            <a:spLocks noGrp="1"/>
          </p:cNvSpPr>
          <p:nvPr>
            <p:ph type="sldNum" sz="quarter" idx="12"/>
          </p:nvPr>
        </p:nvSpPr>
        <p:spPr/>
        <p:txBody>
          <a:bodyPr/>
          <a:lstStyle/>
          <a:p>
            <a:fld id="{1CCCFFBF-4DCD-46DE-85E1-69841FB49368}" type="slidenum">
              <a:rPr lang="en-IN" smtClean="0"/>
              <a:t>31</a:t>
            </a:fld>
            <a:endParaRPr lang="en-IN"/>
          </a:p>
        </p:txBody>
      </p:sp>
      <p:sp>
        <p:nvSpPr>
          <p:cNvPr id="8" name="TextBox 7">
            <a:extLst>
              <a:ext uri="{FF2B5EF4-FFF2-40B4-BE49-F238E27FC236}">
                <a16:creationId xmlns:a16="http://schemas.microsoft.com/office/drawing/2014/main" id="{1696007E-A057-B1EE-6456-7517E8BADE61}"/>
              </a:ext>
            </a:extLst>
          </p:cNvPr>
          <p:cNvSpPr txBox="1"/>
          <p:nvPr/>
        </p:nvSpPr>
        <p:spPr>
          <a:xfrm>
            <a:off x="826054" y="5586365"/>
            <a:ext cx="670643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a:ea typeface="Calibri"/>
                <a:cs typeface="Calibri"/>
              </a:rPr>
              <a:t>Figure 21. </a:t>
            </a:r>
            <a:r>
              <a:rPr lang="en-IN" sz="1600">
                <a:latin typeface="Times New Roman"/>
                <a:ea typeface="Calibri"/>
                <a:cs typeface="Times New Roman"/>
              </a:rPr>
              <a:t>  Simulated Gain of  </a:t>
            </a:r>
            <a:r>
              <a:rPr lang="en-GB" sz="1600">
                <a:latin typeface="Times New Roman"/>
                <a:ea typeface="Calibri"/>
                <a:cs typeface="Times New Roman"/>
              </a:rPr>
              <a:t>1×2 Patch antenna Array </a:t>
            </a:r>
            <a:endParaRPr lang="en-GB"/>
          </a:p>
        </p:txBody>
      </p:sp>
    </p:spTree>
    <p:extLst>
      <p:ext uri="{BB962C8B-B14F-4D97-AF65-F5344CB8AC3E}">
        <p14:creationId xmlns:p14="http://schemas.microsoft.com/office/powerpoint/2010/main" val="175040815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B74CD3-2593-5C36-3132-AFCD248C3BC3}"/>
              </a:ext>
            </a:extLst>
          </p:cNvPr>
          <p:cNvSpPr>
            <a:spLocks noGrp="1"/>
          </p:cNvSpPr>
          <p:nvPr>
            <p:ph type="title"/>
          </p:nvPr>
        </p:nvSpPr>
        <p:spPr>
          <a:xfrm>
            <a:off x="3132" y="-216"/>
            <a:ext cx="3741107" cy="876712"/>
          </a:xfrm>
        </p:spPr>
        <p:txBody>
          <a:bodyPr>
            <a:normAutofit/>
          </a:bodyPr>
          <a:lstStyle/>
          <a:p>
            <a:r>
              <a:rPr lang="en-IN" sz="3200" b="1" u="sng">
                <a:latin typeface="Times New Roman"/>
                <a:ea typeface="Calibri Light"/>
                <a:cs typeface="Calibri Light"/>
              </a:rPr>
              <a:t>REFERENCES</a:t>
            </a:r>
            <a:r>
              <a:rPr lang="en-IN" sz="4000" b="1">
                <a:ea typeface="Calibri Light"/>
                <a:cs typeface="Calibri Light"/>
              </a:rPr>
              <a:t>:</a:t>
            </a:r>
            <a:endParaRPr lang="en-IN" sz="4000" b="1"/>
          </a:p>
        </p:txBody>
      </p:sp>
      <p:sp>
        <p:nvSpPr>
          <p:cNvPr id="3" name="Content Placeholder 2">
            <a:extLst>
              <a:ext uri="{FF2B5EF4-FFF2-40B4-BE49-F238E27FC236}">
                <a16:creationId xmlns:a16="http://schemas.microsoft.com/office/drawing/2014/main" id="{193FAAA3-94E4-082C-58AD-B0560EE66EB7}"/>
              </a:ext>
            </a:extLst>
          </p:cNvPr>
          <p:cNvSpPr>
            <a:spLocks noGrp="1"/>
          </p:cNvSpPr>
          <p:nvPr>
            <p:ph idx="1"/>
          </p:nvPr>
        </p:nvSpPr>
        <p:spPr>
          <a:xfrm>
            <a:off x="170145" y="875734"/>
            <a:ext cx="10515600" cy="4351338"/>
          </a:xfrm>
        </p:spPr>
        <p:txBody>
          <a:bodyPr vert="horz" lIns="91440" tIns="45720" rIns="91440" bIns="45720" rtlCol="0" anchor="t">
            <a:normAutofit/>
          </a:bodyPr>
          <a:lstStyle/>
          <a:p>
            <a:pPr algn="just"/>
            <a:r>
              <a:rPr lang="en-IN" sz="1800">
                <a:latin typeface="Times New Roman"/>
                <a:cs typeface="Times New Roman"/>
              </a:rPr>
              <a:t>[1] </a:t>
            </a:r>
            <a:r>
              <a:rPr lang="en-IN" sz="1800">
                <a:ea typeface="+mn-lt"/>
                <a:cs typeface="+mn-lt"/>
              </a:rPr>
              <a:t>S.ZhangandG.F.Pedersen, “Mutual coupling reduction for UWB MIMO antennas with a wideband neutralization line,” </a:t>
            </a:r>
            <a:r>
              <a:rPr lang="en-IN" sz="1800" i="1">
                <a:ea typeface="+mn-lt"/>
                <a:cs typeface="+mn-lt"/>
              </a:rPr>
              <a:t>IEEE Antennas and Wireless Propagation Letters</a:t>
            </a:r>
            <a:r>
              <a:rPr lang="en-IN" sz="1800">
                <a:ea typeface="+mn-lt"/>
                <a:cs typeface="+mn-lt"/>
              </a:rPr>
              <a:t>, vol.15, pp. 166–169,2016,doi: 10.1109/LAWP.2015.2438472.</a:t>
            </a:r>
          </a:p>
          <a:p>
            <a:pPr algn="just"/>
            <a:r>
              <a:rPr lang="en-IN" sz="1800">
                <a:latin typeface="Times New Roman"/>
                <a:cs typeface="Times New Roman"/>
              </a:rPr>
              <a:t>[2] </a:t>
            </a:r>
            <a:r>
              <a:rPr lang="en-IN" sz="1800">
                <a:ea typeface="+mn-lt"/>
                <a:cs typeface="+mn-lt"/>
              </a:rPr>
              <a:t>M. Li, Z. Xu, Y. Ban, C. Sim, and K. Kang,“Isolation enhancement of compact MIMO antennas using neutralization lines,”IEEE Transactions on Antennas and Propagation, vol. 67, no. 6, pp. 3850–3859, Jun. 2019,doi: 10.1109/TAP.2019.2903725.</a:t>
            </a:r>
          </a:p>
          <a:p>
            <a:pPr algn="just"/>
            <a:r>
              <a:rPr lang="en-IN" sz="1800">
                <a:latin typeface="Times New Roman"/>
                <a:cs typeface="Times New Roman"/>
              </a:rPr>
              <a:t>[3] A. Li, S.-W. Qu, and S. Yang, “ Mutual Coupling Reduction of a Dual-Band Four-Port Patch Antenna With Co-Polarized Radiation Pattern by Controlling Electric Fields ,” </a:t>
            </a:r>
            <a:r>
              <a:rPr lang="en-IN" sz="1800" i="1">
                <a:latin typeface="Times New Roman"/>
                <a:cs typeface="Times New Roman"/>
              </a:rPr>
              <a:t>IEEE Antennas Wireless </a:t>
            </a:r>
            <a:r>
              <a:rPr lang="en-IN" sz="1800" i="1" err="1">
                <a:latin typeface="Times New Roman"/>
                <a:cs typeface="Times New Roman"/>
              </a:rPr>
              <a:t>Propag</a:t>
            </a:r>
            <a:r>
              <a:rPr lang="en-IN" sz="1800" i="1">
                <a:latin typeface="Times New Roman"/>
                <a:cs typeface="Times New Roman"/>
              </a:rPr>
              <a:t>. Lett.</a:t>
            </a:r>
            <a:r>
              <a:rPr lang="en-IN" sz="1800">
                <a:latin typeface="Times New Roman"/>
                <a:cs typeface="Times New Roman"/>
              </a:rPr>
              <a:t>, vol. 21, no. 9, pp. 1762–1766, Sept. 2022, </a:t>
            </a:r>
            <a:r>
              <a:rPr lang="en-IN" sz="1800" err="1">
                <a:latin typeface="Times New Roman"/>
                <a:cs typeface="Times New Roman"/>
              </a:rPr>
              <a:t>doi</a:t>
            </a:r>
            <a:r>
              <a:rPr lang="en-IN" sz="1800">
                <a:latin typeface="Times New Roman"/>
                <a:cs typeface="Times New Roman"/>
              </a:rPr>
              <a:t>: 10.1109/LAWP.2022.3179404.</a:t>
            </a:r>
            <a:endParaRPr lang="en-IN" sz="1800">
              <a:ea typeface="Calibri"/>
              <a:cs typeface="Calibri"/>
            </a:endParaRPr>
          </a:p>
          <a:p>
            <a:pPr algn="just"/>
            <a:r>
              <a:rPr lang="en-IN" sz="1800">
                <a:latin typeface="Times New Roman"/>
                <a:cs typeface="Times New Roman"/>
              </a:rPr>
              <a:t>[4] Y. Yang, Y. Feng, L.-K. Zhang, Z. Xing, and J. Li, “ A Compact Multifrequency Broadband Dual-Antenna System With Mutual Coupling Reduction for Wi-Fi 6E Application ,” </a:t>
            </a:r>
            <a:r>
              <a:rPr lang="en-IN" sz="1800" i="1">
                <a:latin typeface="Times New Roman"/>
                <a:cs typeface="Times New Roman"/>
              </a:rPr>
              <a:t>IEEE Antennas Wireless </a:t>
            </a:r>
            <a:r>
              <a:rPr lang="en-IN" sz="1800" i="1" err="1">
                <a:latin typeface="Times New Roman"/>
                <a:cs typeface="Times New Roman"/>
              </a:rPr>
              <a:t>Propag</a:t>
            </a:r>
            <a:r>
              <a:rPr lang="en-IN" sz="1800" i="1">
                <a:latin typeface="Times New Roman"/>
                <a:cs typeface="Times New Roman"/>
              </a:rPr>
              <a:t>. Lett.</a:t>
            </a:r>
            <a:r>
              <a:rPr lang="en-IN" sz="1800">
                <a:latin typeface="Times New Roman"/>
                <a:cs typeface="Times New Roman"/>
              </a:rPr>
              <a:t>, vol. 23, no. 12, pp. 4074–4078, Dec. 2024, </a:t>
            </a:r>
            <a:r>
              <a:rPr lang="en-IN" sz="1800" err="1">
                <a:latin typeface="Times New Roman"/>
                <a:cs typeface="Times New Roman"/>
              </a:rPr>
              <a:t>doi</a:t>
            </a:r>
            <a:r>
              <a:rPr lang="en-IN" sz="1800">
                <a:latin typeface="Times New Roman"/>
                <a:cs typeface="Times New Roman"/>
              </a:rPr>
              <a:t>: 10.1109/LAWP.2024.3428515.</a:t>
            </a:r>
            <a:endParaRPr lang="en-IN" sz="1800">
              <a:ea typeface="Calibri"/>
              <a:cs typeface="Calibri"/>
            </a:endParaRPr>
          </a:p>
          <a:p>
            <a:pPr algn="just"/>
            <a:r>
              <a:rPr lang="en-IN" sz="1800">
                <a:latin typeface="Times New Roman"/>
                <a:cs typeface="Times New Roman"/>
              </a:rPr>
              <a:t>[5] Z.-L. Su, K. W. Leung, and K. Lu, “Mutual Coupling Reduction in Dual-Band MIMO Antenna Using Parasitic Dollar-Shaped Structure for Modern Wireless Communication,” </a:t>
            </a:r>
            <a:r>
              <a:rPr lang="en-IN" sz="1800" i="1">
                <a:latin typeface="Times New Roman"/>
                <a:cs typeface="Times New Roman"/>
              </a:rPr>
              <a:t>IEEE Trans. Antennas Propag.</a:t>
            </a:r>
            <a:r>
              <a:rPr lang="en-IN" sz="1800">
                <a:latin typeface="Times New Roman"/>
                <a:cs typeface="Times New Roman"/>
              </a:rPr>
              <a:t>, vol. 70, no. 9, pp. 7659–7669, Sept. 2023, doi:</a:t>
            </a:r>
            <a:r>
              <a:rPr lang="en-IN" sz="1800">
                <a:solidFill>
                  <a:srgbClr val="0D0D0D"/>
                </a:solidFill>
                <a:latin typeface="Times New Roman"/>
                <a:cs typeface="Times New Roman"/>
              </a:rPr>
              <a:t> </a:t>
            </a:r>
            <a:r>
              <a:rPr lang="en-IN" sz="1800">
                <a:solidFill>
                  <a:srgbClr val="0D0D0D"/>
                </a:solidFill>
                <a:latin typeface="Times New Roman"/>
                <a:cs typeface="Times New Roman"/>
                <a:hlinkClick r:id="rId2"/>
              </a:rPr>
              <a:t>10.1109/TAP.2023.3199567</a:t>
            </a:r>
            <a:r>
              <a:rPr lang="en-IN" sz="1800">
                <a:solidFill>
                  <a:srgbClr val="0D0D0D"/>
                </a:solidFill>
                <a:latin typeface="Times New Roman"/>
                <a:cs typeface="Times New Roman"/>
              </a:rPr>
              <a:t>.</a:t>
            </a:r>
            <a:endParaRPr lang="en-IN" sz="1800"/>
          </a:p>
        </p:txBody>
      </p:sp>
      <p:sp>
        <p:nvSpPr>
          <p:cNvPr id="4" name="Date Placeholder 3">
            <a:extLst>
              <a:ext uri="{FF2B5EF4-FFF2-40B4-BE49-F238E27FC236}">
                <a16:creationId xmlns:a16="http://schemas.microsoft.com/office/drawing/2014/main" id="{F9447F36-4E43-A514-0D07-6077B46E302E}"/>
              </a:ext>
            </a:extLst>
          </p:cNvPr>
          <p:cNvSpPr>
            <a:spLocks noGrp="1"/>
          </p:cNvSpPr>
          <p:nvPr>
            <p:ph type="dt" sz="half" idx="10"/>
          </p:nvPr>
        </p:nvSpPr>
        <p:spPr/>
        <p:txBody>
          <a:bodyPr/>
          <a:lstStyle/>
          <a:p>
            <a:fld id="{4352811E-622C-4247-A383-1708C3496131}" type="datetime1">
              <a:rPr lang="en-IN" smtClean="0"/>
              <a:t>09-02-2026</a:t>
            </a:fld>
            <a:endParaRPr lang="en-IN"/>
          </a:p>
        </p:txBody>
      </p:sp>
      <p:sp>
        <p:nvSpPr>
          <p:cNvPr id="5" name="Footer Placeholder 4">
            <a:extLst>
              <a:ext uri="{FF2B5EF4-FFF2-40B4-BE49-F238E27FC236}">
                <a16:creationId xmlns:a16="http://schemas.microsoft.com/office/drawing/2014/main" id="{474445B0-A1FC-4D14-BC1A-55E6E3D480F5}"/>
              </a:ext>
            </a:extLst>
          </p:cNvPr>
          <p:cNvSpPr>
            <a:spLocks noGrp="1"/>
          </p:cNvSpPr>
          <p:nvPr>
            <p:ph type="ftr" sz="quarter" idx="11"/>
          </p:nvPr>
        </p:nvSpPr>
        <p:spPr/>
        <p:txBody>
          <a:bodyPr/>
          <a:lstStyle/>
          <a:p>
            <a:r>
              <a:rPr lang="en-IN"/>
              <a:t>Review 2.2</a:t>
            </a:r>
          </a:p>
        </p:txBody>
      </p:sp>
      <p:sp>
        <p:nvSpPr>
          <p:cNvPr id="6" name="Slide Number Placeholder 5">
            <a:extLst>
              <a:ext uri="{FF2B5EF4-FFF2-40B4-BE49-F238E27FC236}">
                <a16:creationId xmlns:a16="http://schemas.microsoft.com/office/drawing/2014/main" id="{510DBB7B-9F98-9E8B-4745-F048B13F6B16}"/>
              </a:ext>
            </a:extLst>
          </p:cNvPr>
          <p:cNvSpPr>
            <a:spLocks noGrp="1"/>
          </p:cNvSpPr>
          <p:nvPr>
            <p:ph type="sldNum" sz="quarter" idx="12"/>
          </p:nvPr>
        </p:nvSpPr>
        <p:spPr/>
        <p:txBody>
          <a:bodyPr/>
          <a:lstStyle/>
          <a:p>
            <a:fld id="{1CCCFFBF-4DCD-46DE-85E1-69841FB49368}" type="slidenum">
              <a:rPr lang="en-IN" smtClean="0"/>
              <a:t>32</a:t>
            </a:fld>
            <a:endParaRPr lang="en-IN"/>
          </a:p>
        </p:txBody>
      </p:sp>
      <p:pic>
        <p:nvPicPr>
          <p:cNvPr id="8" name="Picture 7" descr="A pink and black logo&#10;&#10;AI-generated content may be incorrect.">
            <a:extLst>
              <a:ext uri="{FF2B5EF4-FFF2-40B4-BE49-F238E27FC236}">
                <a16:creationId xmlns:a16="http://schemas.microsoft.com/office/drawing/2014/main" id="{6A945866-816D-F3B0-F789-E37BC7DC318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92871" y="-31376"/>
            <a:ext cx="1999129" cy="591742"/>
          </a:xfrm>
          <a:prstGeom prst="rect">
            <a:avLst/>
          </a:prstGeom>
        </p:spPr>
      </p:pic>
    </p:spTree>
    <p:extLst>
      <p:ext uri="{BB962C8B-B14F-4D97-AF65-F5344CB8AC3E}">
        <p14:creationId xmlns:p14="http://schemas.microsoft.com/office/powerpoint/2010/main" val="33318996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A330588-A1D8-7239-A91F-DC4CA0827F34}"/>
              </a:ext>
            </a:extLst>
          </p:cNvPr>
          <p:cNvSpPr>
            <a:spLocks noGrp="1"/>
          </p:cNvSpPr>
          <p:nvPr>
            <p:ph type="dt" sz="half" idx="10"/>
          </p:nvPr>
        </p:nvSpPr>
        <p:spPr/>
        <p:txBody>
          <a:bodyPr/>
          <a:lstStyle/>
          <a:p>
            <a:fld id="{A65498C3-4B27-4C67-9847-0971B464EF5C}" type="datetime1">
              <a:rPr lang="en-IN" smtClean="0"/>
              <a:t>09-02-2026</a:t>
            </a:fld>
            <a:endParaRPr lang="en-IN"/>
          </a:p>
        </p:txBody>
      </p:sp>
      <p:sp>
        <p:nvSpPr>
          <p:cNvPr id="3" name="Footer Placeholder 2">
            <a:extLst>
              <a:ext uri="{FF2B5EF4-FFF2-40B4-BE49-F238E27FC236}">
                <a16:creationId xmlns:a16="http://schemas.microsoft.com/office/drawing/2014/main" id="{7F1C8047-E9CF-A698-4F82-29C9CF151B5D}"/>
              </a:ext>
            </a:extLst>
          </p:cNvPr>
          <p:cNvSpPr>
            <a:spLocks noGrp="1"/>
          </p:cNvSpPr>
          <p:nvPr>
            <p:ph type="ftr" sz="quarter" idx="11"/>
          </p:nvPr>
        </p:nvSpPr>
        <p:spPr/>
        <p:txBody>
          <a:bodyPr/>
          <a:lstStyle/>
          <a:p>
            <a:r>
              <a:rPr lang="en-IN"/>
              <a:t>Review 1.3</a:t>
            </a:r>
          </a:p>
        </p:txBody>
      </p:sp>
      <p:sp>
        <p:nvSpPr>
          <p:cNvPr id="4" name="Slide Number Placeholder 3">
            <a:extLst>
              <a:ext uri="{FF2B5EF4-FFF2-40B4-BE49-F238E27FC236}">
                <a16:creationId xmlns:a16="http://schemas.microsoft.com/office/drawing/2014/main" id="{A4505B3B-DA3F-B45D-468A-DA1163F72900}"/>
              </a:ext>
            </a:extLst>
          </p:cNvPr>
          <p:cNvSpPr>
            <a:spLocks noGrp="1"/>
          </p:cNvSpPr>
          <p:nvPr>
            <p:ph type="sldNum" sz="quarter" idx="12"/>
          </p:nvPr>
        </p:nvSpPr>
        <p:spPr/>
        <p:txBody>
          <a:bodyPr/>
          <a:lstStyle/>
          <a:p>
            <a:fld id="{1CCCFFBF-4DCD-46DE-85E1-69841FB49368}" type="slidenum">
              <a:rPr lang="en-IN" smtClean="0"/>
              <a:t>33</a:t>
            </a:fld>
            <a:endParaRPr lang="en-IN"/>
          </a:p>
        </p:txBody>
      </p:sp>
      <p:sp>
        <p:nvSpPr>
          <p:cNvPr id="5" name="TextBox 4">
            <a:extLst>
              <a:ext uri="{FF2B5EF4-FFF2-40B4-BE49-F238E27FC236}">
                <a16:creationId xmlns:a16="http://schemas.microsoft.com/office/drawing/2014/main" id="{A8C1C3B1-17E1-BE4A-86ED-DE06049EBBA2}"/>
              </a:ext>
            </a:extLst>
          </p:cNvPr>
          <p:cNvSpPr txBox="1"/>
          <p:nvPr/>
        </p:nvSpPr>
        <p:spPr>
          <a:xfrm>
            <a:off x="3048000" y="3429000"/>
            <a:ext cx="6096000"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4200" b="1">
                <a:latin typeface="Times New Roman"/>
                <a:cs typeface="Calibri"/>
              </a:rPr>
              <a:t>Thank You</a:t>
            </a:r>
          </a:p>
        </p:txBody>
      </p:sp>
      <p:pic>
        <p:nvPicPr>
          <p:cNvPr id="7" name="Picture 6" descr="A pink and black logo&#10;&#10;AI-generated content may be incorrect.">
            <a:extLst>
              <a:ext uri="{FF2B5EF4-FFF2-40B4-BE49-F238E27FC236}">
                <a16:creationId xmlns:a16="http://schemas.microsoft.com/office/drawing/2014/main" id="{D4CC503C-4D12-36EB-6361-95A3A10F575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92871" y="-31376"/>
            <a:ext cx="1999129" cy="591742"/>
          </a:xfrm>
          <a:prstGeom prst="rect">
            <a:avLst/>
          </a:prstGeom>
        </p:spPr>
      </p:pic>
    </p:spTree>
    <p:extLst>
      <p:ext uri="{BB962C8B-B14F-4D97-AF65-F5344CB8AC3E}">
        <p14:creationId xmlns:p14="http://schemas.microsoft.com/office/powerpoint/2010/main" val="212013952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33</Slides>
  <Notes>0</Notes>
  <HiddenSlides>0</HiddenSlides>
  <ScaleCrop>false</ScaleCrop>
  <HeadingPairs>
    <vt:vector size="4" baseType="variant">
      <vt:variant>
        <vt:lpstr>Theme</vt:lpstr>
      </vt:variant>
      <vt:variant>
        <vt:i4>1</vt:i4>
      </vt:variant>
      <vt:variant>
        <vt:lpstr>Slide Titles</vt:lpstr>
      </vt:variant>
      <vt:variant>
        <vt:i4>33</vt:i4>
      </vt:variant>
    </vt:vector>
  </HeadingPairs>
  <TitlesOfParts>
    <vt:vector size="34" baseType="lpstr">
      <vt:lpstr>Office Theme</vt:lpstr>
      <vt:lpstr>PowerPoint Presentation</vt:lpstr>
      <vt:lpstr>OBJECTIVE:</vt:lpstr>
      <vt:lpstr>PowerPoint Presentation</vt:lpstr>
      <vt:lpstr>PowerPoint Presentation</vt:lpstr>
      <vt:lpstr>PowerPoint Presentation</vt:lpstr>
      <vt:lpstr>PowerPoint Presentation</vt:lpstr>
      <vt:lpstr>PowerPoint Presentation</vt:lpstr>
      <vt:lpstr>Results:</vt:lpstr>
      <vt:lpstr>PowerPoint Presentation</vt:lpstr>
      <vt:lpstr>Results:</vt:lpstr>
      <vt:lpstr>Results:</vt:lpstr>
      <vt:lpstr>Results:</vt:lpstr>
      <vt:lpstr>Results:</vt:lpstr>
      <vt:lpstr>Results:</vt:lpstr>
      <vt:lpstr>Results:</vt:lpstr>
      <vt:lpstr>Results:</vt:lpstr>
      <vt:lpstr>Results:</vt:lpstr>
      <vt:lpstr>Results:</vt:lpstr>
      <vt:lpstr>Method for Mutual Coupling Reduction :</vt:lpstr>
      <vt:lpstr>Design :</vt:lpstr>
      <vt:lpstr>Design:</vt:lpstr>
      <vt:lpstr>Results:  Analysis of the S-parameter plot for 1×2 Patch antenna Array without a Decoupling Structure with HFSS  with centre to centre spacing as 0.4 λ0  .</vt:lpstr>
      <vt:lpstr>Results:   Analysis of the Gain plot for 1×2 Patch antenna Array without a Decoupling Structure with HFSS  with centre to centre spacing as 0.4 λ0 . </vt:lpstr>
      <vt:lpstr>Method for Mutual Coupling Reduction :</vt:lpstr>
      <vt:lpstr>Design :</vt:lpstr>
      <vt:lpstr>Design:</vt:lpstr>
      <vt:lpstr>Results:</vt:lpstr>
      <vt:lpstr>Results:</vt:lpstr>
      <vt:lpstr>Results:</vt:lpstr>
      <vt:lpstr>Results:</vt:lpstr>
      <vt:lpstr>Results:</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Yashwanth Peddakudala</dc:creator>
  <cp:revision>41</cp:revision>
  <dcterms:created xsi:type="dcterms:W3CDTF">2025-10-08T17:37:45Z</dcterms:created>
  <dcterms:modified xsi:type="dcterms:W3CDTF">2026-02-10T08:12:51Z</dcterms:modified>
</cp:coreProperties>
</file>