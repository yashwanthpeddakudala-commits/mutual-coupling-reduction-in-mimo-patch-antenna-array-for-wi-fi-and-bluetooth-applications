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67" r:id="rId3"/>
    <p:sldId id="268" r:id="rId4"/>
    <p:sldId id="258" r:id="rId5"/>
    <p:sldId id="260" r:id="rId6"/>
    <p:sldId id="261" r:id="rId7"/>
    <p:sldId id="262" r:id="rId8"/>
    <p:sldId id="265" r:id="rId9"/>
    <p:sldId id="266" r:id="rId10"/>
    <p:sldId id="281" r:id="rId11"/>
    <p:sldId id="282" r:id="rId12"/>
    <p:sldId id="283" r:id="rId13"/>
    <p:sldId id="269" r:id="rId14"/>
    <p:sldId id="284" r:id="rId15"/>
    <p:sldId id="285" r:id="rId16"/>
    <p:sldId id="286" r:id="rId17"/>
    <p:sldId id="287" r:id="rId18"/>
    <p:sldId id="288" r:id="rId19"/>
    <p:sldId id="289" r:id="rId20"/>
    <p:sldId id="292" r:id="rId21"/>
    <p:sldId id="293" r:id="rId22"/>
    <p:sldId id="290" r:id="rId23"/>
    <p:sldId id="291" r:id="rId24"/>
    <p:sldId id="270" r:id="rId25"/>
    <p:sldId id="29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wanth Peddakudala" userId="6315f4363124045d" providerId="LiveId" clId="{12FB7A73-56B9-4B81-929F-A70229145EF8}"/>
    <pc:docChg chg="modSld">
      <pc:chgData name="Yashwanth Peddakudala" userId="6315f4363124045d" providerId="LiveId" clId="{12FB7A73-56B9-4B81-929F-A70229145EF8}" dt="2026-06-22T17:34:07.164" v="0" actId="20577"/>
      <pc:docMkLst>
        <pc:docMk/>
      </pc:docMkLst>
      <pc:sldChg chg="modSp mod">
        <pc:chgData name="Yashwanth Peddakudala" userId="6315f4363124045d" providerId="LiveId" clId="{12FB7A73-56B9-4B81-929F-A70229145EF8}" dt="2026-06-22T17:34:07.164" v="0" actId="20577"/>
        <pc:sldMkLst>
          <pc:docMk/>
          <pc:sldMk cId="2396086585" sldId="256"/>
        </pc:sldMkLst>
        <pc:spChg chg="mod">
          <ac:chgData name="Yashwanth Peddakudala" userId="6315f4363124045d" providerId="LiveId" clId="{12FB7A73-56B9-4B81-929F-A70229145EF8}" dt="2026-06-22T17:34:07.164" v="0" actId="20577"/>
          <ac:spMkLst>
            <pc:docMk/>
            <pc:sldMk cId="2396086585" sldId="256"/>
            <ac:spMk id="5" creationId="{BF0B6189-DEAD-9B52-80B9-FC064616B4E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B5480-35D9-4413-8338-6DFF5F69C6CA}" type="datetimeFigureOut">
              <a:rPr lang="en-IN" smtClean="0"/>
              <a:t>22-06-2026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4512A9-F063-4475-A224-CD8B807765D8}" type="slidenum">
              <a:rPr lang="en-IN" smtClean="0"/>
              <a:t>‹#›</a:t>
            </a:fld>
            <a:endParaRPr lang="en-IN"/>
          </a:p>
        </p:txBody>
      </p:sp>
    </p:spTree>
    <p:extLst>
      <p:ext uri="{BB962C8B-B14F-4D97-AF65-F5344CB8AC3E}">
        <p14:creationId xmlns:p14="http://schemas.microsoft.com/office/powerpoint/2010/main" val="743760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8557E-577A-1A4B-D0A9-B49D6AA934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9A6345-1727-BF08-5FBA-D1480918FB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D1097E-4D4E-F21C-31D0-A35C82012310}"/>
              </a:ext>
            </a:extLst>
          </p:cNvPr>
          <p:cNvSpPr>
            <a:spLocks noGrp="1"/>
          </p:cNvSpPr>
          <p:nvPr>
            <p:ph type="dt" sz="half" idx="10"/>
          </p:nvPr>
        </p:nvSpPr>
        <p:spPr/>
        <p:txBody>
          <a:bodyPr/>
          <a:lstStyle/>
          <a:p>
            <a:fld id="{D3D64490-186A-471C-B39D-C10226A9DE62}" type="datetime1">
              <a:rPr lang="en-IN" smtClean="0"/>
              <a:t>22-06-2026</a:t>
            </a:fld>
            <a:endParaRPr lang="en-IN"/>
          </a:p>
        </p:txBody>
      </p:sp>
      <p:sp>
        <p:nvSpPr>
          <p:cNvPr id="5" name="Footer Placeholder 4">
            <a:extLst>
              <a:ext uri="{FF2B5EF4-FFF2-40B4-BE49-F238E27FC236}">
                <a16:creationId xmlns:a16="http://schemas.microsoft.com/office/drawing/2014/main" id="{D416A90A-3C27-D42B-D5E1-274BAFD22C4B}"/>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713CC22F-26D7-B732-4B8D-0D55BCBD007C}"/>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2817126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0C73-D074-E8F3-5EA1-008A0CA7F4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72A10E-8420-A386-29D7-CBF138C8CF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C6F5B1-8A04-67B7-80F3-F03302899DD0}"/>
              </a:ext>
            </a:extLst>
          </p:cNvPr>
          <p:cNvSpPr>
            <a:spLocks noGrp="1"/>
          </p:cNvSpPr>
          <p:nvPr>
            <p:ph type="dt" sz="half" idx="10"/>
          </p:nvPr>
        </p:nvSpPr>
        <p:spPr/>
        <p:txBody>
          <a:bodyPr/>
          <a:lstStyle/>
          <a:p>
            <a:fld id="{BDA09FE3-B6C6-47B1-AD17-7C726B7EDAD1}" type="datetime1">
              <a:rPr lang="en-IN" smtClean="0"/>
              <a:t>22-06-2026</a:t>
            </a:fld>
            <a:endParaRPr lang="en-IN"/>
          </a:p>
        </p:txBody>
      </p:sp>
      <p:sp>
        <p:nvSpPr>
          <p:cNvPr id="5" name="Footer Placeholder 4">
            <a:extLst>
              <a:ext uri="{FF2B5EF4-FFF2-40B4-BE49-F238E27FC236}">
                <a16:creationId xmlns:a16="http://schemas.microsoft.com/office/drawing/2014/main" id="{38C73483-7866-5C0E-2F7B-8CB5908ACEA7}"/>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0E9D3B79-F6ED-B58A-4AB3-966BC74C894F}"/>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1876627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5DE9F-235F-EFDC-CBA4-EAA2C281AB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378B69C-AF20-256B-A536-A440EE7A6C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7381B9-8AD2-B779-BCA0-09AED492F53B}"/>
              </a:ext>
            </a:extLst>
          </p:cNvPr>
          <p:cNvSpPr>
            <a:spLocks noGrp="1"/>
          </p:cNvSpPr>
          <p:nvPr>
            <p:ph type="dt" sz="half" idx="10"/>
          </p:nvPr>
        </p:nvSpPr>
        <p:spPr/>
        <p:txBody>
          <a:bodyPr/>
          <a:lstStyle/>
          <a:p>
            <a:fld id="{D61BBD71-A439-4148-BDE7-032BA23A77CD}" type="datetime1">
              <a:rPr lang="en-IN" smtClean="0"/>
              <a:t>22-06-2026</a:t>
            </a:fld>
            <a:endParaRPr lang="en-IN"/>
          </a:p>
        </p:txBody>
      </p:sp>
      <p:sp>
        <p:nvSpPr>
          <p:cNvPr id="5" name="Footer Placeholder 4">
            <a:extLst>
              <a:ext uri="{FF2B5EF4-FFF2-40B4-BE49-F238E27FC236}">
                <a16:creationId xmlns:a16="http://schemas.microsoft.com/office/drawing/2014/main" id="{40E15FCF-BB0B-525D-D4E8-851FAB41B533}"/>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2FFB6306-B9F4-9EB4-FB9B-C2E0C6FF73B6}"/>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4041881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6B1BB-9762-9CD2-389C-0A5DD3B1F5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7C1483-E424-4334-E341-75B518E58E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762C47-FD3D-1A67-4A93-71EA42C529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12D3408-8B40-760B-A753-783669F79137}"/>
              </a:ext>
            </a:extLst>
          </p:cNvPr>
          <p:cNvSpPr>
            <a:spLocks noGrp="1"/>
          </p:cNvSpPr>
          <p:nvPr>
            <p:ph type="dt" sz="half" idx="10"/>
          </p:nvPr>
        </p:nvSpPr>
        <p:spPr/>
        <p:txBody>
          <a:bodyPr/>
          <a:lstStyle/>
          <a:p>
            <a:fld id="{763C57E0-F0B6-4983-9AB2-DFD27A785C75}" type="datetime1">
              <a:rPr lang="en-IN" smtClean="0"/>
              <a:t>22-06-2026</a:t>
            </a:fld>
            <a:endParaRPr lang="en-IN"/>
          </a:p>
        </p:txBody>
      </p:sp>
      <p:sp>
        <p:nvSpPr>
          <p:cNvPr id="6" name="Footer Placeholder 5">
            <a:extLst>
              <a:ext uri="{FF2B5EF4-FFF2-40B4-BE49-F238E27FC236}">
                <a16:creationId xmlns:a16="http://schemas.microsoft.com/office/drawing/2014/main" id="{4649D7A8-72B5-6D2F-1C0E-BBA75C2D2B13}"/>
              </a:ext>
            </a:extLst>
          </p:cNvPr>
          <p:cNvSpPr>
            <a:spLocks noGrp="1"/>
          </p:cNvSpPr>
          <p:nvPr>
            <p:ph type="ftr" sz="quarter" idx="11"/>
          </p:nvPr>
        </p:nvSpPr>
        <p:spPr/>
        <p:txBody>
          <a:bodyPr/>
          <a:lstStyle/>
          <a:p>
            <a:r>
              <a:rPr lang="en-IN"/>
              <a:t>Review 1.3</a:t>
            </a:r>
          </a:p>
        </p:txBody>
      </p:sp>
      <p:sp>
        <p:nvSpPr>
          <p:cNvPr id="7" name="Slide Number Placeholder 6">
            <a:extLst>
              <a:ext uri="{FF2B5EF4-FFF2-40B4-BE49-F238E27FC236}">
                <a16:creationId xmlns:a16="http://schemas.microsoft.com/office/drawing/2014/main" id="{E5F049B4-CDDF-85C8-0582-F25EDC8F8F87}"/>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422463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D7A58-433F-859B-67A2-9EBB997E56A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5E1DAF-6DB8-F6EF-568B-8E3B52FB5D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34A187-A2D7-9D35-15B2-6BE64CF6E6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4D41396-D400-3219-4DED-BDDF6013C4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786F65-1274-3888-F1C5-1C115CDCC6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0EE9C5-A22F-88D2-D355-A938E3916774}"/>
              </a:ext>
            </a:extLst>
          </p:cNvPr>
          <p:cNvSpPr>
            <a:spLocks noGrp="1"/>
          </p:cNvSpPr>
          <p:nvPr>
            <p:ph type="dt" sz="half" idx="10"/>
          </p:nvPr>
        </p:nvSpPr>
        <p:spPr/>
        <p:txBody>
          <a:bodyPr/>
          <a:lstStyle/>
          <a:p>
            <a:fld id="{94A94853-7B92-452D-AA3E-163D8316F795}" type="datetime1">
              <a:rPr lang="en-IN" smtClean="0"/>
              <a:t>22-06-2026</a:t>
            </a:fld>
            <a:endParaRPr lang="en-IN"/>
          </a:p>
        </p:txBody>
      </p:sp>
      <p:sp>
        <p:nvSpPr>
          <p:cNvPr id="8" name="Footer Placeholder 7">
            <a:extLst>
              <a:ext uri="{FF2B5EF4-FFF2-40B4-BE49-F238E27FC236}">
                <a16:creationId xmlns:a16="http://schemas.microsoft.com/office/drawing/2014/main" id="{DCD581C7-A739-D19C-6964-5FA694A76A80}"/>
              </a:ext>
            </a:extLst>
          </p:cNvPr>
          <p:cNvSpPr>
            <a:spLocks noGrp="1"/>
          </p:cNvSpPr>
          <p:nvPr>
            <p:ph type="ftr" sz="quarter" idx="11"/>
          </p:nvPr>
        </p:nvSpPr>
        <p:spPr/>
        <p:txBody>
          <a:bodyPr/>
          <a:lstStyle/>
          <a:p>
            <a:r>
              <a:rPr lang="en-IN"/>
              <a:t>Review 1.3</a:t>
            </a:r>
          </a:p>
        </p:txBody>
      </p:sp>
      <p:sp>
        <p:nvSpPr>
          <p:cNvPr id="9" name="Slide Number Placeholder 8">
            <a:extLst>
              <a:ext uri="{FF2B5EF4-FFF2-40B4-BE49-F238E27FC236}">
                <a16:creationId xmlns:a16="http://schemas.microsoft.com/office/drawing/2014/main" id="{93B20310-AC03-6B30-440E-5408D3219951}"/>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3393731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92C36-4CEE-CFA3-F050-269EDE191E2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EEEE2B-7DA3-20C4-BF38-C0803C0CF1E9}"/>
              </a:ext>
            </a:extLst>
          </p:cNvPr>
          <p:cNvSpPr>
            <a:spLocks noGrp="1"/>
          </p:cNvSpPr>
          <p:nvPr>
            <p:ph type="dt" sz="half" idx="10"/>
          </p:nvPr>
        </p:nvSpPr>
        <p:spPr/>
        <p:txBody>
          <a:bodyPr/>
          <a:lstStyle/>
          <a:p>
            <a:fld id="{0CE95790-CE47-4E69-A599-E15E6423C45F}" type="datetime1">
              <a:rPr lang="en-IN" smtClean="0"/>
              <a:t>22-06-2026</a:t>
            </a:fld>
            <a:endParaRPr lang="en-IN"/>
          </a:p>
        </p:txBody>
      </p:sp>
      <p:sp>
        <p:nvSpPr>
          <p:cNvPr id="4" name="Footer Placeholder 3">
            <a:extLst>
              <a:ext uri="{FF2B5EF4-FFF2-40B4-BE49-F238E27FC236}">
                <a16:creationId xmlns:a16="http://schemas.microsoft.com/office/drawing/2014/main" id="{7203F414-0EF9-5AD1-AB2F-E2B99D709842}"/>
              </a:ext>
            </a:extLst>
          </p:cNvPr>
          <p:cNvSpPr>
            <a:spLocks noGrp="1"/>
          </p:cNvSpPr>
          <p:nvPr>
            <p:ph type="ftr" sz="quarter" idx="11"/>
          </p:nvPr>
        </p:nvSpPr>
        <p:spPr/>
        <p:txBody>
          <a:bodyPr/>
          <a:lstStyle/>
          <a:p>
            <a:r>
              <a:rPr lang="en-IN"/>
              <a:t>Review 1.3</a:t>
            </a:r>
          </a:p>
        </p:txBody>
      </p:sp>
      <p:sp>
        <p:nvSpPr>
          <p:cNvPr id="5" name="Slide Number Placeholder 4">
            <a:extLst>
              <a:ext uri="{FF2B5EF4-FFF2-40B4-BE49-F238E27FC236}">
                <a16:creationId xmlns:a16="http://schemas.microsoft.com/office/drawing/2014/main" id="{09BA6A99-6498-47E0-90D3-813B1133CF33}"/>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893502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01FD6B-6636-B51F-2958-579B67FB813B}"/>
              </a:ext>
            </a:extLst>
          </p:cNvPr>
          <p:cNvSpPr>
            <a:spLocks noGrp="1"/>
          </p:cNvSpPr>
          <p:nvPr>
            <p:ph type="dt" sz="half" idx="10"/>
          </p:nvPr>
        </p:nvSpPr>
        <p:spPr/>
        <p:txBody>
          <a:bodyPr/>
          <a:lstStyle/>
          <a:p>
            <a:fld id="{A65498C3-4B27-4C67-9847-0971B464EF5C}" type="datetime1">
              <a:rPr lang="en-IN" smtClean="0"/>
              <a:t>22-06-2026</a:t>
            </a:fld>
            <a:endParaRPr lang="en-IN"/>
          </a:p>
        </p:txBody>
      </p:sp>
      <p:sp>
        <p:nvSpPr>
          <p:cNvPr id="3" name="Footer Placeholder 2">
            <a:extLst>
              <a:ext uri="{FF2B5EF4-FFF2-40B4-BE49-F238E27FC236}">
                <a16:creationId xmlns:a16="http://schemas.microsoft.com/office/drawing/2014/main" id="{B02F95F5-47E0-7117-0F47-1FB38ACF78C8}"/>
              </a:ext>
            </a:extLst>
          </p:cNvPr>
          <p:cNvSpPr>
            <a:spLocks noGrp="1"/>
          </p:cNvSpPr>
          <p:nvPr>
            <p:ph type="ftr" sz="quarter" idx="11"/>
          </p:nvPr>
        </p:nvSpPr>
        <p:spPr/>
        <p:txBody>
          <a:bodyPr/>
          <a:lstStyle/>
          <a:p>
            <a:r>
              <a:rPr lang="en-IN"/>
              <a:t>Review 1.3</a:t>
            </a:r>
          </a:p>
        </p:txBody>
      </p:sp>
      <p:sp>
        <p:nvSpPr>
          <p:cNvPr id="4" name="Slide Number Placeholder 3">
            <a:extLst>
              <a:ext uri="{FF2B5EF4-FFF2-40B4-BE49-F238E27FC236}">
                <a16:creationId xmlns:a16="http://schemas.microsoft.com/office/drawing/2014/main" id="{A5D81218-8E82-5289-ABDD-662BB7622869}"/>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2626213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BA8CB-39BF-00B2-96F4-AF006926B7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027B58B-F599-67B9-F577-8AE3778F1F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FF44A15-EF80-87F8-45EE-BE04C59DC3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4D515F-29A2-D9FC-5B8B-4BDF7B48CFB8}"/>
              </a:ext>
            </a:extLst>
          </p:cNvPr>
          <p:cNvSpPr>
            <a:spLocks noGrp="1"/>
          </p:cNvSpPr>
          <p:nvPr>
            <p:ph type="dt" sz="half" idx="10"/>
          </p:nvPr>
        </p:nvSpPr>
        <p:spPr/>
        <p:txBody>
          <a:bodyPr/>
          <a:lstStyle/>
          <a:p>
            <a:fld id="{82C9B323-F0E4-46FE-ACA5-C1BFAE1E7A00}" type="datetime1">
              <a:rPr lang="en-IN" smtClean="0"/>
              <a:t>22-06-2026</a:t>
            </a:fld>
            <a:endParaRPr lang="en-IN"/>
          </a:p>
        </p:txBody>
      </p:sp>
      <p:sp>
        <p:nvSpPr>
          <p:cNvPr id="6" name="Footer Placeholder 5">
            <a:extLst>
              <a:ext uri="{FF2B5EF4-FFF2-40B4-BE49-F238E27FC236}">
                <a16:creationId xmlns:a16="http://schemas.microsoft.com/office/drawing/2014/main" id="{04204EB7-F07C-3CB5-B86B-BF4DBD6707A0}"/>
              </a:ext>
            </a:extLst>
          </p:cNvPr>
          <p:cNvSpPr>
            <a:spLocks noGrp="1"/>
          </p:cNvSpPr>
          <p:nvPr>
            <p:ph type="ftr" sz="quarter" idx="11"/>
          </p:nvPr>
        </p:nvSpPr>
        <p:spPr/>
        <p:txBody>
          <a:bodyPr/>
          <a:lstStyle/>
          <a:p>
            <a:r>
              <a:rPr lang="en-IN"/>
              <a:t>Review 1.3</a:t>
            </a:r>
          </a:p>
        </p:txBody>
      </p:sp>
      <p:sp>
        <p:nvSpPr>
          <p:cNvPr id="7" name="Slide Number Placeholder 6">
            <a:extLst>
              <a:ext uri="{FF2B5EF4-FFF2-40B4-BE49-F238E27FC236}">
                <a16:creationId xmlns:a16="http://schemas.microsoft.com/office/drawing/2014/main" id="{18A8C99B-5CFE-F25A-E5C6-2E3686F5DB16}"/>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1797958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A6C5D-8821-254F-C8CB-673F5A04F1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431A56-BD85-B668-073F-994A645D75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8C1384-6AAC-60FB-BF95-D54229A736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43BF8A-9B24-7A35-3814-04A91B4AC24A}"/>
              </a:ext>
            </a:extLst>
          </p:cNvPr>
          <p:cNvSpPr>
            <a:spLocks noGrp="1"/>
          </p:cNvSpPr>
          <p:nvPr>
            <p:ph type="dt" sz="half" idx="10"/>
          </p:nvPr>
        </p:nvSpPr>
        <p:spPr/>
        <p:txBody>
          <a:bodyPr/>
          <a:lstStyle/>
          <a:p>
            <a:fld id="{34B72575-D5B3-4994-A14E-77743A4E9592}" type="datetime1">
              <a:rPr lang="en-IN" smtClean="0"/>
              <a:t>22-06-2026</a:t>
            </a:fld>
            <a:endParaRPr lang="en-IN"/>
          </a:p>
        </p:txBody>
      </p:sp>
      <p:sp>
        <p:nvSpPr>
          <p:cNvPr id="6" name="Footer Placeholder 5">
            <a:extLst>
              <a:ext uri="{FF2B5EF4-FFF2-40B4-BE49-F238E27FC236}">
                <a16:creationId xmlns:a16="http://schemas.microsoft.com/office/drawing/2014/main" id="{593EAE6A-C01B-08CE-DAFC-D0B0C1707B33}"/>
              </a:ext>
            </a:extLst>
          </p:cNvPr>
          <p:cNvSpPr>
            <a:spLocks noGrp="1"/>
          </p:cNvSpPr>
          <p:nvPr>
            <p:ph type="ftr" sz="quarter" idx="11"/>
          </p:nvPr>
        </p:nvSpPr>
        <p:spPr/>
        <p:txBody>
          <a:bodyPr/>
          <a:lstStyle/>
          <a:p>
            <a:r>
              <a:rPr lang="en-IN"/>
              <a:t>Review 1.3</a:t>
            </a:r>
          </a:p>
        </p:txBody>
      </p:sp>
      <p:sp>
        <p:nvSpPr>
          <p:cNvPr id="7" name="Slide Number Placeholder 6">
            <a:extLst>
              <a:ext uri="{FF2B5EF4-FFF2-40B4-BE49-F238E27FC236}">
                <a16:creationId xmlns:a16="http://schemas.microsoft.com/office/drawing/2014/main" id="{197CAC27-7D7B-1B47-81F2-2F2BE9D238E8}"/>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1722875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1E264-0D6B-1AEB-DB25-46F79A4A34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6080E1-9F61-1A94-0E61-24E71E47CE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BDF4F0-5C04-F038-B359-0405724E39B3}"/>
              </a:ext>
            </a:extLst>
          </p:cNvPr>
          <p:cNvSpPr>
            <a:spLocks noGrp="1"/>
          </p:cNvSpPr>
          <p:nvPr>
            <p:ph type="dt" sz="half" idx="10"/>
          </p:nvPr>
        </p:nvSpPr>
        <p:spPr/>
        <p:txBody>
          <a:bodyPr/>
          <a:lstStyle/>
          <a:p>
            <a:fld id="{0A2CC7DE-3EF0-4304-919A-BE8995EDAA73}" type="datetime1">
              <a:rPr lang="en-IN" smtClean="0"/>
              <a:t>22-06-2026</a:t>
            </a:fld>
            <a:endParaRPr lang="en-IN"/>
          </a:p>
        </p:txBody>
      </p:sp>
      <p:sp>
        <p:nvSpPr>
          <p:cNvPr id="5" name="Footer Placeholder 4">
            <a:extLst>
              <a:ext uri="{FF2B5EF4-FFF2-40B4-BE49-F238E27FC236}">
                <a16:creationId xmlns:a16="http://schemas.microsoft.com/office/drawing/2014/main" id="{EA0C9D8A-F3EC-361C-E210-2CE20B902DF2}"/>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11B165DC-93FA-A300-25DD-7F83B032216D}"/>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489074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ABE380-EB2E-19A4-7ECA-63D5496898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16AE81-2BDF-4BB4-CD34-2F49180A7A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7A1AA9-FC00-D5AA-4F79-767B3AA22AE0}"/>
              </a:ext>
            </a:extLst>
          </p:cNvPr>
          <p:cNvSpPr>
            <a:spLocks noGrp="1"/>
          </p:cNvSpPr>
          <p:nvPr>
            <p:ph type="dt" sz="half" idx="10"/>
          </p:nvPr>
        </p:nvSpPr>
        <p:spPr/>
        <p:txBody>
          <a:bodyPr/>
          <a:lstStyle/>
          <a:p>
            <a:fld id="{12C5F899-C02C-4246-B819-1294AC7493C8}" type="datetime1">
              <a:rPr lang="en-IN" smtClean="0"/>
              <a:t>22-06-2026</a:t>
            </a:fld>
            <a:endParaRPr lang="en-IN"/>
          </a:p>
        </p:txBody>
      </p:sp>
      <p:sp>
        <p:nvSpPr>
          <p:cNvPr id="5" name="Footer Placeholder 4">
            <a:extLst>
              <a:ext uri="{FF2B5EF4-FFF2-40B4-BE49-F238E27FC236}">
                <a16:creationId xmlns:a16="http://schemas.microsoft.com/office/drawing/2014/main" id="{2A08C137-B1FC-88E1-281E-FDA9237C92B3}"/>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CFEB0744-824F-29C6-B9DD-C10644C9DFBD}"/>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2440995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29BA6-AB7D-7547-DD79-56F8EDBF57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031319-B695-C1C1-F31A-D97698AD41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E93FB6-9A41-9EC5-A137-0F5605D4AB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3B41DD-E271-4DD3-BF71-7885E38FE432}" type="datetime1">
              <a:rPr lang="en-IN" smtClean="0"/>
              <a:t>22-06-2026</a:t>
            </a:fld>
            <a:endParaRPr lang="en-IN"/>
          </a:p>
        </p:txBody>
      </p:sp>
      <p:sp>
        <p:nvSpPr>
          <p:cNvPr id="5" name="Footer Placeholder 4">
            <a:extLst>
              <a:ext uri="{FF2B5EF4-FFF2-40B4-BE49-F238E27FC236}">
                <a16:creationId xmlns:a16="http://schemas.microsoft.com/office/drawing/2014/main" id="{CACB2068-E82E-7B38-FC5E-5F23063D3E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Review 1.3</a:t>
            </a:r>
          </a:p>
        </p:txBody>
      </p:sp>
      <p:sp>
        <p:nvSpPr>
          <p:cNvPr id="6" name="Slide Number Placeholder 5">
            <a:extLst>
              <a:ext uri="{FF2B5EF4-FFF2-40B4-BE49-F238E27FC236}">
                <a16:creationId xmlns:a16="http://schemas.microsoft.com/office/drawing/2014/main" id="{4366DAEE-F66D-EBD2-8998-E41BFC7E13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CCFFBF-4DCD-46DE-85E1-69841FB49368}" type="slidenum">
              <a:rPr lang="en-IN" smtClean="0"/>
              <a:t>‹#›</a:t>
            </a:fld>
            <a:endParaRPr lang="en-IN"/>
          </a:p>
        </p:txBody>
      </p:sp>
    </p:spTree>
    <p:extLst>
      <p:ext uri="{BB962C8B-B14F-4D97-AF65-F5344CB8AC3E}">
        <p14:creationId xmlns:p14="http://schemas.microsoft.com/office/powerpoint/2010/main" val="41938376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gif"/></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oi.org/10.1109/TAP.2022.3199567"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48C5DBA-7669-B3A3-1FE0-82F3E34E2D96}"/>
              </a:ext>
            </a:extLst>
          </p:cNvPr>
          <p:cNvSpPr>
            <a:spLocks noGrp="1"/>
          </p:cNvSpPr>
          <p:nvPr>
            <p:ph type="subTitle" idx="1"/>
          </p:nvPr>
        </p:nvSpPr>
        <p:spPr>
          <a:xfrm>
            <a:off x="178904" y="609504"/>
            <a:ext cx="11867322" cy="5652149"/>
          </a:xfrm>
        </p:spPr>
        <p:txBody>
          <a:bodyPr vert="horz" lIns="91440" tIns="45720" rIns="91440" bIns="45720" rtlCol="0" anchor="t">
            <a:normAutofit/>
          </a:bodyPr>
          <a:lstStyle/>
          <a:p>
            <a:r>
              <a:rPr lang="en-US" b="1">
                <a:solidFill>
                  <a:srgbClr val="C00000"/>
                </a:solidFill>
                <a:latin typeface="Times New Roman"/>
                <a:cs typeface="Times New Roman"/>
              </a:rPr>
              <a:t>Review 1.3</a:t>
            </a:r>
            <a:endParaRPr lang="en-US" b="1">
              <a:solidFill>
                <a:srgbClr val="C00000"/>
              </a:solidFill>
              <a:latin typeface="Times New Roman" panose="02020603050405020304" pitchFamily="18" charset="0"/>
              <a:cs typeface="Times New Roman" panose="02020603050405020304" pitchFamily="18" charset="0"/>
            </a:endParaRPr>
          </a:p>
          <a:p>
            <a:r>
              <a:rPr lang="en-US" b="1" u="sng">
                <a:latin typeface="Times New Roman" panose="02020603050405020304" pitchFamily="18" charset="0"/>
                <a:cs typeface="Times New Roman" panose="02020603050405020304" pitchFamily="18" charset="0"/>
              </a:rPr>
              <a:t>B. Tech. Project  (19ECE495)</a:t>
            </a:r>
            <a:endParaRPr lang="en-IN">
              <a:latin typeface="Times New Roman" panose="02020603050405020304" pitchFamily="18" charset="0"/>
              <a:cs typeface="Times New Roman" panose="02020603050405020304" pitchFamily="18" charset="0"/>
            </a:endParaRPr>
          </a:p>
          <a:p>
            <a:r>
              <a:rPr lang="en-US">
                <a:latin typeface="Times New Roman"/>
                <a:cs typeface="Times New Roman"/>
              </a:rPr>
              <a:t>Batch ID: </a:t>
            </a:r>
            <a:r>
              <a:rPr lang="en-US" b="1">
                <a:solidFill>
                  <a:srgbClr val="C00000"/>
                </a:solidFill>
                <a:latin typeface="Times New Roman"/>
                <a:cs typeface="Times New Roman"/>
              </a:rPr>
              <a:t>070</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cs typeface="Calibri"/>
            </a:endParaRPr>
          </a:p>
          <a:p>
            <a:r>
              <a:rPr lang="en-US" b="1">
                <a:latin typeface="Times New Roman"/>
                <a:cs typeface="Times New Roman"/>
              </a:rPr>
              <a:t>Mutual coupling reduction in MIMO Patch Antenna Array for Wi-Fi and Bluetooth applications</a:t>
            </a:r>
            <a:endParaRPr lang="en-US"/>
          </a:p>
          <a:p>
            <a:pPr algn="r">
              <a:lnSpc>
                <a:spcPct val="150000"/>
              </a:lnSpc>
            </a:pPr>
            <a:endParaRPr lang="en-US" sz="1600" b="1">
              <a:latin typeface="Times New Roman"/>
              <a:cs typeface="Times New Roman"/>
            </a:endParaRPr>
          </a:p>
          <a:p>
            <a:pPr algn="r">
              <a:lnSpc>
                <a:spcPct val="150000"/>
              </a:lnSpc>
            </a:pPr>
            <a:endParaRPr lang="en-US" sz="1600" b="1">
              <a:latin typeface="Times New Roman"/>
              <a:cs typeface="Times New Roman"/>
            </a:endParaRPr>
          </a:p>
          <a:p>
            <a:pPr algn="r">
              <a:lnSpc>
                <a:spcPct val="150000"/>
              </a:lnSpc>
            </a:pPr>
            <a:r>
              <a:rPr lang="en-US" sz="2000" b="1">
                <a:latin typeface="Times New Roman"/>
                <a:cs typeface="Times New Roman"/>
              </a:rPr>
              <a:t>MENTOR</a:t>
            </a:r>
            <a:r>
              <a:rPr lang="en-US" sz="2000">
                <a:latin typeface="Times New Roman"/>
                <a:cs typeface="Times New Roman"/>
              </a:rPr>
              <a:t>:  Ms. V. MEKALADEVI </a:t>
            </a:r>
          </a:p>
          <a:p>
            <a:pPr algn="r"/>
            <a:r>
              <a:rPr lang="en-US" sz="1600">
                <a:latin typeface="Times New Roman"/>
                <a:cs typeface="Times New Roman"/>
              </a:rPr>
              <a:t>Dept. of Elec. and </a:t>
            </a:r>
            <a:r>
              <a:rPr lang="en-US" sz="1600" err="1">
                <a:latin typeface="Times New Roman"/>
                <a:cs typeface="Times New Roman"/>
              </a:rPr>
              <a:t>Commn</a:t>
            </a:r>
            <a:r>
              <a:rPr lang="en-US" sz="1600">
                <a:latin typeface="Times New Roman"/>
                <a:cs typeface="Times New Roman"/>
              </a:rPr>
              <a:t>. </a:t>
            </a:r>
            <a:r>
              <a:rPr lang="en-US" sz="1600" err="1">
                <a:latin typeface="Times New Roman"/>
                <a:cs typeface="Times New Roman"/>
              </a:rPr>
              <a:t>Engg</a:t>
            </a:r>
            <a:r>
              <a:rPr lang="en-US" sz="1600">
                <a:latin typeface="Times New Roman"/>
                <a:cs typeface="Times New Roman"/>
              </a:rPr>
              <a:t>. </a:t>
            </a:r>
          </a:p>
          <a:p>
            <a:pPr algn="r"/>
            <a:r>
              <a:rPr lang="en-US" sz="1600">
                <a:latin typeface="Times New Roman" panose="02020603050405020304" pitchFamily="18" charset="0"/>
                <a:cs typeface="Times New Roman" panose="02020603050405020304" pitchFamily="18" charset="0"/>
              </a:rPr>
              <a:t>Amrita School of Engineering, Coimbatore</a:t>
            </a:r>
          </a:p>
          <a:p>
            <a:endParaRPr lang="en-IN"/>
          </a:p>
        </p:txBody>
      </p:sp>
      <p:pic>
        <p:nvPicPr>
          <p:cNvPr id="4" name="Picture 3">
            <a:extLst>
              <a:ext uri="{FF2B5EF4-FFF2-40B4-BE49-F238E27FC236}">
                <a16:creationId xmlns:a16="http://schemas.microsoft.com/office/drawing/2014/main" id="{CE238DF5-47ED-F5E6-3A81-B8FAA9ECDF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5" name="Date Placeholder 4">
            <a:extLst>
              <a:ext uri="{FF2B5EF4-FFF2-40B4-BE49-F238E27FC236}">
                <a16:creationId xmlns:a16="http://schemas.microsoft.com/office/drawing/2014/main" id="{BF0B6189-DEAD-9B52-80B9-FC064616B4E4}"/>
              </a:ext>
            </a:extLst>
          </p:cNvPr>
          <p:cNvSpPr>
            <a:spLocks noGrp="1"/>
          </p:cNvSpPr>
          <p:nvPr>
            <p:ph type="dt" sz="half" idx="10"/>
          </p:nvPr>
        </p:nvSpPr>
        <p:spPr/>
        <p:txBody>
          <a:bodyPr/>
          <a:lstStyle/>
          <a:p>
            <a:endParaRPr lang="en-IN" dirty="0"/>
          </a:p>
        </p:txBody>
      </p:sp>
      <p:sp>
        <p:nvSpPr>
          <p:cNvPr id="6" name="Footer Placeholder 5">
            <a:extLst>
              <a:ext uri="{FF2B5EF4-FFF2-40B4-BE49-F238E27FC236}">
                <a16:creationId xmlns:a16="http://schemas.microsoft.com/office/drawing/2014/main" id="{183A66EF-9FFC-6601-E0C4-04167D402C33}"/>
              </a:ext>
            </a:extLst>
          </p:cNvPr>
          <p:cNvSpPr>
            <a:spLocks noGrp="1"/>
          </p:cNvSpPr>
          <p:nvPr>
            <p:ph type="ftr" sz="quarter" idx="11"/>
          </p:nvPr>
        </p:nvSpPr>
        <p:spPr/>
        <p:txBody>
          <a:bodyPr/>
          <a:lstStyle/>
          <a:p>
            <a:r>
              <a:rPr lang="en-IN"/>
              <a:t>Review 1.3</a:t>
            </a:r>
          </a:p>
        </p:txBody>
      </p:sp>
      <p:sp>
        <p:nvSpPr>
          <p:cNvPr id="7" name="Slide Number Placeholder 6">
            <a:extLst>
              <a:ext uri="{FF2B5EF4-FFF2-40B4-BE49-F238E27FC236}">
                <a16:creationId xmlns:a16="http://schemas.microsoft.com/office/drawing/2014/main" id="{4A520838-F936-9418-9EB6-DFA190BD8A45}"/>
              </a:ext>
            </a:extLst>
          </p:cNvPr>
          <p:cNvSpPr>
            <a:spLocks noGrp="1"/>
          </p:cNvSpPr>
          <p:nvPr>
            <p:ph type="sldNum" sz="quarter" idx="12"/>
          </p:nvPr>
        </p:nvSpPr>
        <p:spPr/>
        <p:txBody>
          <a:bodyPr/>
          <a:lstStyle/>
          <a:p>
            <a:fld id="{1CCCFFBF-4DCD-46DE-85E1-69841FB49368}" type="slidenum">
              <a:rPr lang="en-IN" smtClean="0"/>
              <a:t>1</a:t>
            </a:fld>
            <a:endParaRPr lang="en-IN"/>
          </a:p>
        </p:txBody>
      </p:sp>
      <p:graphicFrame>
        <p:nvGraphicFramePr>
          <p:cNvPr id="8" name="Table 7">
            <a:extLst>
              <a:ext uri="{FF2B5EF4-FFF2-40B4-BE49-F238E27FC236}">
                <a16:creationId xmlns:a16="http://schemas.microsoft.com/office/drawing/2014/main" id="{DB472AD6-6F63-ABB9-7E63-F2CF4A67F0C1}"/>
              </a:ext>
            </a:extLst>
          </p:cNvPr>
          <p:cNvGraphicFramePr>
            <a:graphicFrameLocks noGrp="1"/>
          </p:cNvGraphicFramePr>
          <p:nvPr>
            <p:extLst>
              <p:ext uri="{D42A27DB-BD31-4B8C-83A1-F6EECF244321}">
                <p14:modId xmlns:p14="http://schemas.microsoft.com/office/powerpoint/2010/main" val="2932393503"/>
              </p:ext>
            </p:extLst>
          </p:nvPr>
        </p:nvGraphicFramePr>
        <p:xfrm>
          <a:off x="465638" y="4158652"/>
          <a:ext cx="6083300" cy="2110613"/>
        </p:xfrm>
        <a:graphic>
          <a:graphicData uri="http://schemas.openxmlformats.org/drawingml/2006/table">
            <a:tbl>
              <a:tblPr firstRow="1" bandRow="1">
                <a:tableStyleId>{5C22544A-7EE6-4342-B048-85BDC9FD1C3A}</a:tableStyleId>
              </a:tblPr>
              <a:tblGrid>
                <a:gridCol w="2458667">
                  <a:extLst>
                    <a:ext uri="{9D8B030D-6E8A-4147-A177-3AD203B41FA5}">
                      <a16:colId xmlns:a16="http://schemas.microsoft.com/office/drawing/2014/main" val="3211070789"/>
                    </a:ext>
                  </a:extLst>
                </a:gridCol>
                <a:gridCol w="519615">
                  <a:extLst>
                    <a:ext uri="{9D8B030D-6E8A-4147-A177-3AD203B41FA5}">
                      <a16:colId xmlns:a16="http://schemas.microsoft.com/office/drawing/2014/main" val="2994234566"/>
                    </a:ext>
                  </a:extLst>
                </a:gridCol>
                <a:gridCol w="3105018">
                  <a:extLst>
                    <a:ext uri="{9D8B030D-6E8A-4147-A177-3AD203B41FA5}">
                      <a16:colId xmlns:a16="http://schemas.microsoft.com/office/drawing/2014/main" val="3625299904"/>
                    </a:ext>
                  </a:extLst>
                </a:gridCol>
              </a:tblGrid>
              <a:tr h="679704">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CB.EN.U4ECE22225</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IN" sz="2000" b="0" kern="1200">
                          <a:solidFill>
                            <a:srgbClr val="000000"/>
                          </a:solidFill>
                          <a:effectLst/>
                          <a:latin typeface="Times New Roman" panose="02020603050405020304" pitchFamily="18" charset="0"/>
                        </a:rPr>
                        <a:t>J Rohith</a:t>
                      </a:r>
                      <a:endParaRPr lang="en-IN">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766194565"/>
                  </a:ext>
                </a:extLst>
              </a:tr>
              <a:tr h="679704">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CB.EN.U4ECE22262</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IN" sz="2000" b="0" kern="1200">
                          <a:solidFill>
                            <a:srgbClr val="000000"/>
                          </a:solidFill>
                          <a:effectLst/>
                          <a:latin typeface="Times New Roman" panose="02020603050405020304" pitchFamily="18" charset="0"/>
                        </a:rPr>
                        <a:t>P</a:t>
                      </a:r>
                      <a:r>
                        <a:rPr lang="en-IN" sz="2000" b="0" i="0" kern="1200">
                          <a:solidFill>
                            <a:srgbClr val="000000"/>
                          </a:solidFill>
                          <a:effectLst/>
                          <a:latin typeface="Times New Roman" panose="02020603050405020304" pitchFamily="18" charset="0"/>
                        </a:rPr>
                        <a:t>eddakudala</a:t>
                      </a:r>
                      <a:r>
                        <a:rPr lang="en-IN" sz="2000" b="0" kern="1200">
                          <a:solidFill>
                            <a:srgbClr val="000000"/>
                          </a:solidFill>
                          <a:effectLst/>
                          <a:latin typeface="Times New Roman" panose="02020603050405020304" pitchFamily="18" charset="0"/>
                        </a:rPr>
                        <a:t> Yashwanth</a:t>
                      </a:r>
                      <a:endParaRPr lang="en-IN">
                        <a:effectLst/>
                      </a:endParaRPr>
                    </a:p>
                  </a:txBody>
                  <a:tcPr marL="0" marR="0" marT="0" marB="0" anchor="ctr">
                    <a:lnL>
                      <a:noFill/>
                    </a:lnL>
                    <a:lnR>
                      <a:noFill/>
                    </a:lnR>
                    <a:lnT>
                      <a:noFill/>
                    </a:lnT>
                    <a:lnB>
                      <a:noFill/>
                    </a:lnB>
                    <a:noFill/>
                  </a:tcPr>
                </a:tc>
                <a:extLst>
                  <a:ext uri="{0D108BD9-81ED-4DB2-BD59-A6C34878D82A}">
                    <a16:rowId xmlns:a16="http://schemas.microsoft.com/office/drawing/2014/main" val="2229694027"/>
                  </a:ext>
                </a:extLst>
              </a:tr>
              <a:tr h="751205">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CB.EN.U4ECE22213</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IN" sz="2000" b="0" kern="1200">
                          <a:solidFill>
                            <a:srgbClr val="000000"/>
                          </a:solidFill>
                          <a:effectLst/>
                          <a:latin typeface="Times New Roman" panose="02020603050405020304" pitchFamily="18" charset="0"/>
                        </a:rPr>
                        <a:t>Chundupalle Tej Siddanth</a:t>
                      </a:r>
                      <a:endParaRPr lang="en-IN">
                        <a:effectLst/>
                      </a:endParaRPr>
                    </a:p>
                  </a:txBody>
                  <a:tcPr marL="0" marR="0" marT="0" marB="0" anchor="ctr">
                    <a:lnL>
                      <a:noFill/>
                    </a:lnL>
                    <a:lnR>
                      <a:noFill/>
                    </a:lnR>
                    <a:lnT>
                      <a:noFill/>
                    </a:lnT>
                    <a:lnB>
                      <a:noFill/>
                    </a:lnB>
                    <a:noFill/>
                  </a:tcPr>
                </a:tc>
                <a:extLst>
                  <a:ext uri="{0D108BD9-81ED-4DB2-BD59-A6C34878D82A}">
                    <a16:rowId xmlns:a16="http://schemas.microsoft.com/office/drawing/2014/main" val="667066241"/>
                  </a:ext>
                </a:extLst>
              </a:tr>
            </a:tbl>
          </a:graphicData>
        </a:graphic>
      </p:graphicFrame>
    </p:spTree>
    <p:extLst>
      <p:ext uri="{BB962C8B-B14F-4D97-AF65-F5344CB8AC3E}">
        <p14:creationId xmlns:p14="http://schemas.microsoft.com/office/powerpoint/2010/main" val="2396086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4820-C860-4227-E3AA-EA6076CA1BDB}"/>
              </a:ext>
            </a:extLst>
          </p:cNvPr>
          <p:cNvSpPr>
            <a:spLocks noGrp="1"/>
          </p:cNvSpPr>
          <p:nvPr>
            <p:ph type="title"/>
          </p:nvPr>
        </p:nvSpPr>
        <p:spPr>
          <a:xfrm>
            <a:off x="3132" y="-217"/>
            <a:ext cx="4315217" cy="782769"/>
          </a:xfrm>
        </p:spPr>
        <p:txBody>
          <a:bodyPr>
            <a:normAutofit/>
          </a:bodyPr>
          <a:lstStyle/>
          <a:p>
            <a:r>
              <a:rPr lang="en-IN" sz="2800" b="1" u="sng">
                <a:latin typeface="Times New Roman"/>
                <a:ea typeface="Calibri Light"/>
                <a:cs typeface="Calibri Light"/>
              </a:rPr>
              <a:t>MOTIVATION</a:t>
            </a:r>
            <a:r>
              <a:rPr lang="en-IN" sz="2800" b="1">
                <a:latin typeface="Times New Roman"/>
                <a:ea typeface="Calibri Light"/>
                <a:cs typeface="Calibri Light"/>
              </a:rPr>
              <a:t>:</a:t>
            </a:r>
            <a:endParaRPr lang="en-IN" sz="2800" b="1">
              <a:latin typeface="Times New Roman"/>
              <a:cs typeface="Times New Roman"/>
            </a:endParaRPr>
          </a:p>
        </p:txBody>
      </p:sp>
      <p:sp>
        <p:nvSpPr>
          <p:cNvPr id="3" name="Content Placeholder 2">
            <a:extLst>
              <a:ext uri="{FF2B5EF4-FFF2-40B4-BE49-F238E27FC236}">
                <a16:creationId xmlns:a16="http://schemas.microsoft.com/office/drawing/2014/main" id="{F777291C-EA43-5DE4-090A-58EEA15885C4}"/>
              </a:ext>
            </a:extLst>
          </p:cNvPr>
          <p:cNvSpPr>
            <a:spLocks noGrp="1"/>
          </p:cNvSpPr>
          <p:nvPr>
            <p:ph idx="1"/>
          </p:nvPr>
        </p:nvSpPr>
        <p:spPr>
          <a:xfrm>
            <a:off x="3132" y="1042748"/>
            <a:ext cx="12070915" cy="4351338"/>
          </a:xfrm>
        </p:spPr>
        <p:txBody>
          <a:bodyPr vert="horz" lIns="91440" tIns="45720" rIns="91440" bIns="45720" rtlCol="0" anchor="t">
            <a:normAutofit fontScale="70000" lnSpcReduction="20000"/>
          </a:bodyPr>
          <a:lstStyle/>
          <a:p>
            <a:r>
              <a:rPr lang="en-IN" b="1">
                <a:latin typeface="Times New Roman"/>
                <a:ea typeface="+mn-lt"/>
                <a:cs typeface="+mn-lt"/>
              </a:rPr>
              <a:t>Growing Wireless Demand:</a:t>
            </a:r>
            <a:r>
              <a:rPr lang="en-IN">
                <a:latin typeface="Times New Roman"/>
                <a:ea typeface="+mn-lt"/>
                <a:cs typeface="+mn-lt"/>
              </a:rPr>
              <a:t> Modern Wi-Fi and Bluetooth devices at 2.4 GHz require high data rates and reliable performance in compact systems.</a:t>
            </a:r>
            <a:endParaRPr lang="en-IN">
              <a:latin typeface="Times New Roman"/>
              <a:ea typeface="Calibri" panose="020F0502020204030204"/>
              <a:cs typeface="Calibri" panose="020F0502020204030204"/>
            </a:endParaRPr>
          </a:p>
          <a:p>
            <a:pPr marL="0" indent="0">
              <a:buNone/>
            </a:pPr>
            <a:endParaRPr lang="en-IN" dirty="0">
              <a:latin typeface="Times New Roman"/>
              <a:ea typeface="+mn-lt"/>
              <a:cs typeface="+mn-lt"/>
            </a:endParaRPr>
          </a:p>
          <a:p>
            <a:r>
              <a:rPr lang="en-IN" b="1">
                <a:latin typeface="Times New Roman"/>
                <a:ea typeface="+mn-lt"/>
                <a:cs typeface="+mn-lt"/>
              </a:rPr>
              <a:t>Need for MIMO Technology:</a:t>
            </a:r>
            <a:r>
              <a:rPr lang="en-IN">
                <a:latin typeface="Times New Roman"/>
                <a:ea typeface="+mn-lt"/>
                <a:cs typeface="+mn-lt"/>
              </a:rPr>
              <a:t> MIMO antenna arrays enhance data throughput and link reliability in multipath environments.</a:t>
            </a:r>
            <a:endParaRPr lang="en-IN">
              <a:latin typeface="Times New Roman"/>
              <a:cs typeface="Times New Roman"/>
            </a:endParaRPr>
          </a:p>
          <a:p>
            <a:endParaRPr lang="en-IN" dirty="0">
              <a:latin typeface="Times New Roman"/>
              <a:ea typeface="+mn-lt"/>
              <a:cs typeface="+mn-lt"/>
            </a:endParaRPr>
          </a:p>
          <a:p>
            <a:r>
              <a:rPr lang="en-IN" b="1">
                <a:latin typeface="Times New Roman"/>
                <a:ea typeface="+mn-lt"/>
                <a:cs typeface="+mn-lt"/>
              </a:rPr>
              <a:t>Problem of Mutual Coupling:</a:t>
            </a:r>
            <a:r>
              <a:rPr lang="en-IN">
                <a:latin typeface="Times New Roman"/>
                <a:ea typeface="+mn-lt"/>
                <a:cs typeface="+mn-lt"/>
              </a:rPr>
              <a:t> Closely spaced antenna elements suffer from electromagnetic interaction, reducing isolation, efficiency, and diversity performance.</a:t>
            </a:r>
            <a:endParaRPr lang="en-IN">
              <a:latin typeface="Times New Roman"/>
              <a:cs typeface="Times New Roman"/>
            </a:endParaRPr>
          </a:p>
          <a:p>
            <a:endParaRPr lang="en-IN" dirty="0">
              <a:latin typeface="Times New Roman"/>
              <a:ea typeface="+mn-lt"/>
              <a:cs typeface="+mn-lt"/>
            </a:endParaRPr>
          </a:p>
          <a:p>
            <a:r>
              <a:rPr lang="en-IN" b="1">
                <a:latin typeface="Times New Roman"/>
                <a:ea typeface="+mn-lt"/>
                <a:cs typeface="+mn-lt"/>
              </a:rPr>
              <a:t>Design Challenge:</a:t>
            </a:r>
            <a:r>
              <a:rPr lang="en-IN">
                <a:latin typeface="Times New Roman"/>
                <a:ea typeface="+mn-lt"/>
                <a:cs typeface="+mn-lt"/>
              </a:rPr>
              <a:t> Achieving high isolation and compactness simultaneously at 2.4 GHz is difficult due to limited element spacing.</a:t>
            </a:r>
            <a:endParaRPr lang="en-IN">
              <a:latin typeface="Times New Roman"/>
              <a:cs typeface="Times New Roman"/>
            </a:endParaRPr>
          </a:p>
          <a:p>
            <a:pPr marL="0" indent="0">
              <a:buNone/>
            </a:pPr>
            <a:endParaRPr lang="en-IN" dirty="0">
              <a:latin typeface="Times New Roman"/>
              <a:ea typeface="+mn-lt"/>
              <a:cs typeface="+mn-lt"/>
            </a:endParaRPr>
          </a:p>
          <a:p>
            <a:r>
              <a:rPr lang="en-IN" b="1">
                <a:latin typeface="Times New Roman"/>
                <a:ea typeface="+mn-lt"/>
                <a:cs typeface="+mn-lt"/>
              </a:rPr>
              <a:t>Goal:</a:t>
            </a:r>
            <a:r>
              <a:rPr lang="en-IN">
                <a:latin typeface="Times New Roman"/>
                <a:ea typeface="+mn-lt"/>
                <a:cs typeface="+mn-lt"/>
              </a:rPr>
              <a:t> To design a compact MIMO patch antenna array with effective mutual coupling reduction techniques (like DGS, EBG, or neutralization lines) for improved Wi-Fi and Bluetooth performance.</a:t>
            </a:r>
            <a:endParaRPr lang="en-IN">
              <a:latin typeface="Times New Roman"/>
            </a:endParaRPr>
          </a:p>
          <a:p>
            <a:pPr marL="0" indent="0">
              <a:buNone/>
            </a:pPr>
            <a:endParaRPr lang="en-IN" dirty="0">
              <a:ea typeface="Calibri"/>
              <a:cs typeface="Calibri"/>
            </a:endParaRPr>
          </a:p>
        </p:txBody>
      </p:sp>
      <p:sp>
        <p:nvSpPr>
          <p:cNvPr id="4" name="Date Placeholder 3">
            <a:extLst>
              <a:ext uri="{FF2B5EF4-FFF2-40B4-BE49-F238E27FC236}">
                <a16:creationId xmlns:a16="http://schemas.microsoft.com/office/drawing/2014/main" id="{E04AC5F2-0E68-655B-BDAF-F30C68B2F422}"/>
              </a:ext>
            </a:extLst>
          </p:cNvPr>
          <p:cNvSpPr>
            <a:spLocks noGrp="1"/>
          </p:cNvSpPr>
          <p:nvPr>
            <p:ph type="dt" sz="half" idx="10"/>
          </p:nvPr>
        </p:nvSpPr>
        <p:spPr/>
        <p:txBody>
          <a:bodyPr/>
          <a:lstStyle/>
          <a:p>
            <a:fld id="{52BF4C10-15F4-4BF1-BA0E-B82FAF0344CA}" type="datetime1">
              <a:rPr lang="en-IN" smtClean="0"/>
              <a:t>22-06-2026</a:t>
            </a:fld>
            <a:endParaRPr lang="en-IN"/>
          </a:p>
        </p:txBody>
      </p:sp>
      <p:sp>
        <p:nvSpPr>
          <p:cNvPr id="5" name="Footer Placeholder 4">
            <a:extLst>
              <a:ext uri="{FF2B5EF4-FFF2-40B4-BE49-F238E27FC236}">
                <a16:creationId xmlns:a16="http://schemas.microsoft.com/office/drawing/2014/main" id="{CEDD7C4A-B714-7DCE-0A52-DDABAEB5688C}"/>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A363B398-B9D7-5952-E00C-6FA83B51760F}"/>
              </a:ext>
            </a:extLst>
          </p:cNvPr>
          <p:cNvSpPr>
            <a:spLocks noGrp="1"/>
          </p:cNvSpPr>
          <p:nvPr>
            <p:ph type="sldNum" sz="quarter" idx="12"/>
          </p:nvPr>
        </p:nvSpPr>
        <p:spPr/>
        <p:txBody>
          <a:bodyPr/>
          <a:lstStyle/>
          <a:p>
            <a:fld id="{1CCCFFBF-4DCD-46DE-85E1-69841FB49368}" type="slidenum">
              <a:rPr lang="en-IN" smtClean="0"/>
              <a:t>2</a:t>
            </a:fld>
            <a:endParaRPr lang="en-IN"/>
          </a:p>
        </p:txBody>
      </p:sp>
      <p:pic>
        <p:nvPicPr>
          <p:cNvPr id="8" name="Picture 7" descr="A pink and black logo&#10;&#10;AI-generated content may be incorrect.">
            <a:extLst>
              <a:ext uri="{FF2B5EF4-FFF2-40B4-BE49-F238E27FC236}">
                <a16:creationId xmlns:a16="http://schemas.microsoft.com/office/drawing/2014/main" id="{816D4DD7-CF88-6855-E52F-64EDAFA6A8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Tree>
    <p:extLst>
      <p:ext uri="{BB962C8B-B14F-4D97-AF65-F5344CB8AC3E}">
        <p14:creationId xmlns:p14="http://schemas.microsoft.com/office/powerpoint/2010/main" val="689612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1A0B2-474C-E57D-C923-86E320A9BE49}"/>
              </a:ext>
            </a:extLst>
          </p:cNvPr>
          <p:cNvSpPr>
            <a:spLocks noGrp="1"/>
          </p:cNvSpPr>
          <p:nvPr>
            <p:ph type="title"/>
          </p:nvPr>
        </p:nvSpPr>
        <p:spPr>
          <a:xfrm>
            <a:off x="3132" y="-52410"/>
            <a:ext cx="2540696" cy="782769"/>
          </a:xfrm>
        </p:spPr>
        <p:txBody>
          <a:bodyPr>
            <a:normAutofit/>
          </a:bodyPr>
          <a:lstStyle/>
          <a:p>
            <a:r>
              <a:rPr lang="en-IN" sz="2800" b="1" u="sng">
                <a:latin typeface="Times New Roman"/>
                <a:ea typeface="Calibri Light"/>
                <a:cs typeface="Calibri Light"/>
              </a:rPr>
              <a:t>OBJECTIVE</a:t>
            </a:r>
            <a:r>
              <a:rPr lang="en-IN" sz="2800" b="1">
                <a:latin typeface="Times New Roman"/>
                <a:ea typeface="Calibri Light"/>
                <a:cs typeface="Calibri Light"/>
              </a:rPr>
              <a:t>:</a:t>
            </a:r>
            <a:endParaRPr lang="en-IN" sz="2800" b="1">
              <a:latin typeface="Times New Roman"/>
            </a:endParaRPr>
          </a:p>
        </p:txBody>
      </p:sp>
      <p:sp>
        <p:nvSpPr>
          <p:cNvPr id="3" name="Content Placeholder 2">
            <a:extLst>
              <a:ext uri="{FF2B5EF4-FFF2-40B4-BE49-F238E27FC236}">
                <a16:creationId xmlns:a16="http://schemas.microsoft.com/office/drawing/2014/main" id="{BBDC251B-4EDF-012F-CAEA-2DD70D578811}"/>
              </a:ext>
            </a:extLst>
          </p:cNvPr>
          <p:cNvSpPr>
            <a:spLocks noGrp="1"/>
          </p:cNvSpPr>
          <p:nvPr>
            <p:ph idx="1"/>
          </p:nvPr>
        </p:nvSpPr>
        <p:spPr>
          <a:xfrm>
            <a:off x="3132" y="1157570"/>
            <a:ext cx="12175298" cy="4674927"/>
          </a:xfrm>
        </p:spPr>
        <p:txBody>
          <a:bodyPr vert="horz" lIns="91440" tIns="45720" rIns="91440" bIns="45720" rtlCol="0" anchor="t">
            <a:normAutofit fontScale="92500" lnSpcReduction="20000"/>
          </a:bodyPr>
          <a:lstStyle/>
          <a:p>
            <a:pPr marL="0" indent="0" algn="just">
              <a:buNone/>
            </a:pPr>
            <a:r>
              <a:rPr lang="en-IN" sz="2400">
                <a:latin typeface="Arial"/>
                <a:ea typeface="Calibri"/>
                <a:cs typeface="Arial"/>
              </a:rPr>
              <a:t>•</a:t>
            </a:r>
            <a:r>
              <a:rPr lang="en-IN" sz="2400">
                <a:latin typeface="Times New Roman"/>
                <a:ea typeface="Calibri"/>
                <a:cs typeface="Times New Roman"/>
              </a:rPr>
              <a:t>Design and analysis of base antenna at 2.4 GHz.</a:t>
            </a:r>
            <a:endParaRPr lang="en-IN" sz="2400">
              <a:ea typeface="Calibri"/>
              <a:cs typeface="Calibri"/>
            </a:endParaRPr>
          </a:p>
          <a:p>
            <a:pPr marL="0" indent="0" algn="just">
              <a:buNone/>
            </a:pPr>
            <a:endParaRPr lang="en-IN" sz="2400" dirty="0">
              <a:latin typeface="Times New Roman"/>
              <a:ea typeface="Calibri"/>
              <a:cs typeface="Times New Roman"/>
            </a:endParaRPr>
          </a:p>
          <a:p>
            <a:pPr marL="0" indent="0" algn="just">
              <a:buNone/>
            </a:pPr>
            <a:r>
              <a:rPr lang="en-IN" sz="2400">
                <a:latin typeface="Arial"/>
                <a:ea typeface="Calibri"/>
                <a:cs typeface="Arial"/>
              </a:rPr>
              <a:t>•</a:t>
            </a:r>
            <a:r>
              <a:rPr lang="en-IN" sz="2400">
                <a:latin typeface="Times New Roman"/>
                <a:ea typeface="Calibri"/>
                <a:cs typeface="Times New Roman"/>
              </a:rPr>
              <a:t>Design and analysis of  Patch antenna array at 2.4 GHz.</a:t>
            </a:r>
            <a:endParaRPr lang="en-IN" sz="2400">
              <a:ea typeface="Calibri" panose="020F0502020204030204"/>
              <a:cs typeface="Calibri" panose="020F0502020204030204"/>
            </a:endParaRPr>
          </a:p>
          <a:p>
            <a:pPr marL="0" indent="0" algn="just">
              <a:buNone/>
            </a:pPr>
            <a:endParaRPr lang="en-IN" sz="2400" dirty="0">
              <a:latin typeface="Arial"/>
              <a:ea typeface="Calibri" panose="020F0502020204030204"/>
              <a:cs typeface="Arial"/>
            </a:endParaRPr>
          </a:p>
          <a:p>
            <a:pPr marL="0" indent="0" algn="just">
              <a:buNone/>
            </a:pPr>
            <a:r>
              <a:rPr lang="en-IN" sz="2400">
                <a:latin typeface="Arial"/>
                <a:ea typeface="Calibri"/>
                <a:cs typeface="Arial"/>
              </a:rPr>
              <a:t>•</a:t>
            </a:r>
            <a:r>
              <a:rPr lang="en-IN" sz="2400">
                <a:latin typeface="Times New Roman"/>
                <a:ea typeface="Calibri"/>
                <a:cs typeface="Times New Roman"/>
              </a:rPr>
              <a:t>Design and analysis of Patch antenna array with decoupling structures.</a:t>
            </a:r>
            <a:endParaRPr lang="en-IN" sz="2400">
              <a:ea typeface="Calibri" panose="020F0502020204030204"/>
              <a:cs typeface="Calibri" panose="020F0502020204030204"/>
            </a:endParaRPr>
          </a:p>
          <a:p>
            <a:pPr marL="0" indent="0" algn="just">
              <a:buNone/>
            </a:pPr>
            <a:endParaRPr lang="en-IN" sz="2400" dirty="0">
              <a:latin typeface="Arial"/>
              <a:ea typeface="Calibri"/>
              <a:cs typeface="Arial"/>
            </a:endParaRPr>
          </a:p>
          <a:p>
            <a:pPr marL="0" indent="0" algn="just">
              <a:buNone/>
            </a:pPr>
            <a:r>
              <a:rPr lang="en-IN" sz="2400">
                <a:latin typeface="Arial"/>
                <a:ea typeface="Calibri"/>
                <a:cs typeface="Arial"/>
              </a:rPr>
              <a:t>•</a:t>
            </a:r>
            <a:r>
              <a:rPr lang="en-IN" sz="2400">
                <a:latin typeface="Times New Roman"/>
                <a:ea typeface="Calibri"/>
                <a:cs typeface="Times New Roman"/>
              </a:rPr>
              <a:t>Prototype and Measurement.</a:t>
            </a:r>
            <a:endParaRPr lang="en-IN" sz="2400">
              <a:ea typeface="Calibri" panose="020F0502020204030204"/>
              <a:cs typeface="Calibri" panose="020F0502020204030204"/>
            </a:endParaRPr>
          </a:p>
          <a:p>
            <a:pPr marL="0" indent="0" algn="just">
              <a:buNone/>
            </a:pPr>
            <a:endParaRPr lang="en-IN" sz="2400" dirty="0">
              <a:latin typeface="Times New Roman"/>
              <a:ea typeface="Calibri"/>
              <a:cs typeface="Times New Roman"/>
            </a:endParaRPr>
          </a:p>
          <a:p>
            <a:pPr marL="0" indent="0" algn="just">
              <a:buNone/>
            </a:pPr>
            <a:r>
              <a:rPr lang="en-IN" sz="2400">
                <a:latin typeface="Times New Roman"/>
                <a:ea typeface="Calibri"/>
                <a:cs typeface="Times New Roman"/>
              </a:rPr>
              <a:t>Performance Targets:</a:t>
            </a:r>
            <a:endParaRPr lang="en-IN" sz="2400">
              <a:ea typeface="Calibri" panose="020F0502020204030204"/>
              <a:cs typeface="Calibri" panose="020F0502020204030204"/>
            </a:endParaRPr>
          </a:p>
          <a:p>
            <a:pPr marL="0" indent="0" algn="just">
              <a:buNone/>
            </a:pPr>
            <a:r>
              <a:rPr lang="en-IN" sz="2400">
                <a:latin typeface="Arial"/>
                <a:ea typeface="Calibri"/>
                <a:cs typeface="Arial"/>
              </a:rPr>
              <a:t>•</a:t>
            </a:r>
            <a:r>
              <a:rPr lang="en-IN" sz="2400" b="1">
                <a:latin typeface="Times New Roman"/>
                <a:ea typeface="Calibri"/>
                <a:cs typeface="Times New Roman"/>
              </a:rPr>
              <a:t>Isolation:</a:t>
            </a:r>
            <a:r>
              <a:rPr lang="en-IN" sz="2400">
                <a:latin typeface="Times New Roman"/>
                <a:ea typeface="Calibri"/>
                <a:cs typeface="Times New Roman"/>
              </a:rPr>
              <a:t> &gt; 20 dB between antenna elements</a:t>
            </a:r>
            <a:endParaRPr lang="en-IN" sz="2400">
              <a:ea typeface="Calibri" panose="020F0502020204030204"/>
              <a:cs typeface="Calibri" panose="020F0502020204030204"/>
            </a:endParaRPr>
          </a:p>
          <a:p>
            <a:pPr marL="0" indent="0" algn="just">
              <a:buNone/>
            </a:pPr>
            <a:r>
              <a:rPr lang="en-IN" sz="2400">
                <a:latin typeface="Arial"/>
                <a:ea typeface="Calibri"/>
                <a:cs typeface="Arial"/>
              </a:rPr>
              <a:t>•</a:t>
            </a:r>
            <a:r>
              <a:rPr lang="en-IN" sz="2400" b="1">
                <a:latin typeface="Times New Roman"/>
                <a:ea typeface="Calibri"/>
                <a:cs typeface="Times New Roman"/>
              </a:rPr>
              <a:t>Element Spacing:</a:t>
            </a:r>
            <a:r>
              <a:rPr lang="en-IN" sz="2400">
                <a:latin typeface="Times New Roman"/>
                <a:ea typeface="Calibri"/>
                <a:cs typeface="Times New Roman"/>
              </a:rPr>
              <a:t> &lt; λ/2 for compact design</a:t>
            </a:r>
            <a:endParaRPr lang="en-IN" sz="2400">
              <a:ea typeface="Calibri" panose="020F0502020204030204"/>
              <a:cs typeface="Calibri" panose="020F0502020204030204"/>
            </a:endParaRPr>
          </a:p>
          <a:p>
            <a:pPr marL="0" indent="0" algn="just">
              <a:buNone/>
            </a:pPr>
            <a:r>
              <a:rPr lang="en-IN" sz="2400">
                <a:latin typeface="Arial"/>
                <a:ea typeface="Calibri"/>
                <a:cs typeface="Arial"/>
              </a:rPr>
              <a:t>•</a:t>
            </a:r>
            <a:r>
              <a:rPr lang="en-IN" sz="2400" b="1">
                <a:latin typeface="Times New Roman"/>
                <a:ea typeface="Calibri"/>
                <a:cs typeface="Times New Roman"/>
              </a:rPr>
              <a:t>Operating Frequency:</a:t>
            </a:r>
            <a:r>
              <a:rPr lang="en-IN" sz="2400">
                <a:latin typeface="Times New Roman"/>
                <a:ea typeface="Calibri"/>
                <a:cs typeface="Times New Roman"/>
              </a:rPr>
              <a:t> 2.4 GHz (Wi-Fi and Bluetooth bands)</a:t>
            </a:r>
            <a:endParaRPr lang="en-IN" sz="2400">
              <a:ea typeface="Calibri" panose="020F0502020204030204"/>
              <a:cs typeface="Calibri" panose="020F0502020204030204"/>
            </a:endParaRPr>
          </a:p>
          <a:p>
            <a:endParaRPr lang="en-IN" dirty="0">
              <a:ea typeface="Calibri"/>
              <a:cs typeface="Calibri"/>
            </a:endParaRPr>
          </a:p>
        </p:txBody>
      </p:sp>
      <p:sp>
        <p:nvSpPr>
          <p:cNvPr id="4" name="Date Placeholder 3">
            <a:extLst>
              <a:ext uri="{FF2B5EF4-FFF2-40B4-BE49-F238E27FC236}">
                <a16:creationId xmlns:a16="http://schemas.microsoft.com/office/drawing/2014/main" id="{71A546BC-29EB-7A07-D3A9-4BB2F8F3F6CB}"/>
              </a:ext>
            </a:extLst>
          </p:cNvPr>
          <p:cNvSpPr>
            <a:spLocks noGrp="1"/>
          </p:cNvSpPr>
          <p:nvPr>
            <p:ph type="dt" sz="half" idx="10"/>
          </p:nvPr>
        </p:nvSpPr>
        <p:spPr/>
        <p:txBody>
          <a:bodyPr/>
          <a:lstStyle/>
          <a:p>
            <a:fld id="{AB4F4AF7-F178-46DC-A38A-8721620E5AEC}" type="datetime1">
              <a:rPr lang="en-IN" smtClean="0"/>
              <a:t>22-06-2026</a:t>
            </a:fld>
            <a:endParaRPr lang="en-IN"/>
          </a:p>
        </p:txBody>
      </p:sp>
      <p:sp>
        <p:nvSpPr>
          <p:cNvPr id="5" name="Footer Placeholder 4">
            <a:extLst>
              <a:ext uri="{FF2B5EF4-FFF2-40B4-BE49-F238E27FC236}">
                <a16:creationId xmlns:a16="http://schemas.microsoft.com/office/drawing/2014/main" id="{5124678C-F173-5AFD-03CB-5A20C80DCA04}"/>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ECEA6E5A-5B53-D590-443A-C869110ACD9B}"/>
              </a:ext>
            </a:extLst>
          </p:cNvPr>
          <p:cNvSpPr>
            <a:spLocks noGrp="1"/>
          </p:cNvSpPr>
          <p:nvPr>
            <p:ph type="sldNum" sz="quarter" idx="12"/>
          </p:nvPr>
        </p:nvSpPr>
        <p:spPr/>
        <p:txBody>
          <a:bodyPr/>
          <a:lstStyle/>
          <a:p>
            <a:fld id="{1CCCFFBF-4DCD-46DE-85E1-69841FB49368}" type="slidenum">
              <a:rPr lang="en-IN" smtClean="0"/>
              <a:t>3</a:t>
            </a:fld>
            <a:endParaRPr lang="en-IN"/>
          </a:p>
        </p:txBody>
      </p:sp>
      <p:pic>
        <p:nvPicPr>
          <p:cNvPr id="8" name="Picture 7" descr="A pink and black logo&#10;&#10;AI-generated content may be incorrect.">
            <a:extLst>
              <a:ext uri="{FF2B5EF4-FFF2-40B4-BE49-F238E27FC236}">
                <a16:creationId xmlns:a16="http://schemas.microsoft.com/office/drawing/2014/main" id="{1DA894CD-0FA6-0801-A9AA-5402445B48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Tree>
    <p:extLst>
      <p:ext uri="{BB962C8B-B14F-4D97-AF65-F5344CB8AC3E}">
        <p14:creationId xmlns:p14="http://schemas.microsoft.com/office/powerpoint/2010/main" val="1156037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79F92E0-E562-C90E-DEA7-1EBCD354CE6E}"/>
              </a:ext>
            </a:extLst>
          </p:cNvPr>
          <p:cNvSpPr>
            <a:spLocks noGrp="1"/>
          </p:cNvSpPr>
          <p:nvPr>
            <p:ph type="dt" sz="half" idx="10"/>
          </p:nvPr>
        </p:nvSpPr>
        <p:spPr/>
        <p:txBody>
          <a:bodyPr/>
          <a:lstStyle/>
          <a:p>
            <a:fld id="{2CC3D980-2AAE-486E-B4FE-7DEC5FFAE68E}" type="datetime1">
              <a:rPr lang="en-IN" smtClean="0"/>
              <a:t>22-06-2026</a:t>
            </a:fld>
            <a:endParaRPr lang="en-IN"/>
          </a:p>
        </p:txBody>
      </p:sp>
      <p:sp>
        <p:nvSpPr>
          <p:cNvPr id="5" name="Footer Placeholder 4">
            <a:extLst>
              <a:ext uri="{FF2B5EF4-FFF2-40B4-BE49-F238E27FC236}">
                <a16:creationId xmlns:a16="http://schemas.microsoft.com/office/drawing/2014/main" id="{8B998222-50E3-93DD-70AF-B23BA27244A9}"/>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765D5705-91E5-EAEC-8810-873B827AEB2B}"/>
              </a:ext>
            </a:extLst>
          </p:cNvPr>
          <p:cNvSpPr>
            <a:spLocks noGrp="1"/>
          </p:cNvSpPr>
          <p:nvPr>
            <p:ph type="sldNum" sz="quarter" idx="12"/>
          </p:nvPr>
        </p:nvSpPr>
        <p:spPr/>
        <p:txBody>
          <a:bodyPr/>
          <a:lstStyle/>
          <a:p>
            <a:fld id="{1CCCFFBF-4DCD-46DE-85E1-69841FB49368}" type="slidenum">
              <a:rPr lang="en-IN" smtClean="0"/>
              <a:t>4</a:t>
            </a:fld>
            <a:endParaRPr lang="en-IN"/>
          </a:p>
        </p:txBody>
      </p:sp>
      <p:pic>
        <p:nvPicPr>
          <p:cNvPr id="18" name="Picture 17" descr="A table with text on it&#10;&#10;AI-generated content may be incorrect.">
            <a:extLst>
              <a:ext uri="{FF2B5EF4-FFF2-40B4-BE49-F238E27FC236}">
                <a16:creationId xmlns:a16="http://schemas.microsoft.com/office/drawing/2014/main" id="{651B5EAE-3C54-6563-100C-08CB8B0187C5}"/>
              </a:ext>
            </a:extLst>
          </p:cNvPr>
          <p:cNvPicPr>
            <a:picLocks noChangeAspect="1"/>
          </p:cNvPicPr>
          <p:nvPr/>
        </p:nvPicPr>
        <p:blipFill>
          <a:blip r:embed="rId2"/>
          <a:srcRect t="35" r="-86" b="184"/>
          <a:stretch>
            <a:fillRect/>
          </a:stretch>
        </p:blipFill>
        <p:spPr>
          <a:xfrm>
            <a:off x="0" y="1050740"/>
            <a:ext cx="12202448" cy="4746095"/>
          </a:xfrm>
          <a:prstGeom prst="rect">
            <a:avLst/>
          </a:prstGeom>
        </p:spPr>
      </p:pic>
      <p:pic>
        <p:nvPicPr>
          <p:cNvPr id="3" name="Picture 2">
            <a:extLst>
              <a:ext uri="{FF2B5EF4-FFF2-40B4-BE49-F238E27FC236}">
                <a16:creationId xmlns:a16="http://schemas.microsoft.com/office/drawing/2014/main" id="{1F79B9E3-82BA-DFDD-541A-098FAF4766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7" name="Content Placeholder 6">
            <a:extLst>
              <a:ext uri="{FF2B5EF4-FFF2-40B4-BE49-F238E27FC236}">
                <a16:creationId xmlns:a16="http://schemas.microsoft.com/office/drawing/2014/main" id="{BE59A3DE-6967-9325-65EC-8F0DC3CD08E1}"/>
              </a:ext>
            </a:extLst>
          </p:cNvPr>
          <p:cNvSpPr>
            <a:spLocks noGrp="1"/>
          </p:cNvSpPr>
          <p:nvPr>
            <p:ph idx="1"/>
          </p:nvPr>
        </p:nvSpPr>
        <p:spPr>
          <a:xfrm>
            <a:off x="3132" y="-1087"/>
            <a:ext cx="2217107" cy="572654"/>
          </a:xfrm>
        </p:spPr>
        <p:txBody>
          <a:bodyPr vert="horz" lIns="91440" tIns="45720" rIns="91440" bIns="45720" rtlCol="0" anchor="t">
            <a:normAutofit/>
          </a:bodyPr>
          <a:lstStyle/>
          <a:p>
            <a:pPr marL="0" indent="0">
              <a:buNone/>
            </a:pPr>
            <a:r>
              <a:rPr lang="en-GB" b="1" u="sng">
                <a:latin typeface="Times New Roman"/>
                <a:ea typeface="Calibri"/>
                <a:cs typeface="Calibri"/>
              </a:rPr>
              <a:t>TIMELINE</a:t>
            </a:r>
            <a:r>
              <a:rPr lang="en-GB" sz="3200" b="1">
                <a:latin typeface="Times New Roman"/>
                <a:ea typeface="Calibri"/>
                <a:cs typeface="Calibri"/>
              </a:rPr>
              <a:t>:</a:t>
            </a:r>
          </a:p>
        </p:txBody>
      </p:sp>
    </p:spTree>
    <p:extLst>
      <p:ext uri="{BB962C8B-B14F-4D97-AF65-F5344CB8AC3E}">
        <p14:creationId xmlns:p14="http://schemas.microsoft.com/office/powerpoint/2010/main" val="3596409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DDE9D21-DB49-6D86-B75E-E60455A2200F}"/>
              </a:ext>
            </a:extLst>
          </p:cNvPr>
          <p:cNvSpPr>
            <a:spLocks noGrp="1"/>
          </p:cNvSpPr>
          <p:nvPr>
            <p:ph type="dt" sz="half" idx="10"/>
          </p:nvPr>
        </p:nvSpPr>
        <p:spPr/>
        <p:txBody>
          <a:bodyPr/>
          <a:lstStyle/>
          <a:p>
            <a:fld id="{9E91035F-21C1-4A4D-A505-EACC253AA691}" type="datetime1">
              <a:rPr lang="en-IN" smtClean="0"/>
              <a:t>22-06-2026</a:t>
            </a:fld>
            <a:endParaRPr lang="en-IN"/>
          </a:p>
        </p:txBody>
      </p:sp>
      <p:sp>
        <p:nvSpPr>
          <p:cNvPr id="5" name="Footer Placeholder 4">
            <a:extLst>
              <a:ext uri="{FF2B5EF4-FFF2-40B4-BE49-F238E27FC236}">
                <a16:creationId xmlns:a16="http://schemas.microsoft.com/office/drawing/2014/main" id="{E748D29E-05C5-9676-A89F-F85B6BE0799A}"/>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FCAA1621-DEEB-FCE9-8BF4-EB68AD7F2754}"/>
              </a:ext>
            </a:extLst>
          </p:cNvPr>
          <p:cNvSpPr>
            <a:spLocks noGrp="1"/>
          </p:cNvSpPr>
          <p:nvPr>
            <p:ph type="sldNum" sz="quarter" idx="12"/>
          </p:nvPr>
        </p:nvSpPr>
        <p:spPr/>
        <p:txBody>
          <a:bodyPr/>
          <a:lstStyle/>
          <a:p>
            <a:fld id="{1CCCFFBF-4DCD-46DE-85E1-69841FB49368}" type="slidenum">
              <a:rPr lang="en-IN" smtClean="0"/>
              <a:t>5</a:t>
            </a:fld>
            <a:endParaRPr lang="en-IN"/>
          </a:p>
        </p:txBody>
      </p:sp>
      <p:pic>
        <p:nvPicPr>
          <p:cNvPr id="8" name="Picture 7" descr="A pink and black logo&#10;&#10;AI-generated content may be incorrect.">
            <a:extLst>
              <a:ext uri="{FF2B5EF4-FFF2-40B4-BE49-F238E27FC236}">
                <a16:creationId xmlns:a16="http://schemas.microsoft.com/office/drawing/2014/main" id="{CC43258E-2C99-2EC6-1CDA-BE53A0686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10" name="TextBox 9">
            <a:extLst>
              <a:ext uri="{FF2B5EF4-FFF2-40B4-BE49-F238E27FC236}">
                <a16:creationId xmlns:a16="http://schemas.microsoft.com/office/drawing/2014/main" id="{C0612EB1-ABE2-4C7F-D981-C0BD8D4CA7D4}"/>
              </a:ext>
            </a:extLst>
          </p:cNvPr>
          <p:cNvSpPr txBox="1"/>
          <p:nvPr/>
        </p:nvSpPr>
        <p:spPr>
          <a:xfrm>
            <a:off x="-2763" y="-1535"/>
            <a:ext cx="2818357" cy="595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cs typeface="Times New Roman"/>
              </a:rPr>
              <a:t>LITERATURE</a:t>
            </a:r>
            <a:r>
              <a:rPr lang="en-US" sz="3200" b="1">
                <a:latin typeface="Times New Roman"/>
                <a:cs typeface="Times New Roman"/>
              </a:rPr>
              <a:t>:</a:t>
            </a:r>
            <a:endParaRPr lang="en-US">
              <a:latin typeface="Times New Roman"/>
              <a:cs typeface="Times New Roman"/>
            </a:endParaRPr>
          </a:p>
        </p:txBody>
      </p:sp>
      <p:graphicFrame>
        <p:nvGraphicFramePr>
          <p:cNvPr id="2" name="Table 1">
            <a:extLst>
              <a:ext uri="{FF2B5EF4-FFF2-40B4-BE49-F238E27FC236}">
                <a16:creationId xmlns:a16="http://schemas.microsoft.com/office/drawing/2014/main" id="{D39A7A68-F0D4-FEC0-4F0C-D3EBCF6D6033}"/>
              </a:ext>
            </a:extLst>
          </p:cNvPr>
          <p:cNvGraphicFramePr>
            <a:graphicFrameLocks noGrp="1"/>
          </p:cNvGraphicFramePr>
          <p:nvPr>
            <p:extLst>
              <p:ext uri="{D42A27DB-BD31-4B8C-83A1-F6EECF244321}">
                <p14:modId xmlns:p14="http://schemas.microsoft.com/office/powerpoint/2010/main" val="378065392"/>
              </p:ext>
            </p:extLst>
          </p:nvPr>
        </p:nvGraphicFramePr>
        <p:xfrm>
          <a:off x="1704" y="558646"/>
          <a:ext cx="11984292" cy="5809866"/>
        </p:xfrm>
        <a:graphic>
          <a:graphicData uri="http://schemas.openxmlformats.org/drawingml/2006/table">
            <a:tbl>
              <a:tblPr firstRow="1" bandRow="1">
                <a:tableStyleId>{21E4AEA4-8DFA-4A89-87EB-49C32662AFE0}</a:tableStyleId>
              </a:tblPr>
              <a:tblGrid>
                <a:gridCol w="837120">
                  <a:extLst>
                    <a:ext uri="{9D8B030D-6E8A-4147-A177-3AD203B41FA5}">
                      <a16:colId xmlns:a16="http://schemas.microsoft.com/office/drawing/2014/main" val="2811906928"/>
                    </a:ext>
                  </a:extLst>
                </a:gridCol>
                <a:gridCol w="2514714">
                  <a:extLst>
                    <a:ext uri="{9D8B030D-6E8A-4147-A177-3AD203B41FA5}">
                      <a16:colId xmlns:a16="http://schemas.microsoft.com/office/drawing/2014/main" val="2201325007"/>
                    </a:ext>
                  </a:extLst>
                </a:gridCol>
                <a:gridCol w="2751922">
                  <a:extLst>
                    <a:ext uri="{9D8B030D-6E8A-4147-A177-3AD203B41FA5}">
                      <a16:colId xmlns:a16="http://schemas.microsoft.com/office/drawing/2014/main" val="431906563"/>
                    </a:ext>
                  </a:extLst>
                </a:gridCol>
                <a:gridCol w="5880536">
                  <a:extLst>
                    <a:ext uri="{9D8B030D-6E8A-4147-A177-3AD203B41FA5}">
                      <a16:colId xmlns:a16="http://schemas.microsoft.com/office/drawing/2014/main" val="1169910156"/>
                    </a:ext>
                  </a:extLst>
                </a:gridCol>
              </a:tblGrid>
              <a:tr h="378198">
                <a:tc>
                  <a:txBody>
                    <a:bodyPr/>
                    <a:lstStyle/>
                    <a:p>
                      <a:pPr algn="ctr"/>
                      <a:r>
                        <a:rPr lang="en-US" err="1">
                          <a:solidFill>
                            <a:schemeClr val="bg2">
                              <a:lumMod val="10000"/>
                            </a:schemeClr>
                          </a:solidFill>
                          <a:latin typeface="Times New Roman"/>
                          <a:cs typeface="Times New Roman"/>
                        </a:rPr>
                        <a:t>S.No</a:t>
                      </a:r>
                      <a:r>
                        <a:rPr lang="en-US">
                          <a:solidFill>
                            <a:schemeClr val="bg2">
                              <a:lumMod val="10000"/>
                            </a:schemeClr>
                          </a:solidFill>
                          <a:latin typeface="Times New Roman"/>
                          <a:cs typeface="Times New Roman"/>
                        </a:rPr>
                        <a:t>.</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Title of the paper</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Source</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Inferences</a:t>
                      </a:r>
                      <a:endParaRPr lang="en-IN">
                        <a:solidFill>
                          <a:schemeClr val="bg2">
                            <a:lumMod val="10000"/>
                          </a:schemeClr>
                        </a:solidFill>
                        <a:latin typeface="Times New Roman"/>
                        <a:cs typeface="Times New Roman"/>
                      </a:endParaRPr>
                    </a:p>
                  </a:txBody>
                  <a:tcPr anchor="ctr"/>
                </a:tc>
                <a:extLst>
                  <a:ext uri="{0D108BD9-81ED-4DB2-BD59-A6C34878D82A}">
                    <a16:rowId xmlns:a16="http://schemas.microsoft.com/office/drawing/2014/main" val="1123981693"/>
                  </a:ext>
                </a:extLst>
              </a:tr>
              <a:tr h="2593774">
                <a:tc>
                  <a:txBody>
                    <a:bodyPr/>
                    <a:lstStyle/>
                    <a:p>
                      <a:pPr algn="ctr"/>
                      <a:r>
                        <a:rPr lang="en-US" sz="2000" b="1">
                          <a:latin typeface="Times New Roman"/>
                          <a:cs typeface="Times New Roman"/>
                        </a:rPr>
                        <a:t>1</a:t>
                      </a:r>
                    </a:p>
                  </a:txBody>
                  <a:tcPr anchor="ctr"/>
                </a:tc>
                <a:tc>
                  <a:txBody>
                    <a:bodyPr/>
                    <a:lstStyle/>
                    <a:p>
                      <a:pPr marL="0" marR="0" lvl="0" indent="0" algn="ctr">
                        <a:lnSpc>
                          <a:spcPct val="100000"/>
                        </a:lnSpc>
                        <a:spcBef>
                          <a:spcPts val="0"/>
                        </a:spcBef>
                        <a:spcAft>
                          <a:spcPts val="0"/>
                        </a:spcAft>
                        <a:buNone/>
                      </a:pPr>
                      <a:r>
                        <a:rPr lang="en-US" sz="1800" b="0" i="0" u="none" strike="noStrike" noProof="0">
                          <a:latin typeface="Times New Roman"/>
                        </a:rPr>
                        <a:t>Compact Self-Isolated Four-Element MIMO Antenna for WLAN and ISM Bands Application </a:t>
                      </a:r>
                      <a:endParaRPr lang="en-US">
                        <a:latin typeface="Times New Roman"/>
                      </a:endParaRPr>
                    </a:p>
                  </a:txBody>
                  <a:tcPr anchor="ctr"/>
                </a:tc>
                <a:tc>
                  <a:txBody>
                    <a:bodyPr/>
                    <a:lstStyle/>
                    <a:p>
                      <a:r>
                        <a:rPr lang="en-US" sz="1800" i="0">
                          <a:latin typeface="Times New Roman"/>
                          <a:cs typeface="Times New Roman"/>
                        </a:rPr>
                        <a:t>IEEE Antennas and Wireless Propagation Letters, </a:t>
                      </a:r>
                      <a:r>
                        <a:rPr lang="en-IN" sz="1800" i="0">
                          <a:latin typeface="Times New Roman"/>
                          <a:cs typeface="Times New Roman"/>
                        </a:rPr>
                        <a:t>2023</a:t>
                      </a:r>
                      <a:endParaRPr lang="en-IN" sz="1800" b="0" i="0" u="none" strike="noStrike" kern="1200" baseline="0">
                        <a:solidFill>
                          <a:schemeClr val="dk1"/>
                        </a:solidFill>
                        <a:latin typeface="Times New Roman"/>
                        <a:ea typeface="+mn-ea"/>
                        <a:cs typeface="Times New Roman"/>
                      </a:endParaRPr>
                    </a:p>
                  </a:txBody>
                  <a:tcPr anchor="ctr"/>
                </a:tc>
                <a:tc>
                  <a:txBody>
                    <a:bodyPr/>
                    <a:lstStyle/>
                    <a:p>
                      <a:pPr lvl="0" algn="l">
                        <a:lnSpc>
                          <a:spcPct val="100000"/>
                        </a:lnSpc>
                        <a:spcBef>
                          <a:spcPts val="0"/>
                        </a:spcBef>
                        <a:spcAft>
                          <a:spcPts val="0"/>
                        </a:spcAft>
                        <a:buNone/>
                      </a:pPr>
                      <a:r>
                        <a:rPr lang="en-US">
                          <a:latin typeface="Times New Roman"/>
                        </a:rPr>
                        <a:t> </a:t>
                      </a:r>
                      <a:r>
                        <a:rPr lang="en-US" b="1">
                          <a:latin typeface="Times New Roman"/>
                        </a:rPr>
                        <a:t>Key Advantage of Proposed Work</a:t>
                      </a:r>
                      <a:endParaRPr lang="en-US">
                        <a:latin typeface="Times New Roman"/>
                      </a:endParaRPr>
                    </a:p>
                    <a:p>
                      <a:pPr marL="285750" lvl="0" indent="-285750" algn="l">
                        <a:lnSpc>
                          <a:spcPct val="100000"/>
                        </a:lnSpc>
                        <a:spcBef>
                          <a:spcPts val="0"/>
                        </a:spcBef>
                        <a:spcAft>
                          <a:spcPts val="0"/>
                        </a:spcAft>
                        <a:buFont typeface="Arial"/>
                        <a:buChar char="•"/>
                      </a:pPr>
                      <a:r>
                        <a:rPr lang="en-GB" sz="1600" b="0" i="0" u="none" strike="noStrike" noProof="0">
                          <a:solidFill>
                            <a:srgbClr val="000000"/>
                          </a:solidFill>
                          <a:latin typeface="Times New Roman"/>
                        </a:rPr>
                        <a:t>Self-isolation (no extra structures).</a:t>
                      </a:r>
                      <a:endParaRPr lang="en-GB" b="0">
                        <a:latin typeface="Times New Roman"/>
                      </a:endParaRPr>
                    </a:p>
                    <a:p>
                      <a:pPr marL="285750" lvl="0" indent="-285750" algn="l">
                        <a:lnSpc>
                          <a:spcPct val="100000"/>
                        </a:lnSpc>
                        <a:spcBef>
                          <a:spcPts val="0"/>
                        </a:spcBef>
                        <a:spcAft>
                          <a:spcPts val="0"/>
                        </a:spcAft>
                        <a:buFont typeface="Arial"/>
                        <a:buChar char="•"/>
                      </a:pPr>
                      <a:r>
                        <a:rPr lang="en-GB" sz="1600" b="0" i="0" u="none" strike="noStrike" noProof="0">
                          <a:solidFill>
                            <a:srgbClr val="000000"/>
                          </a:solidFill>
                          <a:latin typeface="Times New Roman"/>
                        </a:rPr>
                        <a:t>Most compact (40 × 40 mm²) among compared works.</a:t>
                      </a:r>
                      <a:endParaRPr lang="en-GB" b="0">
                        <a:latin typeface="Times New Roman"/>
                      </a:endParaRPr>
                    </a:p>
                    <a:p>
                      <a:pPr marL="285750" lvl="0" indent="-285750" algn="l">
                        <a:lnSpc>
                          <a:spcPct val="100000"/>
                        </a:lnSpc>
                        <a:spcBef>
                          <a:spcPts val="0"/>
                        </a:spcBef>
                        <a:spcAft>
                          <a:spcPts val="0"/>
                        </a:spcAft>
                        <a:buFont typeface="Arial"/>
                        <a:buChar char="•"/>
                      </a:pPr>
                      <a:r>
                        <a:rPr lang="en-GB" sz="1600" b="0" i="0" u="none" strike="noStrike" noProof="0">
                          <a:solidFill>
                            <a:srgbClr val="000000"/>
                          </a:solidFill>
                          <a:latin typeface="Times New Roman"/>
                        </a:rPr>
                        <a:t>Highest isolation (&gt;20 dB) and lowest ECC (&lt;0.02).</a:t>
                      </a:r>
                      <a:endParaRPr lang="en-US" b="0">
                        <a:latin typeface="Times New Roman"/>
                      </a:endParaRPr>
                    </a:p>
                    <a:p>
                      <a:pPr marL="285750" lvl="0" indent="-285750" algn="l">
                        <a:lnSpc>
                          <a:spcPct val="100000"/>
                        </a:lnSpc>
                        <a:spcBef>
                          <a:spcPts val="0"/>
                        </a:spcBef>
                        <a:spcAft>
                          <a:spcPts val="0"/>
                        </a:spcAft>
                        <a:buFont typeface="Arial"/>
                        <a:buChar char="•"/>
                      </a:pPr>
                      <a:r>
                        <a:rPr lang="en-GB" sz="1600" b="0" i="0" u="none" strike="noStrike" noProof="0">
                          <a:solidFill>
                            <a:srgbClr val="000000"/>
                          </a:solidFill>
                          <a:latin typeface="Times New Roman"/>
                        </a:rPr>
                        <a:t>Very good for portable WLAN/ISM devices.</a:t>
                      </a:r>
                      <a:endParaRPr lang="en-GB">
                        <a:latin typeface="Times New Roman"/>
                      </a:endParaRPr>
                    </a:p>
                    <a:p>
                      <a:pPr lvl="0" indent="0" algn="l">
                        <a:lnSpc>
                          <a:spcPct val="100000"/>
                        </a:lnSpc>
                        <a:spcBef>
                          <a:spcPts val="0"/>
                        </a:spcBef>
                        <a:spcAft>
                          <a:spcPts val="0"/>
                        </a:spcAft>
                        <a:buNone/>
                      </a:pPr>
                      <a:r>
                        <a:rPr lang="en-GB" b="1">
                          <a:latin typeface="Times New Roman"/>
                        </a:rPr>
                        <a:t>Limitations</a:t>
                      </a:r>
                      <a:endParaRPr lang="en-GB">
                        <a:latin typeface="Times New Roman"/>
                      </a:endParaRPr>
                    </a:p>
                    <a:p>
                      <a:pPr marL="285750" lvl="0" indent="-285750" algn="l">
                        <a:lnSpc>
                          <a:spcPct val="100000"/>
                        </a:lnSpc>
                        <a:spcBef>
                          <a:spcPts val="0"/>
                        </a:spcBef>
                        <a:spcAft>
                          <a:spcPts val="0"/>
                        </a:spcAft>
                        <a:buFont typeface="Arial"/>
                        <a:buChar char="•"/>
                      </a:pPr>
                      <a:r>
                        <a:rPr lang="en-GB" sz="1600" b="0" i="0" u="none" strike="noStrike" noProof="0">
                          <a:solidFill>
                            <a:srgbClr val="000000"/>
                          </a:solidFill>
                          <a:latin typeface="Times New Roman"/>
                        </a:rPr>
                        <a:t>Lower gain (~2.8 </a:t>
                      </a:r>
                      <a:r>
                        <a:rPr lang="en-GB" sz="1600" b="0" i="0" u="none" strike="noStrike" noProof="0" err="1">
                          <a:solidFill>
                            <a:srgbClr val="000000"/>
                          </a:solidFill>
                          <a:latin typeface="Times New Roman"/>
                        </a:rPr>
                        <a:t>dBi</a:t>
                      </a:r>
                      <a:r>
                        <a:rPr lang="en-GB" sz="1600" b="0" i="0" u="none" strike="noStrike" noProof="0">
                          <a:solidFill>
                            <a:srgbClr val="000000"/>
                          </a:solidFill>
                          <a:latin typeface="Times New Roman"/>
                        </a:rPr>
                        <a:t>) compared to some dual/tri-band designs.</a:t>
                      </a:r>
                      <a:endParaRPr lang="en-GB">
                        <a:latin typeface="Times New Roman"/>
                      </a:endParaRPr>
                    </a:p>
                    <a:p>
                      <a:pPr marL="0" marR="0" lvl="0" indent="0" algn="l" defTabSz="914400">
                        <a:lnSpc>
                          <a:spcPct val="100000"/>
                        </a:lnSpc>
                        <a:spcBef>
                          <a:spcPts val="0"/>
                        </a:spcBef>
                        <a:spcAft>
                          <a:spcPts val="0"/>
                        </a:spcAft>
                        <a:buNone/>
                        <a:tabLst/>
                        <a:defRPr/>
                      </a:pPr>
                      <a:endParaRPr lang="en-GB" sz="1600" b="1" i="0" u="sng" strike="noStrike" noProof="0">
                        <a:solidFill>
                          <a:srgbClr val="000000"/>
                        </a:solidFill>
                        <a:latin typeface="Times New Roman"/>
                        <a:cs typeface="Times New Roman"/>
                      </a:endParaRPr>
                    </a:p>
                  </a:txBody>
                  <a:tcPr anchor="ctr"/>
                </a:tc>
                <a:extLst>
                  <a:ext uri="{0D108BD9-81ED-4DB2-BD59-A6C34878D82A}">
                    <a16:rowId xmlns:a16="http://schemas.microsoft.com/office/drawing/2014/main" val="3435248891"/>
                  </a:ext>
                </a:extLst>
              </a:tr>
              <a:tr h="2837894">
                <a:tc>
                  <a:txBody>
                    <a:bodyPr/>
                    <a:lstStyle/>
                    <a:p>
                      <a:pPr algn="ctr"/>
                      <a:r>
                        <a:rPr lang="en-US" sz="2000" b="1">
                          <a:latin typeface="Times New Roman"/>
                          <a:cs typeface="Times New Roman"/>
                        </a:rPr>
                        <a:t>2</a:t>
                      </a:r>
                    </a:p>
                  </a:txBody>
                  <a:tcPr anchor="ctr"/>
                </a:tc>
                <a:tc>
                  <a:txBody>
                    <a:bodyPr/>
                    <a:lstStyle/>
                    <a:p>
                      <a:pPr lvl="0" algn="ctr">
                        <a:buNone/>
                      </a:pPr>
                      <a:r>
                        <a:rPr lang="en-IN" sz="1800" b="0" i="0" u="none" strike="noStrike" noProof="0">
                          <a:solidFill>
                            <a:srgbClr val="000000"/>
                          </a:solidFill>
                          <a:latin typeface="Times New Roman"/>
                        </a:rPr>
                        <a:t>Decoupling Between Extremely Closely Spaced Patch Antennas by Mode Cancellation Method</a:t>
                      </a:r>
                      <a:endParaRPr lang="en-US">
                        <a:latin typeface="Times New Roman"/>
                      </a:endParaRPr>
                    </a:p>
                  </a:txBody>
                  <a:tcPr anchor="ctr"/>
                </a:tc>
                <a:tc>
                  <a:txBody>
                    <a:bodyPr/>
                    <a:lstStyle/>
                    <a:p>
                      <a:pPr lvl="0" algn="just">
                        <a:buNone/>
                      </a:pPr>
                      <a:r>
                        <a:rPr lang="en-US" sz="1800" b="0" i="0" u="none" strike="noStrike" noProof="0">
                          <a:solidFill>
                            <a:srgbClr val="000000"/>
                          </a:solidFill>
                          <a:latin typeface="Times New Roman"/>
                        </a:rPr>
                        <a:t>IEEE Antennas and Wireless Propagation Letters, </a:t>
                      </a:r>
                      <a:r>
                        <a:rPr lang="en-IN" sz="1800" b="0" i="0" u="none" strike="noStrike" noProof="0">
                          <a:solidFill>
                            <a:srgbClr val="000000"/>
                          </a:solidFill>
                          <a:latin typeface="Times New Roman"/>
                        </a:rPr>
                        <a:t>2024</a:t>
                      </a:r>
                      <a:endParaRPr lang="en-US">
                        <a:latin typeface="Times New Roman"/>
                      </a:endParaRPr>
                    </a:p>
                  </a:txBody>
                  <a:tcPr anchor="ctr"/>
                </a:tc>
                <a:tc>
                  <a:txBody>
                    <a:bodyPr/>
                    <a:lstStyle/>
                    <a:p>
                      <a:pPr lvl="0" algn="just">
                        <a:lnSpc>
                          <a:spcPct val="100000"/>
                        </a:lnSpc>
                        <a:spcBef>
                          <a:spcPts val="0"/>
                        </a:spcBef>
                        <a:spcAft>
                          <a:spcPts val="0"/>
                        </a:spcAft>
                        <a:buNone/>
                      </a:pPr>
                      <a:r>
                        <a:rPr lang="en-US" sz="1800" b="1" i="0" u="none" strike="noStrike" noProof="0">
                          <a:solidFill>
                            <a:srgbClr val="000000"/>
                          </a:solidFill>
                          <a:latin typeface="Times New Roman"/>
                        </a:rPr>
                        <a:t>Key Advantage of Proposed Work</a:t>
                      </a:r>
                      <a:endParaRPr lang="en-US">
                        <a:latin typeface="Times New Roman"/>
                      </a:endParaRPr>
                    </a:p>
                    <a:p>
                      <a:pPr marL="285750" lvl="0" indent="-285750" algn="just">
                        <a:lnSpc>
                          <a:spcPct val="100000"/>
                        </a:lnSpc>
                        <a:spcBef>
                          <a:spcPts val="0"/>
                        </a:spcBef>
                        <a:spcAft>
                          <a:spcPts val="0"/>
                        </a:spcAft>
                        <a:buFont typeface="Arial"/>
                        <a:buChar char="•"/>
                      </a:pPr>
                      <a:r>
                        <a:rPr lang="en-US" sz="1800" b="0" i="0" u="none" strike="noStrike" noProof="0">
                          <a:solidFill>
                            <a:srgbClr val="000000"/>
                          </a:solidFill>
                          <a:latin typeface="Times New Roman"/>
                        </a:rPr>
                        <a:t>Isolation: 5 dB → 15.4 dB+ (2.39–2.53 GHz).</a:t>
                      </a:r>
                      <a:endParaRPr lang="en-US" b="0">
                        <a:latin typeface="Times New Roman"/>
                      </a:endParaRPr>
                    </a:p>
                    <a:p>
                      <a:pPr marL="285750" lvl="0" indent="-285750" algn="just">
                        <a:lnSpc>
                          <a:spcPct val="100000"/>
                        </a:lnSpc>
                        <a:spcBef>
                          <a:spcPts val="0"/>
                        </a:spcBef>
                        <a:spcAft>
                          <a:spcPts val="0"/>
                        </a:spcAft>
                        <a:buFont typeface="Arial"/>
                        <a:buChar char="•"/>
                      </a:pPr>
                      <a:r>
                        <a:rPr lang="en-US" sz="1800" b="0" i="0" u="none" strike="noStrike" noProof="0">
                          <a:solidFill>
                            <a:srgbClr val="000000"/>
                          </a:solidFill>
                          <a:latin typeface="Times New Roman"/>
                        </a:rPr>
                        <a:t>Better radiation: Gain 7.8 </a:t>
                      </a:r>
                      <a:r>
                        <a:rPr lang="en-US" sz="1800" b="0" i="0" u="none" strike="noStrike" noProof="0" err="1">
                          <a:solidFill>
                            <a:srgbClr val="000000"/>
                          </a:solidFill>
                          <a:latin typeface="Times New Roman"/>
                        </a:rPr>
                        <a:t>dBi</a:t>
                      </a:r>
                      <a:r>
                        <a:rPr lang="en-US" sz="1800" b="0" i="0" u="none" strike="noStrike" noProof="0">
                          <a:solidFill>
                            <a:srgbClr val="000000"/>
                          </a:solidFill>
                          <a:latin typeface="Times New Roman"/>
                        </a:rPr>
                        <a:t>, FBR 25 dB, low x-pol.</a:t>
                      </a:r>
                      <a:endParaRPr lang="en-US" b="0">
                        <a:latin typeface="Times New Roman"/>
                      </a:endParaRPr>
                    </a:p>
                    <a:p>
                      <a:pPr marL="285750" lvl="0" indent="-285750" algn="just">
                        <a:lnSpc>
                          <a:spcPct val="100000"/>
                        </a:lnSpc>
                        <a:spcBef>
                          <a:spcPts val="0"/>
                        </a:spcBef>
                        <a:spcAft>
                          <a:spcPts val="0"/>
                        </a:spcAft>
                        <a:buFont typeface="Arial"/>
                        <a:buChar char="•"/>
                      </a:pPr>
                      <a:r>
                        <a:rPr lang="en-US" sz="1800" b="0" i="0" u="none" strike="noStrike" noProof="0">
                          <a:solidFill>
                            <a:srgbClr val="000000"/>
                          </a:solidFill>
                          <a:latin typeface="Times New Roman"/>
                        </a:rPr>
                        <a:t>High efficiency (82–87%), ECC &lt; 0.004.</a:t>
                      </a:r>
                      <a:endParaRPr lang="en-US" b="0">
                        <a:latin typeface="Times New Roman"/>
                      </a:endParaRPr>
                    </a:p>
                    <a:p>
                      <a:pPr marL="285750" lvl="0" indent="-285750" algn="just">
                        <a:lnSpc>
                          <a:spcPct val="100000"/>
                        </a:lnSpc>
                        <a:spcBef>
                          <a:spcPts val="0"/>
                        </a:spcBef>
                        <a:spcAft>
                          <a:spcPts val="0"/>
                        </a:spcAft>
                        <a:buFont typeface="Arial"/>
                        <a:buChar char="•"/>
                      </a:pPr>
                      <a:r>
                        <a:rPr lang="en-US" sz="1800" b="0" i="0" u="none" strike="noStrike" noProof="0">
                          <a:solidFill>
                            <a:srgbClr val="000000"/>
                          </a:solidFill>
                          <a:latin typeface="Times New Roman"/>
                        </a:rPr>
                        <a:t>Works for 1-D &amp; 2-D arrays, simple + tiny size.</a:t>
                      </a:r>
                    </a:p>
                    <a:p>
                      <a:pPr lvl="0" algn="just">
                        <a:lnSpc>
                          <a:spcPct val="100000"/>
                        </a:lnSpc>
                        <a:spcBef>
                          <a:spcPts val="0"/>
                        </a:spcBef>
                        <a:spcAft>
                          <a:spcPts val="0"/>
                        </a:spcAft>
                        <a:buNone/>
                      </a:pPr>
                      <a:endParaRPr lang="en-GB" sz="1800" b="1" i="0" u="none" strike="noStrike" noProof="0">
                        <a:solidFill>
                          <a:srgbClr val="000000"/>
                        </a:solidFill>
                        <a:latin typeface="Times New Roman"/>
                      </a:endParaRPr>
                    </a:p>
                    <a:p>
                      <a:pPr marL="285750" lvl="0" indent="-285750" algn="just">
                        <a:lnSpc>
                          <a:spcPct val="100000"/>
                        </a:lnSpc>
                        <a:spcBef>
                          <a:spcPts val="0"/>
                        </a:spcBef>
                        <a:spcAft>
                          <a:spcPts val="0"/>
                        </a:spcAft>
                        <a:buFont typeface="Arial"/>
                        <a:buChar char="•"/>
                      </a:pPr>
                      <a:endParaRPr lang="en-US" sz="1800" b="0" i="0" u="none" strike="noStrike" noProof="0">
                        <a:solidFill>
                          <a:srgbClr val="000000"/>
                        </a:solidFill>
                        <a:latin typeface="Times New Roman"/>
                      </a:endParaRPr>
                    </a:p>
                  </a:txBody>
                  <a:tcPr anchor="ctr"/>
                </a:tc>
                <a:extLst>
                  <a:ext uri="{0D108BD9-81ED-4DB2-BD59-A6C34878D82A}">
                    <a16:rowId xmlns:a16="http://schemas.microsoft.com/office/drawing/2014/main" val="844235372"/>
                  </a:ext>
                </a:extLst>
              </a:tr>
            </a:tbl>
          </a:graphicData>
        </a:graphic>
      </p:graphicFrame>
    </p:spTree>
    <p:extLst>
      <p:ext uri="{BB962C8B-B14F-4D97-AF65-F5344CB8AC3E}">
        <p14:creationId xmlns:p14="http://schemas.microsoft.com/office/powerpoint/2010/main" val="528153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C4C5B67-FC9C-BC4B-BB83-2595B74B0A61}"/>
              </a:ext>
            </a:extLst>
          </p:cNvPr>
          <p:cNvSpPr>
            <a:spLocks noGrp="1"/>
          </p:cNvSpPr>
          <p:nvPr>
            <p:ph type="dt" sz="half" idx="10"/>
          </p:nvPr>
        </p:nvSpPr>
        <p:spPr/>
        <p:txBody>
          <a:bodyPr/>
          <a:lstStyle/>
          <a:p>
            <a:fld id="{E6D475A4-F04B-45DE-9F08-9AAAA78A1A63}" type="datetime1">
              <a:rPr lang="en-IN" smtClean="0"/>
              <a:t>22-06-2026</a:t>
            </a:fld>
            <a:endParaRPr lang="en-IN"/>
          </a:p>
        </p:txBody>
      </p:sp>
      <p:sp>
        <p:nvSpPr>
          <p:cNvPr id="5" name="Footer Placeholder 4">
            <a:extLst>
              <a:ext uri="{FF2B5EF4-FFF2-40B4-BE49-F238E27FC236}">
                <a16:creationId xmlns:a16="http://schemas.microsoft.com/office/drawing/2014/main" id="{ECA40556-9520-9597-F6A8-A2DFF06BA035}"/>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A85F8ED5-97AD-0107-E7FA-27938134BAF5}"/>
              </a:ext>
            </a:extLst>
          </p:cNvPr>
          <p:cNvSpPr>
            <a:spLocks noGrp="1"/>
          </p:cNvSpPr>
          <p:nvPr>
            <p:ph type="sldNum" sz="quarter" idx="12"/>
          </p:nvPr>
        </p:nvSpPr>
        <p:spPr/>
        <p:txBody>
          <a:bodyPr/>
          <a:lstStyle/>
          <a:p>
            <a:fld id="{1CCCFFBF-4DCD-46DE-85E1-69841FB49368}" type="slidenum">
              <a:rPr lang="en-IN" smtClean="0"/>
              <a:t>6</a:t>
            </a:fld>
            <a:endParaRPr lang="en-IN"/>
          </a:p>
        </p:txBody>
      </p:sp>
      <p:pic>
        <p:nvPicPr>
          <p:cNvPr id="8" name="Picture 7">
            <a:extLst>
              <a:ext uri="{FF2B5EF4-FFF2-40B4-BE49-F238E27FC236}">
                <a16:creationId xmlns:a16="http://schemas.microsoft.com/office/drawing/2014/main" id="{BD797181-8DD8-D128-AC88-72F0A32DB2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7" name="TextBox 6">
            <a:extLst>
              <a:ext uri="{FF2B5EF4-FFF2-40B4-BE49-F238E27FC236}">
                <a16:creationId xmlns:a16="http://schemas.microsoft.com/office/drawing/2014/main" id="{04A937C2-63CE-275C-2BBD-53CF2D688023}"/>
              </a:ext>
            </a:extLst>
          </p:cNvPr>
          <p:cNvSpPr txBox="1"/>
          <p:nvPr/>
        </p:nvSpPr>
        <p:spPr>
          <a:xfrm>
            <a:off x="20876" y="-3678"/>
            <a:ext cx="3028335" cy="584775"/>
          </a:xfrm>
          <a:prstGeom prst="rect">
            <a:avLst/>
          </a:prstGeom>
          <a:noFill/>
        </p:spPr>
        <p:txBody>
          <a:bodyPr wrap="square" lIns="91440" tIns="45720" rIns="91440" bIns="45720" anchor="t">
            <a:spAutoFit/>
          </a:bodyPr>
          <a:lstStyle/>
          <a:p>
            <a:r>
              <a:rPr lang="en-US" sz="2800" b="1" u="sng">
                <a:latin typeface="Times New Roman"/>
                <a:cs typeface="Times New Roman"/>
              </a:rPr>
              <a:t>LITERATURE</a:t>
            </a:r>
            <a:r>
              <a:rPr lang="en-US" sz="3200" b="1">
                <a:latin typeface="Times New Roman"/>
                <a:cs typeface="Times New Roman"/>
              </a:rPr>
              <a:t>:</a:t>
            </a:r>
            <a:endParaRPr lang="en-US" sz="3200">
              <a:latin typeface="Times New Roman"/>
              <a:cs typeface="Times New Roman"/>
            </a:endParaRPr>
          </a:p>
        </p:txBody>
      </p:sp>
      <p:graphicFrame>
        <p:nvGraphicFramePr>
          <p:cNvPr id="9" name="Table 8">
            <a:extLst>
              <a:ext uri="{FF2B5EF4-FFF2-40B4-BE49-F238E27FC236}">
                <a16:creationId xmlns:a16="http://schemas.microsoft.com/office/drawing/2014/main" id="{B866321D-E00F-1E72-FBDA-CCB99863C77F}"/>
              </a:ext>
            </a:extLst>
          </p:cNvPr>
          <p:cNvGraphicFramePr>
            <a:graphicFrameLocks noGrp="1"/>
          </p:cNvGraphicFramePr>
          <p:nvPr>
            <p:extLst>
              <p:ext uri="{D42A27DB-BD31-4B8C-83A1-F6EECF244321}">
                <p14:modId xmlns:p14="http://schemas.microsoft.com/office/powerpoint/2010/main" val="1622887336"/>
              </p:ext>
            </p:extLst>
          </p:nvPr>
        </p:nvGraphicFramePr>
        <p:xfrm>
          <a:off x="-1" y="681046"/>
          <a:ext cx="11964612" cy="5658862"/>
        </p:xfrm>
        <a:graphic>
          <a:graphicData uri="http://schemas.openxmlformats.org/drawingml/2006/table">
            <a:tbl>
              <a:tblPr firstRow="1" bandRow="1">
                <a:tableStyleId>{21E4AEA4-8DFA-4A89-87EB-49C32662AFE0}</a:tableStyleId>
              </a:tblPr>
              <a:tblGrid>
                <a:gridCol w="835745">
                  <a:extLst>
                    <a:ext uri="{9D8B030D-6E8A-4147-A177-3AD203B41FA5}">
                      <a16:colId xmlns:a16="http://schemas.microsoft.com/office/drawing/2014/main" val="2811906928"/>
                    </a:ext>
                  </a:extLst>
                </a:gridCol>
                <a:gridCol w="2510585">
                  <a:extLst>
                    <a:ext uri="{9D8B030D-6E8A-4147-A177-3AD203B41FA5}">
                      <a16:colId xmlns:a16="http://schemas.microsoft.com/office/drawing/2014/main" val="2201325007"/>
                    </a:ext>
                  </a:extLst>
                </a:gridCol>
                <a:gridCol w="2987240">
                  <a:extLst>
                    <a:ext uri="{9D8B030D-6E8A-4147-A177-3AD203B41FA5}">
                      <a16:colId xmlns:a16="http://schemas.microsoft.com/office/drawing/2014/main" val="431906563"/>
                    </a:ext>
                  </a:extLst>
                </a:gridCol>
                <a:gridCol w="5631042">
                  <a:extLst>
                    <a:ext uri="{9D8B030D-6E8A-4147-A177-3AD203B41FA5}">
                      <a16:colId xmlns:a16="http://schemas.microsoft.com/office/drawing/2014/main" val="1169910156"/>
                    </a:ext>
                  </a:extLst>
                </a:gridCol>
              </a:tblGrid>
              <a:tr h="401135">
                <a:tc>
                  <a:txBody>
                    <a:bodyPr/>
                    <a:lstStyle/>
                    <a:p>
                      <a:pPr algn="ctr"/>
                      <a:r>
                        <a:rPr lang="en-US" err="1">
                          <a:solidFill>
                            <a:schemeClr val="bg2">
                              <a:lumMod val="10000"/>
                            </a:schemeClr>
                          </a:solidFill>
                          <a:latin typeface="Times New Roman"/>
                          <a:cs typeface="Times New Roman"/>
                        </a:rPr>
                        <a:t>S.No</a:t>
                      </a:r>
                      <a:r>
                        <a:rPr lang="en-US">
                          <a:solidFill>
                            <a:schemeClr val="bg2">
                              <a:lumMod val="10000"/>
                            </a:schemeClr>
                          </a:solidFill>
                          <a:latin typeface="Times New Roman"/>
                          <a:cs typeface="Times New Roman"/>
                        </a:rPr>
                        <a:t>.</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Title of the paper</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Source</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Inferences</a:t>
                      </a:r>
                      <a:endParaRPr lang="en-IN">
                        <a:solidFill>
                          <a:schemeClr val="bg2">
                            <a:lumMod val="10000"/>
                          </a:schemeClr>
                        </a:solidFill>
                        <a:latin typeface="Times New Roman"/>
                        <a:cs typeface="Times New Roman"/>
                      </a:endParaRPr>
                    </a:p>
                  </a:txBody>
                  <a:tcPr anchor="ctr"/>
                </a:tc>
                <a:extLst>
                  <a:ext uri="{0D108BD9-81ED-4DB2-BD59-A6C34878D82A}">
                    <a16:rowId xmlns:a16="http://schemas.microsoft.com/office/drawing/2014/main" val="1123981693"/>
                  </a:ext>
                </a:extLst>
              </a:tr>
              <a:tr h="2492761">
                <a:tc>
                  <a:txBody>
                    <a:bodyPr/>
                    <a:lstStyle/>
                    <a:p>
                      <a:pPr algn="ctr"/>
                      <a:r>
                        <a:rPr lang="en-US" sz="2000" b="1">
                          <a:latin typeface="Times New Roman"/>
                          <a:cs typeface="Times New Roman"/>
                        </a:rPr>
                        <a:t>3</a:t>
                      </a:r>
                    </a:p>
                  </a:txBody>
                  <a:tcPr anchor="ctr"/>
                </a:tc>
                <a:tc>
                  <a:txBody>
                    <a:bodyPr/>
                    <a:lstStyle/>
                    <a:p>
                      <a:pPr lvl="0" algn="ctr">
                        <a:buNone/>
                      </a:pPr>
                      <a:r>
                        <a:rPr lang="en-US" sz="1600" b="0" i="0" u="none" strike="noStrike" noProof="0">
                          <a:latin typeface="Times New Roman"/>
                        </a:rPr>
                        <a:t>Mutual Coupling Reduction of a Dual-Band Four-Port Patch Antenna With Co-Polarized Radiation Pattern by Controlling Electric Fields</a:t>
                      </a:r>
                      <a:endParaRPr lang="en-US">
                        <a:latin typeface="Times New Roman"/>
                      </a:endParaRPr>
                    </a:p>
                  </a:txBody>
                  <a:tcPr anchor="ctr"/>
                </a:tc>
                <a:tc>
                  <a:txBody>
                    <a:bodyPr/>
                    <a:lstStyle/>
                    <a:p>
                      <a:pPr lvl="0" algn="just">
                        <a:buNone/>
                      </a:pPr>
                      <a:r>
                        <a:rPr lang="en-US" sz="1800" b="0" i="0" u="none" strike="noStrike" noProof="0">
                          <a:solidFill>
                            <a:srgbClr val="000000"/>
                          </a:solidFill>
                          <a:latin typeface="Times New Roman"/>
                        </a:rPr>
                        <a:t>IEEE Transactions on Antennas and Propagation, 2023</a:t>
                      </a:r>
                    </a:p>
                  </a:txBody>
                  <a:tcPr anchor="ctr"/>
                </a:tc>
                <a:tc>
                  <a:txBody>
                    <a:bodyPr/>
                    <a:lstStyle/>
                    <a:p>
                      <a:pPr lvl="0" algn="just">
                        <a:lnSpc>
                          <a:spcPct val="100000"/>
                        </a:lnSpc>
                        <a:spcBef>
                          <a:spcPts val="0"/>
                        </a:spcBef>
                        <a:spcAft>
                          <a:spcPts val="0"/>
                        </a:spcAft>
                        <a:buNone/>
                      </a:pPr>
                      <a:r>
                        <a:rPr lang="en-GB" b="1">
                          <a:latin typeface="Times New Roman"/>
                        </a:rPr>
                        <a:t>Key Advantage of Proposed Work</a:t>
                      </a:r>
                      <a:endParaRPr lang="en-US">
                        <a:latin typeface="Times New Roman"/>
                      </a:endParaRPr>
                    </a:p>
                    <a:p>
                      <a:pPr marL="285750" lvl="0" indent="-285750" algn="just">
                        <a:lnSpc>
                          <a:spcPct val="100000"/>
                        </a:lnSpc>
                        <a:spcBef>
                          <a:spcPts val="0"/>
                        </a:spcBef>
                        <a:spcAft>
                          <a:spcPts val="0"/>
                        </a:spcAft>
                        <a:buFont typeface="Arial"/>
                        <a:buChar char="•"/>
                      </a:pPr>
                      <a:r>
                        <a:rPr lang="en-GB" sz="1600" b="0" i="0" u="none" strike="noStrike" noProof="0">
                          <a:latin typeface="Times New Roman"/>
                        </a:rPr>
                        <a:t>First dual-band, four-port, co-polarized patch antenna with low MC (&lt; –15 dB) and single radiator.</a:t>
                      </a:r>
                      <a:endParaRPr lang="en-GB" b="0">
                        <a:latin typeface="Times New Roman"/>
                      </a:endParaRPr>
                    </a:p>
                    <a:p>
                      <a:pPr marL="285750" lvl="0" indent="-285750" algn="just">
                        <a:lnSpc>
                          <a:spcPct val="100000"/>
                        </a:lnSpc>
                        <a:spcBef>
                          <a:spcPts val="0"/>
                        </a:spcBef>
                        <a:spcAft>
                          <a:spcPts val="0"/>
                        </a:spcAft>
                        <a:buFont typeface="Arial"/>
                        <a:buChar char="•"/>
                      </a:pPr>
                      <a:r>
                        <a:rPr lang="en-GB" sz="1600" b="0" i="0" u="none" strike="noStrike" noProof="0">
                          <a:latin typeface="Times New Roman"/>
                        </a:rPr>
                        <a:t>Compact + no extra feeding network.</a:t>
                      </a:r>
                      <a:endParaRPr lang="en-GB" b="0">
                        <a:latin typeface="Times New Roman"/>
                      </a:endParaRPr>
                    </a:p>
                    <a:p>
                      <a:pPr lvl="0" indent="0" algn="just">
                        <a:lnSpc>
                          <a:spcPct val="100000"/>
                        </a:lnSpc>
                        <a:spcBef>
                          <a:spcPts val="0"/>
                        </a:spcBef>
                        <a:spcAft>
                          <a:spcPts val="0"/>
                        </a:spcAft>
                        <a:buNone/>
                      </a:pPr>
                      <a:r>
                        <a:rPr lang="en-GB" b="1">
                          <a:latin typeface="Times New Roman"/>
                        </a:rPr>
                        <a:t> Limitations</a:t>
                      </a:r>
                      <a:endParaRPr lang="en-GB">
                        <a:latin typeface="Times New Roman"/>
                      </a:endParaRPr>
                    </a:p>
                    <a:p>
                      <a:pPr marL="285750" lvl="0" indent="-285750" algn="just">
                        <a:lnSpc>
                          <a:spcPct val="100000"/>
                        </a:lnSpc>
                        <a:spcBef>
                          <a:spcPts val="0"/>
                        </a:spcBef>
                        <a:spcAft>
                          <a:spcPts val="0"/>
                        </a:spcAft>
                        <a:buFont typeface="Arial"/>
                        <a:buChar char="•"/>
                      </a:pPr>
                      <a:r>
                        <a:rPr lang="en-GB" sz="1600" b="0" i="0" u="none" strike="noStrike" noProof="0">
                          <a:latin typeface="Times New Roman"/>
                        </a:rPr>
                        <a:t>More design complexity (multiple pins + slots).</a:t>
                      </a:r>
                      <a:endParaRPr lang="en-GB">
                        <a:latin typeface="Times New Roman"/>
                      </a:endParaRPr>
                    </a:p>
                    <a:p>
                      <a:pPr marL="285750" lvl="0" indent="-285750" algn="just">
                        <a:lnSpc>
                          <a:spcPct val="100000"/>
                        </a:lnSpc>
                        <a:spcBef>
                          <a:spcPts val="0"/>
                        </a:spcBef>
                        <a:spcAft>
                          <a:spcPts val="0"/>
                        </a:spcAft>
                        <a:buFont typeface="Arial"/>
                        <a:buChar char="•"/>
                      </a:pPr>
                      <a:r>
                        <a:rPr lang="en-GB" sz="1600" b="0" i="0" u="none" strike="noStrike" noProof="0">
                          <a:latin typeface="Times New Roman"/>
                        </a:rPr>
                        <a:t>Upper-band initially had non-broadside beam (fixed using pin 4).</a:t>
                      </a:r>
                      <a:endParaRPr lang="en-GB">
                        <a:latin typeface="Times New Roman"/>
                      </a:endParaRPr>
                    </a:p>
                  </a:txBody>
                  <a:tcPr anchor="ctr"/>
                </a:tc>
                <a:extLst>
                  <a:ext uri="{0D108BD9-81ED-4DB2-BD59-A6C34878D82A}">
                    <a16:rowId xmlns:a16="http://schemas.microsoft.com/office/drawing/2014/main" val="3435248891"/>
                  </a:ext>
                </a:extLst>
              </a:tr>
              <a:tr h="2764966">
                <a:tc>
                  <a:txBody>
                    <a:bodyPr/>
                    <a:lstStyle/>
                    <a:p>
                      <a:pPr algn="ctr"/>
                      <a:r>
                        <a:rPr lang="en-US" sz="2000" b="1">
                          <a:latin typeface="Times New Roman"/>
                          <a:cs typeface="Times New Roman"/>
                        </a:rPr>
                        <a:t>4</a:t>
                      </a:r>
                    </a:p>
                  </a:txBody>
                  <a:tcPr anchor="ctr"/>
                </a:tc>
                <a:tc>
                  <a:txBody>
                    <a:bodyPr/>
                    <a:lstStyle/>
                    <a:p>
                      <a:pPr lvl="0" algn="ctr">
                        <a:buNone/>
                      </a:pPr>
                      <a:r>
                        <a:rPr lang="en-US" sz="1600" b="0" i="0" u="none" strike="noStrike" noProof="0">
                          <a:latin typeface="Times New Roman"/>
                        </a:rPr>
                        <a:t>A Compact Multifrequency Broadband Dual-Antenna System With Mutual Coupling Reduction for Wi-Fi 6E Application</a:t>
                      </a:r>
                      <a:endParaRPr lang="en-US" sz="1600">
                        <a:latin typeface="Times New Roman"/>
                      </a:endParaRPr>
                    </a:p>
                  </a:txBody>
                  <a:tcPr anchor="ctr"/>
                </a:tc>
                <a:tc>
                  <a:txBody>
                    <a:bodyPr/>
                    <a:lstStyle/>
                    <a:p>
                      <a:r>
                        <a:rPr lang="en-US" sz="1800" i="0">
                          <a:latin typeface="Times New Roman"/>
                          <a:cs typeface="Times New Roman"/>
                        </a:rPr>
                        <a:t>IEEE Transactions on Antennas and Wireless Propagation, 2024.</a:t>
                      </a:r>
                      <a:endParaRPr lang="en-IN" sz="1800" i="0">
                        <a:latin typeface="Times New Roman"/>
                        <a:cs typeface="Times New Roman"/>
                      </a:endParaRPr>
                    </a:p>
                  </a:txBody>
                  <a:tcPr anchor="ctr"/>
                </a:tc>
                <a:tc>
                  <a:txBody>
                    <a:bodyPr/>
                    <a:lstStyle/>
                    <a:p>
                      <a:pPr lvl="0" algn="l">
                        <a:lnSpc>
                          <a:spcPct val="100000"/>
                        </a:lnSpc>
                        <a:spcBef>
                          <a:spcPts val="0"/>
                        </a:spcBef>
                        <a:spcAft>
                          <a:spcPts val="0"/>
                        </a:spcAft>
                        <a:buNone/>
                      </a:pPr>
                      <a:r>
                        <a:rPr lang="en-GB">
                          <a:latin typeface="Times New Roman"/>
                        </a:rPr>
                        <a:t> </a:t>
                      </a:r>
                      <a:r>
                        <a:rPr lang="en-GB" b="1">
                          <a:latin typeface="Times New Roman"/>
                        </a:rPr>
                        <a:t>Key Advantage of Proposed Work</a:t>
                      </a:r>
                      <a:endParaRPr lang="en-US">
                        <a:latin typeface="Times New Roman"/>
                      </a:endParaRPr>
                    </a:p>
                    <a:p>
                      <a:pPr marL="285750" lvl="0" indent="-285750" algn="l">
                        <a:lnSpc>
                          <a:spcPct val="100000"/>
                        </a:lnSpc>
                        <a:spcBef>
                          <a:spcPts val="0"/>
                        </a:spcBef>
                        <a:spcAft>
                          <a:spcPts val="0"/>
                        </a:spcAft>
                        <a:buFont typeface="Arial"/>
                        <a:buChar char="•"/>
                      </a:pPr>
                      <a:r>
                        <a:rPr lang="en-GB" sz="1600" b="0" i="0" u="none" strike="noStrike" noProof="0">
                          <a:solidFill>
                            <a:srgbClr val="000000"/>
                          </a:solidFill>
                          <a:latin typeface="Times New Roman"/>
                        </a:rPr>
                        <a:t>Most compact design (shortest length).</a:t>
                      </a:r>
                      <a:endParaRPr lang="en-GB" b="0">
                        <a:latin typeface="Times New Roman"/>
                      </a:endParaRPr>
                    </a:p>
                    <a:p>
                      <a:pPr marL="285750" lvl="0" indent="-285750" algn="l">
                        <a:lnSpc>
                          <a:spcPct val="100000"/>
                        </a:lnSpc>
                        <a:spcBef>
                          <a:spcPts val="0"/>
                        </a:spcBef>
                        <a:spcAft>
                          <a:spcPts val="0"/>
                        </a:spcAft>
                        <a:buFont typeface="Arial"/>
                        <a:buChar char="•"/>
                      </a:pPr>
                      <a:r>
                        <a:rPr lang="en-GB" sz="1600" b="0" i="0" u="none" strike="noStrike" noProof="0">
                          <a:solidFill>
                            <a:srgbClr val="000000"/>
                          </a:solidFill>
                          <a:latin typeface="Times New Roman"/>
                        </a:rPr>
                        <a:t>Achieves highest isolation (&gt;22 dB).</a:t>
                      </a:r>
                      <a:endParaRPr lang="en-GB" b="0">
                        <a:latin typeface="Times New Roman"/>
                      </a:endParaRPr>
                    </a:p>
                    <a:p>
                      <a:pPr marL="285750" lvl="0" indent="-285750" algn="l">
                        <a:lnSpc>
                          <a:spcPct val="100000"/>
                        </a:lnSpc>
                        <a:spcBef>
                          <a:spcPts val="0"/>
                        </a:spcBef>
                        <a:spcAft>
                          <a:spcPts val="0"/>
                        </a:spcAft>
                        <a:buFont typeface="Arial"/>
                        <a:buChar char="•"/>
                      </a:pPr>
                      <a:r>
                        <a:rPr lang="en-GB" sz="1600" b="0" i="0" u="none" strike="noStrike" noProof="0">
                          <a:solidFill>
                            <a:srgbClr val="000000"/>
                          </a:solidFill>
                          <a:latin typeface="Times New Roman"/>
                        </a:rPr>
                        <a:t>Covers all Wi-Fi bands including 6E (2.4 / 5 / 6–7 GHz).</a:t>
                      </a:r>
                      <a:endParaRPr lang="en-GB" b="0">
                        <a:latin typeface="Times New Roman"/>
                      </a:endParaRPr>
                    </a:p>
                    <a:p>
                      <a:pPr marL="285750" lvl="0" indent="-285750" algn="l">
                        <a:lnSpc>
                          <a:spcPct val="100000"/>
                        </a:lnSpc>
                        <a:spcBef>
                          <a:spcPts val="0"/>
                        </a:spcBef>
                        <a:spcAft>
                          <a:spcPts val="0"/>
                        </a:spcAft>
                        <a:buFont typeface="Arial"/>
                        <a:buChar char="•"/>
                      </a:pPr>
                      <a:r>
                        <a:rPr lang="en-GB" sz="1600" b="0" i="0" u="none" strike="noStrike" noProof="0">
                          <a:solidFill>
                            <a:srgbClr val="000000"/>
                          </a:solidFill>
                          <a:latin typeface="Times New Roman"/>
                        </a:rPr>
                        <a:t>Maintains low ECC (&lt;0.3) → better MIMO performance.</a:t>
                      </a:r>
                      <a:endParaRPr lang="en-GB">
                        <a:latin typeface="Times New Roman"/>
                      </a:endParaRPr>
                    </a:p>
                    <a:p>
                      <a:pPr lvl="0" indent="0" algn="l">
                        <a:lnSpc>
                          <a:spcPct val="100000"/>
                        </a:lnSpc>
                        <a:spcBef>
                          <a:spcPts val="0"/>
                        </a:spcBef>
                        <a:spcAft>
                          <a:spcPts val="0"/>
                        </a:spcAft>
                        <a:buNone/>
                      </a:pPr>
                      <a:r>
                        <a:rPr lang="en-GB" b="1">
                          <a:latin typeface="Times New Roman"/>
                        </a:rPr>
                        <a:t>Limitations</a:t>
                      </a:r>
                      <a:endParaRPr lang="en-GB">
                        <a:latin typeface="Times New Roman"/>
                      </a:endParaRPr>
                    </a:p>
                    <a:p>
                      <a:pPr marL="285750" lvl="0" indent="-285750" algn="l">
                        <a:lnSpc>
                          <a:spcPct val="100000"/>
                        </a:lnSpc>
                        <a:spcBef>
                          <a:spcPts val="0"/>
                        </a:spcBef>
                        <a:spcAft>
                          <a:spcPts val="0"/>
                        </a:spcAft>
                        <a:buFont typeface="Arial"/>
                        <a:buChar char="•"/>
                      </a:pPr>
                      <a:r>
                        <a:rPr lang="en-GB" sz="1600" b="0" i="0" u="none" strike="noStrike" noProof="0">
                          <a:solidFill>
                            <a:srgbClr val="000000"/>
                          </a:solidFill>
                          <a:latin typeface="Times New Roman"/>
                        </a:rPr>
                        <a:t>Efficiency (40–50%) lower than some larger designs.</a:t>
                      </a:r>
                      <a:endParaRPr lang="en-GB" b="0">
                        <a:latin typeface="Times New Roman"/>
                      </a:endParaRPr>
                    </a:p>
                  </a:txBody>
                  <a:tcPr anchor="ctr"/>
                </a:tc>
                <a:extLst>
                  <a:ext uri="{0D108BD9-81ED-4DB2-BD59-A6C34878D82A}">
                    <a16:rowId xmlns:a16="http://schemas.microsoft.com/office/drawing/2014/main" val="844235372"/>
                  </a:ext>
                </a:extLst>
              </a:tr>
            </a:tbl>
          </a:graphicData>
        </a:graphic>
      </p:graphicFrame>
    </p:spTree>
    <p:extLst>
      <p:ext uri="{BB962C8B-B14F-4D97-AF65-F5344CB8AC3E}">
        <p14:creationId xmlns:p14="http://schemas.microsoft.com/office/powerpoint/2010/main" val="3954384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379F21B-08A1-BE86-FFAE-87E2ADF2F614}"/>
              </a:ext>
            </a:extLst>
          </p:cNvPr>
          <p:cNvSpPr>
            <a:spLocks noGrp="1"/>
          </p:cNvSpPr>
          <p:nvPr>
            <p:ph type="dt" sz="half" idx="10"/>
          </p:nvPr>
        </p:nvSpPr>
        <p:spPr/>
        <p:txBody>
          <a:bodyPr/>
          <a:lstStyle/>
          <a:p>
            <a:fld id="{7B95AD08-F31C-4EA6-8EC1-ED25CA350FC7}" type="datetime1">
              <a:rPr lang="en-IN" smtClean="0"/>
              <a:t>22-06-2026</a:t>
            </a:fld>
            <a:endParaRPr lang="en-IN"/>
          </a:p>
        </p:txBody>
      </p:sp>
      <p:sp>
        <p:nvSpPr>
          <p:cNvPr id="5" name="Footer Placeholder 4">
            <a:extLst>
              <a:ext uri="{FF2B5EF4-FFF2-40B4-BE49-F238E27FC236}">
                <a16:creationId xmlns:a16="http://schemas.microsoft.com/office/drawing/2014/main" id="{917BC5F0-1262-C478-B5B3-062B8633C06A}"/>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9BA3D7F4-67CF-2DDE-4E35-183AEF72828C}"/>
              </a:ext>
            </a:extLst>
          </p:cNvPr>
          <p:cNvSpPr>
            <a:spLocks noGrp="1"/>
          </p:cNvSpPr>
          <p:nvPr>
            <p:ph type="sldNum" sz="quarter" idx="12"/>
          </p:nvPr>
        </p:nvSpPr>
        <p:spPr/>
        <p:txBody>
          <a:bodyPr/>
          <a:lstStyle/>
          <a:p>
            <a:fld id="{1CCCFFBF-4DCD-46DE-85E1-69841FB49368}" type="slidenum">
              <a:rPr lang="en-IN" smtClean="0"/>
              <a:t>7</a:t>
            </a:fld>
            <a:endParaRPr lang="en-IN"/>
          </a:p>
        </p:txBody>
      </p:sp>
      <p:pic>
        <p:nvPicPr>
          <p:cNvPr id="8" name="Picture 7">
            <a:extLst>
              <a:ext uri="{FF2B5EF4-FFF2-40B4-BE49-F238E27FC236}">
                <a16:creationId xmlns:a16="http://schemas.microsoft.com/office/drawing/2014/main" id="{C3B0D0AF-6B56-13F7-B361-ABAA47052E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2" name="Rectangle 1">
            <a:extLst>
              <a:ext uri="{FF2B5EF4-FFF2-40B4-BE49-F238E27FC236}">
                <a16:creationId xmlns:a16="http://schemas.microsoft.com/office/drawing/2014/main" id="{E3D4117B-D314-0F72-4A45-64E8B28BBF96}"/>
              </a:ext>
            </a:extLst>
          </p:cNvPr>
          <p:cNvSpPr/>
          <p:nvPr/>
        </p:nvSpPr>
        <p:spPr>
          <a:xfrm>
            <a:off x="10438" y="3423"/>
            <a:ext cx="2666692" cy="584775"/>
          </a:xfrm>
          <a:prstGeom prst="rect">
            <a:avLst/>
          </a:prstGeom>
        </p:spPr>
        <p:txBody>
          <a:bodyPr wrap="none" lIns="91440" tIns="45720" rIns="91440" bIns="45720" anchor="t">
            <a:spAutoFit/>
          </a:bodyPr>
          <a:lstStyle/>
          <a:p>
            <a:r>
              <a:rPr lang="en-US" sz="2800" b="1" u="sng">
                <a:latin typeface="Times New Roman"/>
                <a:cs typeface="Calibri Light"/>
              </a:rPr>
              <a:t>LITERATURE</a:t>
            </a:r>
            <a:r>
              <a:rPr lang="en-US" sz="3200" b="1">
                <a:latin typeface="Times New Roman"/>
                <a:cs typeface="Calibri Light"/>
              </a:rPr>
              <a:t>:</a:t>
            </a:r>
            <a:endParaRPr lang="en-IN" sz="3200">
              <a:ea typeface="Calibri"/>
              <a:cs typeface="Calibri"/>
            </a:endParaRPr>
          </a:p>
        </p:txBody>
      </p:sp>
      <p:graphicFrame>
        <p:nvGraphicFramePr>
          <p:cNvPr id="7" name="Table 6">
            <a:extLst>
              <a:ext uri="{FF2B5EF4-FFF2-40B4-BE49-F238E27FC236}">
                <a16:creationId xmlns:a16="http://schemas.microsoft.com/office/drawing/2014/main" id="{55E92032-A4C5-BBB4-9F49-109A4A5325D9}"/>
              </a:ext>
            </a:extLst>
          </p:cNvPr>
          <p:cNvGraphicFramePr>
            <a:graphicFrameLocks noGrp="1"/>
          </p:cNvGraphicFramePr>
          <p:nvPr>
            <p:extLst>
              <p:ext uri="{D42A27DB-BD31-4B8C-83A1-F6EECF244321}">
                <p14:modId xmlns:p14="http://schemas.microsoft.com/office/powerpoint/2010/main" val="3076310158"/>
              </p:ext>
            </p:extLst>
          </p:nvPr>
        </p:nvGraphicFramePr>
        <p:xfrm>
          <a:off x="10438" y="751561"/>
          <a:ext cx="11985078" cy="3276790"/>
        </p:xfrm>
        <a:graphic>
          <a:graphicData uri="http://schemas.openxmlformats.org/drawingml/2006/table">
            <a:tbl>
              <a:tblPr firstRow="1" bandRow="1">
                <a:tableStyleId>{21E4AEA4-8DFA-4A89-87EB-49C32662AFE0}</a:tableStyleId>
              </a:tblPr>
              <a:tblGrid>
                <a:gridCol w="694878">
                  <a:extLst>
                    <a:ext uri="{9D8B030D-6E8A-4147-A177-3AD203B41FA5}">
                      <a16:colId xmlns:a16="http://schemas.microsoft.com/office/drawing/2014/main" val="2499975451"/>
                    </a:ext>
                  </a:extLst>
                </a:gridCol>
                <a:gridCol w="2546979">
                  <a:extLst>
                    <a:ext uri="{9D8B030D-6E8A-4147-A177-3AD203B41FA5}">
                      <a16:colId xmlns:a16="http://schemas.microsoft.com/office/drawing/2014/main" val="2248560491"/>
                    </a:ext>
                  </a:extLst>
                </a:gridCol>
                <a:gridCol w="2787231">
                  <a:extLst>
                    <a:ext uri="{9D8B030D-6E8A-4147-A177-3AD203B41FA5}">
                      <a16:colId xmlns:a16="http://schemas.microsoft.com/office/drawing/2014/main" val="4201032830"/>
                    </a:ext>
                  </a:extLst>
                </a:gridCol>
                <a:gridCol w="5955990">
                  <a:extLst>
                    <a:ext uri="{9D8B030D-6E8A-4147-A177-3AD203B41FA5}">
                      <a16:colId xmlns:a16="http://schemas.microsoft.com/office/drawing/2014/main" val="3565560796"/>
                    </a:ext>
                  </a:extLst>
                </a:gridCol>
              </a:tblGrid>
              <a:tr h="655510">
                <a:tc>
                  <a:txBody>
                    <a:bodyPr/>
                    <a:lstStyle/>
                    <a:p>
                      <a:pPr algn="ctr"/>
                      <a:r>
                        <a:rPr lang="en-US" err="1">
                          <a:solidFill>
                            <a:schemeClr val="bg2">
                              <a:lumMod val="10000"/>
                            </a:schemeClr>
                          </a:solidFill>
                          <a:latin typeface="Times New Roman"/>
                          <a:cs typeface="Times New Roman"/>
                        </a:rPr>
                        <a:t>S.No</a:t>
                      </a:r>
                      <a:r>
                        <a:rPr lang="en-US">
                          <a:solidFill>
                            <a:schemeClr val="bg2">
                              <a:lumMod val="10000"/>
                            </a:schemeClr>
                          </a:solidFill>
                          <a:latin typeface="Times New Roman"/>
                          <a:cs typeface="Times New Roman"/>
                        </a:rPr>
                        <a:t>.</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Title of the paper</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Source</a:t>
                      </a:r>
                      <a:endParaRPr lang="en-IN">
                        <a:solidFill>
                          <a:schemeClr val="bg2">
                            <a:lumMod val="10000"/>
                          </a:schemeClr>
                        </a:solidFill>
                        <a:latin typeface="Times New Roman"/>
                        <a:cs typeface="Times New Roman"/>
                      </a:endParaRPr>
                    </a:p>
                  </a:txBody>
                  <a:tcPr anchor="ctr"/>
                </a:tc>
                <a:tc>
                  <a:txBody>
                    <a:bodyPr/>
                    <a:lstStyle/>
                    <a:p>
                      <a:pPr algn="ctr"/>
                      <a:r>
                        <a:rPr lang="en-US">
                          <a:solidFill>
                            <a:schemeClr val="bg2">
                              <a:lumMod val="10000"/>
                            </a:schemeClr>
                          </a:solidFill>
                          <a:latin typeface="Times New Roman"/>
                          <a:cs typeface="Times New Roman"/>
                        </a:rPr>
                        <a:t>Inferences</a:t>
                      </a:r>
                      <a:endParaRPr lang="en-IN">
                        <a:solidFill>
                          <a:schemeClr val="bg2">
                            <a:lumMod val="10000"/>
                          </a:schemeClr>
                        </a:solidFill>
                        <a:latin typeface="Times New Roman"/>
                        <a:cs typeface="Times New Roman"/>
                      </a:endParaRPr>
                    </a:p>
                  </a:txBody>
                  <a:tcPr anchor="ctr"/>
                </a:tc>
                <a:extLst>
                  <a:ext uri="{0D108BD9-81ED-4DB2-BD59-A6C34878D82A}">
                    <a16:rowId xmlns:a16="http://schemas.microsoft.com/office/drawing/2014/main" val="2687990325"/>
                  </a:ext>
                </a:extLst>
              </a:tr>
              <a:tr h="25941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latin typeface="Times New Roman"/>
                          <a:cs typeface="Times New Roman"/>
                        </a:rPr>
                        <a:t>5</a:t>
                      </a:r>
                    </a:p>
                    <a:p>
                      <a:pPr algn="ctr"/>
                      <a:endParaRPr lang="en-US">
                        <a:latin typeface="Times New Roman"/>
                        <a:cs typeface="Times New Roman"/>
                      </a:endParaRPr>
                    </a:p>
                  </a:txBody>
                  <a:tcPr anchor="ctr"/>
                </a:tc>
                <a:tc>
                  <a:txBody>
                    <a:bodyPr/>
                    <a:lstStyle/>
                    <a:p>
                      <a:pPr marL="0" marR="0" lvl="0" indent="0" algn="ctr">
                        <a:lnSpc>
                          <a:spcPct val="100000"/>
                        </a:lnSpc>
                        <a:spcBef>
                          <a:spcPts val="0"/>
                        </a:spcBef>
                        <a:spcAft>
                          <a:spcPts val="0"/>
                        </a:spcAft>
                        <a:buNone/>
                      </a:pPr>
                      <a:r>
                        <a:rPr lang="en-IN" sz="1800" b="0" i="0" u="none" strike="noStrike" noProof="0">
                          <a:latin typeface="Times New Roman"/>
                        </a:rPr>
                        <a:t>Mutual Coupling Reduction in Dual-Band MIMO Antenna Using Parasitic Dollar-Shaped Structure for Modern Wireless Communication</a:t>
                      </a:r>
                      <a:endParaRPr lang="en-US">
                        <a:latin typeface="Times New Roman"/>
                      </a:endParaRPr>
                    </a:p>
                  </a:txBody>
                  <a:tcPr anchor="ctr"/>
                </a:tc>
                <a:tc>
                  <a:txBody>
                    <a:bodyPr/>
                    <a:lstStyle/>
                    <a:p>
                      <a:br>
                        <a:rPr lang="en-IN" sz="1400">
                          <a:latin typeface="Times New Roman"/>
                          <a:cs typeface="Times New Roman"/>
                        </a:rPr>
                      </a:br>
                      <a:endParaRPr lang="en-IN" sz="1400">
                        <a:latin typeface="Times New Roman"/>
                        <a:cs typeface="Times New Roman"/>
                      </a:endParaRPr>
                    </a:p>
                    <a:p>
                      <a:pPr lvl="0" algn="l">
                        <a:buNone/>
                      </a:pPr>
                      <a:r>
                        <a:rPr lang="en-US" sz="1800" i="0">
                          <a:latin typeface="Times New Roman"/>
                          <a:cs typeface="Times New Roman"/>
                        </a:rPr>
                        <a:t>IEEE Transactions on Antennas and Propagation, September 2023</a:t>
                      </a:r>
                      <a:endParaRPr lang="en-IN" sz="1800" b="0">
                        <a:latin typeface="Times New Roman"/>
                        <a:cs typeface="Times New Roman"/>
                      </a:endParaRPr>
                    </a:p>
                    <a:p>
                      <a:pPr lvl="0">
                        <a:buNone/>
                      </a:pPr>
                      <a:endParaRPr lang="en-IN" sz="1800" i="0">
                        <a:latin typeface="Times New Roman"/>
                        <a:cs typeface="Times New Roman"/>
                      </a:endParaRPr>
                    </a:p>
                  </a:txBody>
                  <a:tcPr anchor="ctr"/>
                </a:tc>
                <a:tc>
                  <a:txBody>
                    <a:bodyPr/>
                    <a:lstStyle/>
                    <a:p>
                      <a:pPr lvl="0" algn="l">
                        <a:lnSpc>
                          <a:spcPct val="100000"/>
                        </a:lnSpc>
                        <a:spcBef>
                          <a:spcPts val="0"/>
                        </a:spcBef>
                        <a:spcAft>
                          <a:spcPts val="0"/>
                        </a:spcAft>
                        <a:buNone/>
                      </a:pPr>
                      <a:r>
                        <a:rPr lang="en-US">
                          <a:latin typeface="Times New Roman"/>
                        </a:rPr>
                        <a:t> </a:t>
                      </a:r>
                      <a:r>
                        <a:rPr lang="en-US" b="1">
                          <a:latin typeface="Times New Roman"/>
                        </a:rPr>
                        <a:t>Key Advantage of Proposed Work</a:t>
                      </a:r>
                      <a:endParaRPr lang="en-US">
                        <a:latin typeface="Times New Roman"/>
                      </a:endParaRPr>
                    </a:p>
                    <a:p>
                      <a:pPr marL="285750" lvl="0" indent="-285750" algn="l">
                        <a:lnSpc>
                          <a:spcPct val="100000"/>
                        </a:lnSpc>
                        <a:spcBef>
                          <a:spcPts val="0"/>
                        </a:spcBef>
                        <a:spcAft>
                          <a:spcPts val="0"/>
                        </a:spcAft>
                        <a:buFont typeface="Arial"/>
                        <a:buChar char="•"/>
                      </a:pPr>
                      <a:r>
                        <a:rPr lang="en-US" sz="1600" b="0" i="0" u="none" strike="noStrike" noProof="0">
                          <a:latin typeface="Times New Roman"/>
                        </a:rPr>
                        <a:t>Highest isolation (&gt;30 dB) among compared designs.</a:t>
                      </a:r>
                      <a:endParaRPr lang="en-US" b="0">
                        <a:latin typeface="Times New Roman"/>
                      </a:endParaRPr>
                    </a:p>
                    <a:p>
                      <a:pPr marL="285750" lvl="0" indent="-285750" algn="l">
                        <a:lnSpc>
                          <a:spcPct val="100000"/>
                        </a:lnSpc>
                        <a:spcBef>
                          <a:spcPts val="0"/>
                        </a:spcBef>
                        <a:spcAft>
                          <a:spcPts val="0"/>
                        </a:spcAft>
                        <a:buFont typeface="Arial"/>
                        <a:buChar char="•"/>
                      </a:pPr>
                      <a:r>
                        <a:rPr lang="en-US" sz="1600" b="0" i="0" u="none" strike="noStrike" noProof="0">
                          <a:latin typeface="Times New Roman"/>
                        </a:rPr>
                        <a:t>Lowest ECC (&lt;0.02) → excellent diversity.</a:t>
                      </a:r>
                      <a:endParaRPr lang="en-US" b="0">
                        <a:latin typeface="Times New Roman"/>
                      </a:endParaRPr>
                    </a:p>
                    <a:p>
                      <a:pPr marL="285750" lvl="0" indent="-285750" algn="l">
                        <a:lnSpc>
                          <a:spcPct val="100000"/>
                        </a:lnSpc>
                        <a:spcBef>
                          <a:spcPts val="0"/>
                        </a:spcBef>
                        <a:spcAft>
                          <a:spcPts val="0"/>
                        </a:spcAft>
                        <a:buFont typeface="Arial"/>
                        <a:buChar char="•"/>
                      </a:pPr>
                      <a:r>
                        <a:rPr lang="en-US" sz="1600" b="0" i="0" u="none" strike="noStrike" noProof="0">
                          <a:latin typeface="Times New Roman"/>
                        </a:rPr>
                        <a:t>Simple parasitic structure, compact design.</a:t>
                      </a:r>
                      <a:endParaRPr lang="en-US">
                        <a:latin typeface="Times New Roman"/>
                      </a:endParaRPr>
                    </a:p>
                    <a:p>
                      <a:pPr marL="0" lvl="0" indent="0" algn="l">
                        <a:lnSpc>
                          <a:spcPct val="100000"/>
                        </a:lnSpc>
                        <a:spcBef>
                          <a:spcPts val="0"/>
                        </a:spcBef>
                        <a:spcAft>
                          <a:spcPts val="0"/>
                        </a:spcAft>
                        <a:buFont typeface="Arial"/>
                        <a:buChar char="•"/>
                      </a:pPr>
                      <a:r>
                        <a:rPr lang="en-US" sz="1800" b="1" i="0" u="none" strike="noStrike" noProof="0">
                          <a:latin typeface="Times New Roman"/>
                        </a:rPr>
                        <a:t>Performance:</a:t>
                      </a:r>
                      <a:endParaRPr lang="en-US" sz="1800" b="0" i="0" u="none" strike="noStrike" noProof="0">
                        <a:latin typeface="Times New Roman"/>
                      </a:endParaRPr>
                    </a:p>
                    <a:p>
                      <a:pPr marL="0" lvl="0" indent="0" algn="l">
                        <a:lnSpc>
                          <a:spcPct val="100000"/>
                        </a:lnSpc>
                        <a:spcBef>
                          <a:spcPts val="0"/>
                        </a:spcBef>
                        <a:spcAft>
                          <a:spcPts val="0"/>
                        </a:spcAft>
                        <a:buFont typeface="Arial"/>
                        <a:buChar char="•"/>
                      </a:pPr>
                      <a:r>
                        <a:rPr lang="en-US" sz="1600" b="0" i="0" u="none" strike="noStrike" noProof="0">
                          <a:latin typeface="Times New Roman"/>
                        </a:rPr>
                        <a:t>Operating bands: 3.5 GHz (5G) and 5.2 GHz (WLAN).</a:t>
                      </a:r>
                      <a:endParaRPr lang="en-US" b="0">
                        <a:latin typeface="Times New Roman"/>
                      </a:endParaRPr>
                    </a:p>
                    <a:p>
                      <a:pPr marL="0" lvl="0" indent="0" algn="l">
                        <a:lnSpc>
                          <a:spcPct val="100000"/>
                        </a:lnSpc>
                        <a:spcBef>
                          <a:spcPts val="0"/>
                        </a:spcBef>
                        <a:spcAft>
                          <a:spcPts val="0"/>
                        </a:spcAft>
                        <a:buFont typeface="Arial"/>
                        <a:buChar char="•"/>
                      </a:pPr>
                      <a:r>
                        <a:rPr lang="en-US" sz="1600" b="0" i="0" u="none" strike="noStrike" noProof="0">
                          <a:latin typeface="Times New Roman"/>
                        </a:rPr>
                        <a:t>Isolation improved to &gt;30 dB (without needing complex decoupling networks).</a:t>
                      </a:r>
                      <a:endParaRPr lang="en-US" b="0">
                        <a:latin typeface="Times New Roman"/>
                      </a:endParaRPr>
                    </a:p>
                    <a:p>
                      <a:pPr marL="285750" lvl="0" indent="-285750" algn="l">
                        <a:lnSpc>
                          <a:spcPct val="100000"/>
                        </a:lnSpc>
                        <a:spcBef>
                          <a:spcPts val="0"/>
                        </a:spcBef>
                        <a:spcAft>
                          <a:spcPts val="0"/>
                        </a:spcAft>
                        <a:buFont typeface="Arial"/>
                        <a:buChar char="•"/>
                      </a:pPr>
                      <a:endParaRPr lang="en-US" sz="1600" b="0" i="0" u="none" strike="noStrike" noProof="0">
                        <a:latin typeface="Times New Roman"/>
                      </a:endParaRPr>
                    </a:p>
                    <a:p>
                      <a:pPr lvl="0" indent="0" algn="l">
                        <a:lnSpc>
                          <a:spcPct val="100000"/>
                        </a:lnSpc>
                        <a:spcBef>
                          <a:spcPts val="0"/>
                        </a:spcBef>
                        <a:spcAft>
                          <a:spcPts val="0"/>
                        </a:spcAft>
                        <a:buNone/>
                      </a:pPr>
                      <a:endParaRPr lang="en-US" b="1">
                        <a:latin typeface="Times New Roman"/>
                      </a:endParaRPr>
                    </a:p>
                  </a:txBody>
                  <a:tcPr anchor="ctr"/>
                </a:tc>
                <a:extLst>
                  <a:ext uri="{0D108BD9-81ED-4DB2-BD59-A6C34878D82A}">
                    <a16:rowId xmlns:a16="http://schemas.microsoft.com/office/drawing/2014/main" val="4115011694"/>
                  </a:ext>
                </a:extLst>
              </a:tr>
            </a:tbl>
          </a:graphicData>
        </a:graphic>
      </p:graphicFrame>
    </p:spTree>
    <p:extLst>
      <p:ext uri="{BB962C8B-B14F-4D97-AF65-F5344CB8AC3E}">
        <p14:creationId xmlns:p14="http://schemas.microsoft.com/office/powerpoint/2010/main" val="1930159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F85E5A0A-0BB8-079A-3D6E-A2191C5112BD}"/>
              </a:ext>
            </a:extLst>
          </p:cNvPr>
          <p:cNvPicPr>
            <a:picLocks noGrp="1" noChangeAspect="1"/>
          </p:cNvPicPr>
          <p:nvPr>
            <p:ph idx="1"/>
          </p:nvPr>
        </p:nvPicPr>
        <p:blipFill>
          <a:blip r:embed="rId2"/>
          <a:stretch>
            <a:fillRect/>
          </a:stretch>
        </p:blipFill>
        <p:spPr>
          <a:xfrm>
            <a:off x="833450" y="938365"/>
            <a:ext cx="10692113" cy="5238598"/>
          </a:xfrm>
          <a:prstGeom prst="rect">
            <a:avLst/>
          </a:prstGeom>
        </p:spPr>
      </p:pic>
      <p:sp>
        <p:nvSpPr>
          <p:cNvPr id="4" name="Date Placeholder 3">
            <a:extLst>
              <a:ext uri="{FF2B5EF4-FFF2-40B4-BE49-F238E27FC236}">
                <a16:creationId xmlns:a16="http://schemas.microsoft.com/office/drawing/2014/main" id="{9108369D-A279-166C-3F26-6BD3C89D0E9D}"/>
              </a:ext>
            </a:extLst>
          </p:cNvPr>
          <p:cNvSpPr>
            <a:spLocks noGrp="1"/>
          </p:cNvSpPr>
          <p:nvPr>
            <p:ph type="dt" sz="half" idx="10"/>
          </p:nvPr>
        </p:nvSpPr>
        <p:spPr/>
        <p:txBody>
          <a:bodyPr/>
          <a:lstStyle/>
          <a:p>
            <a:fld id="{EDF88E1D-3A48-4414-98C3-FF9C491158CD}" type="datetime1">
              <a:rPr lang="en-IN" smtClean="0"/>
              <a:t>22-06-2026</a:t>
            </a:fld>
            <a:endParaRPr lang="en-IN"/>
          </a:p>
        </p:txBody>
      </p:sp>
      <p:sp>
        <p:nvSpPr>
          <p:cNvPr id="5" name="Footer Placeholder 4">
            <a:extLst>
              <a:ext uri="{FF2B5EF4-FFF2-40B4-BE49-F238E27FC236}">
                <a16:creationId xmlns:a16="http://schemas.microsoft.com/office/drawing/2014/main" id="{3C3CA329-71B7-AB31-6941-1C0064FB5A8A}"/>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BDA2DC4B-E8A9-1E71-78C8-7EBE44CCB6E7}"/>
              </a:ext>
            </a:extLst>
          </p:cNvPr>
          <p:cNvSpPr>
            <a:spLocks noGrp="1"/>
          </p:cNvSpPr>
          <p:nvPr>
            <p:ph type="sldNum" sz="quarter" idx="12"/>
          </p:nvPr>
        </p:nvSpPr>
        <p:spPr/>
        <p:txBody>
          <a:bodyPr/>
          <a:lstStyle/>
          <a:p>
            <a:fld id="{1CCCFFBF-4DCD-46DE-85E1-69841FB49368}" type="slidenum">
              <a:rPr lang="en-IN" smtClean="0"/>
              <a:t>8</a:t>
            </a:fld>
            <a:endParaRPr lang="en-IN"/>
          </a:p>
        </p:txBody>
      </p:sp>
      <p:pic>
        <p:nvPicPr>
          <p:cNvPr id="8" name="Picture 7">
            <a:extLst>
              <a:ext uri="{FF2B5EF4-FFF2-40B4-BE49-F238E27FC236}">
                <a16:creationId xmlns:a16="http://schemas.microsoft.com/office/drawing/2014/main" id="{1CBAF2EE-79D6-51D8-FCC6-39695074B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7" name="TextBox 6">
            <a:extLst>
              <a:ext uri="{FF2B5EF4-FFF2-40B4-BE49-F238E27FC236}">
                <a16:creationId xmlns:a16="http://schemas.microsoft.com/office/drawing/2014/main" id="{9536602E-4E7C-4A25-4C4B-9FF997BD29B4}"/>
              </a:ext>
            </a:extLst>
          </p:cNvPr>
          <p:cNvSpPr txBox="1"/>
          <p:nvPr/>
        </p:nvSpPr>
        <p:spPr>
          <a:xfrm>
            <a:off x="83507"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cs typeface="Times New Roman"/>
              </a:rPr>
              <a:t>METHODOLOGY</a:t>
            </a:r>
            <a:r>
              <a:rPr lang="en-US" sz="3200" b="1">
                <a:latin typeface="Times New Roman"/>
                <a:cs typeface="Times New Roman"/>
              </a:rPr>
              <a:t>:</a:t>
            </a:r>
          </a:p>
        </p:txBody>
      </p:sp>
    </p:spTree>
    <p:extLst>
      <p:ext uri="{BB962C8B-B14F-4D97-AF65-F5344CB8AC3E}">
        <p14:creationId xmlns:p14="http://schemas.microsoft.com/office/powerpoint/2010/main" val="1175407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6414CB-1881-61EF-8A75-9EF94FAB781D}"/>
              </a:ext>
            </a:extLst>
          </p:cNvPr>
          <p:cNvSpPr>
            <a:spLocks noGrp="1"/>
          </p:cNvSpPr>
          <p:nvPr>
            <p:ph idx="1"/>
          </p:nvPr>
        </p:nvSpPr>
        <p:spPr>
          <a:xfrm>
            <a:off x="221877" y="861920"/>
            <a:ext cx="11972364" cy="5315043"/>
          </a:xfrm>
        </p:spPr>
        <p:txBody>
          <a:bodyPr vert="horz" lIns="91440" tIns="45720" rIns="91440" bIns="45720" rtlCol="0" anchor="t">
            <a:normAutofit/>
          </a:bodyPr>
          <a:lstStyle/>
          <a:p>
            <a:pPr marL="0" indent="0">
              <a:buNone/>
            </a:pPr>
            <a:r>
              <a:rPr lang="en-IN" sz="2000">
                <a:latin typeface="Wingdings"/>
                <a:sym typeface="Wingdings"/>
              </a:rPr>
              <a:t>q</a:t>
            </a:r>
            <a:r>
              <a:rPr lang="en-IN" sz="2000" b="1">
                <a:latin typeface="Times New Roman"/>
                <a:cs typeface="Times New Roman"/>
              </a:rPr>
              <a:t>Patch Antenna Dimension Calculation</a:t>
            </a:r>
            <a:r>
              <a:rPr lang="en-IN" sz="1800" b="1">
                <a:latin typeface="Times New Roman"/>
                <a:cs typeface="Times New Roman"/>
              </a:rPr>
              <a:t>:</a:t>
            </a:r>
            <a:endParaRPr lang="en-IN">
              <a:ea typeface="Calibri" panose="020F0502020204030204"/>
              <a:cs typeface="Calibri" panose="020F0502020204030204"/>
            </a:endParaRPr>
          </a:p>
          <a:p>
            <a:endParaRPr lang="en-IN" dirty="0">
              <a:ea typeface="Calibri"/>
              <a:cs typeface="Calibri"/>
            </a:endParaRPr>
          </a:p>
        </p:txBody>
      </p:sp>
      <p:sp>
        <p:nvSpPr>
          <p:cNvPr id="4" name="Date Placeholder 3">
            <a:extLst>
              <a:ext uri="{FF2B5EF4-FFF2-40B4-BE49-F238E27FC236}">
                <a16:creationId xmlns:a16="http://schemas.microsoft.com/office/drawing/2014/main" id="{F788E993-E9A8-5C1B-9330-60D2C04A719C}"/>
              </a:ext>
            </a:extLst>
          </p:cNvPr>
          <p:cNvSpPr>
            <a:spLocks noGrp="1"/>
          </p:cNvSpPr>
          <p:nvPr>
            <p:ph type="dt" sz="half" idx="10"/>
          </p:nvPr>
        </p:nvSpPr>
        <p:spPr/>
        <p:txBody>
          <a:bodyPr/>
          <a:lstStyle/>
          <a:p>
            <a:fld id="{FFA23234-F5B4-4BA6-BFFC-BEB05161B9C1}" type="datetime1">
              <a:rPr lang="en-IN" smtClean="0"/>
              <a:t>22-06-2026</a:t>
            </a:fld>
            <a:endParaRPr lang="en-IN"/>
          </a:p>
        </p:txBody>
      </p:sp>
      <p:sp>
        <p:nvSpPr>
          <p:cNvPr id="5" name="Footer Placeholder 4">
            <a:extLst>
              <a:ext uri="{FF2B5EF4-FFF2-40B4-BE49-F238E27FC236}">
                <a16:creationId xmlns:a16="http://schemas.microsoft.com/office/drawing/2014/main" id="{381E3C32-970B-1C8B-CC87-79ED6A08511B}"/>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C3CC18D0-8F41-A501-21C0-79A1226AC25C}"/>
              </a:ext>
            </a:extLst>
          </p:cNvPr>
          <p:cNvSpPr>
            <a:spLocks noGrp="1"/>
          </p:cNvSpPr>
          <p:nvPr>
            <p:ph type="sldNum" sz="quarter" idx="12"/>
          </p:nvPr>
        </p:nvSpPr>
        <p:spPr/>
        <p:txBody>
          <a:bodyPr/>
          <a:lstStyle/>
          <a:p>
            <a:fld id="{1CCCFFBF-4DCD-46DE-85E1-69841FB49368}" type="slidenum">
              <a:rPr lang="en-IN" smtClean="0"/>
              <a:t>9</a:t>
            </a:fld>
            <a:endParaRPr lang="en-IN"/>
          </a:p>
        </p:txBody>
      </p:sp>
      <p:pic>
        <p:nvPicPr>
          <p:cNvPr id="8" name="Picture 7" descr="A pink and black logo&#10;&#10;AI-generated content may be incorrect.">
            <a:extLst>
              <a:ext uri="{FF2B5EF4-FFF2-40B4-BE49-F238E27FC236}">
                <a16:creationId xmlns:a16="http://schemas.microsoft.com/office/drawing/2014/main" id="{28F06BF9-9536-1EDE-C5A9-4AFB5D39D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2" name="TextBox 1">
            <a:extLst>
              <a:ext uri="{FF2B5EF4-FFF2-40B4-BE49-F238E27FC236}">
                <a16:creationId xmlns:a16="http://schemas.microsoft.com/office/drawing/2014/main" id="{134BEBA5-6E5A-3363-24DF-F5384D72FF23}"/>
              </a:ext>
            </a:extLst>
          </p:cNvPr>
          <p:cNvSpPr txBox="1"/>
          <p:nvPr/>
        </p:nvSpPr>
        <p:spPr>
          <a:xfrm>
            <a:off x="0"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rPr>
              <a:t>METHODOLOGY</a:t>
            </a:r>
            <a:r>
              <a:rPr lang="en-US" sz="3200" b="1">
                <a:latin typeface="Times New Roman"/>
              </a:rPr>
              <a:t>:</a:t>
            </a:r>
            <a:endParaRPr lang="en-GB"/>
          </a:p>
        </p:txBody>
      </p:sp>
      <p:sp>
        <p:nvSpPr>
          <p:cNvPr id="7" name="TextBox 6">
            <a:extLst>
              <a:ext uri="{FF2B5EF4-FFF2-40B4-BE49-F238E27FC236}">
                <a16:creationId xmlns:a16="http://schemas.microsoft.com/office/drawing/2014/main" id="{A399DD05-9EC7-3475-88D2-8E42057B56AA}"/>
              </a:ext>
            </a:extLst>
          </p:cNvPr>
          <p:cNvSpPr txBox="1"/>
          <p:nvPr/>
        </p:nvSpPr>
        <p:spPr>
          <a:xfrm>
            <a:off x="219207" y="1299576"/>
            <a:ext cx="8110601"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3210" indent="-283210" algn="just">
              <a:buFont typeface="Arial"/>
              <a:buChar char="•"/>
            </a:pPr>
            <a:r>
              <a:rPr lang="en-US">
                <a:latin typeface="Times New Roman"/>
                <a:cs typeface="Times New Roman"/>
              </a:rPr>
              <a:t>As the frequency of the application is 2.4 GHz, considering </a:t>
            </a:r>
            <a:r>
              <a:rPr lang="en-US">
                <a:latin typeface="Times New Roman"/>
                <a:ea typeface="Calibri"/>
                <a:cs typeface="Calibri"/>
              </a:rPr>
              <a:t>Rogers RT duroid 5880 </a:t>
            </a:r>
            <a:r>
              <a:rPr lang="en-US">
                <a:latin typeface="Times New Roman"/>
                <a:cs typeface="Times New Roman"/>
              </a:rPr>
              <a:t> (εr = 2.2) is a suitable substrate</a:t>
            </a:r>
            <a:r>
              <a:rPr lang="en-US">
                <a:latin typeface="Times New Roman"/>
                <a:ea typeface="Calibri"/>
                <a:cs typeface="Calibri"/>
              </a:rPr>
              <a:t>, the basic patch antenna dimensions are determined through</a:t>
            </a:r>
            <a:r>
              <a:rPr lang="en-US">
                <a:latin typeface="Times New Roman"/>
                <a:cs typeface="Times New Roman"/>
              </a:rPr>
              <a:t> mathematical calculations.</a:t>
            </a:r>
          </a:p>
          <a:p>
            <a:pPr marL="283210" indent="-283210" algn="just"/>
            <a:endParaRPr lang="en-IN" dirty="0">
              <a:latin typeface="Times New Roman"/>
              <a:cs typeface="Times New Roman"/>
            </a:endParaRPr>
          </a:p>
          <a:p>
            <a:pPr marL="283210" indent="-283210" algn="just">
              <a:buFont typeface="Arial"/>
              <a:buChar char="•"/>
            </a:pPr>
            <a:r>
              <a:rPr lang="en-US">
                <a:latin typeface="Times New Roman"/>
                <a:cs typeface="Times New Roman"/>
              </a:rPr>
              <a:t>Designed for 2.4 GHz rectangular patch on   </a:t>
            </a:r>
            <a:r>
              <a:rPr lang="en-US">
                <a:latin typeface="Times New Roman"/>
                <a:ea typeface="Calibri"/>
                <a:cs typeface="Calibri"/>
              </a:rPr>
              <a:t>Rogers RT duroid 5880</a:t>
            </a:r>
            <a:r>
              <a:rPr lang="en-US">
                <a:latin typeface="Times New Roman"/>
                <a:cs typeface="Times New Roman"/>
              </a:rPr>
              <a:t>(</a:t>
            </a:r>
            <a:r>
              <a:rPr lang="el-GR">
                <a:latin typeface="Times New Roman"/>
                <a:cs typeface="Times New Roman"/>
              </a:rPr>
              <a:t>ε</a:t>
            </a:r>
            <a:r>
              <a:rPr lang="en-IN">
                <a:latin typeface="Times New Roman"/>
                <a:cs typeface="Times New Roman"/>
              </a:rPr>
              <a:t>r = 2.2)</a:t>
            </a:r>
            <a:r>
              <a:rPr lang="en-US">
                <a:latin typeface="Times New Roman"/>
                <a:cs typeface="Times New Roman"/>
              </a:rPr>
              <a:t> with h = 1.6 mm.</a:t>
            </a:r>
          </a:p>
          <a:p>
            <a:pPr algn="just"/>
            <a:r>
              <a:rPr lang="en-US">
                <a:latin typeface="Times New Roman"/>
                <a:cs typeface="Times New Roman"/>
              </a:rPr>
              <a:t>     Patch Width(W): </a:t>
            </a:r>
          </a:p>
          <a:p>
            <a:pPr algn="just"/>
            <a:r>
              <a:rPr lang="en-US" dirty="0">
                <a:latin typeface="Times New Roman"/>
                <a:cs typeface="Times New Roman"/>
              </a:rPr>
              <a:t>          </a:t>
            </a:r>
          </a:p>
          <a:p>
            <a:pPr algn="just"/>
            <a:r>
              <a:rPr lang="en-US" dirty="0">
                <a:latin typeface="Times New Roman"/>
                <a:cs typeface="Times New Roman"/>
              </a:rPr>
              <a:t>                                                                   </a:t>
            </a:r>
          </a:p>
          <a:p>
            <a:pPr algn="just"/>
            <a:r>
              <a:rPr lang="en-US">
                <a:latin typeface="Times New Roman"/>
                <a:cs typeface="Times New Roman"/>
              </a:rPr>
              <a:t>                                                                                           …(1)        </a:t>
            </a:r>
          </a:p>
          <a:p>
            <a:pPr algn="just"/>
            <a:endParaRPr lang="en-US" dirty="0">
              <a:latin typeface="Times New Roman"/>
              <a:cs typeface="Times New Roman"/>
            </a:endParaRPr>
          </a:p>
          <a:p>
            <a:pPr algn="just"/>
            <a:r>
              <a:rPr lang="en-US" dirty="0">
                <a:latin typeface="Times New Roman"/>
                <a:cs typeface="Times New Roman"/>
              </a:rPr>
              <a:t>        </a:t>
            </a:r>
            <a:endParaRPr lang="en-US">
              <a:ea typeface="Calibri"/>
              <a:cs typeface="Calibri"/>
            </a:endParaRPr>
          </a:p>
          <a:p>
            <a:pPr algn="just"/>
            <a:r>
              <a:rPr lang="en-US" dirty="0">
                <a:latin typeface="Times New Roman"/>
                <a:cs typeface="Times New Roman"/>
              </a:rPr>
              <a:t>                                                      =&gt; </a:t>
            </a:r>
            <a:r>
              <a:rPr lang="en-US" sz="2400">
                <a:latin typeface="Times New Roman"/>
                <a:cs typeface="Times New Roman"/>
              </a:rPr>
              <a:t>W = 49.38mm</a:t>
            </a:r>
            <a:r>
              <a:rPr lang="en-US" dirty="0">
                <a:latin typeface="Times New Roman"/>
                <a:cs typeface="Times New Roman"/>
              </a:rPr>
              <a:t>           </a:t>
            </a:r>
          </a:p>
        </p:txBody>
      </p:sp>
      <p:pic>
        <p:nvPicPr>
          <p:cNvPr id="9" name="Picture 8" descr="A square root of a mathematical equation&#10;&#10;AI-generated content may be incorrect.">
            <a:extLst>
              <a:ext uri="{FF2B5EF4-FFF2-40B4-BE49-F238E27FC236}">
                <a16:creationId xmlns:a16="http://schemas.microsoft.com/office/drawing/2014/main" id="{BA5B80CF-3B90-360A-02FB-565567FBA5A1}"/>
              </a:ext>
            </a:extLst>
          </p:cNvPr>
          <p:cNvPicPr>
            <a:picLocks noChangeAspect="1"/>
          </p:cNvPicPr>
          <p:nvPr/>
        </p:nvPicPr>
        <p:blipFill>
          <a:blip r:embed="rId3"/>
          <a:stretch>
            <a:fillRect/>
          </a:stretch>
        </p:blipFill>
        <p:spPr>
          <a:xfrm>
            <a:off x="1435" y="3368263"/>
            <a:ext cx="3295650" cy="1019175"/>
          </a:xfrm>
          <a:prstGeom prst="rect">
            <a:avLst/>
          </a:prstGeom>
        </p:spPr>
      </p:pic>
      <p:pic>
        <p:nvPicPr>
          <p:cNvPr id="10" name="Picture 9">
            <a:extLst>
              <a:ext uri="{FF2B5EF4-FFF2-40B4-BE49-F238E27FC236}">
                <a16:creationId xmlns:a16="http://schemas.microsoft.com/office/drawing/2014/main" id="{EFF6CEBF-E82E-804D-CD40-A31E8794A5F4}"/>
              </a:ext>
            </a:extLst>
          </p:cNvPr>
          <p:cNvPicPr>
            <a:picLocks noChangeAspect="1"/>
          </p:cNvPicPr>
          <p:nvPr/>
        </p:nvPicPr>
        <p:blipFill>
          <a:blip r:embed="rId4"/>
          <a:stretch>
            <a:fillRect/>
          </a:stretch>
        </p:blipFill>
        <p:spPr>
          <a:xfrm>
            <a:off x="372649" y="4498540"/>
            <a:ext cx="2824620" cy="856729"/>
          </a:xfrm>
          <a:prstGeom prst="rect">
            <a:avLst/>
          </a:prstGeom>
        </p:spPr>
      </p:pic>
      <p:pic>
        <p:nvPicPr>
          <p:cNvPr id="11" name="Picture 10" descr="A diagram of a rectangular object&#10;&#10;AI-generated content may be incorrect.">
            <a:extLst>
              <a:ext uri="{FF2B5EF4-FFF2-40B4-BE49-F238E27FC236}">
                <a16:creationId xmlns:a16="http://schemas.microsoft.com/office/drawing/2014/main" id="{3E5B97BD-CC2F-2E3D-1F35-6141E8C445C5}"/>
              </a:ext>
            </a:extLst>
          </p:cNvPr>
          <p:cNvPicPr>
            <a:picLocks noChangeAspect="1"/>
          </p:cNvPicPr>
          <p:nvPr/>
        </p:nvPicPr>
        <p:blipFill>
          <a:blip r:embed="rId5"/>
          <a:stretch>
            <a:fillRect/>
          </a:stretch>
        </p:blipFill>
        <p:spPr>
          <a:xfrm>
            <a:off x="8363799" y="1031506"/>
            <a:ext cx="3648075" cy="4314825"/>
          </a:xfrm>
          <a:prstGeom prst="rect">
            <a:avLst/>
          </a:prstGeom>
        </p:spPr>
      </p:pic>
      <p:sp>
        <p:nvSpPr>
          <p:cNvPr id="12" name="TextBox 11">
            <a:extLst>
              <a:ext uri="{FF2B5EF4-FFF2-40B4-BE49-F238E27FC236}">
                <a16:creationId xmlns:a16="http://schemas.microsoft.com/office/drawing/2014/main" id="{113DB6C3-0547-D6A2-B8FA-7EE5049B0039}"/>
              </a:ext>
            </a:extLst>
          </p:cNvPr>
          <p:cNvSpPr txBox="1"/>
          <p:nvPr/>
        </p:nvSpPr>
        <p:spPr>
          <a:xfrm>
            <a:off x="8377107" y="5656369"/>
            <a:ext cx="364230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Times New Roman"/>
                <a:ea typeface="Calibri"/>
                <a:cs typeface="Calibri"/>
              </a:rPr>
              <a:t>Figure 1. </a:t>
            </a:r>
            <a:r>
              <a:rPr lang="en-US" sz="1600">
                <a:latin typeface="Times New Roman"/>
                <a:ea typeface="Calibri"/>
                <a:cs typeface="Calibri"/>
              </a:rPr>
              <a:t>Simulated model of a unit element of an Array</a:t>
            </a:r>
            <a:endParaRPr lang="en-GB" sz="1600">
              <a:latin typeface="Times New Roman"/>
            </a:endParaRPr>
          </a:p>
        </p:txBody>
      </p:sp>
    </p:spTree>
    <p:extLst>
      <p:ext uri="{BB962C8B-B14F-4D97-AF65-F5344CB8AC3E}">
        <p14:creationId xmlns:p14="http://schemas.microsoft.com/office/powerpoint/2010/main" val="2761528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40A4-FB6A-5523-E162-CEF05C92279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596A51-E690-B480-438E-1EF7DC46CE12}"/>
              </a:ext>
            </a:extLst>
          </p:cNvPr>
          <p:cNvSpPr>
            <a:spLocks noGrp="1"/>
          </p:cNvSpPr>
          <p:nvPr>
            <p:ph idx="1"/>
          </p:nvPr>
        </p:nvSpPr>
        <p:spPr>
          <a:xfrm>
            <a:off x="221877" y="861920"/>
            <a:ext cx="11972364" cy="5315043"/>
          </a:xfrm>
        </p:spPr>
        <p:txBody>
          <a:bodyPr vert="horz" lIns="91440" tIns="45720" rIns="91440" bIns="45720" rtlCol="0" anchor="t">
            <a:normAutofit/>
          </a:bodyPr>
          <a:lstStyle/>
          <a:p>
            <a:pPr marL="0" indent="0">
              <a:buNone/>
            </a:pPr>
            <a:r>
              <a:rPr lang="en-IN" sz="2000">
                <a:latin typeface="Wingdings"/>
                <a:sym typeface="Wingdings"/>
              </a:rPr>
              <a:t>q</a:t>
            </a:r>
            <a:r>
              <a:rPr lang="en-IN" sz="2000" b="1">
                <a:latin typeface="Times New Roman"/>
                <a:cs typeface="Times New Roman"/>
              </a:rPr>
              <a:t>Patch Antenna Dimension Calculation</a:t>
            </a:r>
            <a:r>
              <a:rPr lang="en-IN" sz="1800" b="1">
                <a:latin typeface="Times New Roman"/>
                <a:cs typeface="Times New Roman"/>
              </a:rPr>
              <a:t>:</a:t>
            </a:r>
            <a:endParaRPr lang="en-IN">
              <a:ea typeface="Calibri" panose="020F0502020204030204"/>
              <a:cs typeface="Calibri" panose="020F0502020204030204"/>
            </a:endParaRPr>
          </a:p>
          <a:p>
            <a:pPr algn="just">
              <a:buNone/>
            </a:pPr>
            <a:r>
              <a:rPr lang="en-IN" sz="1800">
                <a:latin typeface="Times New Roman"/>
                <a:ea typeface="Calibri"/>
                <a:cs typeface="Times New Roman"/>
              </a:rPr>
              <a:t>Effective Permittivity ε</a:t>
            </a:r>
            <a:r>
              <a:rPr lang="en-IN" sz="1800" baseline="-25000">
                <a:latin typeface="Times New Roman"/>
                <a:ea typeface="Calibri"/>
                <a:cs typeface="Times New Roman"/>
              </a:rPr>
              <a:t>eff  </a:t>
            </a:r>
            <a:endParaRPr lang="en-IN" baseline="-25000">
              <a:ea typeface="Calibri"/>
              <a:cs typeface="Calibri"/>
            </a:endParaRPr>
          </a:p>
          <a:p>
            <a:pPr marL="0" indent="0">
              <a:buNone/>
            </a:pPr>
            <a:endParaRPr lang="en-IN" sz="1800" b="1" dirty="0">
              <a:latin typeface="Times New Roman"/>
              <a:ea typeface="Calibri"/>
              <a:cs typeface="Times New Roman"/>
            </a:endParaRPr>
          </a:p>
          <a:p>
            <a:pPr marL="0" indent="0">
              <a:buNone/>
            </a:pPr>
            <a:r>
              <a:rPr lang="en-IN" sz="1800" b="1" dirty="0">
                <a:latin typeface="Times New Roman"/>
                <a:ea typeface="Calibri"/>
                <a:cs typeface="Times New Roman"/>
              </a:rPr>
              <a:t>                                                                                       </a:t>
            </a:r>
            <a:r>
              <a:rPr lang="en-IN" sz="1800">
                <a:latin typeface="Times New Roman"/>
                <a:ea typeface="Calibri"/>
                <a:cs typeface="Times New Roman"/>
              </a:rPr>
              <a:t> ...(2)</a:t>
            </a:r>
          </a:p>
          <a:p>
            <a:pPr marL="0" indent="0">
              <a:buNone/>
            </a:pPr>
            <a:endParaRPr lang="en-IN" sz="1800" dirty="0">
              <a:latin typeface="Times New Roman"/>
              <a:ea typeface="Calibri"/>
              <a:cs typeface="Times New Roman"/>
            </a:endParaRPr>
          </a:p>
          <a:p>
            <a:pPr marL="0" indent="0">
              <a:buNone/>
            </a:pPr>
            <a:r>
              <a:rPr lang="en-IN" sz="1800">
                <a:latin typeface="Times New Roman"/>
                <a:ea typeface="Calibri"/>
                <a:cs typeface="Times New Roman"/>
              </a:rPr>
              <a:t>                                                                              =&gt;</a:t>
            </a:r>
            <a:r>
              <a:rPr lang="en-IN" sz="3600">
                <a:latin typeface="Times New Roman"/>
                <a:ea typeface="Calibri"/>
                <a:cs typeface="Calibri"/>
              </a:rPr>
              <a:t>ε</a:t>
            </a:r>
            <a:r>
              <a:rPr lang="en-IN" sz="1600">
                <a:latin typeface="Times New Roman"/>
                <a:ea typeface="Calibri"/>
                <a:cs typeface="Calibri"/>
              </a:rPr>
              <a:t>eff</a:t>
            </a:r>
            <a:r>
              <a:rPr lang="en-IN" sz="1800">
                <a:latin typeface="Times New Roman"/>
                <a:ea typeface="Calibri"/>
                <a:cs typeface="Calibri"/>
              </a:rPr>
              <a:t>≈2.03</a:t>
            </a:r>
          </a:p>
          <a:p>
            <a:pPr algn="just">
              <a:buNone/>
            </a:pPr>
            <a:r>
              <a:rPr lang="en-IN" sz="1800">
                <a:latin typeface="Times New Roman"/>
                <a:cs typeface="Times New Roman"/>
              </a:rPr>
              <a:t>Fringing extension ΔL</a:t>
            </a:r>
            <a:endParaRPr lang="en-IN">
              <a:latin typeface="Calibri" panose="020F0502020204030204"/>
              <a:ea typeface="Calibri"/>
              <a:cs typeface="Calibri" panose="020F0502020204030204"/>
            </a:endParaRPr>
          </a:p>
          <a:p>
            <a:pPr algn="just">
              <a:buNone/>
            </a:pPr>
            <a:endParaRPr lang="en-IN" sz="1800" dirty="0">
              <a:latin typeface="Times New Roman"/>
              <a:ea typeface="Calibri"/>
              <a:cs typeface="Times New Roman"/>
            </a:endParaRPr>
          </a:p>
          <a:p>
            <a:pPr marL="0" indent="0">
              <a:buNone/>
            </a:pPr>
            <a:r>
              <a:rPr lang="en-IN" dirty="0">
                <a:latin typeface="Calibri" panose="020F0502020204030204"/>
                <a:ea typeface="Calibri"/>
                <a:cs typeface="Calibri"/>
              </a:rPr>
              <a:t>                                                               </a:t>
            </a:r>
            <a:r>
              <a:rPr lang="en-IN" sz="1800">
                <a:latin typeface="Times New Roman"/>
                <a:ea typeface="Calibri"/>
                <a:cs typeface="Calibri"/>
              </a:rPr>
              <a:t> ...(3)</a:t>
            </a:r>
          </a:p>
          <a:p>
            <a:pPr marL="0" indent="0">
              <a:buNone/>
            </a:pPr>
            <a:endParaRPr lang="en-IN" sz="1800" dirty="0">
              <a:latin typeface="Times New Roman"/>
              <a:ea typeface="Calibri"/>
              <a:cs typeface="Calibri"/>
            </a:endParaRPr>
          </a:p>
          <a:p>
            <a:pPr marL="0" indent="0">
              <a:buNone/>
            </a:pPr>
            <a:r>
              <a:rPr lang="en-IN" sz="1800">
                <a:latin typeface="Times New Roman"/>
                <a:ea typeface="Calibri"/>
                <a:cs typeface="Times New Roman"/>
              </a:rPr>
              <a:t>                                                                          =&gt;   ΔL≈0.74mm </a:t>
            </a:r>
          </a:p>
        </p:txBody>
      </p:sp>
      <p:sp>
        <p:nvSpPr>
          <p:cNvPr id="4" name="Date Placeholder 3">
            <a:extLst>
              <a:ext uri="{FF2B5EF4-FFF2-40B4-BE49-F238E27FC236}">
                <a16:creationId xmlns:a16="http://schemas.microsoft.com/office/drawing/2014/main" id="{ACADB529-BDC5-B664-5F6E-DF68E25FD799}"/>
              </a:ext>
            </a:extLst>
          </p:cNvPr>
          <p:cNvSpPr>
            <a:spLocks noGrp="1"/>
          </p:cNvSpPr>
          <p:nvPr>
            <p:ph type="dt" sz="half" idx="10"/>
          </p:nvPr>
        </p:nvSpPr>
        <p:spPr/>
        <p:txBody>
          <a:bodyPr/>
          <a:lstStyle/>
          <a:p>
            <a:fld id="{FFA23234-F5B4-4BA6-BFFC-BEB05161B9C1}" type="datetime1">
              <a:rPr lang="en-IN" smtClean="0"/>
              <a:t>22-06-2026</a:t>
            </a:fld>
            <a:endParaRPr lang="en-IN"/>
          </a:p>
        </p:txBody>
      </p:sp>
      <p:sp>
        <p:nvSpPr>
          <p:cNvPr id="5" name="Footer Placeholder 4">
            <a:extLst>
              <a:ext uri="{FF2B5EF4-FFF2-40B4-BE49-F238E27FC236}">
                <a16:creationId xmlns:a16="http://schemas.microsoft.com/office/drawing/2014/main" id="{0DAB643E-E20C-1EAD-746A-190B29C2D5E6}"/>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D370D2F7-7DC5-3BFF-7963-DF80015D83E6}"/>
              </a:ext>
            </a:extLst>
          </p:cNvPr>
          <p:cNvSpPr>
            <a:spLocks noGrp="1"/>
          </p:cNvSpPr>
          <p:nvPr>
            <p:ph type="sldNum" sz="quarter" idx="12"/>
          </p:nvPr>
        </p:nvSpPr>
        <p:spPr/>
        <p:txBody>
          <a:bodyPr/>
          <a:lstStyle/>
          <a:p>
            <a:fld id="{1CCCFFBF-4DCD-46DE-85E1-69841FB49368}" type="slidenum">
              <a:rPr lang="en-IN" smtClean="0"/>
              <a:t>10</a:t>
            </a:fld>
            <a:endParaRPr lang="en-IN"/>
          </a:p>
        </p:txBody>
      </p:sp>
      <p:pic>
        <p:nvPicPr>
          <p:cNvPr id="8" name="Picture 7" descr="A pink and black logo&#10;&#10;AI-generated content may be incorrect.">
            <a:extLst>
              <a:ext uri="{FF2B5EF4-FFF2-40B4-BE49-F238E27FC236}">
                <a16:creationId xmlns:a16="http://schemas.microsoft.com/office/drawing/2014/main" id="{87250E40-E4FF-2975-EE9F-0BBEBFF98B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2" name="TextBox 1">
            <a:extLst>
              <a:ext uri="{FF2B5EF4-FFF2-40B4-BE49-F238E27FC236}">
                <a16:creationId xmlns:a16="http://schemas.microsoft.com/office/drawing/2014/main" id="{CA603D1E-8676-42D5-337C-E824F2892B0E}"/>
              </a:ext>
            </a:extLst>
          </p:cNvPr>
          <p:cNvSpPr txBox="1"/>
          <p:nvPr/>
        </p:nvSpPr>
        <p:spPr>
          <a:xfrm>
            <a:off x="0"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rPr>
              <a:t>METHODOLOGY</a:t>
            </a:r>
            <a:r>
              <a:rPr lang="en-US" sz="3200" b="1">
                <a:latin typeface="Times New Roman"/>
              </a:rPr>
              <a:t>:</a:t>
            </a:r>
            <a:endParaRPr lang="en-GB"/>
          </a:p>
        </p:txBody>
      </p:sp>
      <p:pic>
        <p:nvPicPr>
          <p:cNvPr id="15" name="Picture 14">
            <a:extLst>
              <a:ext uri="{FF2B5EF4-FFF2-40B4-BE49-F238E27FC236}">
                <a16:creationId xmlns:a16="http://schemas.microsoft.com/office/drawing/2014/main" id="{79B57BFD-F168-1002-677E-9769EC3652B4}"/>
              </a:ext>
            </a:extLst>
          </p:cNvPr>
          <p:cNvPicPr>
            <a:picLocks noChangeAspect="1"/>
          </p:cNvPicPr>
          <p:nvPr/>
        </p:nvPicPr>
        <p:blipFill>
          <a:blip r:embed="rId3"/>
          <a:stretch>
            <a:fillRect/>
          </a:stretch>
        </p:blipFill>
        <p:spPr>
          <a:xfrm>
            <a:off x="331353" y="1719589"/>
            <a:ext cx="3971925" cy="704850"/>
          </a:xfrm>
          <a:prstGeom prst="rect">
            <a:avLst/>
          </a:prstGeom>
        </p:spPr>
      </p:pic>
      <p:pic>
        <p:nvPicPr>
          <p:cNvPr id="16" name="Picture 15" descr="A math equation with numbers and plus and two&#10;&#10;AI-generated content may be incorrect.">
            <a:extLst>
              <a:ext uri="{FF2B5EF4-FFF2-40B4-BE49-F238E27FC236}">
                <a16:creationId xmlns:a16="http://schemas.microsoft.com/office/drawing/2014/main" id="{9F696CE7-1842-B098-9A4C-83EA1C388400}"/>
              </a:ext>
            </a:extLst>
          </p:cNvPr>
          <p:cNvPicPr>
            <a:picLocks noChangeAspect="1"/>
          </p:cNvPicPr>
          <p:nvPr/>
        </p:nvPicPr>
        <p:blipFill>
          <a:blip r:embed="rId4"/>
          <a:stretch>
            <a:fillRect/>
          </a:stretch>
        </p:blipFill>
        <p:spPr>
          <a:xfrm>
            <a:off x="332593" y="2596344"/>
            <a:ext cx="4094706" cy="840680"/>
          </a:xfrm>
          <a:prstGeom prst="rect">
            <a:avLst/>
          </a:prstGeom>
        </p:spPr>
      </p:pic>
      <p:pic>
        <p:nvPicPr>
          <p:cNvPr id="17" name="Picture 16">
            <a:extLst>
              <a:ext uri="{FF2B5EF4-FFF2-40B4-BE49-F238E27FC236}">
                <a16:creationId xmlns:a16="http://schemas.microsoft.com/office/drawing/2014/main" id="{6323CDDE-077D-4052-8654-126C2424E5D6}"/>
              </a:ext>
            </a:extLst>
          </p:cNvPr>
          <p:cNvPicPr>
            <a:picLocks noChangeAspect="1"/>
          </p:cNvPicPr>
          <p:nvPr/>
        </p:nvPicPr>
        <p:blipFill>
          <a:blip r:embed="rId5"/>
          <a:stretch>
            <a:fillRect/>
          </a:stretch>
        </p:blipFill>
        <p:spPr>
          <a:xfrm>
            <a:off x="333375" y="3849732"/>
            <a:ext cx="3905250" cy="828675"/>
          </a:xfrm>
          <a:prstGeom prst="rect">
            <a:avLst/>
          </a:prstGeom>
        </p:spPr>
      </p:pic>
      <p:pic>
        <p:nvPicPr>
          <p:cNvPr id="18" name="Picture 17" descr="A black numbers and symbols&#10;&#10;AI-generated content may be incorrect.">
            <a:extLst>
              <a:ext uri="{FF2B5EF4-FFF2-40B4-BE49-F238E27FC236}">
                <a16:creationId xmlns:a16="http://schemas.microsoft.com/office/drawing/2014/main" id="{FCAD0E8B-98EC-7D73-3177-D910CA9A0BE6}"/>
              </a:ext>
            </a:extLst>
          </p:cNvPr>
          <p:cNvPicPr>
            <a:picLocks noChangeAspect="1"/>
          </p:cNvPicPr>
          <p:nvPr/>
        </p:nvPicPr>
        <p:blipFill>
          <a:blip r:embed="rId6"/>
          <a:stretch>
            <a:fillRect/>
          </a:stretch>
        </p:blipFill>
        <p:spPr>
          <a:xfrm>
            <a:off x="333571" y="4862969"/>
            <a:ext cx="3977928" cy="764610"/>
          </a:xfrm>
          <a:prstGeom prst="rect">
            <a:avLst/>
          </a:prstGeom>
        </p:spPr>
      </p:pic>
    </p:spTree>
    <p:extLst>
      <p:ext uri="{BB962C8B-B14F-4D97-AF65-F5344CB8AC3E}">
        <p14:creationId xmlns:p14="http://schemas.microsoft.com/office/powerpoint/2010/main" val="932429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A0A4-1DBD-4AF8-8960-5F637C40B2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9D8D3B-012C-F45B-21AB-2326C8F19A3B}"/>
              </a:ext>
            </a:extLst>
          </p:cNvPr>
          <p:cNvSpPr>
            <a:spLocks noGrp="1"/>
          </p:cNvSpPr>
          <p:nvPr>
            <p:ph idx="1"/>
          </p:nvPr>
        </p:nvSpPr>
        <p:spPr>
          <a:xfrm>
            <a:off x="221877" y="861920"/>
            <a:ext cx="11972364" cy="5315043"/>
          </a:xfrm>
        </p:spPr>
        <p:txBody>
          <a:bodyPr vert="horz" lIns="91440" tIns="45720" rIns="91440" bIns="45720" rtlCol="0" anchor="t">
            <a:normAutofit/>
          </a:bodyPr>
          <a:lstStyle/>
          <a:p>
            <a:pPr marL="0" indent="0">
              <a:buNone/>
            </a:pPr>
            <a:r>
              <a:rPr lang="en-IN" sz="2000">
                <a:latin typeface="Wingdings"/>
                <a:sym typeface="Wingdings"/>
              </a:rPr>
              <a:t>q</a:t>
            </a:r>
            <a:r>
              <a:rPr lang="en-IN" sz="2000" b="1">
                <a:latin typeface="Times New Roman"/>
                <a:cs typeface="Times New Roman"/>
              </a:rPr>
              <a:t>Patch Antenna Dimension Calculation</a:t>
            </a:r>
            <a:r>
              <a:rPr lang="en-IN" sz="1800" b="1">
                <a:latin typeface="Times New Roman"/>
                <a:cs typeface="Times New Roman"/>
              </a:rPr>
              <a:t>:</a:t>
            </a:r>
          </a:p>
          <a:p>
            <a:pPr marL="0" indent="0">
              <a:buNone/>
            </a:pPr>
            <a:r>
              <a:rPr lang="en-IN" sz="1800">
                <a:latin typeface="Times New Roman"/>
                <a:ea typeface="Calibri"/>
                <a:cs typeface="Times New Roman"/>
              </a:rPr>
              <a:t>Effective length(L</a:t>
            </a:r>
            <a:r>
              <a:rPr lang="en-IN" sz="1800" baseline="-25000">
                <a:latin typeface="Times New Roman"/>
                <a:ea typeface="Calibri"/>
                <a:cs typeface="Times New Roman"/>
              </a:rPr>
              <a:t>eff</a:t>
            </a:r>
            <a:r>
              <a:rPr lang="en-IN" sz="1800">
                <a:latin typeface="Times New Roman"/>
                <a:ea typeface="Calibri"/>
                <a:cs typeface="Times New Roman"/>
              </a:rPr>
              <a:t>):</a:t>
            </a:r>
          </a:p>
          <a:p>
            <a:pPr marL="0" indent="0">
              <a:buNone/>
            </a:pPr>
            <a:r>
              <a:rPr lang="en-IN" sz="1800" dirty="0">
                <a:latin typeface="Times New Roman"/>
                <a:ea typeface="Calibri"/>
                <a:cs typeface="Times New Roman"/>
              </a:rPr>
              <a:t>                                               </a:t>
            </a:r>
          </a:p>
          <a:p>
            <a:pPr marL="0" indent="0">
              <a:buNone/>
            </a:pPr>
            <a:r>
              <a:rPr lang="en-IN" sz="1800">
                <a:latin typeface="Times New Roman"/>
                <a:ea typeface="Calibri"/>
                <a:cs typeface="Times New Roman"/>
              </a:rPr>
              <a:t>                                                          ...(4)     </a:t>
            </a:r>
          </a:p>
          <a:p>
            <a:pPr marL="0" indent="0">
              <a:buNone/>
            </a:pPr>
            <a:endParaRPr lang="en-IN" sz="1800" dirty="0">
              <a:latin typeface="Times New Roman"/>
              <a:ea typeface="Calibri"/>
              <a:cs typeface="Times New Roman"/>
            </a:endParaRPr>
          </a:p>
          <a:p>
            <a:pPr marL="0" indent="0">
              <a:buNone/>
            </a:pPr>
            <a:r>
              <a:rPr lang="en-IN" sz="1800">
                <a:latin typeface="Times New Roman"/>
                <a:ea typeface="Calibri"/>
                <a:cs typeface="Times New Roman"/>
              </a:rPr>
              <a:t>                                            =&gt; L</a:t>
            </a:r>
            <a:r>
              <a:rPr lang="en-IN" sz="1800" baseline="-25000">
                <a:latin typeface="Times New Roman"/>
                <a:ea typeface="Calibri"/>
                <a:cs typeface="Times New Roman"/>
              </a:rPr>
              <a:t>eff</a:t>
            </a:r>
            <a:r>
              <a:rPr lang="en-IN" sz="1800">
                <a:latin typeface="Times New Roman"/>
                <a:ea typeface="Calibri"/>
                <a:cs typeface="Times New Roman"/>
              </a:rPr>
              <a:t> = 30.2mm</a:t>
            </a:r>
          </a:p>
          <a:p>
            <a:pPr marL="0" indent="0">
              <a:buNone/>
            </a:pPr>
            <a:endParaRPr lang="en-IN" sz="1800" dirty="0">
              <a:latin typeface="Times New Roman"/>
              <a:ea typeface="Calibri"/>
              <a:cs typeface="Times New Roman"/>
            </a:endParaRPr>
          </a:p>
          <a:p>
            <a:pPr marL="0" indent="0">
              <a:buNone/>
            </a:pPr>
            <a:r>
              <a:rPr lang="en-IN" sz="1800">
                <a:latin typeface="Times New Roman"/>
                <a:ea typeface="Calibri"/>
                <a:cs typeface="Times New Roman"/>
              </a:rPr>
              <a:t>Physical length of patch:</a:t>
            </a:r>
          </a:p>
          <a:p>
            <a:pPr marL="0" indent="0">
              <a:buNone/>
            </a:pPr>
            <a:r>
              <a:rPr lang="en-IN" sz="1800">
                <a:latin typeface="Times New Roman"/>
                <a:ea typeface="Calibri"/>
                <a:cs typeface="Times New Roman"/>
              </a:rPr>
              <a:t>                                                           ...(5)</a:t>
            </a:r>
          </a:p>
          <a:p>
            <a:pPr marL="0" indent="0">
              <a:buNone/>
            </a:pPr>
            <a:endParaRPr lang="en-IN" sz="1800" dirty="0">
              <a:latin typeface="Times New Roman"/>
              <a:ea typeface="Calibri"/>
              <a:cs typeface="Times New Roman"/>
            </a:endParaRPr>
          </a:p>
          <a:p>
            <a:pPr marL="0" indent="0">
              <a:buNone/>
            </a:pPr>
            <a:r>
              <a:rPr lang="en-IN" sz="1800">
                <a:latin typeface="Times New Roman"/>
                <a:ea typeface="Calibri"/>
                <a:cs typeface="Times New Roman"/>
              </a:rPr>
              <a:t>L=30.2-1.48 = 28.7mm </a:t>
            </a:r>
            <a:endParaRPr lang="en-IN" sz="1800" dirty="0">
              <a:latin typeface="Times New Roman"/>
              <a:ea typeface="Calibri"/>
              <a:cs typeface="Times New Roman"/>
            </a:endParaRPr>
          </a:p>
          <a:p>
            <a:pPr marL="0" indent="0">
              <a:buNone/>
            </a:pPr>
            <a:r>
              <a:rPr lang="en-IN" sz="1800" dirty="0">
                <a:latin typeface="Times New Roman"/>
                <a:ea typeface="Calibri"/>
                <a:cs typeface="Times New Roman"/>
              </a:rPr>
              <a:t>                                               </a:t>
            </a:r>
          </a:p>
        </p:txBody>
      </p:sp>
      <p:sp>
        <p:nvSpPr>
          <p:cNvPr id="4" name="Date Placeholder 3">
            <a:extLst>
              <a:ext uri="{FF2B5EF4-FFF2-40B4-BE49-F238E27FC236}">
                <a16:creationId xmlns:a16="http://schemas.microsoft.com/office/drawing/2014/main" id="{4DA039FC-C555-B125-014B-C5D58D9F96F5}"/>
              </a:ext>
            </a:extLst>
          </p:cNvPr>
          <p:cNvSpPr>
            <a:spLocks noGrp="1"/>
          </p:cNvSpPr>
          <p:nvPr>
            <p:ph type="dt" sz="half" idx="10"/>
          </p:nvPr>
        </p:nvSpPr>
        <p:spPr/>
        <p:txBody>
          <a:bodyPr/>
          <a:lstStyle/>
          <a:p>
            <a:fld id="{FFA23234-F5B4-4BA6-BFFC-BEB05161B9C1}" type="datetime1">
              <a:rPr lang="en-IN" smtClean="0"/>
              <a:t>22-06-2026</a:t>
            </a:fld>
            <a:endParaRPr lang="en-IN"/>
          </a:p>
        </p:txBody>
      </p:sp>
      <p:sp>
        <p:nvSpPr>
          <p:cNvPr id="5" name="Footer Placeholder 4">
            <a:extLst>
              <a:ext uri="{FF2B5EF4-FFF2-40B4-BE49-F238E27FC236}">
                <a16:creationId xmlns:a16="http://schemas.microsoft.com/office/drawing/2014/main" id="{38787953-B46F-D755-ABDC-0585D38A0B88}"/>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E2078046-E315-1186-0A59-070B949B94B8}"/>
              </a:ext>
            </a:extLst>
          </p:cNvPr>
          <p:cNvSpPr>
            <a:spLocks noGrp="1"/>
          </p:cNvSpPr>
          <p:nvPr>
            <p:ph type="sldNum" sz="quarter" idx="12"/>
          </p:nvPr>
        </p:nvSpPr>
        <p:spPr/>
        <p:txBody>
          <a:bodyPr/>
          <a:lstStyle/>
          <a:p>
            <a:fld id="{1CCCFFBF-4DCD-46DE-85E1-69841FB49368}" type="slidenum">
              <a:rPr lang="en-IN" smtClean="0"/>
              <a:t>11</a:t>
            </a:fld>
            <a:endParaRPr lang="en-IN"/>
          </a:p>
        </p:txBody>
      </p:sp>
      <p:pic>
        <p:nvPicPr>
          <p:cNvPr id="8" name="Picture 7" descr="A pink and black logo&#10;&#10;AI-generated content may be incorrect.">
            <a:extLst>
              <a:ext uri="{FF2B5EF4-FFF2-40B4-BE49-F238E27FC236}">
                <a16:creationId xmlns:a16="http://schemas.microsoft.com/office/drawing/2014/main" id="{40F4BD05-2313-BD3E-F050-164D2E796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2" name="TextBox 1">
            <a:extLst>
              <a:ext uri="{FF2B5EF4-FFF2-40B4-BE49-F238E27FC236}">
                <a16:creationId xmlns:a16="http://schemas.microsoft.com/office/drawing/2014/main" id="{9CB9ADEB-D853-F57D-A9A7-ED486E891966}"/>
              </a:ext>
            </a:extLst>
          </p:cNvPr>
          <p:cNvSpPr txBox="1"/>
          <p:nvPr/>
        </p:nvSpPr>
        <p:spPr>
          <a:xfrm>
            <a:off x="0"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rPr>
              <a:t>METHODOLOGY</a:t>
            </a:r>
            <a:r>
              <a:rPr lang="en-US" sz="3200" b="1">
                <a:latin typeface="Times New Roman"/>
              </a:rPr>
              <a:t>:</a:t>
            </a:r>
            <a:endParaRPr lang="en-GB"/>
          </a:p>
        </p:txBody>
      </p:sp>
      <p:pic>
        <p:nvPicPr>
          <p:cNvPr id="10" name="Picture 9" descr="A mathematical equation with numbers and symbols&#10;&#10;AI-generated content may be incorrect.">
            <a:extLst>
              <a:ext uri="{FF2B5EF4-FFF2-40B4-BE49-F238E27FC236}">
                <a16:creationId xmlns:a16="http://schemas.microsoft.com/office/drawing/2014/main" id="{EB884B74-83FF-2F78-31CD-BE9A789CE1F1}"/>
              </a:ext>
            </a:extLst>
          </p:cNvPr>
          <p:cNvPicPr>
            <a:picLocks noChangeAspect="1"/>
          </p:cNvPicPr>
          <p:nvPr/>
        </p:nvPicPr>
        <p:blipFill>
          <a:blip r:embed="rId3"/>
          <a:stretch>
            <a:fillRect/>
          </a:stretch>
        </p:blipFill>
        <p:spPr>
          <a:xfrm>
            <a:off x="325221" y="1716652"/>
            <a:ext cx="1666875" cy="752475"/>
          </a:xfrm>
          <a:prstGeom prst="rect">
            <a:avLst/>
          </a:prstGeom>
        </p:spPr>
      </p:pic>
      <p:pic>
        <p:nvPicPr>
          <p:cNvPr id="13" name="Picture 12" descr="A number on a black background&#10;&#10;AI-generated content may be incorrect.">
            <a:extLst>
              <a:ext uri="{FF2B5EF4-FFF2-40B4-BE49-F238E27FC236}">
                <a16:creationId xmlns:a16="http://schemas.microsoft.com/office/drawing/2014/main" id="{7F3B78C2-34E5-1706-4949-5A9EE97FC81D}"/>
              </a:ext>
            </a:extLst>
          </p:cNvPr>
          <p:cNvPicPr>
            <a:picLocks noChangeAspect="1"/>
          </p:cNvPicPr>
          <p:nvPr/>
        </p:nvPicPr>
        <p:blipFill>
          <a:blip r:embed="rId4"/>
          <a:stretch>
            <a:fillRect/>
          </a:stretch>
        </p:blipFill>
        <p:spPr>
          <a:xfrm>
            <a:off x="322538" y="2686809"/>
            <a:ext cx="2314575" cy="733425"/>
          </a:xfrm>
          <a:prstGeom prst="rect">
            <a:avLst/>
          </a:prstGeom>
        </p:spPr>
      </p:pic>
      <p:pic>
        <p:nvPicPr>
          <p:cNvPr id="14" name="Picture 13">
            <a:extLst>
              <a:ext uri="{FF2B5EF4-FFF2-40B4-BE49-F238E27FC236}">
                <a16:creationId xmlns:a16="http://schemas.microsoft.com/office/drawing/2014/main" id="{A27797B4-2DF0-52C2-5B4C-8EA04EAF2AFB}"/>
              </a:ext>
            </a:extLst>
          </p:cNvPr>
          <p:cNvPicPr>
            <a:picLocks noChangeAspect="1"/>
          </p:cNvPicPr>
          <p:nvPr/>
        </p:nvPicPr>
        <p:blipFill>
          <a:blip r:embed="rId5"/>
          <a:stretch>
            <a:fillRect/>
          </a:stretch>
        </p:blipFill>
        <p:spPr>
          <a:xfrm>
            <a:off x="222250" y="4011336"/>
            <a:ext cx="2095500" cy="447675"/>
          </a:xfrm>
          <a:prstGeom prst="rect">
            <a:avLst/>
          </a:prstGeom>
        </p:spPr>
      </p:pic>
    </p:spTree>
    <p:extLst>
      <p:ext uri="{BB962C8B-B14F-4D97-AF65-F5344CB8AC3E}">
        <p14:creationId xmlns:p14="http://schemas.microsoft.com/office/powerpoint/2010/main" val="393757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5316F-D192-B6D8-08F6-17BA54F5012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091E923-949C-9A90-40E0-154D5C5F8DF1}"/>
              </a:ext>
            </a:extLst>
          </p:cNvPr>
          <p:cNvSpPr>
            <a:spLocks noGrp="1"/>
          </p:cNvSpPr>
          <p:nvPr>
            <p:ph type="dt" sz="half" idx="10"/>
          </p:nvPr>
        </p:nvSpPr>
        <p:spPr/>
        <p:txBody>
          <a:bodyPr/>
          <a:lstStyle/>
          <a:p>
            <a:fld id="{EDF88E1D-3A48-4414-98C3-FF9C491158CD}" type="datetime1">
              <a:rPr lang="en-IN" smtClean="0"/>
              <a:t>22-06-2026</a:t>
            </a:fld>
            <a:endParaRPr lang="en-IN"/>
          </a:p>
        </p:txBody>
      </p:sp>
      <p:sp>
        <p:nvSpPr>
          <p:cNvPr id="5" name="Footer Placeholder 4">
            <a:extLst>
              <a:ext uri="{FF2B5EF4-FFF2-40B4-BE49-F238E27FC236}">
                <a16:creationId xmlns:a16="http://schemas.microsoft.com/office/drawing/2014/main" id="{C1C00B3E-70C8-CCD9-C065-F3C955B55D54}"/>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0A63C642-F701-E7FB-36C6-F14E84AF5896}"/>
              </a:ext>
            </a:extLst>
          </p:cNvPr>
          <p:cNvSpPr>
            <a:spLocks noGrp="1"/>
          </p:cNvSpPr>
          <p:nvPr>
            <p:ph type="sldNum" sz="quarter" idx="12"/>
          </p:nvPr>
        </p:nvSpPr>
        <p:spPr/>
        <p:txBody>
          <a:bodyPr/>
          <a:lstStyle/>
          <a:p>
            <a:fld id="{1CCCFFBF-4DCD-46DE-85E1-69841FB49368}" type="slidenum">
              <a:rPr lang="en-IN" smtClean="0"/>
              <a:t>12</a:t>
            </a:fld>
            <a:endParaRPr lang="en-IN"/>
          </a:p>
        </p:txBody>
      </p:sp>
      <p:pic>
        <p:nvPicPr>
          <p:cNvPr id="8" name="Picture 7">
            <a:extLst>
              <a:ext uri="{FF2B5EF4-FFF2-40B4-BE49-F238E27FC236}">
                <a16:creationId xmlns:a16="http://schemas.microsoft.com/office/drawing/2014/main" id="{B7EBA194-5BB0-353F-FFE8-B5F74204E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7" name="TextBox 6">
            <a:extLst>
              <a:ext uri="{FF2B5EF4-FFF2-40B4-BE49-F238E27FC236}">
                <a16:creationId xmlns:a16="http://schemas.microsoft.com/office/drawing/2014/main" id="{F120DF43-680B-96DF-B45A-86A40BDDD91D}"/>
              </a:ext>
            </a:extLst>
          </p:cNvPr>
          <p:cNvSpPr txBox="1"/>
          <p:nvPr/>
        </p:nvSpPr>
        <p:spPr>
          <a:xfrm>
            <a:off x="83507"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cs typeface="Times New Roman"/>
              </a:rPr>
              <a:t>METHODOLOGY</a:t>
            </a:r>
            <a:r>
              <a:rPr lang="en-US" sz="3200" b="1">
                <a:latin typeface="Times New Roman"/>
                <a:cs typeface="Times New Roman"/>
              </a:rPr>
              <a:t>:</a:t>
            </a:r>
          </a:p>
        </p:txBody>
      </p:sp>
      <p:pic>
        <p:nvPicPr>
          <p:cNvPr id="10" name="Content Placeholder 9" descr="A diagram of a process&#10;&#10;AI-generated content may be incorrect.">
            <a:extLst>
              <a:ext uri="{FF2B5EF4-FFF2-40B4-BE49-F238E27FC236}">
                <a16:creationId xmlns:a16="http://schemas.microsoft.com/office/drawing/2014/main" id="{2C0D599A-18E0-0917-1954-31DC8C269718}"/>
              </a:ext>
            </a:extLst>
          </p:cNvPr>
          <p:cNvPicPr>
            <a:picLocks noGrp="1" noChangeAspect="1"/>
          </p:cNvPicPr>
          <p:nvPr>
            <p:ph idx="1"/>
          </p:nvPr>
        </p:nvPicPr>
        <p:blipFill>
          <a:blip r:embed="rId3"/>
          <a:stretch>
            <a:fillRect/>
          </a:stretch>
        </p:blipFill>
        <p:spPr>
          <a:xfrm>
            <a:off x="325837" y="959241"/>
            <a:ext cx="9410902" cy="4351338"/>
          </a:xfrm>
          <a:prstGeom prst="rect">
            <a:avLst/>
          </a:prstGeom>
        </p:spPr>
      </p:pic>
    </p:spTree>
    <p:extLst>
      <p:ext uri="{BB962C8B-B14F-4D97-AF65-F5344CB8AC3E}">
        <p14:creationId xmlns:p14="http://schemas.microsoft.com/office/powerpoint/2010/main" val="698216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89D8F-A2E9-B034-8079-B956D87DC3D9}"/>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1112DF30-4446-769E-6F25-0108B175FF1C}"/>
              </a:ext>
            </a:extLst>
          </p:cNvPr>
          <p:cNvSpPr>
            <a:spLocks noGrp="1"/>
          </p:cNvSpPr>
          <p:nvPr>
            <p:ph idx="1"/>
          </p:nvPr>
        </p:nvSpPr>
        <p:spPr>
          <a:xfrm>
            <a:off x="24008" y="875735"/>
            <a:ext cx="10515600" cy="4351338"/>
          </a:xfrm>
        </p:spPr>
        <p:txBody>
          <a:bodyPr vert="horz" lIns="91440" tIns="45720" rIns="91440" bIns="45720" rtlCol="0" anchor="t">
            <a:normAutofit lnSpcReduction="10000"/>
          </a:bodyPr>
          <a:lstStyle/>
          <a:p>
            <a:r>
              <a:rPr lang="en-IN" sz="2400">
                <a:latin typeface="Times New Roman"/>
                <a:ea typeface="Calibri"/>
                <a:cs typeface="Calibri"/>
              </a:rPr>
              <a:t>Analysis of the S-parameter plot for an element with HFSS.</a:t>
            </a: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r>
              <a:rPr lang="en-IN" dirty="0">
                <a:latin typeface="Times New Roman"/>
                <a:ea typeface="Calibri"/>
                <a:cs typeface="Calibri"/>
              </a:rPr>
              <a:t> </a:t>
            </a:r>
            <a:r>
              <a:rPr lang="en-IN" sz="2000">
                <a:latin typeface="Times New Roman"/>
                <a:ea typeface="Calibri"/>
                <a:cs typeface="Calibri"/>
              </a:rPr>
              <a:t> Figure 2. </a:t>
            </a:r>
            <a:r>
              <a:rPr lang="en-US" sz="2000">
                <a:latin typeface="Times New Roman"/>
                <a:ea typeface="Calibri"/>
                <a:cs typeface="Times New Roman"/>
              </a:rPr>
              <a:t>Simulated  S-parameter of a unit element   </a:t>
            </a:r>
            <a:endParaRPr lang="en-IN" sz="2000" dirty="0">
              <a:latin typeface="Times New Roman"/>
              <a:ea typeface="Calibri"/>
              <a:cs typeface="Calibri"/>
            </a:endParaRPr>
          </a:p>
          <a:p>
            <a:pPr marL="0" indent="0">
              <a:buNone/>
            </a:pPr>
            <a:endParaRPr lang="en-IN" sz="2000" dirty="0">
              <a:latin typeface="Times New Roman"/>
              <a:ea typeface="Calibri"/>
              <a:cs typeface="Calibri"/>
            </a:endParaRPr>
          </a:p>
        </p:txBody>
      </p:sp>
      <p:sp>
        <p:nvSpPr>
          <p:cNvPr id="4" name="Date Placeholder 3">
            <a:extLst>
              <a:ext uri="{FF2B5EF4-FFF2-40B4-BE49-F238E27FC236}">
                <a16:creationId xmlns:a16="http://schemas.microsoft.com/office/drawing/2014/main" id="{FA32CEFC-AF3F-31E2-B677-ED4EA7C9C4AF}"/>
              </a:ext>
            </a:extLst>
          </p:cNvPr>
          <p:cNvSpPr>
            <a:spLocks noGrp="1"/>
          </p:cNvSpPr>
          <p:nvPr>
            <p:ph type="dt" sz="half" idx="10"/>
          </p:nvPr>
        </p:nvSpPr>
        <p:spPr/>
        <p:txBody>
          <a:bodyPr/>
          <a:lstStyle/>
          <a:p>
            <a:fld id="{C0883387-8E05-44FA-9CA1-FD7515E30DCB}" type="datetime1">
              <a:rPr lang="en-IN" smtClean="0"/>
              <a:t>22-06-2026</a:t>
            </a:fld>
            <a:endParaRPr lang="en-IN"/>
          </a:p>
        </p:txBody>
      </p:sp>
      <p:sp>
        <p:nvSpPr>
          <p:cNvPr id="5" name="Footer Placeholder 4">
            <a:extLst>
              <a:ext uri="{FF2B5EF4-FFF2-40B4-BE49-F238E27FC236}">
                <a16:creationId xmlns:a16="http://schemas.microsoft.com/office/drawing/2014/main" id="{8647BBB2-6270-7149-E9AA-0B1D4AAF3247}"/>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3FA27AB3-DDD7-9895-B48A-9D63AB2A247F}"/>
              </a:ext>
            </a:extLst>
          </p:cNvPr>
          <p:cNvSpPr>
            <a:spLocks noGrp="1"/>
          </p:cNvSpPr>
          <p:nvPr>
            <p:ph type="sldNum" sz="quarter" idx="12"/>
          </p:nvPr>
        </p:nvSpPr>
        <p:spPr/>
        <p:txBody>
          <a:bodyPr/>
          <a:lstStyle/>
          <a:p>
            <a:fld id="{1CCCFFBF-4DCD-46DE-85E1-69841FB49368}" type="slidenum">
              <a:rPr lang="en-IN" smtClean="0"/>
              <a:t>13</a:t>
            </a:fld>
            <a:endParaRPr lang="en-IN"/>
          </a:p>
        </p:txBody>
      </p:sp>
      <p:pic>
        <p:nvPicPr>
          <p:cNvPr id="8" name="Picture 7" descr="A pink and black logo&#10;&#10;AI-generated content may be incorrect.">
            <a:extLst>
              <a:ext uri="{FF2B5EF4-FFF2-40B4-BE49-F238E27FC236}">
                <a16:creationId xmlns:a16="http://schemas.microsoft.com/office/drawing/2014/main" id="{8B955D76-F9C3-989B-AC61-6E28157F90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9" name="Picture 8" descr="A graph with red lines and yellow text&#10;&#10;AI-generated content may be incorrect.">
            <a:extLst>
              <a:ext uri="{FF2B5EF4-FFF2-40B4-BE49-F238E27FC236}">
                <a16:creationId xmlns:a16="http://schemas.microsoft.com/office/drawing/2014/main" id="{8D72CAF5-2204-B474-37DE-8A67D59DA06F}"/>
              </a:ext>
            </a:extLst>
          </p:cNvPr>
          <p:cNvPicPr>
            <a:picLocks noChangeAspect="1"/>
          </p:cNvPicPr>
          <p:nvPr/>
        </p:nvPicPr>
        <p:blipFill>
          <a:blip r:embed="rId3"/>
          <a:stretch>
            <a:fillRect/>
          </a:stretch>
        </p:blipFill>
        <p:spPr>
          <a:xfrm>
            <a:off x="279878" y="1429794"/>
            <a:ext cx="8667750" cy="3090275"/>
          </a:xfrm>
          <a:prstGeom prst="rect">
            <a:avLst/>
          </a:prstGeom>
        </p:spPr>
      </p:pic>
    </p:spTree>
    <p:extLst>
      <p:ext uri="{BB962C8B-B14F-4D97-AF65-F5344CB8AC3E}">
        <p14:creationId xmlns:p14="http://schemas.microsoft.com/office/powerpoint/2010/main" val="2213498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FA330-5415-EEB4-D882-03453DBE8F3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16C788F-9E4C-FF5A-698D-A4495288F4D9}"/>
              </a:ext>
            </a:extLst>
          </p:cNvPr>
          <p:cNvSpPr>
            <a:spLocks noGrp="1"/>
          </p:cNvSpPr>
          <p:nvPr>
            <p:ph type="dt" sz="half" idx="10"/>
          </p:nvPr>
        </p:nvSpPr>
        <p:spPr/>
        <p:txBody>
          <a:bodyPr/>
          <a:lstStyle/>
          <a:p>
            <a:fld id="{EDF88E1D-3A48-4414-98C3-FF9C491158CD}" type="datetime1">
              <a:rPr lang="en-IN" smtClean="0"/>
              <a:t>22-06-2026</a:t>
            </a:fld>
            <a:endParaRPr lang="en-IN"/>
          </a:p>
        </p:txBody>
      </p:sp>
      <p:sp>
        <p:nvSpPr>
          <p:cNvPr id="5" name="Footer Placeholder 4">
            <a:extLst>
              <a:ext uri="{FF2B5EF4-FFF2-40B4-BE49-F238E27FC236}">
                <a16:creationId xmlns:a16="http://schemas.microsoft.com/office/drawing/2014/main" id="{AAB5163A-519F-2AC2-1414-724F63DE9D31}"/>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2040A4F2-8327-CF9B-E35A-53EB8E7810C5}"/>
              </a:ext>
            </a:extLst>
          </p:cNvPr>
          <p:cNvSpPr>
            <a:spLocks noGrp="1"/>
          </p:cNvSpPr>
          <p:nvPr>
            <p:ph type="sldNum" sz="quarter" idx="12"/>
          </p:nvPr>
        </p:nvSpPr>
        <p:spPr/>
        <p:txBody>
          <a:bodyPr/>
          <a:lstStyle/>
          <a:p>
            <a:fld id="{1CCCFFBF-4DCD-46DE-85E1-69841FB49368}" type="slidenum">
              <a:rPr lang="en-IN" smtClean="0"/>
              <a:t>14</a:t>
            </a:fld>
            <a:endParaRPr lang="en-IN"/>
          </a:p>
        </p:txBody>
      </p:sp>
      <p:pic>
        <p:nvPicPr>
          <p:cNvPr id="8" name="Picture 7">
            <a:extLst>
              <a:ext uri="{FF2B5EF4-FFF2-40B4-BE49-F238E27FC236}">
                <a16:creationId xmlns:a16="http://schemas.microsoft.com/office/drawing/2014/main" id="{BE3D4FF2-4949-DE25-DF35-19E58C95FE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7" name="TextBox 6">
            <a:extLst>
              <a:ext uri="{FF2B5EF4-FFF2-40B4-BE49-F238E27FC236}">
                <a16:creationId xmlns:a16="http://schemas.microsoft.com/office/drawing/2014/main" id="{ED456C3B-B445-1983-9D55-1E13CD4E0F64}"/>
              </a:ext>
            </a:extLst>
          </p:cNvPr>
          <p:cNvSpPr txBox="1"/>
          <p:nvPr/>
        </p:nvSpPr>
        <p:spPr>
          <a:xfrm>
            <a:off x="83507"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cs typeface="Times New Roman"/>
              </a:rPr>
              <a:t>METHODOLOGY</a:t>
            </a:r>
            <a:r>
              <a:rPr lang="en-US" sz="3200" b="1">
                <a:latin typeface="Times New Roman"/>
                <a:cs typeface="Times New Roman"/>
              </a:rPr>
              <a:t>:</a:t>
            </a:r>
          </a:p>
        </p:txBody>
      </p:sp>
      <p:pic>
        <p:nvPicPr>
          <p:cNvPr id="9" name="Content Placeholder 8" descr="A diagram of a process&#10;&#10;AI-generated content may be incorrect.">
            <a:extLst>
              <a:ext uri="{FF2B5EF4-FFF2-40B4-BE49-F238E27FC236}">
                <a16:creationId xmlns:a16="http://schemas.microsoft.com/office/drawing/2014/main" id="{80ECEA3D-D4F4-D3BD-EB72-701C337E882C}"/>
              </a:ext>
            </a:extLst>
          </p:cNvPr>
          <p:cNvPicPr>
            <a:picLocks noGrp="1" noChangeAspect="1"/>
          </p:cNvPicPr>
          <p:nvPr>
            <p:ph idx="1"/>
          </p:nvPr>
        </p:nvPicPr>
        <p:blipFill>
          <a:blip r:embed="rId3"/>
          <a:stretch>
            <a:fillRect/>
          </a:stretch>
        </p:blipFill>
        <p:spPr>
          <a:xfrm>
            <a:off x="398905" y="1011433"/>
            <a:ext cx="9410902" cy="4351338"/>
          </a:xfrm>
          <a:prstGeom prst="rect">
            <a:avLst/>
          </a:prstGeom>
        </p:spPr>
      </p:pic>
    </p:spTree>
    <p:extLst>
      <p:ext uri="{BB962C8B-B14F-4D97-AF65-F5344CB8AC3E}">
        <p14:creationId xmlns:p14="http://schemas.microsoft.com/office/powerpoint/2010/main" val="955189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67E27-4DA2-B690-1A41-6AAD2154F5F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1C1EA40-94AB-4F49-E9DE-0AF8F1A5CECA}"/>
              </a:ext>
            </a:extLst>
          </p:cNvPr>
          <p:cNvSpPr>
            <a:spLocks noGrp="1"/>
          </p:cNvSpPr>
          <p:nvPr>
            <p:ph type="dt" sz="half" idx="10"/>
          </p:nvPr>
        </p:nvSpPr>
        <p:spPr/>
        <p:txBody>
          <a:bodyPr/>
          <a:lstStyle/>
          <a:p>
            <a:fld id="{EDF88E1D-3A48-4414-98C3-FF9C491158CD}" type="datetime1">
              <a:rPr lang="en-IN" smtClean="0"/>
              <a:t>22-06-2026</a:t>
            </a:fld>
            <a:endParaRPr lang="en-IN"/>
          </a:p>
        </p:txBody>
      </p:sp>
      <p:sp>
        <p:nvSpPr>
          <p:cNvPr id="5" name="Footer Placeholder 4">
            <a:extLst>
              <a:ext uri="{FF2B5EF4-FFF2-40B4-BE49-F238E27FC236}">
                <a16:creationId xmlns:a16="http://schemas.microsoft.com/office/drawing/2014/main" id="{0B01F75C-4C69-CBB1-FE38-01B5F181B014}"/>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9395C7DC-CAEF-43E4-0104-B8E90F2CC49C}"/>
              </a:ext>
            </a:extLst>
          </p:cNvPr>
          <p:cNvSpPr>
            <a:spLocks noGrp="1"/>
          </p:cNvSpPr>
          <p:nvPr>
            <p:ph type="sldNum" sz="quarter" idx="12"/>
          </p:nvPr>
        </p:nvSpPr>
        <p:spPr/>
        <p:txBody>
          <a:bodyPr/>
          <a:lstStyle/>
          <a:p>
            <a:fld id="{1CCCFFBF-4DCD-46DE-85E1-69841FB49368}" type="slidenum">
              <a:rPr lang="en-IN" smtClean="0"/>
              <a:t>15</a:t>
            </a:fld>
            <a:endParaRPr lang="en-IN"/>
          </a:p>
        </p:txBody>
      </p:sp>
      <p:pic>
        <p:nvPicPr>
          <p:cNvPr id="8" name="Picture 7">
            <a:extLst>
              <a:ext uri="{FF2B5EF4-FFF2-40B4-BE49-F238E27FC236}">
                <a16:creationId xmlns:a16="http://schemas.microsoft.com/office/drawing/2014/main" id="{89D06988-F1BE-4317-C050-C408DA350F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7" name="TextBox 6">
            <a:extLst>
              <a:ext uri="{FF2B5EF4-FFF2-40B4-BE49-F238E27FC236}">
                <a16:creationId xmlns:a16="http://schemas.microsoft.com/office/drawing/2014/main" id="{3CF8AC13-CF6E-3F44-50B5-5089E353B5B1}"/>
              </a:ext>
            </a:extLst>
          </p:cNvPr>
          <p:cNvSpPr txBox="1"/>
          <p:nvPr/>
        </p:nvSpPr>
        <p:spPr>
          <a:xfrm>
            <a:off x="83507"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cs typeface="Times New Roman"/>
              </a:rPr>
              <a:t>METHODOLOGY</a:t>
            </a:r>
            <a:r>
              <a:rPr lang="en-US" sz="3200" b="1">
                <a:latin typeface="Times New Roman"/>
                <a:cs typeface="Times New Roman"/>
              </a:rPr>
              <a:t>:</a:t>
            </a:r>
          </a:p>
        </p:txBody>
      </p:sp>
      <p:sp>
        <p:nvSpPr>
          <p:cNvPr id="3" name="Content Placeholder 2">
            <a:extLst>
              <a:ext uri="{FF2B5EF4-FFF2-40B4-BE49-F238E27FC236}">
                <a16:creationId xmlns:a16="http://schemas.microsoft.com/office/drawing/2014/main" id="{61C0FC07-2204-C51A-3E51-9A19DC88C7F3}"/>
              </a:ext>
            </a:extLst>
          </p:cNvPr>
          <p:cNvSpPr>
            <a:spLocks noGrp="1"/>
          </p:cNvSpPr>
          <p:nvPr>
            <p:ph idx="1"/>
          </p:nvPr>
        </p:nvSpPr>
        <p:spPr>
          <a:xfrm>
            <a:off x="3132" y="792228"/>
            <a:ext cx="6997874" cy="4351338"/>
          </a:xfrm>
        </p:spPr>
        <p:txBody>
          <a:bodyPr vert="horz" lIns="91440" tIns="45720" rIns="91440" bIns="45720" rtlCol="0" anchor="t">
            <a:normAutofit/>
          </a:bodyPr>
          <a:lstStyle/>
          <a:p>
            <a:pPr marL="0" indent="0">
              <a:buNone/>
            </a:pPr>
            <a:r>
              <a:rPr lang="en-GB" sz="2000">
                <a:latin typeface="Times New Roman"/>
                <a:cs typeface="Times New Roman"/>
              </a:rPr>
              <a:t>Design of 1×2 Patch antenna Array without Decoupling Structure</a:t>
            </a:r>
            <a:r>
              <a:rPr lang="en-GB" sz="1800" dirty="0">
                <a:latin typeface="Times New Roman"/>
                <a:cs typeface="Times New Roman"/>
              </a:rPr>
              <a:t>: </a:t>
            </a:r>
            <a:endParaRPr lang="en-GB" dirty="0">
              <a:ea typeface="Calibri" panose="020F0502020204030204"/>
              <a:cs typeface="Calibri" panose="020F0502020204030204"/>
            </a:endParaRPr>
          </a:p>
          <a:p>
            <a:pPr marL="0" indent="0">
              <a:buNone/>
            </a:pPr>
            <a:endParaRPr lang="en-GB" sz="1800" dirty="0">
              <a:latin typeface="Times New Roman"/>
              <a:ea typeface="Calibri"/>
              <a:cs typeface="Times New Roman"/>
            </a:endParaRPr>
          </a:p>
          <a:p>
            <a:r>
              <a:rPr lang="en-US" sz="1800">
                <a:latin typeface="Times New Roman"/>
                <a:ea typeface="Calibri"/>
                <a:cs typeface="Calibri"/>
              </a:rPr>
              <a:t>The spacing between the centres of the two patches is chosen to be more than 0.5 </a:t>
            </a:r>
            <a:r>
              <a:rPr lang="en-US" sz="1800">
                <a:latin typeface="Times New Roman"/>
                <a:ea typeface="Cambria Math"/>
                <a:cs typeface="Times New Roman"/>
              </a:rPr>
              <a:t>λ₀</a:t>
            </a:r>
            <a:r>
              <a:rPr lang="en-US" sz="1800">
                <a:latin typeface="Times New Roman"/>
                <a:ea typeface="Calibri"/>
                <a:cs typeface="Calibri"/>
              </a:rPr>
              <a:t> at 2.4</a:t>
            </a:r>
            <a:r>
              <a:rPr lang="en-US" sz="1800">
                <a:latin typeface="Times New Roman"/>
                <a:ea typeface="Cambria Math"/>
                <a:cs typeface="Times New Roman"/>
              </a:rPr>
              <a:t> </a:t>
            </a:r>
            <a:r>
              <a:rPr lang="en-US" sz="1800" dirty="0">
                <a:latin typeface="Times New Roman"/>
                <a:ea typeface="Calibri"/>
                <a:cs typeface="Calibri"/>
              </a:rPr>
              <a:t>GHz. </a:t>
            </a:r>
            <a:endParaRPr lang="en-GB" sz="1800" dirty="0">
              <a:latin typeface="Times New Roman"/>
              <a:ea typeface="Calibri" panose="020F0502020204030204"/>
              <a:cs typeface="Calibri" panose="020F0502020204030204"/>
            </a:endParaRPr>
          </a:p>
          <a:p>
            <a:pPr marL="0" indent="0">
              <a:buNone/>
            </a:pPr>
            <a:endParaRPr lang="en-US" sz="1800" dirty="0">
              <a:latin typeface="Times New Roman"/>
              <a:ea typeface="Calibri"/>
              <a:cs typeface="Calibri"/>
            </a:endParaRPr>
          </a:p>
          <a:p>
            <a:r>
              <a:rPr lang="en-US" sz="1800">
                <a:latin typeface="Times New Roman"/>
                <a:ea typeface="Calibri"/>
                <a:cs typeface="Calibri"/>
              </a:rPr>
              <a:t>This spacing is ideal because it helps the radiated waves from the two patches add constructively in the main lobe direction, enhancing the overall gain without creating unwanted grating lobes, also increasing isolation between the patches.</a:t>
            </a:r>
            <a:endParaRPr lang="en-GB" sz="1800">
              <a:latin typeface="Times New Roman"/>
              <a:cs typeface="Times New Roman"/>
            </a:endParaRPr>
          </a:p>
          <a:p>
            <a:endParaRPr lang="en-GB" dirty="0">
              <a:ea typeface="Calibri"/>
              <a:cs typeface="Calibri"/>
            </a:endParaRPr>
          </a:p>
        </p:txBody>
      </p:sp>
      <p:pic>
        <p:nvPicPr>
          <p:cNvPr id="11" name="Picture 10" descr="A diagram of a diagram&#10;&#10;AI-generated content may be incorrect.">
            <a:extLst>
              <a:ext uri="{FF2B5EF4-FFF2-40B4-BE49-F238E27FC236}">
                <a16:creationId xmlns:a16="http://schemas.microsoft.com/office/drawing/2014/main" id="{DD33F75C-D10A-A490-929D-4BF20CE3D02D}"/>
              </a:ext>
            </a:extLst>
          </p:cNvPr>
          <p:cNvPicPr>
            <a:picLocks noChangeAspect="1"/>
          </p:cNvPicPr>
          <p:nvPr/>
        </p:nvPicPr>
        <p:blipFill>
          <a:blip r:embed="rId3"/>
          <a:stretch>
            <a:fillRect/>
          </a:stretch>
        </p:blipFill>
        <p:spPr>
          <a:xfrm>
            <a:off x="7003876" y="797165"/>
            <a:ext cx="4530769" cy="3280384"/>
          </a:xfrm>
          <a:prstGeom prst="rect">
            <a:avLst/>
          </a:prstGeom>
        </p:spPr>
      </p:pic>
      <p:sp>
        <p:nvSpPr>
          <p:cNvPr id="12" name="TextBox 11">
            <a:extLst>
              <a:ext uri="{FF2B5EF4-FFF2-40B4-BE49-F238E27FC236}">
                <a16:creationId xmlns:a16="http://schemas.microsoft.com/office/drawing/2014/main" id="{85276183-9BCD-9208-BBAF-7AD7FF1EB09B}"/>
              </a:ext>
            </a:extLst>
          </p:cNvPr>
          <p:cNvSpPr txBox="1"/>
          <p:nvPr/>
        </p:nvSpPr>
        <p:spPr>
          <a:xfrm>
            <a:off x="7078375" y="4291179"/>
            <a:ext cx="45119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a:ea typeface="Calibri"/>
                <a:cs typeface="Calibri"/>
              </a:rPr>
              <a:t>Figure 3.</a:t>
            </a:r>
            <a:r>
              <a:rPr lang="en-GB" sz="2000">
                <a:latin typeface="Times New Roman"/>
                <a:ea typeface="Calibri"/>
                <a:cs typeface="Times New Roman"/>
              </a:rPr>
              <a:t>1×2 Patch antenna Array</a:t>
            </a:r>
            <a:r>
              <a:rPr lang="en-GB" dirty="0">
                <a:latin typeface="Times New Roman"/>
                <a:ea typeface="Calibri"/>
                <a:cs typeface="Calibri"/>
              </a:rPr>
              <a:t> </a:t>
            </a:r>
            <a:endParaRPr lang="en-GB" dirty="0">
              <a:latin typeface="Times New Roman"/>
            </a:endParaRPr>
          </a:p>
        </p:txBody>
      </p:sp>
      <p:graphicFrame>
        <p:nvGraphicFramePr>
          <p:cNvPr id="14" name="Table 13">
            <a:extLst>
              <a:ext uri="{FF2B5EF4-FFF2-40B4-BE49-F238E27FC236}">
                <a16:creationId xmlns:a16="http://schemas.microsoft.com/office/drawing/2014/main" id="{C9032190-9235-C24B-6376-AF43616AB9A6}"/>
              </a:ext>
            </a:extLst>
          </p:cNvPr>
          <p:cNvGraphicFramePr>
            <a:graphicFrameLocks noGrp="1"/>
          </p:cNvGraphicFramePr>
          <p:nvPr>
            <p:extLst>
              <p:ext uri="{D42A27DB-BD31-4B8C-83A1-F6EECF244321}">
                <p14:modId xmlns:p14="http://schemas.microsoft.com/office/powerpoint/2010/main" val="2921628789"/>
              </p:ext>
            </p:extLst>
          </p:nvPr>
        </p:nvGraphicFramePr>
        <p:xfrm>
          <a:off x="396657" y="3977013"/>
          <a:ext cx="6424941" cy="1708671"/>
        </p:xfrm>
        <a:graphic>
          <a:graphicData uri="http://schemas.openxmlformats.org/drawingml/2006/table">
            <a:tbl>
              <a:tblPr firstRow="1" firstCol="1" bandRow="1">
                <a:tableStyleId>{5C22544A-7EE6-4342-B048-85BDC9FD1C3A}</a:tableStyleId>
              </a:tblPr>
              <a:tblGrid>
                <a:gridCol w="2141157">
                  <a:extLst>
                    <a:ext uri="{9D8B030D-6E8A-4147-A177-3AD203B41FA5}">
                      <a16:colId xmlns:a16="http://schemas.microsoft.com/office/drawing/2014/main" val="3512262732"/>
                    </a:ext>
                  </a:extLst>
                </a:gridCol>
                <a:gridCol w="2141892">
                  <a:extLst>
                    <a:ext uri="{9D8B030D-6E8A-4147-A177-3AD203B41FA5}">
                      <a16:colId xmlns:a16="http://schemas.microsoft.com/office/drawing/2014/main" val="1301493863"/>
                    </a:ext>
                  </a:extLst>
                </a:gridCol>
                <a:gridCol w="2141892">
                  <a:extLst>
                    <a:ext uri="{9D8B030D-6E8A-4147-A177-3AD203B41FA5}">
                      <a16:colId xmlns:a16="http://schemas.microsoft.com/office/drawing/2014/main" val="1464065069"/>
                    </a:ext>
                  </a:extLst>
                </a:gridCol>
              </a:tblGrid>
              <a:tr h="578971">
                <a:tc>
                  <a:txBody>
                    <a:bodyPr/>
                    <a:lstStyle/>
                    <a:p>
                      <a:pPr algn="l">
                        <a:buNone/>
                      </a:pPr>
                      <a:r>
                        <a:rPr lang="en-US" b="1">
                          <a:solidFill>
                            <a:schemeClr val="tx1"/>
                          </a:solidFill>
                          <a:effectLst/>
                          <a:latin typeface="Times New Roman"/>
                        </a:rPr>
                        <a:t>           Variable</a:t>
                      </a:r>
                      <a:endParaRPr lang="en-US">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b="1">
                          <a:solidFill>
                            <a:schemeClr val="tx1"/>
                          </a:solidFill>
                          <a:effectLst/>
                          <a:latin typeface="Times New Roman"/>
                        </a:rPr>
                        <a:t>             Value</a:t>
                      </a:r>
                      <a:endParaRPr lang="en-US" dirty="0">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dirty="0">
                          <a:solidFill>
                            <a:schemeClr val="tx1"/>
                          </a:solidFill>
                          <a:effectLst/>
                          <a:latin typeface="Times New Roman"/>
                        </a:rPr>
                        <a:t> </a:t>
                      </a:r>
                      <a:r>
                        <a:rPr lang="en-US" b="1">
                          <a:solidFill>
                            <a:schemeClr val="tx1"/>
                          </a:solidFill>
                          <a:effectLst/>
                          <a:latin typeface="Times New Roman"/>
                        </a:rPr>
                        <a:t>Value In terms of </a:t>
                      </a:r>
                      <a:r>
                        <a:rPr lang="el-GR" b="1">
                          <a:solidFill>
                            <a:schemeClr val="tx1"/>
                          </a:solidFill>
                          <a:effectLst/>
                          <a:latin typeface="Times New Roman"/>
                        </a:rPr>
                        <a:t>λ</a:t>
                      </a:r>
                      <a:r>
                        <a:rPr lang="el-GR" b="1"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6525318"/>
                  </a:ext>
                </a:extLst>
              </a:tr>
              <a:tr h="564850">
                <a:tc>
                  <a:txBody>
                    <a:bodyPr/>
                    <a:lstStyle/>
                    <a:p>
                      <a:pPr algn="l">
                        <a:buNone/>
                      </a:pPr>
                      <a:r>
                        <a:rPr lang="en-US">
                          <a:solidFill>
                            <a:schemeClr val="tx1"/>
                          </a:solidFill>
                          <a:effectLst/>
                          <a:latin typeface="Times New Roman"/>
                        </a:rPr>
                        <a:t>           D(edge to edge)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24.6 mm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l-GR">
                          <a:solidFill>
                            <a:schemeClr val="tx1"/>
                          </a:solidFill>
                          <a:effectLst/>
                          <a:latin typeface="Times New Roman"/>
                        </a:rPr>
                        <a:t>                 0.2</a:t>
                      </a:r>
                      <a:r>
                        <a:rPr lang="el-GR" b="1" dirty="0">
                          <a:solidFill>
                            <a:schemeClr val="tx1"/>
                          </a:solidFill>
                          <a:effectLst/>
                          <a:latin typeface="Times New Roman"/>
                        </a:rPr>
                        <a:t> </a:t>
                      </a:r>
                      <a:r>
                        <a:rPr lang="el-GR">
                          <a:solidFill>
                            <a:schemeClr val="tx1"/>
                          </a:solidFill>
                          <a:effectLst/>
                          <a:latin typeface="Times New Roman"/>
                        </a:rPr>
                        <a:t>λ</a:t>
                      </a:r>
                      <a:r>
                        <a:rPr lang="el-GR"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6093700"/>
                  </a:ext>
                </a:extLst>
              </a:tr>
              <a:tr h="564850">
                <a:tc>
                  <a:txBody>
                    <a:bodyPr/>
                    <a:lstStyle/>
                    <a:p>
                      <a:pPr algn="l">
                        <a:buNone/>
                      </a:pPr>
                      <a:r>
                        <a:rPr lang="en-US">
                          <a:solidFill>
                            <a:schemeClr val="tx1"/>
                          </a:solidFill>
                          <a:effectLst/>
                          <a:latin typeface="Times New Roman"/>
                        </a:rPr>
                        <a:t>           S(centre to centre)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71.4mm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l-GR">
                          <a:solidFill>
                            <a:schemeClr val="tx1"/>
                          </a:solidFill>
                          <a:effectLst/>
                          <a:latin typeface="Times New Roman"/>
                        </a:rPr>
                        <a:t>               0.56</a:t>
                      </a:r>
                      <a:r>
                        <a:rPr lang="el-GR" b="1" dirty="0">
                          <a:solidFill>
                            <a:schemeClr val="tx1"/>
                          </a:solidFill>
                          <a:effectLst/>
                          <a:latin typeface="Times New Roman"/>
                        </a:rPr>
                        <a:t> </a:t>
                      </a:r>
                      <a:r>
                        <a:rPr lang="el-GR">
                          <a:solidFill>
                            <a:schemeClr val="tx1"/>
                          </a:solidFill>
                          <a:effectLst/>
                          <a:latin typeface="Times New Roman"/>
                        </a:rPr>
                        <a:t>λ</a:t>
                      </a:r>
                      <a:r>
                        <a:rPr lang="el-GR"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9524360"/>
                  </a:ext>
                </a:extLst>
              </a:tr>
            </a:tbl>
          </a:graphicData>
        </a:graphic>
      </p:graphicFrame>
      <p:sp>
        <p:nvSpPr>
          <p:cNvPr id="15" name="TextBox 14">
            <a:extLst>
              <a:ext uri="{FF2B5EF4-FFF2-40B4-BE49-F238E27FC236}">
                <a16:creationId xmlns:a16="http://schemas.microsoft.com/office/drawing/2014/main" id="{CED869D9-AEAB-95C5-626B-6678908082DB}"/>
              </a:ext>
            </a:extLst>
          </p:cNvPr>
          <p:cNvSpPr txBox="1"/>
          <p:nvPr/>
        </p:nvSpPr>
        <p:spPr>
          <a:xfrm>
            <a:off x="396781" y="5808959"/>
            <a:ext cx="48319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a:ea typeface="Calibri"/>
                <a:cs typeface="Calibri"/>
              </a:rPr>
              <a:t>Table 1 : </a:t>
            </a:r>
            <a:r>
              <a:rPr lang="en-US">
                <a:latin typeface="Times New Roman"/>
                <a:ea typeface="Calibri"/>
                <a:cs typeface="Calibri"/>
              </a:rPr>
              <a:t>Spacing between the antennas</a:t>
            </a:r>
            <a:endParaRPr lang="en-GB">
              <a:latin typeface="Times New Roman"/>
            </a:endParaRPr>
          </a:p>
        </p:txBody>
      </p:sp>
    </p:spTree>
    <p:extLst>
      <p:ext uri="{BB962C8B-B14F-4D97-AF65-F5344CB8AC3E}">
        <p14:creationId xmlns:p14="http://schemas.microsoft.com/office/powerpoint/2010/main" val="2320737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834A-A950-A593-D583-CD40D706F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FA5F5-A570-121E-414A-336D70DB85F9}"/>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AF707481-3A27-B991-3A4A-F3B69C21A1A6}"/>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0.56</a:t>
            </a:r>
            <a:r>
              <a:rPr lang="el-GR" sz="2900" b="1" dirty="0">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dirty="0">
                <a:latin typeface="Times New Roman"/>
                <a:ea typeface="Calibri"/>
                <a:cs typeface="Calibri"/>
              </a:rPr>
              <a:t>.</a:t>
            </a:r>
            <a:endParaRPr lang="en-IN" sz="2900" dirty="0">
              <a:ea typeface="Calibri" panose="020F0502020204030204"/>
              <a:cs typeface="Calibri" panose="020F0502020204030204"/>
            </a:endParaRPr>
          </a:p>
          <a:p>
            <a:pPr marL="0" indent="0">
              <a:buNone/>
            </a:pPr>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r>
              <a:rPr lang="en-IN" sz="2400" dirty="0">
                <a:latin typeface="Times New Roman"/>
                <a:ea typeface="Calibri"/>
                <a:cs typeface="Calibri"/>
              </a:rPr>
              <a:t>   </a:t>
            </a:r>
            <a:endParaRPr lang="en-IN" sz="2900">
              <a:latin typeface="Times New Roman"/>
              <a:ea typeface="Calibri"/>
              <a:cs typeface="Calibri"/>
            </a:endParaRPr>
          </a:p>
          <a:p>
            <a:pPr marL="0" indent="0">
              <a:buNone/>
            </a:pPr>
            <a:r>
              <a:rPr lang="en-IN" sz="2300" dirty="0">
                <a:latin typeface="Times New Roman"/>
                <a:ea typeface="Calibri"/>
                <a:cs typeface="Calibri"/>
              </a:rPr>
              <a:t>    </a:t>
            </a:r>
          </a:p>
          <a:p>
            <a:pPr marL="0" indent="0">
              <a:buNone/>
            </a:pPr>
            <a:r>
              <a:rPr lang="en-IN" sz="2300" dirty="0">
                <a:latin typeface="Times New Roman"/>
                <a:ea typeface="Calibri"/>
                <a:cs typeface="Calibri"/>
              </a:rPr>
              <a:t>     </a:t>
            </a:r>
            <a:r>
              <a:rPr lang="en-IN" sz="2900">
                <a:latin typeface="Times New Roman"/>
                <a:ea typeface="Calibri"/>
                <a:cs typeface="Calibri"/>
              </a:rPr>
              <a:t>Figure 4.  Simulated S11 of  </a:t>
            </a:r>
            <a:r>
              <a:rPr lang="en-GB" sz="2900">
                <a:latin typeface="Times New Roman"/>
                <a:ea typeface="Calibri"/>
                <a:cs typeface="Times New Roman"/>
              </a:rPr>
              <a:t>1×2 Patch antenna Array </a:t>
            </a:r>
            <a:endParaRPr lang="en-IN" sz="29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sz="2000" dirty="0">
              <a:latin typeface="Times New Roman"/>
              <a:ea typeface="Calibri"/>
              <a:cs typeface="Calibri"/>
            </a:endParaRPr>
          </a:p>
        </p:txBody>
      </p:sp>
      <p:sp>
        <p:nvSpPr>
          <p:cNvPr id="4" name="Date Placeholder 3">
            <a:extLst>
              <a:ext uri="{FF2B5EF4-FFF2-40B4-BE49-F238E27FC236}">
                <a16:creationId xmlns:a16="http://schemas.microsoft.com/office/drawing/2014/main" id="{6C31BF2F-2A87-279B-B204-236A52B6CA2D}"/>
              </a:ext>
            </a:extLst>
          </p:cNvPr>
          <p:cNvSpPr>
            <a:spLocks noGrp="1"/>
          </p:cNvSpPr>
          <p:nvPr>
            <p:ph type="dt" sz="half" idx="10"/>
          </p:nvPr>
        </p:nvSpPr>
        <p:spPr/>
        <p:txBody>
          <a:bodyPr/>
          <a:lstStyle/>
          <a:p>
            <a:fld id="{C0883387-8E05-44FA-9CA1-FD7515E30DCB}" type="datetime1">
              <a:rPr lang="en-IN" smtClean="0"/>
              <a:t>22-06-2026</a:t>
            </a:fld>
            <a:endParaRPr lang="en-IN"/>
          </a:p>
        </p:txBody>
      </p:sp>
      <p:sp>
        <p:nvSpPr>
          <p:cNvPr id="5" name="Footer Placeholder 4">
            <a:extLst>
              <a:ext uri="{FF2B5EF4-FFF2-40B4-BE49-F238E27FC236}">
                <a16:creationId xmlns:a16="http://schemas.microsoft.com/office/drawing/2014/main" id="{5B5934CF-0519-B762-AC4B-B40B2FF2BD4D}"/>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648C34E6-8B4F-0D62-390C-856AB072E3ED}"/>
              </a:ext>
            </a:extLst>
          </p:cNvPr>
          <p:cNvSpPr>
            <a:spLocks noGrp="1"/>
          </p:cNvSpPr>
          <p:nvPr>
            <p:ph type="sldNum" sz="quarter" idx="12"/>
          </p:nvPr>
        </p:nvSpPr>
        <p:spPr/>
        <p:txBody>
          <a:bodyPr/>
          <a:lstStyle/>
          <a:p>
            <a:fld id="{1CCCFFBF-4DCD-46DE-85E1-69841FB49368}" type="slidenum">
              <a:rPr lang="en-IN" smtClean="0"/>
              <a:t>16</a:t>
            </a:fld>
            <a:endParaRPr lang="en-IN"/>
          </a:p>
        </p:txBody>
      </p:sp>
      <p:pic>
        <p:nvPicPr>
          <p:cNvPr id="8" name="Picture 7" descr="A pink and black logo&#10;&#10;AI-generated content may be incorrect.">
            <a:extLst>
              <a:ext uri="{FF2B5EF4-FFF2-40B4-BE49-F238E27FC236}">
                <a16:creationId xmlns:a16="http://schemas.microsoft.com/office/drawing/2014/main" id="{98B7E8DD-24A7-9DFD-7DE5-E293C2F3C8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7" name="Picture 6" descr="A graph with green lines and numbers&#10;&#10;AI-generated content may be incorrect.">
            <a:extLst>
              <a:ext uri="{FF2B5EF4-FFF2-40B4-BE49-F238E27FC236}">
                <a16:creationId xmlns:a16="http://schemas.microsoft.com/office/drawing/2014/main" id="{C7081579-4343-4C30-8720-48D785273DD7}"/>
              </a:ext>
            </a:extLst>
          </p:cNvPr>
          <p:cNvPicPr>
            <a:picLocks noChangeAspect="1"/>
          </p:cNvPicPr>
          <p:nvPr/>
        </p:nvPicPr>
        <p:blipFill>
          <a:blip r:embed="rId3"/>
          <a:stretch>
            <a:fillRect/>
          </a:stretch>
        </p:blipFill>
        <p:spPr>
          <a:xfrm>
            <a:off x="323587" y="1295729"/>
            <a:ext cx="8736906" cy="3514976"/>
          </a:xfrm>
          <a:prstGeom prst="rect">
            <a:avLst/>
          </a:prstGeom>
        </p:spPr>
      </p:pic>
    </p:spTree>
    <p:extLst>
      <p:ext uri="{BB962C8B-B14F-4D97-AF65-F5344CB8AC3E}">
        <p14:creationId xmlns:p14="http://schemas.microsoft.com/office/powerpoint/2010/main" val="3783984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0CEA6-6A4E-6ED8-B3EA-CAAB0246EE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6ACFB-A988-955C-ABBC-9D03221A4823}"/>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952AD307-FA1F-265E-3CD4-01B1840F2E1D}"/>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0.56</a:t>
            </a:r>
            <a:r>
              <a:rPr lang="el-GR" sz="2900" b="1" dirty="0">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dirty="0">
                <a:latin typeface="Times New Roman"/>
                <a:ea typeface="Calibri"/>
                <a:cs typeface="Calibri"/>
              </a:rPr>
              <a:t>.</a:t>
            </a:r>
            <a:endParaRPr lang="en-IN" sz="2900" dirty="0">
              <a:ea typeface="Calibri" panose="020F0502020204030204"/>
              <a:cs typeface="Calibri" panose="020F0502020204030204"/>
            </a:endParaRPr>
          </a:p>
          <a:p>
            <a:pPr marL="0" indent="0">
              <a:buNone/>
            </a:pPr>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r>
              <a:rPr lang="en-IN" sz="2400" dirty="0">
                <a:latin typeface="Times New Roman"/>
                <a:ea typeface="Calibri"/>
                <a:cs typeface="Calibri"/>
              </a:rPr>
              <a:t>   </a:t>
            </a:r>
            <a:endParaRPr lang="en-IN" sz="2900">
              <a:latin typeface="Times New Roman"/>
              <a:ea typeface="Calibri"/>
              <a:cs typeface="Calibri"/>
            </a:endParaRPr>
          </a:p>
          <a:p>
            <a:pPr marL="0" indent="0">
              <a:buNone/>
            </a:pPr>
            <a:r>
              <a:rPr lang="en-IN" sz="2300" dirty="0">
                <a:latin typeface="Times New Roman"/>
                <a:ea typeface="Calibri"/>
                <a:cs typeface="Calibri"/>
              </a:rPr>
              <a:t>    </a:t>
            </a:r>
          </a:p>
          <a:p>
            <a:pPr marL="0" indent="0">
              <a:buNone/>
            </a:pPr>
            <a:r>
              <a:rPr lang="en-IN" sz="2300" dirty="0">
                <a:latin typeface="Times New Roman"/>
                <a:ea typeface="Calibri"/>
                <a:cs typeface="Calibri"/>
              </a:rPr>
              <a:t>     </a:t>
            </a:r>
            <a:r>
              <a:rPr lang="en-IN" sz="2900">
                <a:latin typeface="Times New Roman"/>
                <a:ea typeface="Calibri"/>
                <a:cs typeface="Calibri"/>
              </a:rPr>
              <a:t>Figure 5.  Simulated S21 of  </a:t>
            </a:r>
            <a:r>
              <a:rPr lang="en-GB" sz="2900" dirty="0">
                <a:latin typeface="Times New Roman"/>
                <a:ea typeface="Calibri"/>
                <a:cs typeface="Times New Roman"/>
              </a:rPr>
              <a:t>1×2 Patch antenna Array </a:t>
            </a:r>
            <a:endParaRPr lang="en-IN" sz="29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sz="2000" dirty="0">
              <a:latin typeface="Times New Roman"/>
              <a:ea typeface="Calibri"/>
              <a:cs typeface="Calibri"/>
            </a:endParaRPr>
          </a:p>
        </p:txBody>
      </p:sp>
      <p:sp>
        <p:nvSpPr>
          <p:cNvPr id="4" name="Date Placeholder 3">
            <a:extLst>
              <a:ext uri="{FF2B5EF4-FFF2-40B4-BE49-F238E27FC236}">
                <a16:creationId xmlns:a16="http://schemas.microsoft.com/office/drawing/2014/main" id="{F86FCCA7-06C6-E4C5-60E8-71C253FFA677}"/>
              </a:ext>
            </a:extLst>
          </p:cNvPr>
          <p:cNvSpPr>
            <a:spLocks noGrp="1"/>
          </p:cNvSpPr>
          <p:nvPr>
            <p:ph type="dt" sz="half" idx="10"/>
          </p:nvPr>
        </p:nvSpPr>
        <p:spPr/>
        <p:txBody>
          <a:bodyPr/>
          <a:lstStyle/>
          <a:p>
            <a:fld id="{C0883387-8E05-44FA-9CA1-FD7515E30DCB}" type="datetime1">
              <a:rPr lang="en-IN" smtClean="0"/>
              <a:t>22-06-2026</a:t>
            </a:fld>
            <a:endParaRPr lang="en-IN"/>
          </a:p>
        </p:txBody>
      </p:sp>
      <p:sp>
        <p:nvSpPr>
          <p:cNvPr id="5" name="Footer Placeholder 4">
            <a:extLst>
              <a:ext uri="{FF2B5EF4-FFF2-40B4-BE49-F238E27FC236}">
                <a16:creationId xmlns:a16="http://schemas.microsoft.com/office/drawing/2014/main" id="{CAB9B025-BC11-4FD7-FCCC-A58D6B329313}"/>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6325D730-3A02-F0FF-9903-DE5B872CBA72}"/>
              </a:ext>
            </a:extLst>
          </p:cNvPr>
          <p:cNvSpPr>
            <a:spLocks noGrp="1"/>
          </p:cNvSpPr>
          <p:nvPr>
            <p:ph type="sldNum" sz="quarter" idx="12"/>
          </p:nvPr>
        </p:nvSpPr>
        <p:spPr/>
        <p:txBody>
          <a:bodyPr/>
          <a:lstStyle/>
          <a:p>
            <a:fld id="{1CCCFFBF-4DCD-46DE-85E1-69841FB49368}" type="slidenum">
              <a:rPr lang="en-IN" smtClean="0"/>
              <a:t>17</a:t>
            </a:fld>
            <a:endParaRPr lang="en-IN"/>
          </a:p>
        </p:txBody>
      </p:sp>
      <p:pic>
        <p:nvPicPr>
          <p:cNvPr id="8" name="Picture 7" descr="A pink and black logo&#10;&#10;AI-generated content may be incorrect.">
            <a:extLst>
              <a:ext uri="{FF2B5EF4-FFF2-40B4-BE49-F238E27FC236}">
                <a16:creationId xmlns:a16="http://schemas.microsoft.com/office/drawing/2014/main" id="{22C4663F-2A0D-91B0-64A1-3623D4BF5B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9" name="Picture 8" descr="A graph with lines and numbers&#10;&#10;AI-generated content may be incorrect.">
            <a:extLst>
              <a:ext uri="{FF2B5EF4-FFF2-40B4-BE49-F238E27FC236}">
                <a16:creationId xmlns:a16="http://schemas.microsoft.com/office/drawing/2014/main" id="{C8DBD541-A6B1-C543-EAC3-5D74C115A656}"/>
              </a:ext>
            </a:extLst>
          </p:cNvPr>
          <p:cNvPicPr>
            <a:picLocks noChangeAspect="1"/>
          </p:cNvPicPr>
          <p:nvPr/>
        </p:nvPicPr>
        <p:blipFill>
          <a:blip r:embed="rId3"/>
          <a:stretch>
            <a:fillRect/>
          </a:stretch>
        </p:blipFill>
        <p:spPr>
          <a:xfrm>
            <a:off x="365342" y="1465647"/>
            <a:ext cx="8413316" cy="3154269"/>
          </a:xfrm>
          <a:prstGeom prst="rect">
            <a:avLst/>
          </a:prstGeom>
        </p:spPr>
      </p:pic>
    </p:spTree>
    <p:extLst>
      <p:ext uri="{BB962C8B-B14F-4D97-AF65-F5344CB8AC3E}">
        <p14:creationId xmlns:p14="http://schemas.microsoft.com/office/powerpoint/2010/main" val="1668963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CB83C-47F5-BF2B-D5DC-9A21E0402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825EE-C216-5560-39CB-2C75ABF8C195}"/>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4BB6A3D3-426F-9A71-6568-53A9598993A5}"/>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0.5</a:t>
            </a:r>
            <a:r>
              <a:rPr lang="el-GR" sz="2900" b="1" dirty="0">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dirty="0">
                <a:latin typeface="Times New Roman"/>
                <a:ea typeface="Calibri"/>
                <a:cs typeface="Calibri"/>
              </a:rPr>
              <a:t>.</a:t>
            </a:r>
            <a:endParaRPr lang="en-IN" sz="2900" dirty="0">
              <a:ea typeface="Calibri" panose="020F0502020204030204"/>
              <a:cs typeface="Calibri" panose="020F0502020204030204"/>
            </a:endParaRPr>
          </a:p>
          <a:p>
            <a:pPr marL="0" indent="0">
              <a:buNone/>
            </a:pPr>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r>
              <a:rPr lang="en-IN" sz="2400" dirty="0">
                <a:latin typeface="Times New Roman"/>
                <a:ea typeface="Calibri"/>
                <a:cs typeface="Calibri"/>
              </a:rPr>
              <a:t>   </a:t>
            </a:r>
            <a:endParaRPr lang="en-IN" sz="2900">
              <a:latin typeface="Times New Roman"/>
              <a:ea typeface="Calibri"/>
              <a:cs typeface="Calibri"/>
            </a:endParaRPr>
          </a:p>
          <a:p>
            <a:pPr marL="0" indent="0">
              <a:buNone/>
            </a:pPr>
            <a:r>
              <a:rPr lang="en-IN" sz="2300" dirty="0">
                <a:latin typeface="Times New Roman"/>
                <a:ea typeface="Calibri"/>
                <a:cs typeface="Calibri"/>
              </a:rPr>
              <a:t>    </a:t>
            </a:r>
          </a:p>
          <a:p>
            <a:pPr marL="0" indent="0">
              <a:buNone/>
            </a:pPr>
            <a:r>
              <a:rPr lang="en-IN" sz="2300" dirty="0">
                <a:latin typeface="Times New Roman"/>
                <a:ea typeface="Calibri"/>
                <a:cs typeface="Calibri"/>
              </a:rPr>
              <a:t>     </a:t>
            </a:r>
            <a:r>
              <a:rPr lang="en-IN" sz="2900">
                <a:latin typeface="Times New Roman"/>
                <a:ea typeface="Calibri"/>
                <a:cs typeface="Calibri"/>
              </a:rPr>
              <a:t>Figure 6.  Simulated S11 of  </a:t>
            </a:r>
            <a:r>
              <a:rPr lang="en-GB" sz="2900" dirty="0">
                <a:latin typeface="Times New Roman"/>
                <a:ea typeface="Calibri"/>
                <a:cs typeface="Times New Roman"/>
              </a:rPr>
              <a:t>1×2 Patch antenna Array </a:t>
            </a:r>
            <a:endParaRPr lang="en-IN" sz="29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sz="2000" dirty="0">
              <a:latin typeface="Times New Roman"/>
              <a:ea typeface="Calibri"/>
              <a:cs typeface="Calibri"/>
            </a:endParaRPr>
          </a:p>
        </p:txBody>
      </p:sp>
      <p:sp>
        <p:nvSpPr>
          <p:cNvPr id="4" name="Date Placeholder 3">
            <a:extLst>
              <a:ext uri="{FF2B5EF4-FFF2-40B4-BE49-F238E27FC236}">
                <a16:creationId xmlns:a16="http://schemas.microsoft.com/office/drawing/2014/main" id="{FB955AAB-C3A6-C977-1D28-A0DE1F8AF87C}"/>
              </a:ext>
            </a:extLst>
          </p:cNvPr>
          <p:cNvSpPr>
            <a:spLocks noGrp="1"/>
          </p:cNvSpPr>
          <p:nvPr>
            <p:ph type="dt" sz="half" idx="10"/>
          </p:nvPr>
        </p:nvSpPr>
        <p:spPr/>
        <p:txBody>
          <a:bodyPr/>
          <a:lstStyle/>
          <a:p>
            <a:fld id="{C0883387-8E05-44FA-9CA1-FD7515E30DCB}" type="datetime1">
              <a:rPr lang="en-IN" smtClean="0"/>
              <a:t>22-06-2026</a:t>
            </a:fld>
            <a:endParaRPr lang="en-IN"/>
          </a:p>
        </p:txBody>
      </p:sp>
      <p:sp>
        <p:nvSpPr>
          <p:cNvPr id="5" name="Footer Placeholder 4">
            <a:extLst>
              <a:ext uri="{FF2B5EF4-FFF2-40B4-BE49-F238E27FC236}">
                <a16:creationId xmlns:a16="http://schemas.microsoft.com/office/drawing/2014/main" id="{11985DA2-5324-4E05-FCBE-0E015FC4760F}"/>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1840854F-BE60-966E-6BE5-6528822EDD73}"/>
              </a:ext>
            </a:extLst>
          </p:cNvPr>
          <p:cNvSpPr>
            <a:spLocks noGrp="1"/>
          </p:cNvSpPr>
          <p:nvPr>
            <p:ph type="sldNum" sz="quarter" idx="12"/>
          </p:nvPr>
        </p:nvSpPr>
        <p:spPr/>
        <p:txBody>
          <a:bodyPr/>
          <a:lstStyle/>
          <a:p>
            <a:fld id="{1CCCFFBF-4DCD-46DE-85E1-69841FB49368}" type="slidenum">
              <a:rPr lang="en-IN" smtClean="0"/>
              <a:t>18</a:t>
            </a:fld>
            <a:endParaRPr lang="en-IN"/>
          </a:p>
        </p:txBody>
      </p:sp>
      <p:pic>
        <p:nvPicPr>
          <p:cNvPr id="8" name="Picture 7" descr="A pink and black logo&#10;&#10;AI-generated content may be incorrect.">
            <a:extLst>
              <a:ext uri="{FF2B5EF4-FFF2-40B4-BE49-F238E27FC236}">
                <a16:creationId xmlns:a16="http://schemas.microsoft.com/office/drawing/2014/main" id="{4DA3811D-6E64-2F13-535C-9B6FB69594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7" name="Picture 6" descr="A graph of a function&#10;&#10;AI-generated content may be incorrect.">
            <a:extLst>
              <a:ext uri="{FF2B5EF4-FFF2-40B4-BE49-F238E27FC236}">
                <a16:creationId xmlns:a16="http://schemas.microsoft.com/office/drawing/2014/main" id="{B9DBB18E-9225-0250-FE72-2EF230DBC154}"/>
              </a:ext>
            </a:extLst>
          </p:cNvPr>
          <p:cNvPicPr>
            <a:picLocks noChangeAspect="1"/>
          </p:cNvPicPr>
          <p:nvPr/>
        </p:nvPicPr>
        <p:blipFill>
          <a:blip r:embed="rId3"/>
          <a:stretch>
            <a:fillRect/>
          </a:stretch>
        </p:blipFill>
        <p:spPr>
          <a:xfrm>
            <a:off x="344466" y="1378372"/>
            <a:ext cx="8956110" cy="3349693"/>
          </a:xfrm>
          <a:prstGeom prst="rect">
            <a:avLst/>
          </a:prstGeom>
        </p:spPr>
      </p:pic>
    </p:spTree>
    <p:extLst>
      <p:ext uri="{BB962C8B-B14F-4D97-AF65-F5344CB8AC3E}">
        <p14:creationId xmlns:p14="http://schemas.microsoft.com/office/powerpoint/2010/main" val="2195053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E6BA7-4D16-D6D3-B107-920D71285B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C16C4-9748-0473-7FE4-DC9DF7A0261A}"/>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58B166B3-F0DA-F52A-9241-72967F5AC830}"/>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0.5</a:t>
            </a:r>
            <a:r>
              <a:rPr lang="el-GR" sz="2900" b="1" dirty="0">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dirty="0">
                <a:latin typeface="Times New Roman"/>
                <a:ea typeface="Calibri"/>
                <a:cs typeface="Calibri"/>
              </a:rPr>
              <a:t>.</a:t>
            </a:r>
            <a:endParaRPr lang="en-IN" sz="2900" dirty="0">
              <a:ea typeface="Calibri" panose="020F0502020204030204"/>
              <a:cs typeface="Calibri" panose="020F0502020204030204"/>
            </a:endParaRPr>
          </a:p>
          <a:p>
            <a:pPr marL="0" indent="0">
              <a:buNone/>
            </a:pPr>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r>
              <a:rPr lang="en-IN" sz="2400" dirty="0">
                <a:latin typeface="Times New Roman"/>
                <a:ea typeface="Calibri"/>
                <a:cs typeface="Calibri"/>
              </a:rPr>
              <a:t>   </a:t>
            </a:r>
            <a:endParaRPr lang="en-IN" sz="2900">
              <a:latin typeface="Times New Roman"/>
              <a:ea typeface="Calibri"/>
              <a:cs typeface="Calibri"/>
            </a:endParaRPr>
          </a:p>
          <a:p>
            <a:pPr marL="0" indent="0">
              <a:buNone/>
            </a:pPr>
            <a:r>
              <a:rPr lang="en-IN" sz="2300" dirty="0">
                <a:latin typeface="Times New Roman"/>
                <a:ea typeface="Calibri"/>
                <a:cs typeface="Calibri"/>
              </a:rPr>
              <a:t>    </a:t>
            </a:r>
          </a:p>
          <a:p>
            <a:pPr marL="0" indent="0">
              <a:buNone/>
            </a:pPr>
            <a:r>
              <a:rPr lang="en-IN" sz="2300" dirty="0">
                <a:latin typeface="Times New Roman"/>
                <a:ea typeface="Calibri"/>
                <a:cs typeface="Calibri"/>
              </a:rPr>
              <a:t>     </a:t>
            </a:r>
            <a:r>
              <a:rPr lang="en-IN" sz="2900">
                <a:latin typeface="Times New Roman"/>
                <a:ea typeface="Calibri"/>
                <a:cs typeface="Calibri"/>
              </a:rPr>
              <a:t>Figure 7.  Simulated S21 of  </a:t>
            </a:r>
            <a:r>
              <a:rPr lang="en-GB" sz="2900" dirty="0">
                <a:latin typeface="Times New Roman"/>
                <a:ea typeface="Calibri"/>
                <a:cs typeface="Times New Roman"/>
              </a:rPr>
              <a:t>1×2 Patch antenna Array </a:t>
            </a:r>
            <a:endParaRPr lang="en-IN" sz="29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sz="2000" dirty="0">
              <a:latin typeface="Times New Roman"/>
              <a:ea typeface="Calibri"/>
              <a:cs typeface="Calibri"/>
            </a:endParaRPr>
          </a:p>
        </p:txBody>
      </p:sp>
      <p:sp>
        <p:nvSpPr>
          <p:cNvPr id="4" name="Date Placeholder 3">
            <a:extLst>
              <a:ext uri="{FF2B5EF4-FFF2-40B4-BE49-F238E27FC236}">
                <a16:creationId xmlns:a16="http://schemas.microsoft.com/office/drawing/2014/main" id="{7FDCD7C9-E9EF-4E1B-702B-3DB4B1DDC170}"/>
              </a:ext>
            </a:extLst>
          </p:cNvPr>
          <p:cNvSpPr>
            <a:spLocks noGrp="1"/>
          </p:cNvSpPr>
          <p:nvPr>
            <p:ph type="dt" sz="half" idx="10"/>
          </p:nvPr>
        </p:nvSpPr>
        <p:spPr/>
        <p:txBody>
          <a:bodyPr/>
          <a:lstStyle/>
          <a:p>
            <a:fld id="{C0883387-8E05-44FA-9CA1-FD7515E30DCB}" type="datetime1">
              <a:rPr lang="en-IN" smtClean="0"/>
              <a:t>22-06-2026</a:t>
            </a:fld>
            <a:endParaRPr lang="en-IN"/>
          </a:p>
        </p:txBody>
      </p:sp>
      <p:sp>
        <p:nvSpPr>
          <p:cNvPr id="5" name="Footer Placeholder 4">
            <a:extLst>
              <a:ext uri="{FF2B5EF4-FFF2-40B4-BE49-F238E27FC236}">
                <a16:creationId xmlns:a16="http://schemas.microsoft.com/office/drawing/2014/main" id="{A9D18984-5EAD-509F-A2EE-D2B00CD3E8E5}"/>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49E3A6BA-412C-8F47-0DB5-A02A0CAA9A72}"/>
              </a:ext>
            </a:extLst>
          </p:cNvPr>
          <p:cNvSpPr>
            <a:spLocks noGrp="1"/>
          </p:cNvSpPr>
          <p:nvPr>
            <p:ph type="sldNum" sz="quarter" idx="12"/>
          </p:nvPr>
        </p:nvSpPr>
        <p:spPr/>
        <p:txBody>
          <a:bodyPr/>
          <a:lstStyle/>
          <a:p>
            <a:fld id="{1CCCFFBF-4DCD-46DE-85E1-69841FB49368}" type="slidenum">
              <a:rPr lang="en-IN" smtClean="0"/>
              <a:t>19</a:t>
            </a:fld>
            <a:endParaRPr lang="en-IN"/>
          </a:p>
        </p:txBody>
      </p:sp>
      <p:pic>
        <p:nvPicPr>
          <p:cNvPr id="8" name="Picture 7" descr="A pink and black logo&#10;&#10;AI-generated content may be incorrect.">
            <a:extLst>
              <a:ext uri="{FF2B5EF4-FFF2-40B4-BE49-F238E27FC236}">
                <a16:creationId xmlns:a16="http://schemas.microsoft.com/office/drawing/2014/main" id="{77E62284-B734-3245-77EB-C07DC4DA88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9" name="Picture 8" descr="A graph with blue lines and yellow text&#10;&#10;AI-generated content may be incorrect.">
            <a:extLst>
              <a:ext uri="{FF2B5EF4-FFF2-40B4-BE49-F238E27FC236}">
                <a16:creationId xmlns:a16="http://schemas.microsoft.com/office/drawing/2014/main" id="{142DACD5-F17B-A199-D082-61973307F778}"/>
              </a:ext>
            </a:extLst>
          </p:cNvPr>
          <p:cNvPicPr>
            <a:picLocks noChangeAspect="1"/>
          </p:cNvPicPr>
          <p:nvPr/>
        </p:nvPicPr>
        <p:blipFill>
          <a:blip r:embed="rId3"/>
          <a:stretch>
            <a:fillRect/>
          </a:stretch>
        </p:blipFill>
        <p:spPr>
          <a:xfrm>
            <a:off x="302712" y="1307658"/>
            <a:ext cx="9290138" cy="3491123"/>
          </a:xfrm>
          <a:prstGeom prst="rect">
            <a:avLst/>
          </a:prstGeom>
        </p:spPr>
      </p:pic>
    </p:spTree>
    <p:extLst>
      <p:ext uri="{BB962C8B-B14F-4D97-AF65-F5344CB8AC3E}">
        <p14:creationId xmlns:p14="http://schemas.microsoft.com/office/powerpoint/2010/main" val="2883427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71AA4-9E98-A2EC-DEF8-B43463C69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73C23-3999-1961-59E9-60AC554313B3}"/>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ED792540-F469-90D9-D07F-40A30CB5C563}"/>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0.45</a:t>
            </a:r>
            <a:r>
              <a:rPr lang="el-GR" sz="2900" b="1" dirty="0">
                <a:latin typeface="Times New Roman"/>
                <a:ea typeface="Calibri"/>
                <a:cs typeface="Times New Roman"/>
              </a:rPr>
              <a:t> </a:t>
            </a:r>
            <a:r>
              <a:rPr lang="el-GR" sz="2900">
                <a:latin typeface="Times New Roman"/>
                <a:ea typeface="Calibri"/>
                <a:cs typeface="Times New Roman"/>
              </a:rPr>
              <a:t>λ</a:t>
            </a:r>
            <a:r>
              <a:rPr lang="el-GR" sz="2500" baseline="-25000" dirty="0">
                <a:latin typeface="Times New Roman"/>
                <a:ea typeface="Calibri"/>
                <a:cs typeface="Times New Roman"/>
              </a:rPr>
              <a:t>0</a:t>
            </a:r>
            <a:r>
              <a:rPr lang="en-IN" sz="2900" dirty="0">
                <a:latin typeface="Times New Roman"/>
                <a:ea typeface="Calibri"/>
                <a:cs typeface="Calibri"/>
              </a:rPr>
              <a:t>.</a:t>
            </a:r>
            <a:endParaRPr lang="en-IN" sz="2900" dirty="0">
              <a:ea typeface="Calibri" panose="020F0502020204030204"/>
              <a:cs typeface="Calibri" panose="020F0502020204030204"/>
            </a:endParaRPr>
          </a:p>
          <a:p>
            <a:pPr marL="0" indent="0">
              <a:buNone/>
            </a:pPr>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r>
              <a:rPr lang="en-IN" sz="2400" dirty="0">
                <a:latin typeface="Times New Roman"/>
                <a:ea typeface="Calibri"/>
                <a:cs typeface="Calibri"/>
              </a:rPr>
              <a:t>   </a:t>
            </a:r>
            <a:endParaRPr lang="en-IN" sz="2900">
              <a:latin typeface="Times New Roman"/>
              <a:ea typeface="Calibri"/>
              <a:cs typeface="Calibri"/>
            </a:endParaRPr>
          </a:p>
          <a:p>
            <a:pPr marL="0" indent="0">
              <a:buNone/>
            </a:pPr>
            <a:r>
              <a:rPr lang="en-IN" sz="2300" dirty="0">
                <a:latin typeface="Times New Roman"/>
                <a:ea typeface="Calibri"/>
                <a:cs typeface="Calibri"/>
              </a:rPr>
              <a:t>    </a:t>
            </a:r>
          </a:p>
          <a:p>
            <a:pPr marL="0" indent="0">
              <a:buNone/>
            </a:pPr>
            <a:r>
              <a:rPr lang="en-IN" sz="2300" dirty="0">
                <a:latin typeface="Times New Roman"/>
                <a:ea typeface="Calibri"/>
                <a:cs typeface="Calibri"/>
              </a:rPr>
              <a:t>     </a:t>
            </a:r>
            <a:r>
              <a:rPr lang="en-IN" sz="2900">
                <a:latin typeface="Times New Roman"/>
                <a:ea typeface="Calibri"/>
                <a:cs typeface="Calibri"/>
              </a:rPr>
              <a:t>Figure 8.  Simulated S11 of  </a:t>
            </a:r>
            <a:r>
              <a:rPr lang="en-GB" sz="2900" dirty="0">
                <a:latin typeface="Times New Roman"/>
                <a:ea typeface="Calibri"/>
                <a:cs typeface="Times New Roman"/>
              </a:rPr>
              <a:t>1×2 Patch antenna Array </a:t>
            </a:r>
            <a:endParaRPr lang="en-IN" sz="29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endParaRPr lang="en-IN" dirty="0">
              <a:latin typeface="Times New Roman"/>
              <a:ea typeface="Calibri"/>
              <a:cs typeface="Calibri"/>
            </a:endParaRPr>
          </a:p>
          <a:p>
            <a:pPr marL="0" indent="0">
              <a:buNone/>
            </a:pPr>
            <a:endParaRPr lang="en-IN" dirty="0">
              <a:latin typeface="Times New Roman"/>
              <a:ea typeface="Calibri"/>
              <a:cs typeface="Calibri"/>
            </a:endParaRPr>
          </a:p>
          <a:p>
            <a:pPr marL="0" indent="0">
              <a:buNone/>
            </a:pPr>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sz="2000" dirty="0">
              <a:latin typeface="Times New Roman"/>
              <a:ea typeface="Calibri"/>
              <a:cs typeface="Calibri"/>
            </a:endParaRPr>
          </a:p>
        </p:txBody>
      </p:sp>
      <p:sp>
        <p:nvSpPr>
          <p:cNvPr id="4" name="Date Placeholder 3">
            <a:extLst>
              <a:ext uri="{FF2B5EF4-FFF2-40B4-BE49-F238E27FC236}">
                <a16:creationId xmlns:a16="http://schemas.microsoft.com/office/drawing/2014/main" id="{E17513A7-C0C1-BEBD-B6A6-79B67C99ABF6}"/>
              </a:ext>
            </a:extLst>
          </p:cNvPr>
          <p:cNvSpPr>
            <a:spLocks noGrp="1"/>
          </p:cNvSpPr>
          <p:nvPr>
            <p:ph type="dt" sz="half" idx="10"/>
          </p:nvPr>
        </p:nvSpPr>
        <p:spPr/>
        <p:txBody>
          <a:bodyPr/>
          <a:lstStyle/>
          <a:p>
            <a:fld id="{C0883387-8E05-44FA-9CA1-FD7515E30DCB}" type="datetime1">
              <a:rPr lang="en-IN" smtClean="0"/>
              <a:t>22-06-2026</a:t>
            </a:fld>
            <a:endParaRPr lang="en-IN"/>
          </a:p>
        </p:txBody>
      </p:sp>
      <p:sp>
        <p:nvSpPr>
          <p:cNvPr id="5" name="Footer Placeholder 4">
            <a:extLst>
              <a:ext uri="{FF2B5EF4-FFF2-40B4-BE49-F238E27FC236}">
                <a16:creationId xmlns:a16="http://schemas.microsoft.com/office/drawing/2014/main" id="{B2ACA60A-095B-9D77-6421-642D3030EBF9}"/>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016682C3-F37D-A6E6-3920-064814E3D0C0}"/>
              </a:ext>
            </a:extLst>
          </p:cNvPr>
          <p:cNvSpPr>
            <a:spLocks noGrp="1"/>
          </p:cNvSpPr>
          <p:nvPr>
            <p:ph type="sldNum" sz="quarter" idx="12"/>
          </p:nvPr>
        </p:nvSpPr>
        <p:spPr/>
        <p:txBody>
          <a:bodyPr/>
          <a:lstStyle/>
          <a:p>
            <a:fld id="{1CCCFFBF-4DCD-46DE-85E1-69841FB49368}" type="slidenum">
              <a:rPr lang="en-IN" smtClean="0"/>
              <a:t>20</a:t>
            </a:fld>
            <a:endParaRPr lang="en-IN"/>
          </a:p>
        </p:txBody>
      </p:sp>
      <p:pic>
        <p:nvPicPr>
          <p:cNvPr id="8" name="Picture 7" descr="A pink and black logo&#10;&#10;AI-generated content may be incorrect.">
            <a:extLst>
              <a:ext uri="{FF2B5EF4-FFF2-40B4-BE49-F238E27FC236}">
                <a16:creationId xmlns:a16="http://schemas.microsoft.com/office/drawing/2014/main" id="{4B1553A0-1911-6A01-FFB6-A774059CFC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7" name="Picture 6" descr="A graph of a function&#10;&#10;AI-generated content may be incorrect.">
            <a:extLst>
              <a:ext uri="{FF2B5EF4-FFF2-40B4-BE49-F238E27FC236}">
                <a16:creationId xmlns:a16="http://schemas.microsoft.com/office/drawing/2014/main" id="{511D355B-A54B-1775-7240-B7AFD1C8C144}"/>
              </a:ext>
            </a:extLst>
          </p:cNvPr>
          <p:cNvPicPr>
            <a:picLocks noChangeAspect="1"/>
          </p:cNvPicPr>
          <p:nvPr/>
        </p:nvPicPr>
        <p:blipFill>
          <a:blip r:embed="rId3"/>
          <a:stretch>
            <a:fillRect/>
          </a:stretch>
        </p:blipFill>
        <p:spPr>
          <a:xfrm>
            <a:off x="354903" y="1394552"/>
            <a:ext cx="8809974" cy="3327774"/>
          </a:xfrm>
          <a:prstGeom prst="rect">
            <a:avLst/>
          </a:prstGeom>
        </p:spPr>
      </p:pic>
    </p:spTree>
    <p:extLst>
      <p:ext uri="{BB962C8B-B14F-4D97-AF65-F5344CB8AC3E}">
        <p14:creationId xmlns:p14="http://schemas.microsoft.com/office/powerpoint/2010/main" val="3840429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E11B4-0F51-5A8F-C1C9-C9D99B5456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853BF-83B7-A11E-8051-AA928D88F403}"/>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365D3C43-7AFD-B621-7ACD-77A02E945DB6}"/>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0.45</a:t>
            </a:r>
            <a:r>
              <a:rPr lang="el-GR" sz="2900" b="1" dirty="0">
                <a:latin typeface="Times New Roman"/>
                <a:ea typeface="Calibri"/>
                <a:cs typeface="Times New Roman"/>
              </a:rPr>
              <a:t> </a:t>
            </a:r>
            <a:r>
              <a:rPr lang="el-GR" sz="2900">
                <a:latin typeface="Times New Roman"/>
                <a:ea typeface="Calibri"/>
                <a:cs typeface="Times New Roman"/>
              </a:rPr>
              <a:t>λ</a:t>
            </a:r>
            <a:r>
              <a:rPr lang="el-GR" sz="2500" baseline="-25000" dirty="0">
                <a:latin typeface="Times New Roman"/>
                <a:ea typeface="Calibri"/>
                <a:cs typeface="Times New Roman"/>
              </a:rPr>
              <a:t>0</a:t>
            </a:r>
            <a:r>
              <a:rPr lang="en-IN" sz="2900" dirty="0">
                <a:latin typeface="Times New Roman"/>
                <a:ea typeface="Calibri"/>
                <a:cs typeface="Calibri"/>
              </a:rPr>
              <a:t>.</a:t>
            </a:r>
            <a:endParaRPr lang="en-IN" sz="2900" dirty="0">
              <a:ea typeface="Calibri" panose="020F0502020204030204"/>
              <a:cs typeface="Calibri" panose="020F0502020204030204"/>
            </a:endParaRPr>
          </a:p>
          <a:p>
            <a:pPr marL="0" indent="0">
              <a:buNone/>
            </a:pPr>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r>
              <a:rPr lang="en-IN" sz="2400" dirty="0">
                <a:latin typeface="Times New Roman"/>
                <a:ea typeface="Calibri"/>
                <a:cs typeface="Calibri"/>
              </a:rPr>
              <a:t>   </a:t>
            </a:r>
            <a:endParaRPr lang="en-IN" sz="2900">
              <a:latin typeface="Times New Roman"/>
              <a:ea typeface="Calibri"/>
              <a:cs typeface="Calibri"/>
            </a:endParaRPr>
          </a:p>
          <a:p>
            <a:pPr marL="0" indent="0">
              <a:buNone/>
            </a:pPr>
            <a:r>
              <a:rPr lang="en-IN" sz="2300" dirty="0">
                <a:latin typeface="Times New Roman"/>
                <a:ea typeface="Calibri"/>
                <a:cs typeface="Calibri"/>
              </a:rPr>
              <a:t>    </a:t>
            </a:r>
          </a:p>
          <a:p>
            <a:pPr marL="0" indent="0">
              <a:buNone/>
            </a:pPr>
            <a:r>
              <a:rPr lang="en-IN" sz="2300" dirty="0">
                <a:latin typeface="Times New Roman"/>
                <a:ea typeface="Calibri"/>
                <a:cs typeface="Calibri"/>
              </a:rPr>
              <a:t>     </a:t>
            </a:r>
            <a:r>
              <a:rPr lang="en-IN" sz="2900">
                <a:latin typeface="Times New Roman"/>
                <a:ea typeface="Calibri"/>
                <a:cs typeface="Calibri"/>
              </a:rPr>
              <a:t>Figure 9.  Simulated S21 of  </a:t>
            </a:r>
            <a:r>
              <a:rPr lang="en-GB" sz="2900" dirty="0">
                <a:latin typeface="Times New Roman"/>
                <a:ea typeface="Calibri"/>
                <a:cs typeface="Times New Roman"/>
              </a:rPr>
              <a:t>1×2 Patch antenna Array </a:t>
            </a:r>
            <a:endParaRPr lang="en-IN" sz="29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endParaRPr lang="en-IN" dirty="0">
              <a:latin typeface="Times New Roman"/>
              <a:ea typeface="Calibri"/>
              <a:cs typeface="Calibri"/>
            </a:endParaRPr>
          </a:p>
          <a:p>
            <a:pPr marL="0" indent="0">
              <a:buNone/>
            </a:pPr>
            <a:endParaRPr lang="en-IN" dirty="0">
              <a:latin typeface="Times New Roman"/>
              <a:ea typeface="Calibri"/>
              <a:cs typeface="Calibri"/>
            </a:endParaRPr>
          </a:p>
          <a:p>
            <a:pPr marL="0" indent="0">
              <a:buNone/>
            </a:pPr>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sz="2000" dirty="0">
              <a:latin typeface="Times New Roman"/>
              <a:ea typeface="Calibri"/>
              <a:cs typeface="Calibri"/>
            </a:endParaRPr>
          </a:p>
        </p:txBody>
      </p:sp>
      <p:sp>
        <p:nvSpPr>
          <p:cNvPr id="4" name="Date Placeholder 3">
            <a:extLst>
              <a:ext uri="{FF2B5EF4-FFF2-40B4-BE49-F238E27FC236}">
                <a16:creationId xmlns:a16="http://schemas.microsoft.com/office/drawing/2014/main" id="{C95B246F-6986-BA4A-F4AF-7F40B68B3E3E}"/>
              </a:ext>
            </a:extLst>
          </p:cNvPr>
          <p:cNvSpPr>
            <a:spLocks noGrp="1"/>
          </p:cNvSpPr>
          <p:nvPr>
            <p:ph type="dt" sz="half" idx="10"/>
          </p:nvPr>
        </p:nvSpPr>
        <p:spPr/>
        <p:txBody>
          <a:bodyPr/>
          <a:lstStyle/>
          <a:p>
            <a:fld id="{C0883387-8E05-44FA-9CA1-FD7515E30DCB}" type="datetime1">
              <a:rPr lang="en-IN" smtClean="0"/>
              <a:t>22-06-2026</a:t>
            </a:fld>
            <a:endParaRPr lang="en-IN"/>
          </a:p>
        </p:txBody>
      </p:sp>
      <p:sp>
        <p:nvSpPr>
          <p:cNvPr id="5" name="Footer Placeholder 4">
            <a:extLst>
              <a:ext uri="{FF2B5EF4-FFF2-40B4-BE49-F238E27FC236}">
                <a16:creationId xmlns:a16="http://schemas.microsoft.com/office/drawing/2014/main" id="{61BBB60E-57F9-5850-82A9-DFCA0CE9230C}"/>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C09E7131-B3FB-B7A1-4011-265A1A95ADCF}"/>
              </a:ext>
            </a:extLst>
          </p:cNvPr>
          <p:cNvSpPr>
            <a:spLocks noGrp="1"/>
          </p:cNvSpPr>
          <p:nvPr>
            <p:ph type="sldNum" sz="quarter" idx="12"/>
          </p:nvPr>
        </p:nvSpPr>
        <p:spPr/>
        <p:txBody>
          <a:bodyPr/>
          <a:lstStyle/>
          <a:p>
            <a:fld id="{1CCCFFBF-4DCD-46DE-85E1-69841FB49368}" type="slidenum">
              <a:rPr lang="en-IN" smtClean="0"/>
              <a:t>21</a:t>
            </a:fld>
            <a:endParaRPr lang="en-IN"/>
          </a:p>
        </p:txBody>
      </p:sp>
      <p:pic>
        <p:nvPicPr>
          <p:cNvPr id="8" name="Picture 7" descr="A pink and black logo&#10;&#10;AI-generated content may be incorrect.">
            <a:extLst>
              <a:ext uri="{FF2B5EF4-FFF2-40B4-BE49-F238E27FC236}">
                <a16:creationId xmlns:a16="http://schemas.microsoft.com/office/drawing/2014/main" id="{4DDDC1A5-3183-732C-3CCF-C1CAC0963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9" name="Picture 8" descr="A graph with blue lines and yellow text&#10;&#10;AI-generated content may be incorrect.">
            <a:extLst>
              <a:ext uri="{FF2B5EF4-FFF2-40B4-BE49-F238E27FC236}">
                <a16:creationId xmlns:a16="http://schemas.microsoft.com/office/drawing/2014/main" id="{F98592D9-8043-A359-AB7A-A1BD9CE8C9F8}"/>
              </a:ext>
            </a:extLst>
          </p:cNvPr>
          <p:cNvPicPr>
            <a:picLocks noChangeAspect="1"/>
          </p:cNvPicPr>
          <p:nvPr/>
        </p:nvPicPr>
        <p:blipFill>
          <a:blip r:embed="rId3"/>
          <a:stretch>
            <a:fillRect/>
          </a:stretch>
        </p:blipFill>
        <p:spPr>
          <a:xfrm>
            <a:off x="323588" y="1388617"/>
            <a:ext cx="8914357" cy="3329205"/>
          </a:xfrm>
          <a:prstGeom prst="rect">
            <a:avLst/>
          </a:prstGeom>
        </p:spPr>
      </p:pic>
    </p:spTree>
    <p:extLst>
      <p:ext uri="{BB962C8B-B14F-4D97-AF65-F5344CB8AC3E}">
        <p14:creationId xmlns:p14="http://schemas.microsoft.com/office/powerpoint/2010/main" val="3195268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441A1-8E2F-F17A-527D-B59B8052F1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2B5C7-93D9-FD94-A148-98B2211C0E46}"/>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3613BB8C-E130-7F89-513F-6C0E3A3B90C8}"/>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0.4</a:t>
            </a:r>
            <a:r>
              <a:rPr lang="el-GR" sz="2900" b="1">
                <a:latin typeface="Times New Roman"/>
                <a:ea typeface="Calibri"/>
                <a:cs typeface="Times New Roman"/>
              </a:rPr>
              <a:t> </a:t>
            </a:r>
            <a:r>
              <a:rPr lang="el-GR" sz="2900">
                <a:latin typeface="Times New Roman"/>
                <a:ea typeface="Calibri"/>
                <a:cs typeface="Times New Roman"/>
              </a:rPr>
              <a:t>λ</a:t>
            </a:r>
            <a:r>
              <a:rPr lang="el-GR" sz="2500" baseline="-25000" dirty="0">
                <a:latin typeface="Times New Roman"/>
                <a:ea typeface="Calibri"/>
                <a:cs typeface="Times New Roman"/>
              </a:rPr>
              <a:t>0</a:t>
            </a:r>
            <a:r>
              <a:rPr lang="en-IN" sz="2900" dirty="0">
                <a:latin typeface="Times New Roman"/>
                <a:ea typeface="Calibri"/>
                <a:cs typeface="Calibri"/>
              </a:rPr>
              <a:t>.</a:t>
            </a:r>
            <a:endParaRPr lang="en-IN" sz="2900" dirty="0">
              <a:ea typeface="Calibri" panose="020F0502020204030204"/>
              <a:cs typeface="Calibri" panose="020F0502020204030204"/>
            </a:endParaRPr>
          </a:p>
          <a:p>
            <a:pPr marL="0" indent="0">
              <a:buNone/>
            </a:pPr>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r>
              <a:rPr lang="en-IN" sz="2400" dirty="0">
                <a:latin typeface="Times New Roman"/>
                <a:ea typeface="Calibri"/>
                <a:cs typeface="Calibri"/>
              </a:rPr>
              <a:t>   </a:t>
            </a:r>
            <a:endParaRPr lang="en-IN" sz="2900">
              <a:latin typeface="Times New Roman"/>
              <a:ea typeface="Calibri"/>
              <a:cs typeface="Calibri"/>
            </a:endParaRPr>
          </a:p>
          <a:p>
            <a:pPr marL="0" indent="0">
              <a:buNone/>
            </a:pPr>
            <a:r>
              <a:rPr lang="en-IN" sz="2300" dirty="0">
                <a:latin typeface="Times New Roman"/>
                <a:ea typeface="Calibri"/>
                <a:cs typeface="Calibri"/>
              </a:rPr>
              <a:t>    </a:t>
            </a:r>
          </a:p>
          <a:p>
            <a:pPr marL="0" indent="0">
              <a:buNone/>
            </a:pPr>
            <a:r>
              <a:rPr lang="en-IN" sz="2300" dirty="0">
                <a:latin typeface="Times New Roman"/>
                <a:ea typeface="Calibri"/>
                <a:cs typeface="Calibri"/>
              </a:rPr>
              <a:t>     </a:t>
            </a:r>
            <a:r>
              <a:rPr lang="en-IN" sz="2900">
                <a:latin typeface="Times New Roman"/>
                <a:ea typeface="Calibri"/>
                <a:cs typeface="Calibri"/>
              </a:rPr>
              <a:t>Figure 10.  Simulated S11 of  </a:t>
            </a:r>
            <a:r>
              <a:rPr lang="en-GB" sz="2900" dirty="0">
                <a:latin typeface="Times New Roman"/>
                <a:ea typeface="Calibri"/>
                <a:cs typeface="Times New Roman"/>
              </a:rPr>
              <a:t>1×2 Patch antenna Array </a:t>
            </a:r>
            <a:endParaRPr lang="en-IN" sz="29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sz="2000" dirty="0">
              <a:latin typeface="Times New Roman"/>
              <a:ea typeface="Calibri"/>
              <a:cs typeface="Calibri"/>
            </a:endParaRPr>
          </a:p>
        </p:txBody>
      </p:sp>
      <p:sp>
        <p:nvSpPr>
          <p:cNvPr id="4" name="Date Placeholder 3">
            <a:extLst>
              <a:ext uri="{FF2B5EF4-FFF2-40B4-BE49-F238E27FC236}">
                <a16:creationId xmlns:a16="http://schemas.microsoft.com/office/drawing/2014/main" id="{99E698C7-017C-ECD1-547B-E15E009BA5B4}"/>
              </a:ext>
            </a:extLst>
          </p:cNvPr>
          <p:cNvSpPr>
            <a:spLocks noGrp="1"/>
          </p:cNvSpPr>
          <p:nvPr>
            <p:ph type="dt" sz="half" idx="10"/>
          </p:nvPr>
        </p:nvSpPr>
        <p:spPr/>
        <p:txBody>
          <a:bodyPr/>
          <a:lstStyle/>
          <a:p>
            <a:fld id="{C0883387-8E05-44FA-9CA1-FD7515E30DCB}" type="datetime1">
              <a:rPr lang="en-IN" smtClean="0"/>
              <a:t>22-06-2026</a:t>
            </a:fld>
            <a:endParaRPr lang="en-IN"/>
          </a:p>
        </p:txBody>
      </p:sp>
      <p:sp>
        <p:nvSpPr>
          <p:cNvPr id="5" name="Footer Placeholder 4">
            <a:extLst>
              <a:ext uri="{FF2B5EF4-FFF2-40B4-BE49-F238E27FC236}">
                <a16:creationId xmlns:a16="http://schemas.microsoft.com/office/drawing/2014/main" id="{E8213398-1A51-CA05-6F0C-EA45B9508981}"/>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EE83B619-ABB8-A93A-8778-5005B97B5BB5}"/>
              </a:ext>
            </a:extLst>
          </p:cNvPr>
          <p:cNvSpPr>
            <a:spLocks noGrp="1"/>
          </p:cNvSpPr>
          <p:nvPr>
            <p:ph type="sldNum" sz="quarter" idx="12"/>
          </p:nvPr>
        </p:nvSpPr>
        <p:spPr/>
        <p:txBody>
          <a:bodyPr/>
          <a:lstStyle/>
          <a:p>
            <a:fld id="{1CCCFFBF-4DCD-46DE-85E1-69841FB49368}" type="slidenum">
              <a:rPr lang="en-IN" smtClean="0"/>
              <a:t>22</a:t>
            </a:fld>
            <a:endParaRPr lang="en-IN"/>
          </a:p>
        </p:txBody>
      </p:sp>
      <p:pic>
        <p:nvPicPr>
          <p:cNvPr id="8" name="Picture 7" descr="A pink and black logo&#10;&#10;AI-generated content may be incorrect.">
            <a:extLst>
              <a:ext uri="{FF2B5EF4-FFF2-40B4-BE49-F238E27FC236}">
                <a16:creationId xmlns:a16="http://schemas.microsoft.com/office/drawing/2014/main" id="{C9CA61C6-D99D-BBF3-93A7-9CF14B36A5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7" name="Picture 6" descr="A graph with green lines and yellow labels&#10;&#10;AI-generated content may be incorrect.">
            <a:extLst>
              <a:ext uri="{FF2B5EF4-FFF2-40B4-BE49-F238E27FC236}">
                <a16:creationId xmlns:a16="http://schemas.microsoft.com/office/drawing/2014/main" id="{8B517C64-26FB-5665-C6BE-FC0C9F83F55E}"/>
              </a:ext>
            </a:extLst>
          </p:cNvPr>
          <p:cNvPicPr>
            <a:picLocks noChangeAspect="1"/>
          </p:cNvPicPr>
          <p:nvPr/>
        </p:nvPicPr>
        <p:blipFill>
          <a:blip r:embed="rId3"/>
          <a:stretch>
            <a:fillRect/>
          </a:stretch>
        </p:blipFill>
        <p:spPr>
          <a:xfrm>
            <a:off x="334027" y="1362025"/>
            <a:ext cx="9060494" cy="3371950"/>
          </a:xfrm>
          <a:prstGeom prst="rect">
            <a:avLst/>
          </a:prstGeom>
        </p:spPr>
      </p:pic>
    </p:spTree>
    <p:extLst>
      <p:ext uri="{BB962C8B-B14F-4D97-AF65-F5344CB8AC3E}">
        <p14:creationId xmlns:p14="http://schemas.microsoft.com/office/powerpoint/2010/main" val="2260142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9AEF0-9CA5-296C-6BBA-C4452FD7E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14076-F573-19E0-0099-891637B28B52}"/>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endParaRPr lang="en-IN" sz="3200" b="1" dirty="0">
              <a:latin typeface="Times New Roman"/>
              <a:cs typeface="Times New Roman"/>
            </a:endParaRPr>
          </a:p>
        </p:txBody>
      </p:sp>
      <p:sp>
        <p:nvSpPr>
          <p:cNvPr id="3" name="Content Placeholder 2">
            <a:extLst>
              <a:ext uri="{FF2B5EF4-FFF2-40B4-BE49-F238E27FC236}">
                <a16:creationId xmlns:a16="http://schemas.microsoft.com/office/drawing/2014/main" id="{0C24D5BE-58DC-7329-48BF-F0F94850B310}"/>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0.4</a:t>
            </a:r>
            <a:r>
              <a:rPr lang="el-GR" sz="2900" b="1" dirty="0">
                <a:latin typeface="Times New Roman"/>
                <a:ea typeface="Calibri"/>
                <a:cs typeface="Times New Roman"/>
              </a:rPr>
              <a:t> </a:t>
            </a:r>
            <a:r>
              <a:rPr lang="el-GR" sz="2900">
                <a:latin typeface="Times New Roman"/>
                <a:ea typeface="Calibri"/>
                <a:cs typeface="Times New Roman"/>
              </a:rPr>
              <a:t>λ</a:t>
            </a:r>
            <a:r>
              <a:rPr lang="el-GR" sz="2500" baseline="-25000" dirty="0">
                <a:latin typeface="Times New Roman"/>
                <a:ea typeface="Calibri"/>
                <a:cs typeface="Times New Roman"/>
              </a:rPr>
              <a:t>0</a:t>
            </a:r>
            <a:r>
              <a:rPr lang="en-IN" sz="2900" dirty="0">
                <a:latin typeface="Times New Roman"/>
                <a:ea typeface="Calibri"/>
                <a:cs typeface="Calibri"/>
              </a:rPr>
              <a:t>.</a:t>
            </a:r>
            <a:endParaRPr lang="en-IN" sz="2900" dirty="0">
              <a:ea typeface="Calibri" panose="020F0502020204030204"/>
              <a:cs typeface="Calibri" panose="020F0502020204030204"/>
            </a:endParaRPr>
          </a:p>
          <a:p>
            <a:pPr marL="0" indent="0">
              <a:buNone/>
            </a:pPr>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r>
              <a:rPr lang="en-IN" sz="2400" dirty="0">
                <a:latin typeface="Times New Roman"/>
                <a:ea typeface="Calibri"/>
                <a:cs typeface="Calibri"/>
              </a:rPr>
              <a:t>   </a:t>
            </a:r>
            <a:endParaRPr lang="en-IN" sz="2900">
              <a:latin typeface="Times New Roman"/>
              <a:ea typeface="Calibri"/>
              <a:cs typeface="Calibri"/>
            </a:endParaRPr>
          </a:p>
          <a:p>
            <a:pPr marL="0" indent="0">
              <a:buNone/>
            </a:pPr>
            <a:r>
              <a:rPr lang="en-IN" sz="2300" dirty="0">
                <a:latin typeface="Times New Roman"/>
                <a:ea typeface="Calibri"/>
                <a:cs typeface="Calibri"/>
              </a:rPr>
              <a:t>    </a:t>
            </a:r>
          </a:p>
          <a:p>
            <a:pPr marL="0" indent="0">
              <a:buNone/>
            </a:pPr>
            <a:r>
              <a:rPr lang="en-IN" sz="2300" dirty="0">
                <a:latin typeface="Times New Roman"/>
                <a:ea typeface="Calibri"/>
                <a:cs typeface="Calibri"/>
              </a:rPr>
              <a:t>     </a:t>
            </a:r>
            <a:r>
              <a:rPr lang="en-IN" sz="2900">
                <a:latin typeface="Times New Roman"/>
                <a:ea typeface="Calibri"/>
                <a:cs typeface="Calibri"/>
              </a:rPr>
              <a:t>Figure 11.  Simulated S21 of  </a:t>
            </a:r>
            <a:r>
              <a:rPr lang="en-GB" sz="2900" dirty="0">
                <a:latin typeface="Times New Roman"/>
                <a:ea typeface="Calibri"/>
                <a:cs typeface="Times New Roman"/>
              </a:rPr>
              <a:t>1×2 Patch antenna Array </a:t>
            </a:r>
            <a:endParaRPr lang="en-IN" sz="2900" dirty="0">
              <a:latin typeface="Times New Roman"/>
              <a:ea typeface="Calibri"/>
              <a:cs typeface="Calibri"/>
            </a:endParaRPr>
          </a:p>
          <a:p>
            <a:pPr marL="0" indent="0">
              <a:buNone/>
            </a:pPr>
            <a:endParaRPr lang="en-IN" sz="2400" dirty="0">
              <a:latin typeface="Times New Roman"/>
              <a:ea typeface="Calibri"/>
              <a:cs typeface="Calibri"/>
            </a:endParaRPr>
          </a:p>
          <a:p>
            <a:pPr marL="0" indent="0">
              <a:buNone/>
            </a:pPr>
            <a:endParaRPr lang="en-IN" sz="2400"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endParaRPr lang="en-IN" dirty="0">
              <a:latin typeface="Times New Roman"/>
              <a:ea typeface="Calibri"/>
              <a:cs typeface="Calibri"/>
            </a:endParaRPr>
          </a:p>
          <a:p>
            <a:pPr marL="0" indent="0">
              <a:buNone/>
            </a:pPr>
            <a:endParaRPr lang="en-IN" sz="2000" dirty="0">
              <a:latin typeface="Times New Roman"/>
              <a:ea typeface="Calibri"/>
              <a:cs typeface="Calibri"/>
            </a:endParaRPr>
          </a:p>
        </p:txBody>
      </p:sp>
      <p:sp>
        <p:nvSpPr>
          <p:cNvPr id="4" name="Date Placeholder 3">
            <a:extLst>
              <a:ext uri="{FF2B5EF4-FFF2-40B4-BE49-F238E27FC236}">
                <a16:creationId xmlns:a16="http://schemas.microsoft.com/office/drawing/2014/main" id="{186CF377-25B9-5965-3A04-2876FFAEB8E8}"/>
              </a:ext>
            </a:extLst>
          </p:cNvPr>
          <p:cNvSpPr>
            <a:spLocks noGrp="1"/>
          </p:cNvSpPr>
          <p:nvPr>
            <p:ph type="dt" sz="half" idx="10"/>
          </p:nvPr>
        </p:nvSpPr>
        <p:spPr/>
        <p:txBody>
          <a:bodyPr/>
          <a:lstStyle/>
          <a:p>
            <a:fld id="{C0883387-8E05-44FA-9CA1-FD7515E30DCB}" type="datetime1">
              <a:rPr lang="en-IN" smtClean="0"/>
              <a:t>22-06-2026</a:t>
            </a:fld>
            <a:endParaRPr lang="en-IN"/>
          </a:p>
        </p:txBody>
      </p:sp>
      <p:sp>
        <p:nvSpPr>
          <p:cNvPr id="5" name="Footer Placeholder 4">
            <a:extLst>
              <a:ext uri="{FF2B5EF4-FFF2-40B4-BE49-F238E27FC236}">
                <a16:creationId xmlns:a16="http://schemas.microsoft.com/office/drawing/2014/main" id="{31DC5A23-2FAB-1A1C-A524-16CC72A064EB}"/>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2B2B6BF5-BF88-67D9-82EE-FB1EB08668DA}"/>
              </a:ext>
            </a:extLst>
          </p:cNvPr>
          <p:cNvSpPr>
            <a:spLocks noGrp="1"/>
          </p:cNvSpPr>
          <p:nvPr>
            <p:ph type="sldNum" sz="quarter" idx="12"/>
          </p:nvPr>
        </p:nvSpPr>
        <p:spPr/>
        <p:txBody>
          <a:bodyPr/>
          <a:lstStyle/>
          <a:p>
            <a:fld id="{1CCCFFBF-4DCD-46DE-85E1-69841FB49368}" type="slidenum">
              <a:rPr lang="en-IN" smtClean="0"/>
              <a:t>23</a:t>
            </a:fld>
            <a:endParaRPr lang="en-IN"/>
          </a:p>
        </p:txBody>
      </p:sp>
      <p:pic>
        <p:nvPicPr>
          <p:cNvPr id="8" name="Picture 7" descr="A pink and black logo&#10;&#10;AI-generated content may be incorrect.">
            <a:extLst>
              <a:ext uri="{FF2B5EF4-FFF2-40B4-BE49-F238E27FC236}">
                <a16:creationId xmlns:a16="http://schemas.microsoft.com/office/drawing/2014/main" id="{9E5B9A08-57F2-E63A-FA43-2BD46395E3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9" name="Picture 8" descr="A graph with blue lines and yellow labels&#10;&#10;AI-generated content may be incorrect.">
            <a:extLst>
              <a:ext uri="{FF2B5EF4-FFF2-40B4-BE49-F238E27FC236}">
                <a16:creationId xmlns:a16="http://schemas.microsoft.com/office/drawing/2014/main" id="{97DEA2E6-500A-0D64-4B7C-E97DFFA3D1CC}"/>
              </a:ext>
            </a:extLst>
          </p:cNvPr>
          <p:cNvPicPr>
            <a:picLocks noChangeAspect="1"/>
          </p:cNvPicPr>
          <p:nvPr/>
        </p:nvPicPr>
        <p:blipFill>
          <a:blip r:embed="rId3"/>
          <a:stretch>
            <a:fillRect/>
          </a:stretch>
        </p:blipFill>
        <p:spPr>
          <a:xfrm>
            <a:off x="302712" y="1300904"/>
            <a:ext cx="8736906" cy="3264550"/>
          </a:xfrm>
          <a:prstGeom prst="rect">
            <a:avLst/>
          </a:prstGeom>
        </p:spPr>
      </p:pic>
    </p:spTree>
    <p:extLst>
      <p:ext uri="{BB962C8B-B14F-4D97-AF65-F5344CB8AC3E}">
        <p14:creationId xmlns:p14="http://schemas.microsoft.com/office/powerpoint/2010/main" val="1658755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74CD3-2593-5C36-3132-AFCD248C3BC3}"/>
              </a:ext>
            </a:extLst>
          </p:cNvPr>
          <p:cNvSpPr>
            <a:spLocks noGrp="1"/>
          </p:cNvSpPr>
          <p:nvPr>
            <p:ph type="title"/>
          </p:nvPr>
        </p:nvSpPr>
        <p:spPr>
          <a:xfrm>
            <a:off x="3132" y="-216"/>
            <a:ext cx="3741107" cy="876712"/>
          </a:xfrm>
        </p:spPr>
        <p:txBody>
          <a:bodyPr>
            <a:normAutofit/>
          </a:bodyPr>
          <a:lstStyle/>
          <a:p>
            <a:r>
              <a:rPr lang="en-IN" sz="3600" u="sng">
                <a:latin typeface="Times New Roman"/>
                <a:ea typeface="Calibri Light"/>
                <a:cs typeface="Calibri Light"/>
              </a:rPr>
              <a:t>REFERENCES</a:t>
            </a:r>
            <a:r>
              <a:rPr lang="en-IN">
                <a:ea typeface="Calibri Light"/>
                <a:cs typeface="Calibri Light"/>
              </a:rPr>
              <a:t>:</a:t>
            </a:r>
            <a:endParaRPr lang="en-IN"/>
          </a:p>
        </p:txBody>
      </p:sp>
      <p:sp>
        <p:nvSpPr>
          <p:cNvPr id="3" name="Content Placeholder 2">
            <a:extLst>
              <a:ext uri="{FF2B5EF4-FFF2-40B4-BE49-F238E27FC236}">
                <a16:creationId xmlns:a16="http://schemas.microsoft.com/office/drawing/2014/main" id="{193FAAA3-94E4-082C-58AD-B0560EE66EB7}"/>
              </a:ext>
            </a:extLst>
          </p:cNvPr>
          <p:cNvSpPr>
            <a:spLocks noGrp="1"/>
          </p:cNvSpPr>
          <p:nvPr>
            <p:ph idx="1"/>
          </p:nvPr>
        </p:nvSpPr>
        <p:spPr>
          <a:xfrm>
            <a:off x="170145" y="875734"/>
            <a:ext cx="10515600" cy="4351338"/>
          </a:xfrm>
        </p:spPr>
        <p:txBody>
          <a:bodyPr vert="horz" lIns="91440" tIns="45720" rIns="91440" bIns="45720" rtlCol="0" anchor="t">
            <a:normAutofit/>
          </a:bodyPr>
          <a:lstStyle/>
          <a:p>
            <a:pPr algn="just"/>
            <a:r>
              <a:rPr lang="en-IN" sz="1800">
                <a:latin typeface="Times New Roman"/>
                <a:cs typeface="Times New Roman"/>
              </a:rPr>
              <a:t>[1] G. Yang, Y. Zhang, and S. Zhang, “Compact Self-Isolated Four-Element MIMO Antenna for WLAN and ISM Bands Application ,” </a:t>
            </a:r>
            <a:r>
              <a:rPr lang="en-IN" sz="1800" i="1">
                <a:latin typeface="Times New Roman"/>
                <a:cs typeface="Times New Roman"/>
              </a:rPr>
              <a:t>IEEE Open J. Antennas Propag.</a:t>
            </a:r>
            <a:r>
              <a:rPr lang="en-IN" sz="1800">
                <a:latin typeface="Times New Roman"/>
                <a:cs typeface="Times New Roman"/>
              </a:rPr>
              <a:t>, vol. 2, pp. 203–213, 2023, doi: 10.1109/OJAP.2023.3057062.</a:t>
            </a:r>
            <a:endParaRPr lang="en-IN" sz="1800">
              <a:ea typeface="Calibri" panose="020F0502020204030204"/>
              <a:cs typeface="Calibri" panose="020F0502020204030204"/>
            </a:endParaRPr>
          </a:p>
          <a:p>
            <a:pPr algn="just"/>
            <a:r>
              <a:rPr lang="en-IN" sz="1800">
                <a:latin typeface="Times New Roman"/>
                <a:cs typeface="Times New Roman"/>
              </a:rPr>
              <a:t>[2] W.-L. Zhou, S.-W. Qu, M. Xia, and S. Yang, “Decoupling Between Extremely Closely Spaced Patch Antennas by Mode Cancellation Method ,” </a:t>
            </a:r>
            <a:r>
              <a:rPr lang="en-IN" sz="1800" i="1">
                <a:latin typeface="Times New Roman"/>
                <a:cs typeface="Times New Roman"/>
              </a:rPr>
              <a:t>IEEE Trans. Antennas Propag.</a:t>
            </a:r>
            <a:r>
              <a:rPr lang="en-IN" sz="1800">
                <a:latin typeface="Times New Roman"/>
                <a:cs typeface="Times New Roman"/>
              </a:rPr>
              <a:t>, vol. 70, no. 11, pp. 10475–10484, Nov. 2024, doi: 10.1109/TAP.2024.3195454.</a:t>
            </a:r>
            <a:endParaRPr lang="en-IN" sz="1800">
              <a:ea typeface="Calibri"/>
              <a:cs typeface="Calibri"/>
            </a:endParaRPr>
          </a:p>
          <a:p>
            <a:pPr algn="just"/>
            <a:r>
              <a:rPr lang="en-IN" sz="1800">
                <a:latin typeface="Times New Roman"/>
                <a:cs typeface="Times New Roman"/>
              </a:rPr>
              <a:t>[3] A. Li, S.-W. Qu, and S. Yang, “ Mutual Coupling Reduction of a Dual-Band Four-Port Patch Antenna With Co-Polarized Radiation Pattern by Controlling Electric Fields ,” </a:t>
            </a:r>
            <a:r>
              <a:rPr lang="en-IN" sz="1800" i="1">
                <a:latin typeface="Times New Roman"/>
                <a:cs typeface="Times New Roman"/>
              </a:rPr>
              <a:t>IEEE Antennas Wireless Propag. Lett.</a:t>
            </a:r>
            <a:r>
              <a:rPr lang="en-IN" sz="1800">
                <a:latin typeface="Times New Roman"/>
                <a:cs typeface="Times New Roman"/>
              </a:rPr>
              <a:t>, vol. 21, no. 9, pp. 1762–1766, Sept. 2022, doi: 10.1109/LAWP.2022.3179404.</a:t>
            </a:r>
            <a:endParaRPr lang="en-IN" sz="1800">
              <a:ea typeface="Calibri"/>
              <a:cs typeface="Calibri"/>
            </a:endParaRPr>
          </a:p>
          <a:p>
            <a:pPr algn="just"/>
            <a:r>
              <a:rPr lang="en-IN" sz="1800">
                <a:latin typeface="Times New Roman"/>
                <a:cs typeface="Times New Roman"/>
              </a:rPr>
              <a:t>[4] Y. Yang, Y. Feng, L.-K. Zhang, Z. Xing, and J. Li, “ A Compact Multifrequency Broadband Dual-Antenna System With Mutual Coupling Reduction for Wi-Fi 6E Application ,” </a:t>
            </a:r>
            <a:r>
              <a:rPr lang="en-IN" sz="1800" i="1">
                <a:latin typeface="Times New Roman"/>
                <a:cs typeface="Times New Roman"/>
              </a:rPr>
              <a:t>IEEE Antennas Wireless Propag. Lett.</a:t>
            </a:r>
            <a:r>
              <a:rPr lang="en-IN" sz="1800">
                <a:latin typeface="Times New Roman"/>
                <a:cs typeface="Times New Roman"/>
              </a:rPr>
              <a:t>, vol. 23, no. 12, pp. 4074–4078, Dec. 2024, doi: 10.1109/LAWP.2024.3428515.</a:t>
            </a:r>
            <a:endParaRPr lang="en-IN" sz="1800">
              <a:ea typeface="Calibri"/>
              <a:cs typeface="Calibri"/>
            </a:endParaRPr>
          </a:p>
          <a:p>
            <a:pPr algn="just"/>
            <a:r>
              <a:rPr lang="en-IN" sz="1800">
                <a:latin typeface="Times New Roman"/>
                <a:cs typeface="Times New Roman"/>
              </a:rPr>
              <a:t>[5] Z.-L. Su, K. W. Leung, and K. Lu, “Mutual Coupling Reduction in Dual-Band MIMO Antenna Using Parasitic Dollar-Shaped Structure for Modern Wireless Communication,” </a:t>
            </a:r>
            <a:r>
              <a:rPr lang="en-IN" sz="1800" i="1">
                <a:latin typeface="Times New Roman"/>
                <a:cs typeface="Times New Roman"/>
              </a:rPr>
              <a:t>IEEE Trans. Antennas Propag.</a:t>
            </a:r>
            <a:r>
              <a:rPr lang="en-IN" sz="1800">
                <a:latin typeface="Times New Roman"/>
                <a:cs typeface="Times New Roman"/>
              </a:rPr>
              <a:t>, vol. 70, no. 9, pp. 7659–7669, Sept. 2023, doi:</a:t>
            </a:r>
            <a:r>
              <a:rPr lang="en-IN" sz="1800" dirty="0">
                <a:solidFill>
                  <a:srgbClr val="0D0D0D"/>
                </a:solidFill>
                <a:latin typeface="Times New Roman"/>
                <a:cs typeface="Times New Roman"/>
              </a:rPr>
              <a:t> </a:t>
            </a:r>
            <a:r>
              <a:rPr lang="en-IN" sz="1800" dirty="0">
                <a:solidFill>
                  <a:srgbClr val="0D0D0D"/>
                </a:solidFill>
                <a:latin typeface="Times New Roman"/>
                <a:cs typeface="Times New Roman"/>
                <a:hlinkClick r:id="rId2"/>
              </a:rPr>
              <a:t>10.1109/TAP.2023.3199567</a:t>
            </a:r>
            <a:r>
              <a:rPr lang="en-IN" sz="1800">
                <a:solidFill>
                  <a:srgbClr val="0D0D0D"/>
                </a:solidFill>
                <a:latin typeface="Times New Roman"/>
                <a:cs typeface="Times New Roman"/>
              </a:rPr>
              <a:t>.</a:t>
            </a:r>
            <a:endParaRPr lang="en-IN" sz="1800"/>
          </a:p>
        </p:txBody>
      </p:sp>
      <p:sp>
        <p:nvSpPr>
          <p:cNvPr id="4" name="Date Placeholder 3">
            <a:extLst>
              <a:ext uri="{FF2B5EF4-FFF2-40B4-BE49-F238E27FC236}">
                <a16:creationId xmlns:a16="http://schemas.microsoft.com/office/drawing/2014/main" id="{F9447F36-4E43-A514-0D07-6077B46E302E}"/>
              </a:ext>
            </a:extLst>
          </p:cNvPr>
          <p:cNvSpPr>
            <a:spLocks noGrp="1"/>
          </p:cNvSpPr>
          <p:nvPr>
            <p:ph type="dt" sz="half" idx="10"/>
          </p:nvPr>
        </p:nvSpPr>
        <p:spPr/>
        <p:txBody>
          <a:bodyPr/>
          <a:lstStyle/>
          <a:p>
            <a:fld id="{4352811E-622C-4247-A383-1708C3496131}" type="datetime1">
              <a:rPr lang="en-IN" smtClean="0"/>
              <a:t>22-06-2026</a:t>
            </a:fld>
            <a:endParaRPr lang="en-IN"/>
          </a:p>
        </p:txBody>
      </p:sp>
      <p:sp>
        <p:nvSpPr>
          <p:cNvPr id="5" name="Footer Placeholder 4">
            <a:extLst>
              <a:ext uri="{FF2B5EF4-FFF2-40B4-BE49-F238E27FC236}">
                <a16:creationId xmlns:a16="http://schemas.microsoft.com/office/drawing/2014/main" id="{474445B0-A1FC-4D14-BC1A-55E6E3D480F5}"/>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510DBB7B-9F98-9E8B-4745-F048B13F6B16}"/>
              </a:ext>
            </a:extLst>
          </p:cNvPr>
          <p:cNvSpPr>
            <a:spLocks noGrp="1"/>
          </p:cNvSpPr>
          <p:nvPr>
            <p:ph type="sldNum" sz="quarter" idx="12"/>
          </p:nvPr>
        </p:nvSpPr>
        <p:spPr/>
        <p:txBody>
          <a:bodyPr/>
          <a:lstStyle/>
          <a:p>
            <a:fld id="{1CCCFFBF-4DCD-46DE-85E1-69841FB49368}" type="slidenum">
              <a:rPr lang="en-IN" smtClean="0"/>
              <a:t>24</a:t>
            </a:fld>
            <a:endParaRPr lang="en-IN"/>
          </a:p>
        </p:txBody>
      </p:sp>
      <p:pic>
        <p:nvPicPr>
          <p:cNvPr id="8" name="Picture 7" descr="A pink and black logo&#10;&#10;AI-generated content may be incorrect.">
            <a:extLst>
              <a:ext uri="{FF2B5EF4-FFF2-40B4-BE49-F238E27FC236}">
                <a16:creationId xmlns:a16="http://schemas.microsoft.com/office/drawing/2014/main" id="{6A945866-816D-F3B0-F789-E37BC7DC31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Tree>
    <p:extLst>
      <p:ext uri="{BB962C8B-B14F-4D97-AF65-F5344CB8AC3E}">
        <p14:creationId xmlns:p14="http://schemas.microsoft.com/office/powerpoint/2010/main" val="333189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330588-A1D8-7239-A91F-DC4CA0827F34}"/>
              </a:ext>
            </a:extLst>
          </p:cNvPr>
          <p:cNvSpPr>
            <a:spLocks noGrp="1"/>
          </p:cNvSpPr>
          <p:nvPr>
            <p:ph type="dt" sz="half" idx="10"/>
          </p:nvPr>
        </p:nvSpPr>
        <p:spPr/>
        <p:txBody>
          <a:bodyPr/>
          <a:lstStyle/>
          <a:p>
            <a:fld id="{A65498C3-4B27-4C67-9847-0971B464EF5C}" type="datetime1">
              <a:rPr lang="en-IN" smtClean="0"/>
              <a:t>22-06-2026</a:t>
            </a:fld>
            <a:endParaRPr lang="en-IN"/>
          </a:p>
        </p:txBody>
      </p:sp>
      <p:sp>
        <p:nvSpPr>
          <p:cNvPr id="3" name="Footer Placeholder 2">
            <a:extLst>
              <a:ext uri="{FF2B5EF4-FFF2-40B4-BE49-F238E27FC236}">
                <a16:creationId xmlns:a16="http://schemas.microsoft.com/office/drawing/2014/main" id="{7F1C8047-E9CF-A698-4F82-29C9CF151B5D}"/>
              </a:ext>
            </a:extLst>
          </p:cNvPr>
          <p:cNvSpPr>
            <a:spLocks noGrp="1"/>
          </p:cNvSpPr>
          <p:nvPr>
            <p:ph type="ftr" sz="quarter" idx="11"/>
          </p:nvPr>
        </p:nvSpPr>
        <p:spPr/>
        <p:txBody>
          <a:bodyPr/>
          <a:lstStyle/>
          <a:p>
            <a:r>
              <a:rPr lang="en-IN"/>
              <a:t>Review 1.3</a:t>
            </a:r>
          </a:p>
        </p:txBody>
      </p:sp>
      <p:sp>
        <p:nvSpPr>
          <p:cNvPr id="4" name="Slide Number Placeholder 3">
            <a:extLst>
              <a:ext uri="{FF2B5EF4-FFF2-40B4-BE49-F238E27FC236}">
                <a16:creationId xmlns:a16="http://schemas.microsoft.com/office/drawing/2014/main" id="{A4505B3B-DA3F-B45D-468A-DA1163F72900}"/>
              </a:ext>
            </a:extLst>
          </p:cNvPr>
          <p:cNvSpPr>
            <a:spLocks noGrp="1"/>
          </p:cNvSpPr>
          <p:nvPr>
            <p:ph type="sldNum" sz="quarter" idx="12"/>
          </p:nvPr>
        </p:nvSpPr>
        <p:spPr/>
        <p:txBody>
          <a:bodyPr/>
          <a:lstStyle/>
          <a:p>
            <a:fld id="{1CCCFFBF-4DCD-46DE-85E1-69841FB49368}" type="slidenum">
              <a:rPr lang="en-IN" smtClean="0"/>
              <a:t>25</a:t>
            </a:fld>
            <a:endParaRPr lang="en-IN"/>
          </a:p>
        </p:txBody>
      </p:sp>
      <p:sp>
        <p:nvSpPr>
          <p:cNvPr id="5" name="TextBox 4">
            <a:extLst>
              <a:ext uri="{FF2B5EF4-FFF2-40B4-BE49-F238E27FC236}">
                <a16:creationId xmlns:a16="http://schemas.microsoft.com/office/drawing/2014/main" id="{A8C1C3B1-17E1-BE4A-86ED-DE06049EBBA2}"/>
              </a:ext>
            </a:extLst>
          </p:cNvPr>
          <p:cNvSpPr txBox="1"/>
          <p:nvPr/>
        </p:nvSpPr>
        <p:spPr>
          <a:xfrm>
            <a:off x="3048000" y="342900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200" b="1">
                <a:latin typeface="Times New Roman"/>
                <a:cs typeface="Calibri"/>
              </a:rPr>
              <a:t>Thank You</a:t>
            </a:r>
          </a:p>
        </p:txBody>
      </p:sp>
      <p:pic>
        <p:nvPicPr>
          <p:cNvPr id="7" name="Picture 6" descr="A pink and black logo&#10;&#10;AI-generated content may be incorrect.">
            <a:extLst>
              <a:ext uri="{FF2B5EF4-FFF2-40B4-BE49-F238E27FC236}">
                <a16:creationId xmlns:a16="http://schemas.microsoft.com/office/drawing/2014/main" id="{D4CC503C-4D12-36EB-6361-95A3A10F57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Tree>
    <p:extLst>
      <p:ext uri="{BB962C8B-B14F-4D97-AF65-F5344CB8AC3E}">
        <p14:creationId xmlns:p14="http://schemas.microsoft.com/office/powerpoint/2010/main" val="2120139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1773</Words>
  <Application>Microsoft Office PowerPoint</Application>
  <PresentationFormat>Widescreen</PresentationFormat>
  <Paragraphs>447</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Times New Roman</vt:lpstr>
      <vt:lpstr>Wingdings</vt:lpstr>
      <vt:lpstr>Office Theme</vt:lpstr>
      <vt:lpstr>PowerPoint Presentation</vt:lpstr>
      <vt:lpstr>MOTIVATION:</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vt:lpstr>
      <vt:lpstr>PowerPoint Presentation</vt:lpstr>
      <vt:lpstr>PowerPoint Presentation</vt:lpstr>
      <vt:lpstr>Results:</vt:lpstr>
      <vt:lpstr>Results:</vt:lpstr>
      <vt:lpstr>Results:</vt:lpstr>
      <vt:lpstr>Results:</vt:lpstr>
      <vt:lpstr>Results:</vt:lpstr>
      <vt:lpstr>Results:</vt:lpstr>
      <vt:lpstr>Results:</vt:lpstr>
      <vt:lpstr>Results: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Yashwanth Peddakudala</dc:creator>
  <cp:lastModifiedBy>Yashwanth Peddakudala</cp:lastModifiedBy>
  <cp:revision>484</cp:revision>
  <dcterms:created xsi:type="dcterms:W3CDTF">2025-10-08T17:37:45Z</dcterms:created>
  <dcterms:modified xsi:type="dcterms:W3CDTF">2026-06-22T17:34:09Z</dcterms:modified>
</cp:coreProperties>
</file>