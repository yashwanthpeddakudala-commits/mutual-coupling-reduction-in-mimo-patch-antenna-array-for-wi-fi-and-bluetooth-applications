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7" r:id="rId2"/>
    <p:sldId id="258" r:id="rId3"/>
    <p:sldId id="259" r:id="rId4"/>
    <p:sldId id="282" r:id="rId5"/>
    <p:sldId id="272" r:id="rId6"/>
    <p:sldId id="289" r:id="rId7"/>
    <p:sldId id="260" r:id="rId8"/>
    <p:sldId id="264" r:id="rId9"/>
    <p:sldId id="261" r:id="rId10"/>
    <p:sldId id="262" r:id="rId11"/>
    <p:sldId id="265" r:id="rId12"/>
    <p:sldId id="263" r:id="rId13"/>
    <p:sldId id="266" r:id="rId14"/>
    <p:sldId id="293" r:id="rId15"/>
    <p:sldId id="295" r:id="rId16"/>
    <p:sldId id="296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HARANITHARAN RS - [CB.EN.U4ECE22215]" initials="DR-[" lastIdx="1" clrIdx="0">
    <p:extLst>
      <p:ext uri="{19B8F6BF-5375-455C-9EA6-DF929625EA0E}">
        <p15:presenceInfo xmlns:p15="http://schemas.microsoft.com/office/powerpoint/2012/main" userId="S-1-5-21-3803278214-1640473520-764195406-100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397ACF-737A-48C4-8424-55AA11F34E8C}" v="25" dt="2025-08-27T20:45:17.307"/>
    <p1510:client id="{11086136-95DC-7198-C437-DC7E7954D34A}" v="169" dt="2025-08-28T04:17:33.204"/>
    <p1510:client id="{5888FC9D-4193-A2FB-7A11-73B3156723BB}" v="29" dt="2025-08-27T16:10:16.024"/>
    <p1510:client id="{5E389E99-72AA-F659-9984-EB68AC5D07CF}" v="705" dt="2025-08-27T22:04:38.179"/>
    <p1510:client id="{C858A8A1-211E-D5CD-7AC1-C613266AE9A7}" v="209" dt="2025-08-27T16:10:23.497"/>
    <p1510:client id="{EF6DDD34-65F1-34B5-CECB-9E17252C19F4}" v="743" dt="2025-08-26T17:39:37.088"/>
    <p1510:client id="{F91C6AEE-FC77-E76A-D2A1-2301482703BF}" v="65" dt="2025-08-27T20:36:29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F99F2-2FC7-4A8D-BA5A-CA0E6EE12AC7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777A75-702A-4EC6-AA54-2D233BCA7C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80593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8967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BCF06E-422B-44E5-BC2F-D1B1B493350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53342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4B252-9B49-4BFD-AF01-0B08B1BC9B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4C2E59-B097-403A-B0CF-9774BD112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510987-9327-43F2-9A4D-2CB0892609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356DB4-0A1D-48F9-956C-9CFA5FCA3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BF9C20-6E69-4C4F-8B0B-1BA0102C8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087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6A4B06-3AEE-4CCF-90C9-011BFB32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1B6A0-5B78-4159-B2A9-5153F438B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59E360-56C3-4DF5-B499-38B4FCF0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2B901-A408-41BB-A70E-ED4743D0B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E12FB2-54E7-4182-9551-B6292CE74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125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A982C-1AE3-42D3-B698-8BA9D6DDE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385D7-9AA4-4848-9751-446F950993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84FF0-F8B3-4FFC-9480-17D535236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61C-46EB-4402-A2CF-6C69B9259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0C5BE-49EA-468E-BB94-E0CE4DD22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561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95768-EC19-438D-8970-5EBF8B84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9DA9E-26B0-4670-806A-537F1DDCD8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8E8506-A3B2-4877-9AF5-BC2BD99AA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5F292F-785A-4FBA-B6D4-C6A8ABB96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733E38-D684-4289-94FE-562A26564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525B35-8CBE-4F5F-95C2-DCC7AB61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8209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5FAB46-AB60-49EE-8F3E-A8E833DC9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0254F-D54D-4B97-AF75-2A055C312C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20C661-852D-4FFF-AE09-553B7CD8B6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A94EFC-BFFA-4D54-AAA6-2A6AE4A332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F87DDF-A35B-4DD9-BAC8-1FB339EA7E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2492C8-F3B7-49BA-A1CD-6BCE2D55B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51A546-9835-4E5E-A517-35F649968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554689-C0C8-4840-83A9-FC5E5F1E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510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C0758-C86E-4978-8C59-054B792D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ABF52F-DDA1-48ED-98C6-EFC5FA67C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94FDC0-4048-4E3D-86E8-E7F98DD272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720084-1587-433C-80E8-252D21862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9441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736A395-1677-4CB0-92AE-45C0BE3BB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CFBF4C-EAE4-4C6D-9F9A-55BB4CE3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AD7D5-841A-4E49-A772-4508493C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6328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D8A52-D175-4A99-985D-2163F8E74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76D97-D60D-4CE3-8ECB-0D03557BE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BB2E5B-DA13-4860-BAEA-15DE93555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3D1B41-ACAB-4884-BEB7-1E5A3548C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2EF91B-82F9-4875-9A25-B88FB015B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BA0F85-70DB-492E-90CA-EB5855D37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07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8CD2F-8363-42E0-B953-7163A3BE6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7BAFD5E-7917-439B-A5BD-C739EFC3A3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C8262B-8D5E-45A4-974E-E2AA617632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39CC37-F3E8-436F-A049-6778610DE4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BE521C-8161-426D-9D6D-65C8B0995B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946B4-FB4F-402C-A9CE-ABDF48ECB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102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E50F9-1530-4368-B5E2-EB290894D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B1E3F9-FD2F-4047-97A7-B3D75B51E6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FFC6D-5ABF-43E6-9FCD-EA672E93E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5DA2B-E383-4E09-AC9B-2736D776F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594740-0EBE-498D-8021-4CF064584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8964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C061F9-B072-463A-829D-061C3AD3A5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932E3B-9F37-454D-BDEC-34563FC150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94026-84B3-4276-B63A-B32D6B08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83014-9397-4725-9304-BEF0239B4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E8B443-4497-487A-BCF3-D587AEAC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2354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C15305-E6B8-4401-B9F6-413CEB8DD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4DE0E4-AECF-42CE-85CE-F9C7B9BA2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025C2-6E84-4FA1-90FE-32115D329A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D97348-EFFE-4C7E-B6F8-BE1E1431F176}" type="datetimeFigureOut">
              <a:rPr lang="en-IN" smtClean="0"/>
              <a:t>27-08-2025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868BD-8DB6-4215-B88F-D3E8EB54F4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08931-C54C-4903-9753-D81857A39B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31BD33-BACD-4183-BBCB-5060B8B377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1987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doi.org/10.1109/TAP.2022.3199567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14F917-4E0B-445D-803C-252078CF9E3D}"/>
              </a:ext>
            </a:extLst>
          </p:cNvPr>
          <p:cNvSpPr/>
          <p:nvPr/>
        </p:nvSpPr>
        <p:spPr>
          <a:xfrm>
            <a:off x="116541" y="474782"/>
            <a:ext cx="11958918" cy="532453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en-US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1.2</a:t>
            </a:r>
          </a:p>
          <a:p>
            <a:pPr algn="ctr"/>
            <a:r>
              <a:rPr lang="en-US" sz="28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B. Tech. Project  (19ECE495)</a:t>
            </a:r>
            <a:endParaRPr lang="en-IN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800">
                <a:latin typeface="Times New Roman"/>
                <a:cs typeface="Times New Roman"/>
              </a:rPr>
              <a:t>Batch ID: </a:t>
            </a:r>
            <a:r>
              <a:rPr lang="en-US" sz="2800" b="1">
                <a:solidFill>
                  <a:srgbClr val="C00000"/>
                </a:solidFill>
                <a:latin typeface="Times New Roman"/>
                <a:cs typeface="Times New Roman"/>
              </a:rPr>
              <a:t>070</a:t>
            </a:r>
            <a:endParaRPr lang="en-US" sz="2800" b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b="1">
              <a:solidFill>
                <a:srgbClr val="C00000"/>
              </a:solidFill>
              <a:cs typeface="Calibri"/>
            </a:endParaRPr>
          </a:p>
          <a:p>
            <a:pPr algn="ctr"/>
            <a:r>
              <a:rPr lang="en-US" sz="2800" b="1">
                <a:latin typeface="Times New Roman"/>
                <a:cs typeface="Times New Roman"/>
              </a:rPr>
              <a:t>Mutual coupling reduction in MIMO Patch Antenna Array for Wi-Fi and Bluetooth applications</a:t>
            </a:r>
            <a:endParaRPr lang="en-US" sz="2800"/>
          </a:p>
          <a:p>
            <a:pPr algn="ctr"/>
            <a:endParaRPr lang="en-US" sz="3600" b="1">
              <a:latin typeface="Times New Roman"/>
              <a:cs typeface="Calibri" panose="020F0502020204030204"/>
            </a:endParaRPr>
          </a:p>
          <a:p>
            <a:endParaRPr lang="en-US" sz="2400">
              <a:latin typeface="Times New Roman"/>
              <a:cs typeface="Calibri"/>
            </a:endParaRPr>
          </a:p>
          <a:p>
            <a:pPr algn="r">
              <a:lnSpc>
                <a:spcPct val="150000"/>
              </a:lnSpc>
            </a:pPr>
            <a:endParaRPr lang="en-US" sz="2400">
              <a:cs typeface="Calibri"/>
            </a:endParaRPr>
          </a:p>
          <a:p>
            <a:pPr algn="r">
              <a:lnSpc>
                <a:spcPct val="150000"/>
              </a:lnSpc>
            </a:pPr>
            <a:r>
              <a:rPr lang="en-US" sz="1600" b="1">
                <a:latin typeface="Times New Roman"/>
                <a:cs typeface="Times New Roman"/>
              </a:rPr>
              <a:t>MENTOR</a:t>
            </a:r>
            <a:r>
              <a:rPr lang="en-US" sz="1600">
                <a:latin typeface="Times New Roman"/>
                <a:cs typeface="Times New Roman"/>
              </a:rPr>
              <a:t>:</a:t>
            </a:r>
            <a:r>
              <a:rPr lang="en-US" sz="1600">
                <a:cs typeface="Calibri"/>
              </a:rPr>
              <a:t> </a:t>
            </a:r>
            <a:r>
              <a:rPr lang="en-US" sz="2000">
                <a:latin typeface="Times New Roman"/>
                <a:cs typeface="Times New Roman"/>
              </a:rPr>
              <a:t>: Ms. V. MEKALA DEVI </a:t>
            </a:r>
            <a:endParaRPr lang="en-US"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Dept. of Elec. and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Commn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1600" err="1">
                <a:latin typeface="Times New Roman" panose="02020603050405020304" pitchFamily="18" charset="0"/>
                <a:cs typeface="Times New Roman" panose="02020603050405020304" pitchFamily="18" charset="0"/>
              </a:rPr>
              <a:t>Engg</a:t>
            </a: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pPr algn="r"/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Amrita School of Engineering, Coimbatore</a:t>
            </a:r>
          </a:p>
          <a:p>
            <a:pPr algn="ctr"/>
            <a:endParaRPr lang="en-US" sz="2400">
              <a:latin typeface="Times New Roman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91721D-884A-4AD6-8B2F-AF2922DCE0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871" y="-31376"/>
            <a:ext cx="1999129" cy="591742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E1CF434A-515B-41CA-810F-DCA6B949C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15" name="Date Placeholder 5">
            <a:extLst>
              <a:ext uri="{FF2B5EF4-FFF2-40B4-BE49-F238E27FC236}">
                <a16:creationId xmlns:a16="http://schemas.microsoft.com/office/drawing/2014/main" id="{1D7170BD-E6EC-46ED-944D-F9694A8F7B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704D0B50-FC7B-4E34-9284-4C9C6E6B45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C76BC0C-6ED8-E664-3F28-D3442D68A4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6394739"/>
              </p:ext>
            </p:extLst>
          </p:nvPr>
        </p:nvGraphicFramePr>
        <p:xfrm>
          <a:off x="459288" y="3810000"/>
          <a:ext cx="6089019" cy="21107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0920">
                  <a:extLst>
                    <a:ext uri="{9D8B030D-6E8A-4147-A177-3AD203B41FA5}">
                      <a16:colId xmlns:a16="http://schemas.microsoft.com/office/drawing/2014/main" val="3392337243"/>
                    </a:ext>
                  </a:extLst>
                </a:gridCol>
                <a:gridCol w="520309">
                  <a:extLst>
                    <a:ext uri="{9D8B030D-6E8A-4147-A177-3AD203B41FA5}">
                      <a16:colId xmlns:a16="http://schemas.microsoft.com/office/drawing/2014/main" val="3355959258"/>
                    </a:ext>
                  </a:extLst>
                </a:gridCol>
                <a:gridCol w="3107790">
                  <a:extLst>
                    <a:ext uri="{9D8B030D-6E8A-4147-A177-3AD203B41FA5}">
                      <a16:colId xmlns:a16="http://schemas.microsoft.com/office/drawing/2014/main" val="1734716228"/>
                    </a:ext>
                  </a:extLst>
                </a:gridCol>
              </a:tblGrid>
              <a:tr h="679719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CB.EN.U4ECE22225</a:t>
                      </a:r>
                      <a:endParaRPr lang="en-US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</a:t>
                      </a:r>
                      <a:endParaRPr lang="en-US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J Rohith</a:t>
                      </a:r>
                      <a:endParaRPr lang="en-IN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8129465"/>
                  </a:ext>
                </a:extLst>
              </a:tr>
              <a:tr h="679719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CB.EN.U4ECE22262</a:t>
                      </a:r>
                      <a:endParaRPr lang="en-US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</a:t>
                      </a:r>
                      <a:endParaRPr lang="en-US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2000" b="0" kern="120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P</a:t>
                      </a:r>
                      <a:r>
                        <a:rPr lang="en-IN" sz="2000" b="0" i="0" kern="120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eddakudala</a:t>
                      </a:r>
                      <a:r>
                        <a:rPr lang="en-IN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Yashwanth</a:t>
                      </a:r>
                      <a:endParaRPr lang="en-IN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747855"/>
                  </a:ext>
                </a:extLst>
              </a:tr>
              <a:tr h="751268"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CB.EN.U4ECE22213</a:t>
                      </a:r>
                      <a:endParaRPr lang="en-US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US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-</a:t>
                      </a:r>
                      <a:endParaRPr lang="en-US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rtl="0" eaLnBrk="1" latinLnBrk="0" hangingPunct="1">
                        <a:buNone/>
                      </a:pPr>
                      <a:r>
                        <a:rPr lang="en-IN" sz="2000" b="0" kern="1200" err="1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Chundupalle</a:t>
                      </a:r>
                      <a:r>
                        <a:rPr lang="en-IN" sz="2000" b="0" kern="1200">
                          <a:solidFill>
                            <a:srgbClr val="000000"/>
                          </a:solidFill>
                          <a:effectLst/>
                          <a:latin typeface="Times New Roman"/>
                        </a:rPr>
                        <a:t> Tej Siddanth</a:t>
                      </a:r>
                      <a:endParaRPr lang="en-IN" sz="2000" b="0">
                        <a:effectLst/>
                        <a:latin typeface="Times New Roman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3070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6923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E70E878-64C0-403E-9AB8-DEB724544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B5839C-B01A-4F2A-B8B3-3607C3115546}"/>
              </a:ext>
            </a:extLst>
          </p:cNvPr>
          <p:cNvSpPr txBox="1"/>
          <p:nvPr/>
        </p:nvSpPr>
        <p:spPr>
          <a:xfrm>
            <a:off x="1559859" y="22411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D51A41-644F-44FE-AA25-11E5594ACA56}"/>
              </a:ext>
            </a:extLst>
          </p:cNvPr>
          <p:cNvSpPr txBox="1"/>
          <p:nvPr/>
        </p:nvSpPr>
        <p:spPr>
          <a:xfrm>
            <a:off x="27017" y="681318"/>
            <a:ext cx="11931901" cy="53860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3200" b="1" u="sng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Summary :</a:t>
            </a:r>
          </a:p>
          <a:p>
            <a:endParaRPr lang="en-US" sz="2400" b="1" u="sng">
              <a:latin typeface="Times New Roman"/>
              <a:cs typeface="Times New Roman"/>
            </a:endParaRPr>
          </a:p>
          <a:p>
            <a:r>
              <a:rPr lang="en-US" sz="2400" b="1" u="sng">
                <a:latin typeface="Times New Roman"/>
                <a:cs typeface="Times New Roman"/>
              </a:rPr>
              <a:t>1.Project Focus:</a:t>
            </a:r>
            <a:r>
              <a:rPr lang="en-US" sz="2000" b="1" u="sng">
                <a:latin typeface="Times New Roman"/>
                <a:cs typeface="Times New Roman"/>
              </a:rPr>
              <a:t> </a:t>
            </a:r>
            <a:r>
              <a:rPr lang="en-US" sz="2000">
                <a:ea typeface="+mn-lt"/>
                <a:cs typeface="+mn-lt"/>
              </a:rPr>
              <a:t>Design and implementation of a compact MIMO patch antenna array at </a:t>
            </a:r>
            <a:r>
              <a:rPr lang="en-US" sz="2000" b="1">
                <a:ea typeface="+mn-lt"/>
                <a:cs typeface="+mn-lt"/>
              </a:rPr>
              <a:t>2.4 GHz</a:t>
            </a:r>
            <a:r>
              <a:rPr lang="en-US" sz="2000">
                <a:ea typeface="+mn-lt"/>
                <a:cs typeface="+mn-lt"/>
              </a:rPr>
              <a:t> with decoupling structures for </a:t>
            </a:r>
            <a:r>
              <a:rPr lang="en-US" sz="2000" b="1">
                <a:ea typeface="+mn-lt"/>
                <a:cs typeface="+mn-lt"/>
              </a:rPr>
              <a:t>Wi-Fi and Bluetooth</a:t>
            </a:r>
            <a:r>
              <a:rPr lang="en-US" sz="2000">
                <a:ea typeface="+mn-lt"/>
                <a:cs typeface="+mn-lt"/>
              </a:rPr>
              <a:t> applications, aiming for </a:t>
            </a:r>
            <a:r>
              <a:rPr lang="en-US" sz="2000" b="1">
                <a:ea typeface="+mn-lt"/>
                <a:cs typeface="+mn-lt"/>
              </a:rPr>
              <a:t>high isolation (&gt;20 dB)</a:t>
            </a:r>
            <a:r>
              <a:rPr lang="en-US" sz="2000">
                <a:ea typeface="+mn-lt"/>
                <a:cs typeface="+mn-lt"/>
              </a:rPr>
              <a:t> and element spacing </a:t>
            </a:r>
            <a:r>
              <a:rPr lang="en-US" sz="2000" b="1">
                <a:ea typeface="+mn-lt"/>
                <a:cs typeface="+mn-lt"/>
              </a:rPr>
              <a:t>&lt; λ/2</a:t>
            </a:r>
            <a:r>
              <a:rPr lang="en-US" sz="2000">
                <a:ea typeface="+mn-lt"/>
                <a:cs typeface="+mn-lt"/>
              </a:rPr>
              <a:t>.</a:t>
            </a:r>
            <a:r>
              <a:rPr lang="en-US">
                <a:latin typeface="Times New Roman"/>
                <a:cs typeface="Times New Roman"/>
              </a:rPr>
              <a:t>.</a:t>
            </a:r>
            <a:endParaRPr lang="en-US" u="sng">
              <a:latin typeface="Times New Roman"/>
              <a:cs typeface="Times New Roman"/>
            </a:endParaRPr>
          </a:p>
          <a:p>
            <a:endParaRPr lang="en-US"/>
          </a:p>
          <a:p>
            <a:pPr algn="just"/>
            <a:r>
              <a:rPr lang="en-US" sz="2400" b="1" u="sng">
                <a:latin typeface="Times New Roman"/>
                <a:cs typeface="Times New Roman"/>
              </a:rPr>
              <a:t>2. Motivation: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>
                <a:ea typeface="+mn-lt"/>
                <a:cs typeface="+mn-lt"/>
              </a:rPr>
              <a:t>Rising demand for </a:t>
            </a:r>
            <a:r>
              <a:rPr lang="en-US" sz="2000" b="1">
                <a:ea typeface="+mn-lt"/>
                <a:cs typeface="+mn-lt"/>
              </a:rPr>
              <a:t>MIMO systems</a:t>
            </a:r>
            <a:r>
              <a:rPr lang="en-US" sz="2000">
                <a:ea typeface="+mn-lt"/>
                <a:cs typeface="+mn-lt"/>
              </a:rPr>
              <a:t> in IoT, 5G, and smart devices.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>
              <a:latin typeface="Calibri"/>
              <a:ea typeface="+mn-lt"/>
              <a:cs typeface="Calibri"/>
            </a:endParaRPr>
          </a:p>
          <a:p>
            <a:pPr algn="just"/>
            <a:r>
              <a:rPr lang="en-US" sz="2400" b="1" u="sng">
                <a:latin typeface="Times New Roman"/>
                <a:ea typeface="+mn-lt"/>
                <a:cs typeface="Times New Roman"/>
              </a:rPr>
              <a:t>3.Problem and objective</a:t>
            </a:r>
            <a:r>
              <a:rPr lang="en-US" sz="2000" b="1" u="sng">
                <a:latin typeface="Times New Roman"/>
                <a:ea typeface="+mn-lt"/>
                <a:cs typeface="Times New Roman"/>
              </a:rPr>
              <a:t>:</a:t>
            </a:r>
            <a:endParaRPr lang="en-US" sz="200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Problem</a:t>
            </a:r>
            <a:r>
              <a:rPr lang="en-US" sz="2000">
                <a:ea typeface="+mn-lt"/>
                <a:cs typeface="+mn-lt"/>
              </a:rPr>
              <a:t>: Mutual coupling between closely spaced MIMO antenna elements reduces efficiency, gain, and matching.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/>
              <a:buChar char="•"/>
            </a:pPr>
            <a:r>
              <a:rPr lang="en-US" sz="2000" b="1">
                <a:ea typeface="+mn-lt"/>
                <a:cs typeface="+mn-lt"/>
              </a:rPr>
              <a:t>Objective</a:t>
            </a:r>
            <a:r>
              <a:rPr lang="en-US" sz="2000">
                <a:ea typeface="+mn-lt"/>
                <a:cs typeface="+mn-lt"/>
              </a:rPr>
              <a:t>: Design, </a:t>
            </a:r>
            <a:r>
              <a:rPr lang="en-US" sz="2000" err="1">
                <a:ea typeface="+mn-lt"/>
                <a:cs typeface="+mn-lt"/>
              </a:rPr>
              <a:t>analyse</a:t>
            </a:r>
            <a:r>
              <a:rPr lang="en-US" sz="2000">
                <a:ea typeface="+mn-lt"/>
                <a:cs typeface="+mn-lt"/>
              </a:rPr>
              <a:t>, and prototype a patch antenna array with effective decoupling to enhance isolation   while maintaining compactness at 2.4 GHz.</a:t>
            </a:r>
            <a:endParaRPr lang="en-US"/>
          </a:p>
          <a:p>
            <a:pPr algn="just"/>
            <a:endParaRPr lang="en-US" sz="2000" b="1" u="sng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50787-7A04-40A0-9BBC-3C98C67F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D2B50AB-5C92-4FC6-805C-9214D564AF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814BC8E-E98D-4995-BFC1-95809779D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7849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614EA2B-A164-417C-B09B-74D0BBC51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6A0E4B1-6C97-4329-9BEF-489BDB2B20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784898"/>
              </p:ext>
            </p:extLst>
          </p:nvPr>
        </p:nvGraphicFramePr>
        <p:xfrm>
          <a:off x="665046" y="1329166"/>
          <a:ext cx="10837242" cy="418906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491114">
                  <a:extLst>
                    <a:ext uri="{9D8B030D-6E8A-4147-A177-3AD203B41FA5}">
                      <a16:colId xmlns:a16="http://schemas.microsoft.com/office/drawing/2014/main" val="2178584100"/>
                    </a:ext>
                  </a:extLst>
                </a:gridCol>
                <a:gridCol w="3070459">
                  <a:extLst>
                    <a:ext uri="{9D8B030D-6E8A-4147-A177-3AD203B41FA5}">
                      <a16:colId xmlns:a16="http://schemas.microsoft.com/office/drawing/2014/main" val="821642616"/>
                    </a:ext>
                  </a:extLst>
                </a:gridCol>
                <a:gridCol w="6275669">
                  <a:extLst>
                    <a:ext uri="{9D8B030D-6E8A-4147-A177-3AD203B41FA5}">
                      <a16:colId xmlns:a16="http://schemas.microsoft.com/office/drawing/2014/main" val="1589290081"/>
                    </a:ext>
                  </a:extLst>
                </a:gridCol>
              </a:tblGrid>
              <a:tr h="502061"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Review 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Month 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7693734"/>
                  </a:ext>
                </a:extLst>
              </a:tr>
              <a:tr h="737401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487334"/>
                  </a:ext>
                </a:extLst>
              </a:tr>
              <a:tr h="737401">
                <a:tc>
                  <a:txBody>
                    <a:bodyPr/>
                    <a:lstStyle/>
                    <a:p>
                      <a:pPr algn="ctr"/>
                      <a:endParaRPr lang="en-GB">
                        <a:highlight>
                          <a:srgbClr val="00FFFF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highlight>
                          <a:srgbClr val="00FFFF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highlight>
                          <a:srgbClr val="00FFFF"/>
                        </a:highlight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508695"/>
                  </a:ext>
                </a:extLst>
              </a:tr>
              <a:tr h="737401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037153"/>
                  </a:ext>
                </a:extLst>
              </a:tr>
              <a:tr h="737401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6465523"/>
                  </a:ext>
                </a:extLst>
              </a:tr>
              <a:tr h="737401"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GB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64965704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8DFC8504-BD38-45F4-BDC8-1EE1D26FCB8C}"/>
              </a:ext>
            </a:extLst>
          </p:cNvPr>
          <p:cNvSpPr/>
          <p:nvPr/>
        </p:nvSpPr>
        <p:spPr>
          <a:xfrm>
            <a:off x="748553" y="402522"/>
            <a:ext cx="242245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>
                <a:latin typeface="Times New Roman"/>
                <a:cs typeface="Calibri" panose="020F0502020204030204"/>
              </a:rPr>
              <a:t>TIMELINE: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67B7E10-CFC7-4005-8F0C-887BA8F6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3D8097E7-80B3-436F-B22B-3666D342AB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4B5CEBA0-7D73-46BD-8CBE-544AE54A8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ED137FD-4683-CEDE-693E-3B7013E269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990502"/>
              </p:ext>
            </p:extLst>
          </p:nvPr>
        </p:nvGraphicFramePr>
        <p:xfrm>
          <a:off x="679450" y="1641792"/>
          <a:ext cx="10833100" cy="3879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>
                  <a:extLst>
                    <a:ext uri="{9D8B030D-6E8A-4147-A177-3AD203B41FA5}">
                      <a16:colId xmlns:a16="http://schemas.microsoft.com/office/drawing/2014/main" val="4011321823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3432679405"/>
                    </a:ext>
                  </a:extLst>
                </a:gridCol>
                <a:gridCol w="6273800">
                  <a:extLst>
                    <a:ext uri="{9D8B030D-6E8A-4147-A177-3AD203B41FA5}">
                      <a16:colId xmlns:a16="http://schemas.microsoft.com/office/drawing/2014/main" val="1044011943"/>
                    </a:ext>
                  </a:extLst>
                </a:gridCol>
              </a:tblGrid>
              <a:tr h="775927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b="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1.1</a:t>
                      </a:r>
                      <a:endParaRPr lang="en-GB" b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b="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June-July 2025 </a:t>
                      </a:r>
                      <a:endParaRPr lang="en-GB" b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IN" sz="1800" b="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Literature survey for decoupling structures</a:t>
                      </a:r>
                      <a:endParaRPr lang="en-IN" b="0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0194450"/>
                  </a:ext>
                </a:extLst>
              </a:tr>
              <a:tr h="775927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1.2</a:t>
                      </a:r>
                      <a:endParaRPr lang="en-GB" sz="2000" b="1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20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August – September 2025</a:t>
                      </a:r>
                      <a:endParaRPr lang="en-GB" sz="2000" b="1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2000" b="1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Design and analysis of base antenna at 2.4 GHz.</a:t>
                      </a:r>
                      <a:endParaRPr lang="en-US" sz="2000" b="1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242683"/>
                  </a:ext>
                </a:extLst>
              </a:tr>
              <a:tr h="775927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1.3</a:t>
                      </a:r>
                      <a:endParaRPr lang="en-GB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October-November 2025</a:t>
                      </a:r>
                      <a:endParaRPr lang="en-GB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Design and analysis of a Patch antenna array at 2.4 GHz 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0242060"/>
                  </a:ext>
                </a:extLst>
              </a:tr>
              <a:tr h="775927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2.1</a:t>
                      </a:r>
                      <a:endParaRPr lang="en-GB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December 2025-January 2026</a:t>
                      </a:r>
                      <a:endParaRPr lang="en-GB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US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Design and analysis of a Patch antenna array with decoupling structures at 2.4 GHz.</a:t>
                      </a:r>
                      <a:endParaRPr lang="en-US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8332587"/>
                  </a:ext>
                </a:extLst>
              </a:tr>
              <a:tr h="775927"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2.2</a:t>
                      </a:r>
                      <a:endParaRPr lang="en-GB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GB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February-March 2026</a:t>
                      </a:r>
                      <a:endParaRPr lang="en-GB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rtl="0" eaLnBrk="1" latinLnBrk="0" hangingPunct="1">
                        <a:buNone/>
                      </a:pPr>
                      <a:r>
                        <a:rPr lang="en-IN" sz="1800" kern="120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Prototype and Measurement</a:t>
                      </a:r>
                      <a:endParaRPr lang="en-IN"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976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09279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28" y="-60463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 u="sng">
                <a:latin typeface="Times New Roman"/>
                <a:cs typeface="Calibri Light"/>
              </a:rPr>
              <a:t>LITERATURE</a:t>
            </a:r>
            <a:r>
              <a:rPr lang="en-US" sz="3200" b="1">
                <a:latin typeface="Times New Roman"/>
                <a:cs typeface="Calibri Light"/>
              </a:rPr>
              <a:t>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2307602"/>
              </p:ext>
            </p:extLst>
          </p:nvPr>
        </p:nvGraphicFramePr>
        <p:xfrm>
          <a:off x="380943" y="527109"/>
          <a:ext cx="11425012" cy="57912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8054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2397358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623496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606104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357284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Title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421591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/>
                          <a:cs typeface="Times New Roman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Compact Self-Isolated Four-Element MIMO Antenna for WLAN and ISM Bands Application 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i="0">
                          <a:latin typeface="Times New Roman"/>
                          <a:cs typeface="Times New Roman"/>
                        </a:rPr>
                        <a:t>IEEE Antennas and Wireless Propagation Letters, </a:t>
                      </a:r>
                      <a:r>
                        <a:rPr lang="en-IN" sz="1800" i="0">
                          <a:latin typeface="Times New Roman"/>
                          <a:cs typeface="Times New Roman"/>
                        </a:rPr>
                        <a:t>2023</a:t>
                      </a:r>
                      <a:endParaRPr lang="en-IN" sz="1800" b="0" i="0" u="none" strike="noStrike" kern="1200" baseline="0">
                        <a:solidFill>
                          <a:schemeClr val="dk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</a:t>
                      </a:r>
                      <a:r>
                        <a:rPr lang="en-US" b="1"/>
                        <a:t>Key Advantage of Proposed Work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Self-isolation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(no extra structures).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Most compact (40 × 40 mm²)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among compared works.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Highest isolation (&gt;20 dB)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and 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lowest ECC (&lt;0.02)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Very good for 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portable WLAN/ISM devices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Limitations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Single-band (2.4 GHz)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only.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Lower gain (~2.8 </a:t>
                      </a:r>
                      <a:r>
                        <a:rPr lang="en-GB" sz="1600" b="1" i="0" u="none" strike="noStrike" noProof="0" err="1">
                          <a:solidFill>
                            <a:srgbClr val="000000"/>
                          </a:solidFill>
                        </a:rPr>
                        <a:t>dBi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compared to some dual/tri-band designs.</a:t>
                      </a:r>
                      <a:endParaRPr lang="en-GB"/>
                    </a:p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endParaRPr lang="en-GB" sz="1600" b="1" i="0" u="sng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248891"/>
                  </a:ext>
                </a:extLst>
              </a:tr>
              <a:tr h="2739179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/>
                          <a:cs typeface="Times New Roman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Decoupling Between Extremely Closely Spaced Patch Antennas by Mode Cancellation Method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IEEE Antennas and Wireless Propagation Letters, </a:t>
                      </a:r>
                      <a:r>
                        <a:rPr lang="en-IN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2024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Key Advantage of Proposed Work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Isolation: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5 dB → 15.4 dB+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(2.39–2.53 GHz).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Better radiation: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Gain 7.8 </a:t>
                      </a:r>
                      <a:r>
                        <a:rPr lang="en-US" sz="1800" b="1" i="0" u="none" strike="noStrike" noProof="0" err="1">
                          <a:solidFill>
                            <a:srgbClr val="000000"/>
                          </a:solidFill>
                          <a:latin typeface="Times New Roman"/>
                        </a:rPr>
                        <a:t>dBi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, FBR 25 dB, low x-pol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High efficiency (82–87%)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, ECC &lt; 0.004.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Works for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1-D &amp; 2-D arrays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,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simple + tiny size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</a:p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Limitations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Only good for </a:t>
                      </a: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very strong coupling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(tiny gaps).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Weak coupling → poor effect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.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Bandwidth small (~5%)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 unless modified.</a:t>
                      </a:r>
                      <a:endParaRPr lang="en-US">
                        <a:latin typeface="Times New Roman"/>
                      </a:endParaRPr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800" b="0" i="0" u="none" strike="noStrike" noProof="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235372"/>
                  </a:ext>
                </a:extLst>
              </a:tr>
            </a:tbl>
          </a:graphicData>
        </a:graphic>
      </p:graphicFrame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FAAB5EA6-3F28-4617-A419-C265FF15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39B8AD6-045C-4500-83DB-DA866F5F45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79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8A7FA-23A2-A045-7877-20630E726E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228" y="-119840"/>
            <a:ext cx="10515600" cy="803646"/>
          </a:xfrm>
        </p:spPr>
        <p:txBody>
          <a:bodyPr>
            <a:normAutofit/>
          </a:bodyPr>
          <a:lstStyle/>
          <a:p>
            <a:r>
              <a:rPr lang="en-US" sz="3200" b="1" u="sng">
                <a:latin typeface="Times New Roman" panose="02020603050405020304" pitchFamily="18" charset="0"/>
                <a:cs typeface="Times New Roman" panose="02020603050405020304" pitchFamily="18" charset="0"/>
              </a:rPr>
              <a:t>LITERATURE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D8DDA15-BA88-778E-E06C-71ED08555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D95EBC-6F94-8426-1EF0-1B87B5FA8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Review 1.2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779C578-4524-1573-6B77-3E572EBAF6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6360"/>
              </p:ext>
            </p:extLst>
          </p:nvPr>
        </p:nvGraphicFramePr>
        <p:xfrm>
          <a:off x="417534" y="699369"/>
          <a:ext cx="11651608" cy="565886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813882">
                  <a:extLst>
                    <a:ext uri="{9D8B030D-6E8A-4147-A177-3AD203B41FA5}">
                      <a16:colId xmlns:a16="http://schemas.microsoft.com/office/drawing/2014/main" val="2811906928"/>
                    </a:ext>
                  </a:extLst>
                </a:gridCol>
                <a:gridCol w="2444906">
                  <a:extLst>
                    <a:ext uri="{9D8B030D-6E8A-4147-A177-3AD203B41FA5}">
                      <a16:colId xmlns:a16="http://schemas.microsoft.com/office/drawing/2014/main" val="2201325007"/>
                    </a:ext>
                  </a:extLst>
                </a:gridCol>
                <a:gridCol w="2909091">
                  <a:extLst>
                    <a:ext uri="{9D8B030D-6E8A-4147-A177-3AD203B41FA5}">
                      <a16:colId xmlns:a16="http://schemas.microsoft.com/office/drawing/2014/main" val="431906563"/>
                    </a:ext>
                  </a:extLst>
                </a:gridCol>
                <a:gridCol w="5483729">
                  <a:extLst>
                    <a:ext uri="{9D8B030D-6E8A-4147-A177-3AD203B41FA5}">
                      <a16:colId xmlns:a16="http://schemas.microsoft.com/office/drawing/2014/main" val="1169910156"/>
                    </a:ext>
                  </a:extLst>
                </a:gridCol>
              </a:tblGrid>
              <a:tr h="401135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Title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3981693"/>
                  </a:ext>
                </a:extLst>
              </a:tr>
              <a:tr h="2492761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/>
                          <a:cs typeface="Times New Roman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/>
                        <a:t>Mutual Coupling Reduction of a Dual-Band Four-Port Patch Antenna With Co-Polarized Radiation Pattern by Controlling Electric Fields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buNone/>
                      </a:pP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Times New Roman"/>
                        </a:rPr>
                        <a:t>IEEE Transactions on Antennas and Propagation,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Key Advantage of Proposed Work</a:t>
                      </a:r>
                      <a:endParaRPr lang="en-US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/>
                        <a:t>First </a:t>
                      </a:r>
                      <a:r>
                        <a:rPr lang="en-GB" sz="1600" b="1" i="0" u="none" strike="noStrike" noProof="0"/>
                        <a:t>dual-band, four-port, co-polarized</a:t>
                      </a:r>
                      <a:r>
                        <a:rPr lang="en-GB" sz="1600" b="0" i="0" u="none" strike="noStrike" noProof="0"/>
                        <a:t> patch antenna with </a:t>
                      </a:r>
                      <a:r>
                        <a:rPr lang="en-GB" sz="1600" b="1" i="0" u="none" strike="noStrike" noProof="0"/>
                        <a:t>low MC (&lt; –15 dB)</a:t>
                      </a:r>
                      <a:r>
                        <a:rPr lang="en-GB" sz="1600" b="0" i="0" u="none" strike="noStrike" noProof="0"/>
                        <a:t> and </a:t>
                      </a:r>
                      <a:r>
                        <a:rPr lang="en-GB" sz="1600" b="1" i="0" u="none" strike="noStrike" noProof="0"/>
                        <a:t>single radiator</a:t>
                      </a:r>
                      <a:r>
                        <a:rPr lang="en-GB" sz="1600" b="0" i="0" u="none" strike="noStrike" noProof="0"/>
                        <a:t>.</a:t>
                      </a:r>
                      <a:endParaRPr lang="en-GB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/>
                        <a:t>Compact + no extra feeding network.</a:t>
                      </a:r>
                      <a:endParaRPr lang="en-GB"/>
                    </a:p>
                    <a:p>
                      <a:pPr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 Limitations</a:t>
                      </a:r>
                      <a:endParaRPr lang="en-GB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/>
                        <a:t>More design complexity (multiple pins + slots).</a:t>
                      </a:r>
                      <a:endParaRPr lang="en-GB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/>
                        <a:t>Upper-band initially had non-broadside beam (fixed using pin 4).</a:t>
                      </a:r>
                      <a:endParaRPr lang="en-GB"/>
                    </a:p>
                    <a:p>
                      <a:pPr marL="285750" lvl="0" indent="-28575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/>
                        <a:t>Bandwidth moderate compared to some wideband arrays.</a:t>
                      </a:r>
                      <a:endParaRPr lang="en-GB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5248891"/>
                  </a:ext>
                </a:extLst>
              </a:tr>
              <a:tr h="2764966">
                <a:tc>
                  <a:txBody>
                    <a:bodyPr/>
                    <a:lstStyle/>
                    <a:p>
                      <a:pPr algn="ctr"/>
                      <a:r>
                        <a:rPr lang="en-US" sz="2000" b="1">
                          <a:latin typeface="Times New Roman"/>
                          <a:cs typeface="Times New Roman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b="0" i="0" u="none" strike="noStrike" noProof="0"/>
                        <a:t>A Compact Multifrequency Broadband Dual-Antenna System With Mutual Coupling Reduction for Wi-Fi 6E Application</a:t>
                      </a:r>
                      <a:endParaRPr lang="en-US" sz="16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800" i="0">
                          <a:latin typeface="Times New Roman"/>
                          <a:cs typeface="Times New Roman"/>
                        </a:rPr>
                        <a:t>IEEE Transactions on Antennas and Wireless Propagation, 2024.</a:t>
                      </a:r>
                      <a:endParaRPr lang="en-IN" sz="1800" i="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 </a:t>
                      </a:r>
                      <a:r>
                        <a:rPr lang="en-GB" b="1"/>
                        <a:t>Key Advantage of Proposed Work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Most compact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design (shortest length).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Achieves 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highest isolation (&gt;22 dB)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Covers 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all Wi-Fi bands including 6E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(2.4 / 5 / 6–7 GHz).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Maintains 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low ECC (&lt;0.3)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→ better MIMO performance.</a:t>
                      </a:r>
                      <a:endParaRPr lang="en-GB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b="1"/>
                        <a:t>Limitations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Efficiency (40–50%)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lower than some larger designs.</a:t>
                      </a:r>
                      <a:endParaRPr lang="en-GB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Only </a:t>
                      </a:r>
                      <a:r>
                        <a:rPr lang="en-GB" sz="1600" b="1" i="0" u="none" strike="noStrike" noProof="0">
                          <a:solidFill>
                            <a:srgbClr val="000000"/>
                          </a:solidFill>
                        </a:rPr>
                        <a:t>dual-antenna system</a:t>
                      </a:r>
                      <a:r>
                        <a:rPr lang="en-GB" sz="1600" b="0" i="0" u="none" strike="noStrike" noProof="0">
                          <a:solidFill>
                            <a:srgbClr val="000000"/>
                          </a:solidFill>
                        </a:rPr>
                        <a:t> (not 4×4/8×8 scalable).</a:t>
                      </a:r>
                      <a:endParaRPr lang="en-GB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GB" sz="1600" b="1" i="0" u="sng" strike="noStrike" noProof="0">
                        <a:solidFill>
                          <a:srgbClr val="000000"/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4235372"/>
                  </a:ext>
                </a:extLst>
              </a:tr>
            </a:tbl>
          </a:graphicData>
        </a:graphic>
      </p:graphicFrame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FAAB5EA6-3F28-4617-A419-C265FF15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32F2EA-2547-43B5-B314-7BB3F1955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8334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FF4A2F5-91BB-4C29-F428-15FE5A7390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1897725"/>
              </p:ext>
            </p:extLst>
          </p:nvPr>
        </p:nvGraphicFramePr>
        <p:xfrm>
          <a:off x="177452" y="751561"/>
          <a:ext cx="11872968" cy="39826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688379">
                  <a:extLst>
                    <a:ext uri="{9D8B030D-6E8A-4147-A177-3AD203B41FA5}">
                      <a16:colId xmlns:a16="http://schemas.microsoft.com/office/drawing/2014/main" val="2499975451"/>
                    </a:ext>
                  </a:extLst>
                </a:gridCol>
                <a:gridCol w="2523154">
                  <a:extLst>
                    <a:ext uri="{9D8B030D-6E8A-4147-A177-3AD203B41FA5}">
                      <a16:colId xmlns:a16="http://schemas.microsoft.com/office/drawing/2014/main" val="2248560491"/>
                    </a:ext>
                  </a:extLst>
                </a:gridCol>
                <a:gridCol w="2761159">
                  <a:extLst>
                    <a:ext uri="{9D8B030D-6E8A-4147-A177-3AD203B41FA5}">
                      <a16:colId xmlns:a16="http://schemas.microsoft.com/office/drawing/2014/main" val="4201032830"/>
                    </a:ext>
                  </a:extLst>
                </a:gridCol>
                <a:gridCol w="5900276">
                  <a:extLst>
                    <a:ext uri="{9D8B030D-6E8A-4147-A177-3AD203B41FA5}">
                      <a16:colId xmlns:a16="http://schemas.microsoft.com/office/drawing/2014/main" val="3565560796"/>
                    </a:ext>
                  </a:extLst>
                </a:gridCol>
              </a:tblGrid>
              <a:tr h="385976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Sl. #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Title of the paper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Source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solidFill>
                            <a:schemeClr val="bg2">
                              <a:lumMod val="10000"/>
                            </a:schemeClr>
                          </a:solidFill>
                          <a:latin typeface="Times New Roman"/>
                          <a:cs typeface="Times New Roman"/>
                        </a:rPr>
                        <a:t>Inferences</a:t>
                      </a:r>
                      <a:endParaRPr lang="en-IN">
                        <a:solidFill>
                          <a:schemeClr val="bg2">
                            <a:lumMod val="10000"/>
                          </a:schemeClr>
                        </a:solidFill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7990325"/>
                  </a:ext>
                </a:extLst>
              </a:tr>
              <a:tr h="230715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1">
                          <a:latin typeface="Times New Roman"/>
                          <a:cs typeface="Times New Roman"/>
                        </a:rPr>
                        <a:t>5</a:t>
                      </a:r>
                    </a:p>
                    <a:p>
                      <a:pPr algn="ctr"/>
                      <a:endParaRPr lang="en-US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 b="0" i="0" u="none" strike="noStrike" noProof="0">
                          <a:latin typeface="Times New Roman"/>
                        </a:rPr>
                        <a:t>Mutual Coupling Reduction in Dual-Band MIMO Antenna Using Parasitic Dollar-Shaped Structure for Modern Wireless Communication</a:t>
                      </a:r>
                      <a:endParaRPr lang="en-US">
                        <a:latin typeface="Times New Roman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br>
                        <a:rPr lang="en-IN" sz="1400">
                          <a:latin typeface="Times New Roman"/>
                          <a:cs typeface="Times New Roman"/>
                        </a:rPr>
                      </a:br>
                      <a:endParaRPr lang="en-IN" sz="1400">
                        <a:latin typeface="Times New Roman"/>
                        <a:cs typeface="Times New Roman"/>
                      </a:endParaRPr>
                    </a:p>
                    <a:p>
                      <a:pPr algn="l"/>
                      <a:r>
                        <a:rPr lang="en-US" sz="1800" i="0">
                          <a:latin typeface="Times New Roman"/>
                          <a:cs typeface="Times New Roman"/>
                        </a:rPr>
                        <a:t>IEEE Transactions on Antennas and Propagation, September 2023</a:t>
                      </a:r>
                      <a:endParaRPr lang="en-IN" sz="1800" b="0">
                        <a:latin typeface="Times New Roman"/>
                        <a:cs typeface="Times New Roman"/>
                      </a:endParaRPr>
                    </a:p>
                    <a:p>
                      <a:endParaRPr lang="en-IN" sz="1800" i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 </a:t>
                      </a:r>
                      <a:r>
                        <a:rPr lang="en-US" b="1"/>
                        <a:t>Key Advantage of Proposed Work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1" i="0" u="none" strike="noStrike" noProof="0"/>
                        <a:t>Highest isolation (&gt;30 dB)</a:t>
                      </a:r>
                      <a:r>
                        <a:rPr lang="en-US" sz="1600" b="0" i="0" u="none" strike="noStrike" noProof="0"/>
                        <a:t> among compared designs.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1" i="0" u="none" strike="noStrike" noProof="0"/>
                        <a:t>Lowest ECC (&lt;0.02)</a:t>
                      </a:r>
                      <a:r>
                        <a:rPr lang="en-US" sz="1600" b="0" i="0" u="none" strike="noStrike" noProof="0"/>
                        <a:t> → excellent diversity.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/>
                        <a:t>Simple parasitic structure, compact design.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800" b="1" i="0" u="none" strike="noStrike" noProof="0">
                          <a:latin typeface="Times New Roman"/>
                        </a:rPr>
                        <a:t>Performance:</a:t>
                      </a:r>
                      <a:endParaRPr lang="en-US" sz="1800" b="0" i="0" u="none" strike="noStrike" noProof="0">
                        <a:latin typeface="Times New Roman"/>
                      </a:endParaRPr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>
                          <a:latin typeface="Calibri"/>
                        </a:rPr>
                        <a:t>Operating bands: </a:t>
                      </a:r>
                      <a:r>
                        <a:rPr lang="en-US" sz="1600" b="1" i="0" u="none" strike="noStrike" noProof="0">
                          <a:latin typeface="Calibri"/>
                        </a:rPr>
                        <a:t>3.5 GHz (5G)</a:t>
                      </a:r>
                      <a:r>
                        <a:rPr lang="en-US" sz="1600" b="0" i="0" u="none" strike="noStrike" noProof="0">
                          <a:latin typeface="Calibri"/>
                        </a:rPr>
                        <a:t> and </a:t>
                      </a:r>
                      <a:r>
                        <a:rPr lang="en-US" sz="1600" b="1" i="0" u="none" strike="noStrike" noProof="0">
                          <a:latin typeface="Calibri"/>
                        </a:rPr>
                        <a:t>5.2 GHz (WLAN)</a:t>
                      </a:r>
                      <a:r>
                        <a:rPr lang="en-US" sz="1600" b="0" i="0" u="none" strike="noStrike" noProof="0">
                          <a:latin typeface="Calibri"/>
                        </a:rPr>
                        <a:t>.</a:t>
                      </a:r>
                      <a:endParaRPr lang="en-US"/>
                    </a:p>
                    <a:p>
                      <a:pPr marL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0" i="0" u="none" strike="noStrike" noProof="0">
                          <a:latin typeface="Calibri"/>
                        </a:rPr>
                        <a:t>Isolation improved to </a:t>
                      </a:r>
                      <a:r>
                        <a:rPr lang="en-US" sz="1600" b="1" i="0" u="none" strike="noStrike" noProof="0">
                          <a:latin typeface="Calibri"/>
                        </a:rPr>
                        <a:t>&gt;30 dB</a:t>
                      </a:r>
                      <a:r>
                        <a:rPr lang="en-US" sz="1600" b="0" i="0" u="none" strike="noStrike" noProof="0">
                          <a:latin typeface="Calibri"/>
                        </a:rPr>
                        <a:t> (without needing complex decoupling networks).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endParaRPr lang="en-US" sz="1600" b="0" i="0" u="none" strike="noStrike" noProof="0"/>
                    </a:p>
                    <a:p>
                      <a:pPr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 </a:t>
                      </a:r>
                      <a:r>
                        <a:rPr lang="en-US" b="1"/>
                        <a:t>Limitations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1" i="0" u="none" strike="noStrike" noProof="0"/>
                        <a:t>Only dual-band</a:t>
                      </a:r>
                      <a:r>
                        <a:rPr lang="en-US" sz="1600" b="0" i="0" u="none" strike="noStrike" noProof="0"/>
                        <a:t> (3.5 &amp; 5.2 GHz).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1" i="0" u="none" strike="noStrike" noProof="0"/>
                        <a:t>2-element system</a:t>
                      </a:r>
                      <a:r>
                        <a:rPr lang="en-US" sz="1600" b="0" i="0" u="none" strike="noStrike" noProof="0"/>
                        <a:t> (not tested for 4-port or higher).</a:t>
                      </a:r>
                      <a:endParaRPr lang="en-US"/>
                    </a:p>
                    <a:p>
                      <a:pPr marL="285750" lvl="0" indent="-28575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/>
                        <a:buChar char="•"/>
                      </a:pPr>
                      <a:r>
                        <a:rPr lang="en-US" sz="1600" b="1" i="0" u="none" strike="noStrike" noProof="0"/>
                        <a:t>Moderate gain (~3.5 </a:t>
                      </a:r>
                      <a:r>
                        <a:rPr lang="en-US" sz="1600" b="1" i="0" u="none" strike="noStrike" noProof="0" err="1"/>
                        <a:t>dBi</a:t>
                      </a:r>
                      <a:r>
                        <a:rPr lang="en-US" sz="1600" b="1" i="0" u="none" strike="noStrike" noProof="0"/>
                        <a:t>)</a:t>
                      </a:r>
                      <a:r>
                        <a:rPr lang="en-US" sz="1600" b="0" i="0" u="none" strike="noStrike" noProof="0"/>
                        <a:t> compared to some multi-port systems.</a:t>
                      </a:r>
                      <a:endParaRPr lang="en-US"/>
                    </a:p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600">
                        <a:latin typeface="Times New Roman"/>
                        <a:cs typeface="Times New Roman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011694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321995D-DCB2-4212-823E-D11F138770C6}"/>
              </a:ext>
            </a:extLst>
          </p:cNvPr>
          <p:cNvSpPr/>
          <p:nvPr/>
        </p:nvSpPr>
        <p:spPr>
          <a:xfrm>
            <a:off x="549078" y="79793"/>
            <a:ext cx="30075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u="sng">
                <a:latin typeface="Times New Roman"/>
                <a:cs typeface="Calibri Light"/>
              </a:rPr>
              <a:t>LITERATURE</a:t>
            </a:r>
            <a:r>
              <a:rPr lang="en-US" sz="3200" b="1">
                <a:latin typeface="Times New Roman"/>
                <a:cs typeface="Calibri Light"/>
              </a:rPr>
              <a:t>:</a:t>
            </a:r>
            <a:endParaRPr lang="en-IN" sz="32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C2972C-BE72-4B50-9306-82A1D8535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9F0AC74-5251-43D7-BA85-DFC2D2962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3C0D784A-555D-408E-995B-D071DE43E0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8" name="Slide Number Placeholder 2">
            <a:extLst>
              <a:ext uri="{FF2B5EF4-FFF2-40B4-BE49-F238E27FC236}">
                <a16:creationId xmlns:a16="http://schemas.microsoft.com/office/drawing/2014/main" id="{52928CDD-4E77-49DC-8D91-BE034191F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6814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E8B606-D5CD-4C33-ADFC-B5B27C27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5FFDB03-C12B-496F-BEDB-A1E4C3B1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flipV="1">
            <a:off x="12460941" y="3359711"/>
            <a:ext cx="147918" cy="553994"/>
          </a:xfrm>
        </p:spPr>
        <p:txBody>
          <a:bodyPr/>
          <a:lstStyle/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9E3FC4F-69B1-4DD7-8F0A-4C30D539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Review 1.2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90A3F2-3858-4E11-A757-8E15C0AA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4B59AB-8531-4A19-9589-1CF6D03EBF76}"/>
              </a:ext>
            </a:extLst>
          </p:cNvPr>
          <p:cNvSpPr txBox="1">
            <a:spLocks/>
          </p:cNvSpPr>
          <p:nvPr/>
        </p:nvSpPr>
        <p:spPr>
          <a:xfrm>
            <a:off x="694765" y="44856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C478DBD-48C9-4E5F-931A-80179F4EAB8B}"/>
              </a:ext>
            </a:extLst>
          </p:cNvPr>
          <p:cNvSpPr txBox="1">
            <a:spLocks/>
          </p:cNvSpPr>
          <p:nvPr/>
        </p:nvSpPr>
        <p:spPr>
          <a:xfrm flipV="1">
            <a:off x="3034644" y="6721475"/>
            <a:ext cx="546755" cy="5539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601F28-40C4-4518-9183-AF5018F8DB5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30C615-8037-4B42-9986-C0C8BB86C36A}"/>
              </a:ext>
            </a:extLst>
          </p:cNvPr>
          <p:cNvSpPr/>
          <p:nvPr/>
        </p:nvSpPr>
        <p:spPr>
          <a:xfrm>
            <a:off x="838200" y="1489431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solidFill>
                  <a:srgbClr val="FFFF00"/>
                </a:solidFill>
                <a:latin typeface="Times New Roman"/>
                <a:cs typeface="Times New Roman"/>
              </a:rPr>
              <a:t>Designing a </a:t>
            </a:r>
            <a:r>
              <a:rPr lang="en-IN" err="1">
                <a:solidFill>
                  <a:srgbClr val="FFFF00"/>
                </a:solidFill>
                <a:latin typeface="Times New Roman"/>
                <a:cs typeface="Times New Roman"/>
              </a:rPr>
              <a:t>Rectngular</a:t>
            </a:r>
            <a:r>
              <a:rPr lang="en-IN">
                <a:solidFill>
                  <a:srgbClr val="FFFF00"/>
                </a:solidFill>
                <a:latin typeface="Times New Roman"/>
                <a:cs typeface="Times New Roman"/>
              </a:rPr>
              <a:t> a Patch Antenna using HFSS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6B2182-4102-4A5A-A7D5-0B5606000B83}"/>
              </a:ext>
            </a:extLst>
          </p:cNvPr>
          <p:cNvSpPr/>
          <p:nvPr/>
        </p:nvSpPr>
        <p:spPr>
          <a:xfrm>
            <a:off x="838200" y="4382446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Experimental Validation of final results and Documentation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C8F984-EF7B-4EF2-9799-002F01690ED0}"/>
              </a:ext>
            </a:extLst>
          </p:cNvPr>
          <p:cNvSpPr/>
          <p:nvPr/>
        </p:nvSpPr>
        <p:spPr>
          <a:xfrm>
            <a:off x="4465948" y="4385978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Fabrication of Optimized Design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96B736-7848-41CC-B3EA-461BDC4CCE05}"/>
              </a:ext>
            </a:extLst>
          </p:cNvPr>
          <p:cNvSpPr/>
          <p:nvPr/>
        </p:nvSpPr>
        <p:spPr>
          <a:xfrm>
            <a:off x="8331723" y="4382447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Insertion of Decoupling Structure and Performance Analysis (Isolation,Gain)</a:t>
            </a: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746D4F-115A-454D-B351-20E91C0D4729}"/>
              </a:ext>
            </a:extLst>
          </p:cNvPr>
          <p:cNvSpPr/>
          <p:nvPr/>
        </p:nvSpPr>
        <p:spPr>
          <a:xfrm>
            <a:off x="4465948" y="1489431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 Parameter , Gain  plots for an element with HFSS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3D3FF2-612D-45DA-AE10-BC453C3BDAED}"/>
              </a:ext>
            </a:extLst>
          </p:cNvPr>
          <p:cNvSpPr/>
          <p:nvPr/>
        </p:nvSpPr>
        <p:spPr>
          <a:xfrm>
            <a:off x="8331724" y="1489432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Design of 1×2 MIMO Array without Decoupling Structure 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5C09CB3-24FC-4F07-A70F-C62DE0E078D3}"/>
              </a:ext>
            </a:extLst>
          </p:cNvPr>
          <p:cNvSpPr/>
          <p:nvPr/>
        </p:nvSpPr>
        <p:spPr>
          <a:xfrm>
            <a:off x="3034646" y="2133235"/>
            <a:ext cx="1431302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0F2420-0CF1-4449-8E88-D97D645E61E9}"/>
              </a:ext>
            </a:extLst>
          </p:cNvPr>
          <p:cNvSpPr/>
          <p:nvPr/>
        </p:nvSpPr>
        <p:spPr>
          <a:xfrm>
            <a:off x="6663966" y="2133235"/>
            <a:ext cx="1667758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5024C11-5B1D-462F-AA7F-5A8769496717}"/>
              </a:ext>
            </a:extLst>
          </p:cNvPr>
          <p:cNvSpPr/>
          <p:nvPr/>
        </p:nvSpPr>
        <p:spPr>
          <a:xfrm rot="5400000">
            <a:off x="8869559" y="3579745"/>
            <a:ext cx="1120775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3B0F83C-A517-4FBB-9CD9-572FF8DF25EE}"/>
              </a:ext>
            </a:extLst>
          </p:cNvPr>
          <p:cNvSpPr/>
          <p:nvPr/>
        </p:nvSpPr>
        <p:spPr>
          <a:xfrm rot="10800000">
            <a:off x="6662394" y="5026253"/>
            <a:ext cx="1669329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F296C8-5D44-4C1F-907A-BB7A03C55035}"/>
              </a:ext>
            </a:extLst>
          </p:cNvPr>
          <p:cNvSpPr/>
          <p:nvPr/>
        </p:nvSpPr>
        <p:spPr>
          <a:xfrm rot="10800000">
            <a:off x="3034646" y="5026254"/>
            <a:ext cx="1431302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82FCED-FA8C-4D72-8820-A29CAE5B835B}"/>
              </a:ext>
            </a:extLst>
          </p:cNvPr>
          <p:cNvCxnSpPr>
            <a:endCxn id="6" idx="2"/>
          </p:cNvCxnSpPr>
          <p:nvPr/>
        </p:nvCxnSpPr>
        <p:spPr>
          <a:xfrm>
            <a:off x="5952565" y="177412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Date Placeholder 5">
            <a:extLst>
              <a:ext uri="{FF2B5EF4-FFF2-40B4-BE49-F238E27FC236}">
                <a16:creationId xmlns:a16="http://schemas.microsoft.com/office/drawing/2014/main" id="{76D3D533-39DF-44CA-859C-60D0D9DE018A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28-08-2025</a:t>
            </a:r>
          </a:p>
        </p:txBody>
      </p:sp>
    </p:spTree>
    <p:extLst>
      <p:ext uri="{BB962C8B-B14F-4D97-AF65-F5344CB8AC3E}">
        <p14:creationId xmlns:p14="http://schemas.microsoft.com/office/powerpoint/2010/main" val="17055277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BA2221-9943-4D59-84AC-6D61B011F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20977-ED2A-49D1-A94C-FA8724934685}"/>
              </a:ext>
            </a:extLst>
          </p:cNvPr>
          <p:cNvSpPr txBox="1">
            <a:spLocks/>
          </p:cNvSpPr>
          <p:nvPr/>
        </p:nvSpPr>
        <p:spPr>
          <a:xfrm>
            <a:off x="749300" y="1084637"/>
            <a:ext cx="10693400" cy="4950337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b="1"/>
          </a:p>
          <a:p>
            <a:endParaRPr lang="en-IN" sz="160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6F2CF8-9EBB-459F-98C9-7891A79DC73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4829" y="6356349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4374D9-AC5C-4DE1-BD8B-8145A2F9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80CB3-E6A8-4077-ACD4-459D1A7EE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/>
              <a:t>8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C3001B-2306-440F-B071-C6FF2E5487CD}"/>
              </a:ext>
            </a:extLst>
          </p:cNvPr>
          <p:cNvSpPr txBox="1"/>
          <p:nvPr/>
        </p:nvSpPr>
        <p:spPr>
          <a:xfrm>
            <a:off x="-122359" y="90445"/>
            <a:ext cx="8943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1) Designing a Microstrip Patch Antenna using HFSS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E83AA-0273-4F25-8FE5-52605DFD96E7}"/>
              </a:ext>
            </a:extLst>
          </p:cNvPr>
          <p:cNvSpPr txBox="1"/>
          <p:nvPr/>
        </p:nvSpPr>
        <p:spPr>
          <a:xfrm>
            <a:off x="226446" y="735955"/>
            <a:ext cx="11582400" cy="48320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300" b="1">
                <a:latin typeface="Times New Roman"/>
                <a:cs typeface="Times New Roman"/>
              </a:rPr>
              <a:t>Antenna Dimension Calculation:</a:t>
            </a:r>
          </a:p>
          <a:p>
            <a:pPr algn="just"/>
            <a:r>
              <a:rPr lang="en-US" sz="2100">
                <a:latin typeface="Times New Roman"/>
                <a:cs typeface="Times New Roman"/>
              </a:rPr>
              <a:t>As the frequency of the application is 2.4GHz , considering </a:t>
            </a:r>
            <a:r>
              <a:rPr lang="en-US">
                <a:latin typeface="Calibri"/>
                <a:ea typeface="Calibri"/>
                <a:cs typeface="Calibri"/>
              </a:rPr>
              <a:t>Rogers RT duroid 5880</a:t>
            </a:r>
            <a:r>
              <a:rPr lang="en-US" sz="2100">
                <a:latin typeface="Times New Roman"/>
                <a:cs typeface="Times New Roman"/>
              </a:rPr>
              <a:t> (εr = 2.2) as the suitable</a:t>
            </a:r>
          </a:p>
          <a:p>
            <a:pPr algn="just"/>
            <a:r>
              <a:rPr lang="en-US" sz="2100">
                <a:latin typeface="Times New Roman"/>
                <a:cs typeface="Times New Roman"/>
              </a:rPr>
              <a:t> substrate, the basic patch antenna dimensions are calculated below.</a:t>
            </a:r>
            <a:endParaRPr lang="en-US"/>
          </a:p>
          <a:p>
            <a:pPr algn="just"/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300" b="1">
                <a:latin typeface="Times New Roman"/>
                <a:cs typeface="Times New Roman"/>
              </a:rPr>
              <a:t>Ground Plane and Substrate Design:</a:t>
            </a:r>
          </a:p>
          <a:p>
            <a:pPr marL="0" indent="0" algn="just">
              <a:buNone/>
            </a:pPr>
            <a:r>
              <a:rPr lang="en-US" sz="2100">
                <a:latin typeface="Times New Roman"/>
                <a:cs typeface="Times New Roman"/>
              </a:rPr>
              <a:t>Ensure the ground plane is at least 6 times the substrate height larger than the patch to provide optimal radiation efficiency and minimize fringing effects.</a:t>
            </a:r>
          </a:p>
          <a:p>
            <a:pPr marL="0" indent="0" algn="just">
              <a:buNone/>
            </a:pPr>
            <a:endParaRPr lang="en-US" sz="23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q"/>
            </a:pPr>
            <a:r>
              <a:rPr lang="en-US" sz="2300" b="1">
                <a:latin typeface="Times New Roman"/>
                <a:cs typeface="Times New Roman"/>
              </a:rPr>
              <a:t>Simulation Setup in HFSS:</a:t>
            </a:r>
          </a:p>
          <a:p>
            <a:pPr marL="457200" lvl="1" indent="-457200" algn="just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>
                <a:latin typeface="Times New Roman"/>
                <a:cs typeface="Times New Roman"/>
              </a:rPr>
              <a:t>Define the boundary conditions for the patch and ground plane using "Perfect E" boundaries.</a:t>
            </a:r>
          </a:p>
          <a:p>
            <a:pPr marL="457200" lvl="1" indent="-457200" algn="just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>
                <a:latin typeface="Times New Roman"/>
                <a:cs typeface="Times New Roman"/>
              </a:rPr>
              <a:t>Assign a radiation boundary to a box surrounding the antenna, positioned at least λ/4 away from the structure to simulate the radiation in a free space environment.</a:t>
            </a:r>
          </a:p>
          <a:p>
            <a:pPr marL="457200" lvl="1" indent="-457200" algn="just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sz="2100">
                <a:latin typeface="Times New Roman"/>
                <a:cs typeface="Times New Roman"/>
              </a:rPr>
              <a:t>Apply the appropriate excitation, such as a Wave Port/Lumped Port.</a:t>
            </a:r>
          </a:p>
        </p:txBody>
      </p:sp>
    </p:spTree>
    <p:extLst>
      <p:ext uri="{BB962C8B-B14F-4D97-AF65-F5344CB8AC3E}">
        <p14:creationId xmlns:p14="http://schemas.microsoft.com/office/powerpoint/2010/main" val="4058567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46652CE-1126-45B8-876B-A1669EDD0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96D1D66D-F043-4E16-AFC1-F063B683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  <a:p>
            <a:endParaRPr lang="en-GB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61FCED96-FC09-45C5-B3F1-3BC95DF8D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26CE2D89-342C-4A0C-B0F8-F31F86F8A0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/>
              <a:t>9</a:t>
            </a:fld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55456F0-5B28-4A37-8256-243FAE9E062C}"/>
              </a:ext>
            </a:extLst>
          </p:cNvPr>
          <p:cNvSpPr/>
          <p:nvPr/>
        </p:nvSpPr>
        <p:spPr>
          <a:xfrm>
            <a:off x="3364275" y="544942"/>
            <a:ext cx="46556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Patch Antenna Dimension Calculation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C61B17B-E151-4795-8CC5-668F153D2B68}"/>
              </a:ext>
            </a:extLst>
          </p:cNvPr>
          <p:cNvSpPr txBox="1"/>
          <p:nvPr/>
        </p:nvSpPr>
        <p:spPr>
          <a:xfrm>
            <a:off x="3548932" y="1056047"/>
            <a:ext cx="8150941" cy="50783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As the frequency of the application is 2.4 GHz, considering </a:t>
            </a:r>
            <a:r>
              <a:rPr lang="en-US">
                <a:latin typeface="Calibri"/>
                <a:ea typeface="Calibri"/>
                <a:cs typeface="Calibri"/>
              </a:rPr>
              <a:t>Rogers</a:t>
            </a:r>
            <a:r>
              <a:rPr lang="en-US">
                <a:ea typeface="+mn-lt"/>
                <a:cs typeface="+mn-lt"/>
              </a:rPr>
              <a:t> RT </a:t>
            </a:r>
            <a:r>
              <a:rPr lang="en-US" err="1">
                <a:ea typeface="+mn-lt"/>
                <a:cs typeface="+mn-lt"/>
              </a:rPr>
              <a:t>duroid</a:t>
            </a:r>
            <a:r>
              <a:rPr lang="en-US">
                <a:ea typeface="+mn-lt"/>
                <a:cs typeface="+mn-lt"/>
              </a:rPr>
              <a:t> 5880 </a:t>
            </a:r>
            <a:r>
              <a:rPr lang="en-US">
                <a:latin typeface="Times New Roman"/>
                <a:cs typeface="Times New Roman"/>
              </a:rPr>
              <a:t> (</a:t>
            </a:r>
            <a:r>
              <a:rPr lang="en-US" err="1">
                <a:latin typeface="Times New Roman"/>
                <a:cs typeface="Times New Roman"/>
              </a:rPr>
              <a:t>εr</a:t>
            </a:r>
            <a:r>
              <a:rPr lang="en-US">
                <a:latin typeface="Times New Roman"/>
                <a:cs typeface="Times New Roman"/>
              </a:rPr>
              <a:t> = 2.2) is a suitable substrate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>
                <a:ea typeface="+mn-lt"/>
                <a:cs typeface="+mn-lt"/>
              </a:rPr>
              <a:t>the basic patch antenna dimensions are determined through</a:t>
            </a:r>
            <a:r>
              <a:rPr lang="en-US">
                <a:latin typeface="Times New Roman"/>
                <a:cs typeface="Times New Roman"/>
              </a:rPr>
              <a:t> mathematical calculations.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>
                <a:latin typeface="Times New Roman"/>
                <a:cs typeface="Times New Roman"/>
              </a:rPr>
              <a:t> Designed for 2.4 GHz rectangular patch on   </a:t>
            </a:r>
            <a:r>
              <a:rPr lang="en-US">
                <a:latin typeface="Calibri"/>
                <a:ea typeface="Calibri"/>
                <a:cs typeface="Calibri"/>
              </a:rPr>
              <a:t>Rogers RT duroid 5880</a:t>
            </a:r>
            <a:r>
              <a:rPr lang="en-US">
                <a:latin typeface="Times New Roman"/>
                <a:cs typeface="Times New Roman"/>
              </a:rPr>
              <a:t>(</a:t>
            </a:r>
            <a:r>
              <a:rPr lang="el-GR">
                <a:latin typeface="Times New Roman"/>
                <a:cs typeface="Times New Roman"/>
              </a:rPr>
              <a:t>ε</a:t>
            </a:r>
            <a:r>
              <a:rPr lang="en-IN">
                <a:latin typeface="Times New Roman"/>
                <a:cs typeface="Times New Roman"/>
              </a:rPr>
              <a:t>r = 2.2)</a:t>
            </a:r>
            <a:r>
              <a:rPr lang="en-US">
                <a:latin typeface="Times New Roman"/>
                <a:cs typeface="Times New Roman"/>
              </a:rPr>
              <a:t> with h = 1.6 mm.</a:t>
            </a:r>
          </a:p>
          <a:p>
            <a:pPr algn="just"/>
            <a:r>
              <a:rPr lang="en-US">
                <a:latin typeface="Times New Roman"/>
                <a:cs typeface="Times New Roman"/>
              </a:rPr>
              <a:t>       Determining Path </a:t>
            </a:r>
            <a:r>
              <a:rPr lang="en-US" err="1">
                <a:latin typeface="Times New Roman"/>
                <a:cs typeface="Times New Roman"/>
              </a:rPr>
              <a:t>Widh</a:t>
            </a:r>
            <a:r>
              <a:rPr lang="en-US">
                <a:latin typeface="Times New Roman"/>
                <a:cs typeface="Times New Roman"/>
              </a:rPr>
              <a:t>(W) an Length(L)</a:t>
            </a:r>
          </a:p>
          <a:p>
            <a:pPr algn="just"/>
            <a:r>
              <a:rPr lang="en-US">
                <a:latin typeface="Times New Roman"/>
                <a:cs typeface="Times New Roman"/>
              </a:rPr>
              <a:t>        </a:t>
            </a:r>
            <a:r>
              <a:rPr lang="en-US" b="1">
                <a:latin typeface="Times New Roman"/>
                <a:cs typeface="Times New Roman"/>
              </a:rPr>
              <a:t>Width</a:t>
            </a:r>
          </a:p>
          <a:p>
            <a:pPr algn="just"/>
            <a:endParaRPr lang="en-US"/>
          </a:p>
          <a:p>
            <a:pPr algn="just"/>
            <a:endParaRPr lang="en-US">
              <a:ea typeface="Calibri"/>
              <a:cs typeface="Calibri"/>
            </a:endParaRPr>
          </a:p>
          <a:p>
            <a:pPr algn="just"/>
            <a:endParaRPr lang="en-US"/>
          </a:p>
          <a:p>
            <a:pPr algn="just"/>
            <a:r>
              <a:rPr lang="en-US" b="1">
                <a:latin typeface="Times New Roman"/>
                <a:cs typeface="Times New Roman"/>
              </a:rPr>
              <a:t>     Effective Permittivity </a:t>
            </a:r>
            <a:r>
              <a:rPr lang="el-GR" b="1">
                <a:latin typeface="Times New Roman"/>
                <a:cs typeface="Times New Roman"/>
              </a:rPr>
              <a:t>ε</a:t>
            </a:r>
            <a:r>
              <a:rPr lang="en-IN" b="1">
                <a:latin typeface="Times New Roman"/>
                <a:cs typeface="Times New Roman"/>
              </a:rPr>
              <a:t>eff​</a:t>
            </a:r>
          </a:p>
          <a:p>
            <a:pPr algn="just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/>
              <a:t>   </a:t>
            </a:r>
            <a:endParaRPr lang="en-US" b="1">
              <a:ea typeface="Calibri"/>
              <a:cs typeface="Calibri"/>
            </a:endParaRPr>
          </a:p>
          <a:p>
            <a:pPr algn="just"/>
            <a:r>
              <a:rPr lang="en-US" b="1"/>
              <a:t>      </a:t>
            </a:r>
            <a:r>
              <a:rPr lang="sv-SE" b="1" err="1">
                <a:latin typeface="Times New Roman"/>
                <a:cs typeface="Times New Roman"/>
              </a:rPr>
              <a:t>Fringing</a:t>
            </a:r>
            <a:r>
              <a:rPr lang="sv-SE" b="1">
                <a:latin typeface="Times New Roman"/>
                <a:cs typeface="Times New Roman"/>
              </a:rPr>
              <a:t> extension ΔL</a:t>
            </a:r>
          </a:p>
          <a:p>
            <a:pPr algn="just"/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527889C-1D13-48FA-AD53-A9D471D4EF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422" y="3304380"/>
            <a:ext cx="2110815" cy="65217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6321DA7-17CE-4219-9127-5C455E561FEB}"/>
              </a:ext>
            </a:extLst>
          </p:cNvPr>
          <p:cNvSpPr txBox="1"/>
          <p:nvPr/>
        </p:nvSpPr>
        <p:spPr>
          <a:xfrm>
            <a:off x="0" y="4365282"/>
            <a:ext cx="4069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Fig: Simulated model of unit element of an Array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BD6B121-6463-4570-857B-2783CE5888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6463" y="4520480"/>
            <a:ext cx="2542342" cy="45106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675F6E24-E293-4676-B228-5CB7D561A6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392" y="5534153"/>
            <a:ext cx="2495222" cy="528544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9C28984-564C-437B-9F15-5E0204B2A4A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4888" y="5697786"/>
            <a:ext cx="152421" cy="171474"/>
          </a:xfrm>
          <a:prstGeom prst="rect">
            <a:avLst/>
          </a:prstGeom>
        </p:spPr>
      </p:pic>
      <p:pic>
        <p:nvPicPr>
          <p:cNvPr id="12" name="Picture 11" descr="A black numbers on a white background&#10;&#10;AI-generated content may be incorrect.">
            <a:extLst>
              <a:ext uri="{FF2B5EF4-FFF2-40B4-BE49-F238E27FC236}">
                <a16:creationId xmlns:a16="http://schemas.microsoft.com/office/drawing/2014/main" id="{A6E8E269-BEB2-54CD-8152-20C220977F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3308959"/>
            <a:ext cx="2514600" cy="7620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C97C52-ADDC-DAA8-75CC-2F172CE5F1AE}"/>
              </a:ext>
            </a:extLst>
          </p:cNvPr>
          <p:cNvSpPr txBox="1"/>
          <p:nvPr/>
        </p:nvSpPr>
        <p:spPr>
          <a:xfrm>
            <a:off x="8303041" y="3509420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700">
                <a:latin typeface="Roboto"/>
                <a:ea typeface="Roboto"/>
                <a:cs typeface="Roboto"/>
              </a:rPr>
              <a:t>W= 49.38 mm</a:t>
            </a:r>
            <a:endParaRPr lang="en-US"/>
          </a:p>
        </p:txBody>
      </p:sp>
      <p:pic>
        <p:nvPicPr>
          <p:cNvPr id="15" name="Picture 14" descr="A math equation with numbers and plus and two&#10;&#10;AI-generated content may be incorrect.">
            <a:extLst>
              <a:ext uri="{FF2B5EF4-FFF2-40B4-BE49-F238E27FC236}">
                <a16:creationId xmlns:a16="http://schemas.microsoft.com/office/drawing/2014/main" id="{DA1BB164-6F03-E905-EEE7-14563FCB5D6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64201" y="4344183"/>
            <a:ext cx="3743325" cy="8001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D2F04C23-22A1-C78B-3363-2145EE427204}"/>
              </a:ext>
            </a:extLst>
          </p:cNvPr>
          <p:cNvSpPr txBox="1"/>
          <p:nvPr/>
        </p:nvSpPr>
        <p:spPr>
          <a:xfrm>
            <a:off x="10234668" y="4518733"/>
            <a:ext cx="146403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>
                <a:ea typeface="+mn-lt"/>
                <a:cs typeface="+mn-lt"/>
              </a:rPr>
              <a:t>ε</a:t>
            </a:r>
            <a:r>
              <a:rPr lang="en-GB" sz="1600">
                <a:ea typeface="+mn-lt"/>
                <a:cs typeface="+mn-lt"/>
              </a:rPr>
              <a:t>eff</a:t>
            </a:r>
            <a:r>
              <a:rPr lang="en-GB">
                <a:ea typeface="+mn-lt"/>
                <a:cs typeface="+mn-lt"/>
              </a:rPr>
              <a:t>≈2.03</a:t>
            </a:r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D65E06A-97E6-1512-2CEB-D75F646161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6444" y="5457630"/>
            <a:ext cx="3406428" cy="608686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7DBA385-5B6D-4B4B-75F6-5D5C5AF6CA7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69395" y="5459652"/>
            <a:ext cx="1204717" cy="542012"/>
          </a:xfrm>
          <a:prstGeom prst="rect">
            <a:avLst/>
          </a:prstGeom>
        </p:spPr>
      </p:pic>
      <p:pic>
        <p:nvPicPr>
          <p:cNvPr id="26" name="Picture 25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65356EE-4DA1-E98B-1A5B-F696800DB7A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4715" y="1310927"/>
            <a:ext cx="1981200" cy="3067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362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F045336-62A4-4B89-B7B2-11C8D201E5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F016C75-6C04-4E21-8831-DE29FAE3F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1830" y="499660"/>
            <a:ext cx="331694" cy="2487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AEB02C8-46F1-4E59-8F1F-DACEEF078A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619" y="837498"/>
            <a:ext cx="1067467" cy="4810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396EE6-C5F4-4651-9163-3F6B61E6F6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207" y="2070847"/>
            <a:ext cx="1343769" cy="286872"/>
          </a:xfrm>
          <a:prstGeom prst="rect">
            <a:avLst/>
          </a:prstGeom>
        </p:spPr>
      </p:pic>
      <p:sp>
        <p:nvSpPr>
          <p:cNvPr id="26" name="Footer Placeholder 4">
            <a:extLst>
              <a:ext uri="{FF2B5EF4-FFF2-40B4-BE49-F238E27FC236}">
                <a16:creationId xmlns:a16="http://schemas.microsoft.com/office/drawing/2014/main" id="{EB0B0C0D-6405-47A3-992B-B77914FF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27" name="Date Placeholder 5">
            <a:extLst>
              <a:ext uri="{FF2B5EF4-FFF2-40B4-BE49-F238E27FC236}">
                <a16:creationId xmlns:a16="http://schemas.microsoft.com/office/drawing/2014/main" id="{AF585F1B-F186-46B6-92B2-0B2E8069DB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28" name="Slide Number Placeholder 2">
            <a:extLst>
              <a:ext uri="{FF2B5EF4-FFF2-40B4-BE49-F238E27FC236}">
                <a16:creationId xmlns:a16="http://schemas.microsoft.com/office/drawing/2014/main" id="{B4457D91-EC4B-4750-B8F5-761C19C0D3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F63554E-BB0B-3E20-B5D6-91185194DB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8524" y="749931"/>
            <a:ext cx="2152650" cy="6191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3D731DD-FFFE-147D-D0FF-74D6AB5DD5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13768" y="835851"/>
            <a:ext cx="1781175" cy="3429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EE1FA32F-7183-FB06-66BE-95F810592E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25668" y="2046700"/>
            <a:ext cx="2590800" cy="3429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23E8E636-F4C3-AA8E-BFCC-BA112AFACB05}"/>
              </a:ext>
            </a:extLst>
          </p:cNvPr>
          <p:cNvSpPr txBox="1"/>
          <p:nvPr/>
        </p:nvSpPr>
        <p:spPr>
          <a:xfrm>
            <a:off x="507345" y="2646173"/>
            <a:ext cx="1118341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ea typeface="Calibri"/>
                <a:cs typeface="Calibri"/>
              </a:rPr>
              <a:t>Impedance Matching:</a:t>
            </a:r>
            <a:endParaRPr lang="en-GB"/>
          </a:p>
        </p:txBody>
      </p:sp>
      <p:pic>
        <p:nvPicPr>
          <p:cNvPr id="32" name="Picture 31" descr="A mathematical equation with numbers and lines&#10;&#10;AI-generated content may be incorrect.">
            <a:extLst>
              <a:ext uri="{FF2B5EF4-FFF2-40B4-BE49-F238E27FC236}">
                <a16:creationId xmlns:a16="http://schemas.microsoft.com/office/drawing/2014/main" id="{CE18C7F0-3BA3-0236-E1A9-92CF4A5481A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8763" y="3010030"/>
            <a:ext cx="3209925" cy="12763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11E9297E-CF62-DC70-0B6B-8621F312CED7}"/>
              </a:ext>
            </a:extLst>
          </p:cNvPr>
          <p:cNvSpPr txBox="1"/>
          <p:nvPr/>
        </p:nvSpPr>
        <p:spPr>
          <a:xfrm>
            <a:off x="248021" y="4283677"/>
            <a:ext cx="7907205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>
                <a:latin typeface="Times New Roman"/>
                <a:ea typeface="Calibri"/>
                <a:cs typeface="Calibri"/>
              </a:rPr>
              <a:t>Here, the length is  </a:t>
            </a:r>
            <a:r>
              <a:rPr lang="en-GB" b="1">
                <a:solidFill>
                  <a:srgbClr val="001D35"/>
                </a:solidFill>
                <a:latin typeface="Times New Roman"/>
                <a:ea typeface="+mn-lt"/>
                <a:cs typeface="+mn-lt"/>
              </a:rPr>
              <a:t>λ/4</a:t>
            </a:r>
            <a:r>
              <a:rPr lang="en-GB" b="1">
                <a:solidFill>
                  <a:srgbClr val="001D35"/>
                </a:solidFill>
                <a:latin typeface="Times New Roman"/>
                <a:ea typeface="Calibri"/>
                <a:cs typeface="Calibri"/>
              </a:rPr>
              <a:t>  </a:t>
            </a:r>
            <a:r>
              <a:rPr lang="en-GB">
                <a:solidFill>
                  <a:srgbClr val="001D35"/>
                </a:solidFill>
                <a:latin typeface="Times New Roman"/>
                <a:ea typeface="Calibri"/>
                <a:cs typeface="Calibri"/>
              </a:rPr>
              <a:t> and the width  can be calculated</a:t>
            </a:r>
            <a:r>
              <a:rPr lang="en-GB">
                <a:latin typeface="Times New Roman"/>
                <a:ea typeface="Calibri"/>
                <a:cs typeface="Calibri"/>
              </a:rPr>
              <a:t>  as follows:  </a:t>
            </a:r>
            <a:endParaRPr lang="en-GB">
              <a:latin typeface="Times New Roman"/>
            </a:endParaRPr>
          </a:p>
        </p:txBody>
      </p:sp>
      <p:pic>
        <p:nvPicPr>
          <p:cNvPr id="35" name="Picture 34" descr="A black text with a square root&#10;&#10;AI-generated content may be incorrect.">
            <a:extLst>
              <a:ext uri="{FF2B5EF4-FFF2-40B4-BE49-F238E27FC236}">
                <a16:creationId xmlns:a16="http://schemas.microsoft.com/office/drawing/2014/main" id="{808519CA-E04F-7480-A375-A9237A8CEC4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07757" y="3054393"/>
            <a:ext cx="2095500" cy="895350"/>
          </a:xfrm>
          <a:prstGeom prst="rect">
            <a:avLst/>
          </a:prstGeom>
        </p:spPr>
      </p:pic>
      <p:pic>
        <p:nvPicPr>
          <p:cNvPr id="37" name="Picture 36" descr="A group of mathematical equations&#10;&#10;AI-generated content may be incorrect.">
            <a:extLst>
              <a:ext uri="{FF2B5EF4-FFF2-40B4-BE49-F238E27FC236}">
                <a16:creationId xmlns:a16="http://schemas.microsoft.com/office/drawing/2014/main" id="{E66C9076-37F2-CC90-CF6D-97F17FA71DC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44756" y="3650945"/>
            <a:ext cx="5036899" cy="2374466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6D18CEA6-7E29-BC2B-5EB3-04ED051D349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27777" y="4663988"/>
            <a:ext cx="6044200" cy="1360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843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0E8B606-D5CD-4C33-ADFC-B5B27C273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D5FFDB03-C12B-496F-BEDB-A1E4C3B158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28-08-2025</a:t>
            </a:r>
          </a:p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E9E3FC4F-69B1-4DD7-8F0A-4C30D5394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Review 1.2</a:t>
            </a:r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90A3F2-3858-4E11-A757-8E15C0AAC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D4B59AB-8531-4A19-9589-1CF6D03EBF76}"/>
              </a:ext>
            </a:extLst>
          </p:cNvPr>
          <p:cNvSpPr txBox="1">
            <a:spLocks/>
          </p:cNvSpPr>
          <p:nvPr/>
        </p:nvSpPr>
        <p:spPr>
          <a:xfrm>
            <a:off x="694765" y="448566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IN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C478DBD-48C9-4E5F-931A-80179F4EAB8B}"/>
              </a:ext>
            </a:extLst>
          </p:cNvPr>
          <p:cNvSpPr txBox="1">
            <a:spLocks/>
          </p:cNvSpPr>
          <p:nvPr/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5601F28-40C4-4518-9183-AF5018F8DB5D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230C615-8037-4B42-9986-C0C8BB86C36A}"/>
              </a:ext>
            </a:extLst>
          </p:cNvPr>
          <p:cNvSpPr/>
          <p:nvPr/>
        </p:nvSpPr>
        <p:spPr>
          <a:xfrm>
            <a:off x="838200" y="1489431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 Element Microstrip Patch Antenna using HFSS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416B2182-4102-4A5A-A7D5-0B5606000B83}"/>
              </a:ext>
            </a:extLst>
          </p:cNvPr>
          <p:cNvSpPr/>
          <p:nvPr/>
        </p:nvSpPr>
        <p:spPr>
          <a:xfrm>
            <a:off x="838200" y="4382446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Experimental Validation of final results and Documentation</a:t>
            </a:r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0C8F984-EF7B-4EF2-9799-002F01690ED0}"/>
              </a:ext>
            </a:extLst>
          </p:cNvPr>
          <p:cNvSpPr/>
          <p:nvPr/>
        </p:nvSpPr>
        <p:spPr>
          <a:xfrm>
            <a:off x="4465948" y="4385978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Fabrication of Optimized Design</a:t>
            </a:r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796B736-7848-41CC-B3EA-461BDC4CCE05}"/>
              </a:ext>
            </a:extLst>
          </p:cNvPr>
          <p:cNvSpPr/>
          <p:nvPr/>
        </p:nvSpPr>
        <p:spPr>
          <a:xfrm>
            <a:off x="8331723" y="4382447"/>
            <a:ext cx="2874938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Insertion of  DecouplingStructure and</a:t>
            </a:r>
            <a:endParaRPr lang="en-US">
              <a:latin typeface="Times New Roman"/>
              <a:cs typeface="Times New Roman"/>
            </a:endParaRPr>
          </a:p>
          <a:p>
            <a:pPr algn="ctr"/>
            <a:r>
              <a:rPr lang="en-IN">
                <a:latin typeface="Times New Roman"/>
                <a:cs typeface="Times New Roman"/>
              </a:rPr>
              <a:t>Performance</a:t>
            </a:r>
            <a:endParaRPr lang="en-US">
              <a:latin typeface="Times New Roman"/>
              <a:cs typeface="Times New Roman"/>
            </a:endParaRPr>
          </a:p>
          <a:p>
            <a:pPr algn="ctr"/>
            <a:r>
              <a:rPr lang="en-IN">
                <a:latin typeface="Times New Roman"/>
                <a:cs typeface="Times New Roman"/>
              </a:rPr>
              <a:t>Analysis(Isolation,Gain)</a:t>
            </a:r>
            <a:endParaRPr lang="en-US">
              <a:latin typeface="Times New Roman"/>
              <a:cs typeface="Times New Roman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2746D4F-115A-454D-B351-20E91C0D4729}"/>
              </a:ext>
            </a:extLst>
          </p:cNvPr>
          <p:cNvSpPr/>
          <p:nvPr/>
        </p:nvSpPr>
        <p:spPr>
          <a:xfrm>
            <a:off x="4465948" y="1489431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 Parameter , Gain  plots for an element with HFSS 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B3D3FF2-612D-45DA-AE10-BC453C3BDAED}"/>
              </a:ext>
            </a:extLst>
          </p:cNvPr>
          <p:cNvSpPr/>
          <p:nvPr/>
        </p:nvSpPr>
        <p:spPr>
          <a:xfrm>
            <a:off x="8331724" y="1489432"/>
            <a:ext cx="2196446" cy="1772241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>
                <a:latin typeface="Times New Roman"/>
                <a:cs typeface="Times New Roman"/>
              </a:rPr>
              <a:t>Design of 1×2 MIMO Array without Decoupling Structure </a:t>
            </a:r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5C09CB3-24FC-4F07-A70F-C62DE0E078D3}"/>
              </a:ext>
            </a:extLst>
          </p:cNvPr>
          <p:cNvSpPr/>
          <p:nvPr/>
        </p:nvSpPr>
        <p:spPr>
          <a:xfrm>
            <a:off x="3034646" y="2133235"/>
            <a:ext cx="1431302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D0F2420-0CF1-4449-8E88-D97D645E61E9}"/>
              </a:ext>
            </a:extLst>
          </p:cNvPr>
          <p:cNvSpPr/>
          <p:nvPr/>
        </p:nvSpPr>
        <p:spPr>
          <a:xfrm>
            <a:off x="6663966" y="2133235"/>
            <a:ext cx="1667758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55024C11-5B1D-462F-AA7F-5A8769496717}"/>
              </a:ext>
            </a:extLst>
          </p:cNvPr>
          <p:cNvSpPr/>
          <p:nvPr/>
        </p:nvSpPr>
        <p:spPr>
          <a:xfrm rot="5400000">
            <a:off x="8869559" y="3579745"/>
            <a:ext cx="1120775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D3B0F83C-A517-4FBB-9CD9-572FF8DF25EE}"/>
              </a:ext>
            </a:extLst>
          </p:cNvPr>
          <p:cNvSpPr/>
          <p:nvPr/>
        </p:nvSpPr>
        <p:spPr>
          <a:xfrm rot="10800000">
            <a:off x="6662394" y="5026253"/>
            <a:ext cx="1669329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DF296C8-5D44-4C1F-907A-BB7A03C55035}"/>
              </a:ext>
            </a:extLst>
          </p:cNvPr>
          <p:cNvSpPr/>
          <p:nvPr/>
        </p:nvSpPr>
        <p:spPr>
          <a:xfrm rot="10800000">
            <a:off x="3034646" y="5026254"/>
            <a:ext cx="1431302" cy="484632"/>
          </a:xfrm>
          <a:prstGeom prst="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982FCED-FA8C-4D72-8820-A29CAE5B835B}"/>
              </a:ext>
            </a:extLst>
          </p:cNvPr>
          <p:cNvCxnSpPr>
            <a:endCxn id="6" idx="2"/>
          </p:cNvCxnSpPr>
          <p:nvPr/>
        </p:nvCxnSpPr>
        <p:spPr>
          <a:xfrm>
            <a:off x="5952565" y="177412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163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363E70F-C84B-4CFD-88DE-73C6621DB0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D4F4DCB8-9684-4B9E-9133-6003D8A6EE70}"/>
              </a:ext>
            </a:extLst>
          </p:cNvPr>
          <p:cNvSpPr/>
          <p:nvPr/>
        </p:nvSpPr>
        <p:spPr>
          <a:xfrm>
            <a:off x="107577" y="111512"/>
            <a:ext cx="11940988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AutoNum type="arabicPeriod" startAt="2"/>
            </a:pPr>
            <a:r>
              <a:rPr lang="en-US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Patch Antenna with HFSS</a:t>
            </a:r>
          </a:p>
          <a:p>
            <a:pPr marL="514350" indent="-514350">
              <a:buAutoNum type="arabicPeriod" startAt="2"/>
            </a:pPr>
            <a:endParaRPr lang="en-US" sz="2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Evaluation:  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Simulate the design to obtain the key performance metrics, such as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S-parameters (S11)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Radiation pattern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Impedance characteristics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Gain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Efficiency; to optimize antenna performance for the desired application.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A69033-5E3A-4F16-A958-9A385BA535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BA1A1D8-CD08-4FF3-8AFC-8E6C084BD0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FE7D2B01-06CA-4B6C-86F7-A674FC029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B28E74-2D83-47B4-A61D-53C2F1BC2F93}"/>
              </a:ext>
            </a:extLst>
          </p:cNvPr>
          <p:cNvSpPr txBox="1"/>
          <p:nvPr/>
        </p:nvSpPr>
        <p:spPr>
          <a:xfrm>
            <a:off x="5109883" y="5833149"/>
            <a:ext cx="4563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>
                <a:latin typeface="Times New Roman" panose="02020603050405020304" pitchFamily="18" charset="0"/>
                <a:cs typeface="Times New Roman" panose="02020603050405020304" pitchFamily="18" charset="0"/>
              </a:rPr>
              <a:t>Fig: Obtained S(1,1) Plot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FF6595-1B56-F003-FF57-8FDD8BDC2B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5288" y="3176111"/>
            <a:ext cx="7860083" cy="2656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384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4C99292-8C50-497E-B449-1100687FF2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graphicFrame>
        <p:nvGraphicFramePr>
          <p:cNvPr id="3" name="Content Placeholder 6">
            <a:extLst>
              <a:ext uri="{FF2B5EF4-FFF2-40B4-BE49-F238E27FC236}">
                <a16:creationId xmlns:a16="http://schemas.microsoft.com/office/drawing/2014/main" id="{365429BB-CD0F-4810-BBD2-BAB52CC2744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3127875"/>
              </p:ext>
            </p:extLst>
          </p:nvPr>
        </p:nvGraphicFramePr>
        <p:xfrm>
          <a:off x="838200" y="1991360"/>
          <a:ext cx="10515600" cy="248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45386">
                  <a:extLst>
                    <a:ext uri="{9D8B030D-6E8A-4147-A177-3AD203B41FA5}">
                      <a16:colId xmlns:a16="http://schemas.microsoft.com/office/drawing/2014/main" val="1450760471"/>
                    </a:ext>
                  </a:extLst>
                </a:gridCol>
                <a:gridCol w="5270214">
                  <a:extLst>
                    <a:ext uri="{9D8B030D-6E8A-4147-A177-3AD203B41FA5}">
                      <a16:colId xmlns:a16="http://schemas.microsoft.com/office/drawing/2014/main" val="1383474448"/>
                    </a:ext>
                  </a:extLst>
                </a:gridCol>
              </a:tblGrid>
              <a:tr h="706269"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Unit Element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1256508"/>
                  </a:ext>
                </a:extLst>
              </a:tr>
              <a:tr h="612977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S(1,1)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/>
                          <a:cs typeface="Times New Roman"/>
                        </a:rPr>
                        <a:t>-27.33dB</a:t>
                      </a:r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0104235"/>
                  </a:ext>
                </a:extLst>
              </a:tr>
              <a:tr h="529954"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4.42dB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3616168"/>
                  </a:ext>
                </a:extLst>
              </a:tr>
              <a:tr h="55455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Impedance Matching</a:t>
                      </a:r>
                    </a:p>
                    <a:p>
                      <a:pPr algn="ctr"/>
                      <a:endParaRPr lang="en-IN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>
                          <a:latin typeface="Times New Roman"/>
                          <a:cs typeface="Times New Roman"/>
                        </a:rPr>
                        <a:t>50.2</a:t>
                      </a:r>
                      <a:r>
                        <a:rPr lang="el-GR" sz="1800" b="0" i="0" kern="1200">
                          <a:solidFill>
                            <a:schemeClr val="dk1"/>
                          </a:solidFill>
                          <a:effectLst/>
                          <a:latin typeface="Times New Roman"/>
                          <a:ea typeface="+mn-ea"/>
                          <a:cs typeface="Times New Roman"/>
                        </a:rPr>
                        <a:t>Ω</a:t>
                      </a:r>
                      <a:endParaRPr lang="en-IN">
                        <a:latin typeface="Times New Roman"/>
                        <a:cs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7655071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425209B-934F-48FB-BEBF-EFFE43E56E8B}"/>
              </a:ext>
            </a:extLst>
          </p:cNvPr>
          <p:cNvSpPr txBox="1"/>
          <p:nvPr/>
        </p:nvSpPr>
        <p:spPr>
          <a:xfrm>
            <a:off x="838200" y="979757"/>
            <a:ext cx="56208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84549D-641E-45FF-B3BE-5A157700E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2846C44-2077-4B32-95B0-13AC10A763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</p:spTree>
    <p:extLst>
      <p:ext uri="{BB962C8B-B14F-4D97-AF65-F5344CB8AC3E}">
        <p14:creationId xmlns:p14="http://schemas.microsoft.com/office/powerpoint/2010/main" val="24748924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31C476-B4FE-4347-8ECB-3B7E6147D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DFBB7C42-1AD7-B87C-5FB1-72FC1D8B6A44}"/>
              </a:ext>
            </a:extLst>
          </p:cNvPr>
          <p:cNvSpPr>
            <a:spLocks noGrp="1"/>
          </p:cNvSpPr>
          <p:nvPr/>
        </p:nvSpPr>
        <p:spPr>
          <a:xfrm>
            <a:off x="670559" y="366599"/>
            <a:ext cx="3535680" cy="135843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0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Deliverables:</a:t>
            </a:r>
            <a:br>
              <a:rPr lang="en-US" sz="4400" b="1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23E43DB9-1FFD-4AE4-8E88-0B52EDC77556}"/>
              </a:ext>
            </a:extLst>
          </p:cNvPr>
          <p:cNvSpPr>
            <a:spLocks noGrp="1"/>
          </p:cNvSpPr>
          <p:nvPr/>
        </p:nvSpPr>
        <p:spPr>
          <a:xfrm>
            <a:off x="916756" y="62069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E22786DF-D88B-F49F-2934-D55109147B74}"/>
              </a:ext>
            </a:extLst>
          </p:cNvPr>
          <p:cNvSpPr>
            <a:spLocks noGrp="1"/>
          </p:cNvSpPr>
          <p:nvPr/>
        </p:nvSpPr>
        <p:spPr>
          <a:xfrm>
            <a:off x="4117156" y="620696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Times New Roman" panose="02020603050405020304" pitchFamily="18" charset="0"/>
                <a:cs typeface="Times New Roman" panose="02020603050405020304" pitchFamily="18" charset="0"/>
              </a:rPr>
              <a:t>Review 1.2</a:t>
            </a:r>
          </a:p>
        </p:txBody>
      </p:sp>
      <p:sp>
        <p:nvSpPr>
          <p:cNvPr id="6" name="Slide Number Placeholder 1">
            <a:extLst>
              <a:ext uri="{FF2B5EF4-FFF2-40B4-BE49-F238E27FC236}">
                <a16:creationId xmlns:a16="http://schemas.microsoft.com/office/drawing/2014/main" id="{29EB541B-50C9-591F-D2A2-F741E86A99F4}"/>
              </a:ext>
            </a:extLst>
          </p:cNvPr>
          <p:cNvSpPr>
            <a:spLocks noGrp="1"/>
          </p:cNvSpPr>
          <p:nvPr/>
        </p:nvSpPr>
        <p:spPr>
          <a:xfrm>
            <a:off x="8689156" y="62069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GB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196CFEA-1328-F60F-4B83-73BA3D17E972}"/>
              </a:ext>
            </a:extLst>
          </p:cNvPr>
          <p:cNvSpPr/>
          <p:nvPr/>
        </p:nvSpPr>
        <p:spPr>
          <a:xfrm>
            <a:off x="759644" y="1644354"/>
            <a:ext cx="3357511" cy="1857081"/>
          </a:xfrm>
          <a:prstGeom prst="round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>
                <a:latin typeface="Times New Roman"/>
                <a:cs typeface="Times New Roman"/>
              </a:rPr>
              <a:t>Design and simulation of a unit element at 2.4 GHz rectangular patch antenna using  substrate (</a:t>
            </a:r>
            <a:r>
              <a:rPr lang="en-US" err="1">
                <a:latin typeface="Times New Roman"/>
                <a:cs typeface="Times New Roman"/>
              </a:rPr>
              <a:t>εr</a:t>
            </a:r>
            <a:r>
              <a:rPr lang="en-US">
                <a:latin typeface="Times New Roman"/>
                <a:cs typeface="Times New Roman"/>
              </a:rPr>
              <a:t> = 2.2).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31490D0-2D69-DF9F-7433-650074841656}"/>
              </a:ext>
            </a:extLst>
          </p:cNvPr>
          <p:cNvSpPr/>
          <p:nvPr/>
        </p:nvSpPr>
        <p:spPr>
          <a:xfrm>
            <a:off x="8163930" y="1571919"/>
            <a:ext cx="3357511" cy="1857081"/>
          </a:xfrm>
          <a:prstGeom prst="roundRect">
            <a:avLst/>
          </a:prstGeom>
          <a:effectLst>
            <a:outerShdw blurRad="76200" dir="13500000" sy="23000" kx="1200000" algn="br" rotWithShape="0">
              <a:prstClr val="black">
                <a:alpha val="20000"/>
              </a:prstClr>
            </a:outerShdw>
          </a:effectLst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GB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 algn="ctr">
              <a:buFont typeface="Wingdings" panose="05000000000000000000" pitchFamily="2" charset="2"/>
              <a:buChar char="Ø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Analysis of S-parameters, impedance matching, and radiation characteristics of the antenna element </a:t>
            </a:r>
          </a:p>
        </p:txBody>
      </p:sp>
      <p:sp>
        <p:nvSpPr>
          <p:cNvPr id="10" name="Date Placeholder 5">
            <a:extLst>
              <a:ext uri="{FF2B5EF4-FFF2-40B4-BE49-F238E27FC236}">
                <a16:creationId xmlns:a16="http://schemas.microsoft.com/office/drawing/2014/main" id="{1D7170BD-E6EC-46ED-944D-F9694A8F7B34}"/>
              </a:ext>
            </a:extLst>
          </p:cNvPr>
          <p:cNvSpPr>
            <a:spLocks noGrp="1"/>
          </p:cNvSpPr>
          <p:nvPr/>
        </p:nvSpPr>
        <p:spPr>
          <a:xfrm>
            <a:off x="670559" y="620696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28-08-2025</a:t>
            </a:r>
          </a:p>
        </p:txBody>
      </p:sp>
    </p:spTree>
    <p:extLst>
      <p:ext uri="{BB962C8B-B14F-4D97-AF65-F5344CB8AC3E}">
        <p14:creationId xmlns:p14="http://schemas.microsoft.com/office/powerpoint/2010/main" val="32132583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659C5-2E0C-F557-34B2-0507044D8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97571"/>
            <a:ext cx="10515600" cy="553125"/>
          </a:xfrm>
        </p:spPr>
        <p:txBody>
          <a:bodyPr/>
          <a:lstStyle/>
          <a:p>
            <a:r>
              <a:rPr lang="en-US" sz="3200" b="1" u="sng">
                <a:latin typeface="Times New Roman"/>
                <a:cs typeface="Times New Roman"/>
              </a:rPr>
              <a:t>REFERENCES</a:t>
            </a:r>
            <a:r>
              <a:rPr lang="en-US" sz="3200" b="1">
                <a:latin typeface="Times New Roman"/>
                <a:cs typeface="Times New Roman"/>
              </a:rPr>
              <a:t>: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777D22-0554-1846-36AC-096B0AC161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502" y="1136694"/>
            <a:ext cx="10651298" cy="504026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endParaRPr lang="en-US" sz="180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endParaRPr lang="en-US" sz="180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endParaRPr lang="en-US" sz="180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endParaRPr lang="en-US" sz="1800">
              <a:latin typeface="Times New Roman"/>
              <a:cs typeface="Times New Roman"/>
            </a:endParaRPr>
          </a:p>
          <a:p>
            <a:pPr marL="457200" indent="-457200">
              <a:buAutoNum type="arabicPeriod"/>
            </a:pPr>
            <a:endParaRPr lang="en-US" sz="1800">
              <a:latin typeface="Times New Roman"/>
              <a:cs typeface="Times New Roman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5863F4-BF49-37DA-5958-AD125F9A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GB" smtClean="0"/>
              <a:t>15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785BA0-0778-5164-A839-22D672098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Review 1.2</a:t>
            </a:r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96B2BB55-67A7-4D52-A7EB-BEE008C841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GB"/>
              <a:t>28-08-2025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C3CE2C-6C85-4742-82E8-94B994B4CFA6}"/>
              </a:ext>
            </a:extLst>
          </p:cNvPr>
          <p:cNvSpPr txBox="1"/>
          <p:nvPr/>
        </p:nvSpPr>
        <p:spPr>
          <a:xfrm>
            <a:off x="353982" y="499359"/>
            <a:ext cx="11458060" cy="621708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IN" sz="2000" dirty="0">
                <a:latin typeface="Times New Roman"/>
                <a:cs typeface="Times New Roman"/>
              </a:rPr>
              <a:t>[1] G. Yang, Y. Zhang, and S. Zhang, “</a:t>
            </a:r>
            <a:r>
              <a:rPr lang="en-US" sz="2000" dirty="0">
                <a:latin typeface="Times New Roman"/>
                <a:cs typeface="Times New Roman"/>
              </a:rPr>
              <a:t>Compact Self-Isolated Four-Element MIMO Antenna for WLAN and ISM Bands Application </a:t>
            </a:r>
            <a:r>
              <a:rPr lang="en-IN" sz="2000" dirty="0">
                <a:latin typeface="Times New Roman"/>
                <a:cs typeface="Times New Roman"/>
              </a:rPr>
              <a:t>,” </a:t>
            </a:r>
            <a:r>
              <a:rPr lang="en-IN" sz="2000" i="1" dirty="0">
                <a:latin typeface="Times New Roman"/>
                <a:cs typeface="Times New Roman"/>
              </a:rPr>
              <a:t>IEEE Open J. Antennas </a:t>
            </a:r>
            <a:r>
              <a:rPr lang="en-IN" sz="2000" i="1" dirty="0" err="1">
                <a:latin typeface="Times New Roman"/>
                <a:cs typeface="Times New Roman"/>
              </a:rPr>
              <a:t>Propag</a:t>
            </a:r>
            <a:r>
              <a:rPr lang="en-IN" sz="2000" i="1" dirty="0">
                <a:latin typeface="Times New Roman"/>
                <a:cs typeface="Times New Roman"/>
              </a:rPr>
              <a:t>.</a:t>
            </a:r>
            <a:r>
              <a:rPr lang="en-IN" sz="2000" dirty="0">
                <a:latin typeface="Times New Roman"/>
                <a:cs typeface="Times New Roman"/>
              </a:rPr>
              <a:t>, vol. 2, pp. 203–213, 2023,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10.1109/OJAP.2023.3057062.</a:t>
            </a:r>
          </a:p>
          <a:p>
            <a:pPr algn="just"/>
            <a:endParaRPr lang="en-IN" sz="2000" dirty="0">
              <a:latin typeface="Times New Roman"/>
              <a:cs typeface="Calibri"/>
            </a:endParaRPr>
          </a:p>
          <a:p>
            <a:pPr algn="just"/>
            <a:r>
              <a:rPr lang="en-IN" sz="2000" dirty="0">
                <a:latin typeface="Times New Roman"/>
                <a:cs typeface="Times New Roman"/>
              </a:rPr>
              <a:t>[2] W.-L. Zhou, S.-W. Qu, M. Xia, and S. Yang, “Decoupling Between Extremely Closely Spaced Patch Antennas by Mode Cancellation Method ,” </a:t>
            </a:r>
            <a:r>
              <a:rPr lang="en-IN" sz="2000" i="1" dirty="0">
                <a:latin typeface="Times New Roman"/>
                <a:cs typeface="Times New Roman"/>
              </a:rPr>
              <a:t>IEEE Trans. Antennas </a:t>
            </a:r>
            <a:r>
              <a:rPr lang="en-IN" sz="2000" i="1" dirty="0" err="1">
                <a:latin typeface="Times New Roman"/>
                <a:cs typeface="Times New Roman"/>
              </a:rPr>
              <a:t>Propag</a:t>
            </a:r>
            <a:r>
              <a:rPr lang="en-IN" sz="2000" i="1" dirty="0">
                <a:latin typeface="Times New Roman"/>
                <a:cs typeface="Times New Roman"/>
              </a:rPr>
              <a:t>.</a:t>
            </a:r>
            <a:r>
              <a:rPr lang="en-IN" sz="2000" dirty="0">
                <a:latin typeface="Times New Roman"/>
                <a:cs typeface="Times New Roman"/>
              </a:rPr>
              <a:t>, vol. 70, no. 11, pp. 10475–10484, Nov. 2024,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10.1109/TAP.2024.3195454.</a:t>
            </a:r>
            <a:endParaRPr lang="en-IN" sz="2000" dirty="0">
              <a:latin typeface="Times New Roman"/>
              <a:ea typeface="Calibri"/>
              <a:cs typeface="Times New Roman"/>
            </a:endParaRPr>
          </a:p>
          <a:p>
            <a:pPr algn="just"/>
            <a:endParaRPr lang="en-IN" sz="2000" dirty="0">
              <a:cs typeface="Calibri"/>
            </a:endParaRPr>
          </a:p>
          <a:p>
            <a:pPr algn="just"/>
            <a:r>
              <a:rPr lang="en-IN" sz="2000" dirty="0">
                <a:latin typeface="Times New Roman"/>
                <a:cs typeface="Times New Roman"/>
              </a:rPr>
              <a:t>[3]</a:t>
            </a:r>
            <a:r>
              <a:rPr lang="en-IN" sz="2000" b="0" i="0" dirty="0">
                <a:effectLst/>
                <a:latin typeface="Times New Roman"/>
                <a:cs typeface="Times New Roman"/>
              </a:rPr>
              <a:t> </a:t>
            </a:r>
            <a:r>
              <a:rPr lang="en-IN" sz="2000" dirty="0">
                <a:latin typeface="Times New Roman"/>
                <a:cs typeface="Times New Roman"/>
              </a:rPr>
              <a:t>A. Li, S.-W. Qu, and S. Yang, “ </a:t>
            </a:r>
            <a:r>
              <a:rPr lang="en-US" sz="2000" dirty="0">
                <a:latin typeface="Times New Roman"/>
                <a:cs typeface="Times New Roman"/>
              </a:rPr>
              <a:t>Mutual Coupling Reduction of a Dual-Band Four-Port Patch Antenna With Co-Polarized Radiation Pattern by Controlling Electric Fields </a:t>
            </a:r>
            <a:r>
              <a:rPr lang="en-IN" sz="2000" dirty="0">
                <a:latin typeface="Times New Roman"/>
                <a:cs typeface="Times New Roman"/>
              </a:rPr>
              <a:t>,” </a:t>
            </a:r>
            <a:r>
              <a:rPr lang="en-IN" sz="2000" i="1" dirty="0">
                <a:latin typeface="Times New Roman"/>
                <a:cs typeface="Times New Roman"/>
              </a:rPr>
              <a:t>IEEE Antennas Wireless </a:t>
            </a:r>
            <a:r>
              <a:rPr lang="en-IN" sz="2000" i="1" err="1">
                <a:latin typeface="Times New Roman"/>
                <a:cs typeface="Times New Roman"/>
              </a:rPr>
              <a:t>Propag</a:t>
            </a:r>
            <a:r>
              <a:rPr lang="en-IN" sz="2000" i="1" dirty="0">
                <a:latin typeface="Times New Roman"/>
                <a:cs typeface="Times New Roman"/>
              </a:rPr>
              <a:t>. Lett.</a:t>
            </a:r>
            <a:r>
              <a:rPr lang="en-IN" sz="2000" dirty="0">
                <a:latin typeface="Times New Roman"/>
                <a:cs typeface="Times New Roman"/>
              </a:rPr>
              <a:t>, vol. 21, no. 9, pp. 1762–1766, Sept. 2022, </a:t>
            </a:r>
            <a:r>
              <a:rPr lang="en-IN" sz="200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10.1109/LAWP.2022.3179404.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algn="just"/>
            <a:endParaRPr lang="en-IN" sz="2000" dirty="0">
              <a:latin typeface="Times New Roman"/>
              <a:cs typeface="Calibri"/>
            </a:endParaRPr>
          </a:p>
          <a:p>
            <a:pPr algn="just"/>
            <a:r>
              <a:rPr lang="en-IN" sz="2000" dirty="0">
                <a:latin typeface="Times New Roman"/>
                <a:cs typeface="Times New Roman"/>
              </a:rPr>
              <a:t>[4] Y. Yang, Y. Feng, L.-K. Zhang, Z. Xing, and J. Li, “ </a:t>
            </a:r>
            <a:r>
              <a:rPr lang="en-US" sz="2000" dirty="0">
                <a:latin typeface="Times New Roman"/>
                <a:cs typeface="Times New Roman"/>
              </a:rPr>
              <a:t>A Compact Multifrequency Broadband Dual-Antenna System With Mutual Coupling Reduction for Wi-Fi 6E Application </a:t>
            </a:r>
            <a:r>
              <a:rPr lang="en-IN" sz="2000" dirty="0">
                <a:latin typeface="Times New Roman"/>
                <a:cs typeface="Times New Roman"/>
              </a:rPr>
              <a:t>,” </a:t>
            </a:r>
            <a:r>
              <a:rPr lang="en-IN" sz="2000" i="1" dirty="0">
                <a:latin typeface="Times New Roman"/>
                <a:cs typeface="Times New Roman"/>
              </a:rPr>
              <a:t>IEEE Antennas Wireless </a:t>
            </a:r>
            <a:r>
              <a:rPr lang="en-IN" sz="2000" i="1" err="1">
                <a:latin typeface="Times New Roman"/>
                <a:cs typeface="Times New Roman"/>
              </a:rPr>
              <a:t>Propag</a:t>
            </a:r>
            <a:r>
              <a:rPr lang="en-IN" sz="2000" i="1" dirty="0">
                <a:latin typeface="Times New Roman"/>
                <a:cs typeface="Times New Roman"/>
              </a:rPr>
              <a:t>. Lett.</a:t>
            </a:r>
            <a:r>
              <a:rPr lang="en-IN" sz="2000" dirty="0">
                <a:latin typeface="Times New Roman"/>
                <a:cs typeface="Times New Roman"/>
              </a:rPr>
              <a:t>, vol. 23, no. 12, pp. 4074–4078, Dec. 2024, </a:t>
            </a:r>
            <a:r>
              <a:rPr lang="en-IN" sz="200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 10.1109/LAWP.2024.3428515.</a:t>
            </a:r>
            <a:endParaRPr lang="en-IN" sz="2000">
              <a:latin typeface="Times New Roman"/>
              <a:ea typeface="Calibri"/>
              <a:cs typeface="Times New Roman"/>
            </a:endParaRPr>
          </a:p>
          <a:p>
            <a:pPr algn="just"/>
            <a:endParaRPr lang="en-IN" sz="2000" dirty="0">
              <a:latin typeface="Times New Roman"/>
              <a:cs typeface="Calibri"/>
            </a:endParaRPr>
          </a:p>
          <a:p>
            <a:pPr algn="just"/>
            <a:r>
              <a:rPr lang="en-IN" sz="2000" dirty="0">
                <a:latin typeface="Times New Roman"/>
                <a:cs typeface="Times New Roman"/>
              </a:rPr>
              <a:t>[5] Z.-L. Su, K. W. Leung, and K. Lu, “Mutual Coupling Reduction in Dual-Band MIMO Antenna Using Parasitic Dollar-Shaped Structure for Modern Wireless Communication,” </a:t>
            </a:r>
            <a:r>
              <a:rPr lang="en-IN" sz="2000" i="1" dirty="0">
                <a:latin typeface="Times New Roman"/>
                <a:cs typeface="Times New Roman"/>
              </a:rPr>
              <a:t>IEEE Trans. Antennas </a:t>
            </a:r>
            <a:r>
              <a:rPr lang="en-IN" sz="2000" i="1" dirty="0" err="1">
                <a:latin typeface="Times New Roman"/>
                <a:cs typeface="Times New Roman"/>
              </a:rPr>
              <a:t>Propag</a:t>
            </a:r>
            <a:r>
              <a:rPr lang="en-IN" sz="2000" i="1" dirty="0">
                <a:latin typeface="Times New Roman"/>
                <a:cs typeface="Times New Roman"/>
              </a:rPr>
              <a:t>.</a:t>
            </a:r>
            <a:r>
              <a:rPr lang="en-IN" sz="2000" dirty="0">
                <a:latin typeface="Times New Roman"/>
                <a:cs typeface="Times New Roman"/>
              </a:rPr>
              <a:t>, vol. 70, no. 9, pp. 7659–7669, Sept. 2023, </a:t>
            </a:r>
            <a:r>
              <a:rPr lang="en-IN" sz="2000" dirty="0" err="1">
                <a:latin typeface="Times New Roman"/>
                <a:cs typeface="Times New Roman"/>
              </a:rPr>
              <a:t>doi</a:t>
            </a:r>
            <a:r>
              <a:rPr lang="en-IN" sz="2000" dirty="0">
                <a:latin typeface="Times New Roman"/>
                <a:cs typeface="Times New Roman"/>
              </a:rPr>
              <a:t>: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 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10.1109/TAP.2023.3199567</a:t>
            </a:r>
            <a:r>
              <a:rPr lang="en-IN" sz="20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  <a:cs typeface="Times New Roman"/>
              </a:rPr>
              <a:t>.</a:t>
            </a:r>
            <a:endParaRPr lang="en-IN" sz="2000" dirty="0">
              <a:solidFill>
                <a:schemeClr val="tx1">
                  <a:lumMod val="95000"/>
                  <a:lumOff val="5000"/>
                </a:schemeClr>
              </a:solidFill>
              <a:latin typeface="Times New Roman"/>
              <a:ea typeface="Calibri"/>
              <a:cs typeface="Times New Roman"/>
            </a:endParaRPr>
          </a:p>
          <a:p>
            <a:pPr algn="just"/>
            <a:endParaRPr lang="en-US" sz="2000" dirty="0"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A0A7B2E-7DA9-4197-B978-600CA712B9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8780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F040A0-D233-41C2-898B-E920A677A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25953" y="-31376"/>
            <a:ext cx="1766047" cy="52275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E982D-ED48-46F1-683C-D2469D2DC7C4}"/>
              </a:ext>
            </a:extLst>
          </p:cNvPr>
          <p:cNvSpPr>
            <a:spLocks noGrp="1"/>
          </p:cNvSpPr>
          <p:nvPr/>
        </p:nvSpPr>
        <p:spPr>
          <a:xfrm>
            <a:off x="1281953" y="1761397"/>
            <a:ext cx="9144000" cy="192532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>
              <a:buNone/>
            </a:pPr>
            <a:endParaRPr lang="en-US">
              <a:cs typeface="Calibri" panose="020F0502020204030204"/>
            </a:endParaRPr>
          </a:p>
          <a:p>
            <a:pPr marL="0" indent="0" algn="ctr">
              <a:buNone/>
            </a:pPr>
            <a:r>
              <a:rPr lang="en-US" sz="5400" b="1">
                <a:latin typeface="Times New Roman"/>
                <a:cs typeface="Calibri" panose="020F0502020204030204"/>
              </a:rPr>
              <a:t>Thank You</a:t>
            </a:r>
          </a:p>
        </p:txBody>
      </p:sp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155E8E6F-ECC1-4F8A-8DEC-71AA43FF9014}"/>
              </a:ext>
            </a:extLst>
          </p:cNvPr>
          <p:cNvSpPr>
            <a:spLocks noGrp="1"/>
          </p:cNvSpPr>
          <p:nvPr/>
        </p:nvSpPr>
        <p:spPr>
          <a:xfrm>
            <a:off x="936813" y="62734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684ECE-EAE2-C00D-155F-92BE1ADF73E7}"/>
              </a:ext>
            </a:extLst>
          </p:cNvPr>
          <p:cNvSpPr>
            <a:spLocks noGrp="1"/>
          </p:cNvSpPr>
          <p:nvPr/>
        </p:nvSpPr>
        <p:spPr>
          <a:xfrm>
            <a:off x="4038600" y="627340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Review 1.2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02AB493-95B4-D94B-9B33-066F55CC6830}"/>
              </a:ext>
            </a:extLst>
          </p:cNvPr>
          <p:cNvSpPr>
            <a:spLocks noGrp="1"/>
          </p:cNvSpPr>
          <p:nvPr/>
        </p:nvSpPr>
        <p:spPr>
          <a:xfrm>
            <a:off x="8682317" y="627340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GB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GB" smtClean="0"/>
              <a:pPr/>
              <a:t>16</a:t>
            </a:fld>
            <a:endParaRPr lang="en-GB"/>
          </a:p>
        </p:txBody>
      </p:sp>
      <p:sp>
        <p:nvSpPr>
          <p:cNvPr id="7" name="Date Placeholder 5">
            <a:extLst>
              <a:ext uri="{FF2B5EF4-FFF2-40B4-BE49-F238E27FC236}">
                <a16:creationId xmlns:a16="http://schemas.microsoft.com/office/drawing/2014/main" id="{1D7170BD-E6EC-46ED-944D-F9694A8F7B34}"/>
              </a:ext>
            </a:extLst>
          </p:cNvPr>
          <p:cNvSpPr>
            <a:spLocks noGrp="1"/>
          </p:cNvSpPr>
          <p:nvPr/>
        </p:nvSpPr>
        <p:spPr>
          <a:xfrm>
            <a:off x="578226" y="627340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/>
              <a:t>28-08-2025</a:t>
            </a:r>
          </a:p>
        </p:txBody>
      </p:sp>
    </p:spTree>
    <p:extLst>
      <p:ext uri="{BB962C8B-B14F-4D97-AF65-F5344CB8AC3E}">
        <p14:creationId xmlns:p14="http://schemas.microsoft.com/office/powerpoint/2010/main" val="6228909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LITERATURE:</vt:lpstr>
      <vt:lpstr>LITERATURE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DHARANITHARAN RS - [CB.EN.U4ECE22215]</dc:creator>
  <cp:revision>49</cp:revision>
  <dcterms:created xsi:type="dcterms:W3CDTF">2025-08-16T12:11:51Z</dcterms:created>
  <dcterms:modified xsi:type="dcterms:W3CDTF">2025-08-28T05:15:51Z</dcterms:modified>
</cp:coreProperties>
</file>